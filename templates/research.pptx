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1" r:id="rId2"/>
    <p:sldId id="264" r:id="rId3"/>
    <p:sldId id="259" r:id="rId4"/>
    <p:sldId id="265" r:id="rId5"/>
    <p:sldId id="258" r:id="rId6"/>
    <p:sldId id="270" r:id="rId7"/>
    <p:sldId id="262" r:id="rId8"/>
    <p:sldId id="263" r:id="rId9"/>
    <p:sldId id="267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BF4"/>
    <a:srgbClr val="0070C0"/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16" autoAdjust="0"/>
    <p:restoredTop sz="97173"/>
  </p:normalViewPr>
  <p:slideViewPr>
    <p:cSldViewPr snapToGrid="0" showGuides="1">
      <p:cViewPr varScale="1">
        <p:scale>
          <a:sx n="107" d="100"/>
          <a:sy n="107" d="100"/>
        </p:scale>
        <p:origin x="112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2026/9/27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458" y="5780147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179" y="5799163"/>
            <a:ext cx="2658064" cy="62826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5A5F1533-9AB0-CF43-65E3-87A27349B2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34" b="96855" l="1563" r="97266">
                        <a14:foregroundMark x1="20117" y1="81132" x2="20117" y2="81132"/>
                        <a14:foregroundMark x1="22656" y1="80503" x2="35742" y2="77987"/>
                        <a14:foregroundMark x1="35742" y1="77987" x2="35742" y2="77987"/>
                        <a14:foregroundMark x1="53906" y1="18239" x2="53906" y2="32704"/>
                        <a14:foregroundMark x1="53418" y1="14465" x2="53809" y2="22642"/>
                        <a14:foregroundMark x1="54004" y1="23899" x2="53320" y2="44654"/>
                        <a14:foregroundMark x1="97363" y1="92453" x2="93164" y2="85535"/>
                        <a14:foregroundMark x1="6641" y1="93082" x2="5566" y2="93082"/>
                        <a14:foregroundMark x1="1563" y1="96855" x2="1563" y2="96855"/>
                        <a14:foregroundMark x1="54492" y1="30189" x2="54492" y2="30189"/>
                        <a14:foregroundMark x1="53906" y1="42767" x2="53906" y2="42767"/>
                        <a14:foregroundMark x1="54004" y1="37736" x2="54004" y2="37736"/>
                        <a14:foregroundMark x1="53125" y1="42138" x2="53125" y2="42138"/>
                        <a14:foregroundMark x1="53027" y1="42138" x2="53027" y2="42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5560820"/>
            <a:ext cx="5752730" cy="8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2026/9/27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ice.org/jpn/shiori/ess_2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8E456A-A7AB-1C1B-45E8-6526291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EC0B609-E426-518F-DD92-521D4980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" y="772319"/>
            <a:ext cx="11940525" cy="2656681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C8109D2-3662-CAD0-009C-A93BCAC1A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506" y="4339531"/>
            <a:ext cx="11940524" cy="121086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4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E8689-3455-BE5B-A835-9E1771B7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スタイル規約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E9F859-FEC8-F937-27BE-12294E85F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・文字の大きさ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インデント</a:t>
            </a:r>
            <a:r>
              <a:rPr lang="en-US" altLang="ja-JP" dirty="0"/>
              <a:t>0 28</a:t>
            </a:r>
            <a:r>
              <a:rPr lang="ja-JP" altLang="en-US" dirty="0"/>
              <a:t>ポイント</a:t>
            </a:r>
            <a:r>
              <a:rPr lang="en-US" altLang="ja-JP" dirty="0"/>
              <a:t>;</a:t>
            </a:r>
            <a:r>
              <a:rPr lang="ja-JP" altLang="en-US" dirty="0"/>
              <a:t> 標準的な文章に用いる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インデント</a:t>
            </a:r>
            <a:r>
              <a:rPr lang="en-US" altLang="ja-JP" dirty="0"/>
              <a:t>1 24</a:t>
            </a:r>
            <a:r>
              <a:rPr lang="ja-JP" altLang="en-US" dirty="0"/>
              <a:t>ポイント</a:t>
            </a:r>
            <a:r>
              <a:rPr lang="en-US" altLang="ja-JP" dirty="0"/>
              <a:t>; </a:t>
            </a:r>
            <a:r>
              <a:rPr lang="ja-JP" altLang="en-US" dirty="0"/>
              <a:t>注釈文等の相対的な重要度の低い文章に用いる</a:t>
            </a:r>
            <a:endParaRPr lang="en-US" altLang="ja-JP" dirty="0"/>
          </a:p>
          <a:p>
            <a:pPr marL="914400" lvl="2" indent="0">
              <a:buNone/>
            </a:pPr>
            <a:r>
              <a:rPr lang="ja-JP" altLang="en-US" dirty="0"/>
              <a:t>インデント</a:t>
            </a:r>
            <a:r>
              <a:rPr lang="en-US" altLang="ja-JP" dirty="0"/>
              <a:t>2</a:t>
            </a:r>
            <a:r>
              <a:rPr lang="ja-JP" altLang="en-US" dirty="0"/>
              <a:t> </a:t>
            </a:r>
            <a:r>
              <a:rPr lang="en-US" altLang="ja-JP" dirty="0"/>
              <a:t>20</a:t>
            </a:r>
            <a:r>
              <a:rPr lang="ja-JP" altLang="en-US" dirty="0"/>
              <a:t>ポイント</a:t>
            </a:r>
            <a:r>
              <a:rPr lang="en-US" altLang="ja-JP" dirty="0"/>
              <a:t>;</a:t>
            </a:r>
            <a:r>
              <a:rPr lang="ja-JP" altLang="en-US" dirty="0"/>
              <a:t> 図や表などで</a:t>
            </a:r>
            <a:r>
              <a:rPr lang="en-US" altLang="ja-JP" dirty="0"/>
              <a:t>24</a:t>
            </a:r>
            <a:r>
              <a:rPr lang="ja-JP" altLang="en-US" dirty="0"/>
              <a:t>ポイント以上に設定できない場合にのみ用いる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・箇条書き，リスト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箇条書きのマークは</a:t>
            </a:r>
            <a:r>
              <a:rPr lang="en-US" altLang="ja-JP" dirty="0"/>
              <a:t>PowerPoint</a:t>
            </a:r>
            <a:r>
              <a:rPr lang="ja-JP" altLang="en-US" dirty="0"/>
              <a:t>の機能ではなく「・</a:t>
            </a:r>
            <a:r>
              <a:rPr lang="en-US" altLang="ja-JP" dirty="0"/>
              <a:t>(</a:t>
            </a:r>
            <a:r>
              <a:rPr lang="ja-JP" altLang="en-US" dirty="0"/>
              <a:t>てん</a:t>
            </a:r>
            <a:r>
              <a:rPr lang="en-US" altLang="ja-JP" dirty="0"/>
              <a:t>)</a:t>
            </a:r>
            <a:r>
              <a:rPr lang="ja-JP" altLang="en-US" dirty="0"/>
              <a:t>」を用いる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リストの番号は</a:t>
            </a:r>
            <a:r>
              <a:rPr lang="en-US" altLang="ja-JP" dirty="0"/>
              <a:t>PowerPoint</a:t>
            </a:r>
            <a:r>
              <a:rPr lang="ja-JP" altLang="en-US" dirty="0"/>
              <a:t>の機能ではなく「</a:t>
            </a:r>
            <a:r>
              <a:rPr lang="en-US" altLang="ja-JP" dirty="0"/>
              <a:t>1.</a:t>
            </a:r>
            <a:r>
              <a:rPr lang="ja-JP" altLang="en-US" dirty="0"/>
              <a:t>」，「</a:t>
            </a:r>
            <a:r>
              <a:rPr lang="en-US" altLang="ja-JP" dirty="0"/>
              <a:t>2.</a:t>
            </a:r>
            <a:r>
              <a:rPr lang="ja-JP" altLang="en-US" dirty="0"/>
              <a:t>」と記述する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F657BD-C951-2710-F4A7-0F66499E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97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C7754-3B39-F266-CD34-E5495FF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数式の記法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1F12A29-277C-E430-D0F1-180C40B10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式番号をテキストボックスで式の</a:t>
                </a:r>
                <a:r>
                  <a:rPr lang="ja-JP" altLang="en-US" dirty="0"/>
                  <a:t>右側</a:t>
                </a:r>
                <a:r>
                  <a:rPr kumimoji="1" lang="ja-JP" altLang="en-US" dirty="0"/>
                  <a:t>に配置する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sz="1400" dirty="0"/>
              </a:p>
              <a:p>
                <a:pPr marL="0" indent="0">
                  <a:buNone/>
                </a:pPr>
                <a:r>
                  <a:rPr lang="ja-JP" altLang="en-US" dirty="0"/>
                  <a:t>式中の変数について説明を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必ず</a:t>
                </a:r>
                <a:r>
                  <a:rPr lang="ja-JP" altLang="en-US" dirty="0"/>
                  <a:t>記述する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傾き，</a:t>
                </a:r>
                <a:r>
                  <a:rPr lang="en-US" altLang="ja-JP" b="0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切片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sz="1400" dirty="0"/>
              </a:p>
              <a:p>
                <a:pPr marL="0" indent="0">
                  <a:buNone/>
                </a:pPr>
                <a:r>
                  <a:rPr lang="ja-JP" altLang="en-US" dirty="0"/>
                  <a:t>・スカラ，ベクトル，行列の記法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1F12A29-277C-E430-D0F1-180C40B10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4374C4-DFFF-F779-4E8E-672FFB90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C83BC1-8D08-97C6-FAFF-08F7508EE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4586632"/>
                  </p:ext>
                </p:extLst>
              </p:nvPr>
            </p:nvGraphicFramePr>
            <p:xfrm>
              <a:off x="125971" y="4186366"/>
              <a:ext cx="11940060" cy="2006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020">
                      <a:extLst>
                        <a:ext uri="{9D8B030D-6E8A-4147-A177-3AD203B41FA5}">
                          <a16:colId xmlns:a16="http://schemas.microsoft.com/office/drawing/2014/main" val="539665676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233130230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11181758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スカラ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ベクトル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行列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2061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=0,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ja-JP" altLang="en-US" sz="2000" dirty="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sz="2000" b="1" i="0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𝐚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1" lang="en-US" altLang="ja-JP" sz="2000" b="0" i="1" smtClean="0">
                                            <a:latin typeface="Cambria Math" panose="02040503050406030204" pitchFamily="18" charset="0"/>
                                            <a:ea typeface="BIZ UDGothic" panose="020B0400000000000000" pitchFamily="49" charset="-128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,</m:t>
                                </m:r>
                                <m:r>
                                  <a:rPr kumimoji="1" lang="en-US" altLang="ja-JP" sz="2000" b="1" i="0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𝐱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1" lang="en-US" altLang="ja-JP" sz="2000" b="0" i="1" smtClean="0">
                                            <a:latin typeface="Cambria Math" panose="02040503050406030204" pitchFamily="18" charset="0"/>
                                            <a:ea typeface="BIZ UDGothic" panose="020B0400000000000000" pitchFamily="49" charset="-128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4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sz="2000" b="0" i="1" smtClean="0">
                                                <a:latin typeface="Cambria Math" panose="02040503050406030204" pitchFamily="18" charset="0"/>
                                                <a:ea typeface="BIZ UDGothic" panose="020B0400000000000000" pitchFamily="49" charset="-128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ja-JP" altLang="en-US" sz="200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sz="2000" b="1" i="0" smtClean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sz="200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7599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小文字，斜体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小文字，太字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大文字，太字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1814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C83BC1-8D08-97C6-FAFF-08F7508EE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4586632"/>
                  </p:ext>
                </p:extLst>
              </p:nvPr>
            </p:nvGraphicFramePr>
            <p:xfrm>
              <a:off x="125971" y="4186366"/>
              <a:ext cx="11940060" cy="2006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020">
                      <a:extLst>
                        <a:ext uri="{9D8B030D-6E8A-4147-A177-3AD203B41FA5}">
                          <a16:colId xmlns:a16="http://schemas.microsoft.com/office/drawing/2014/main" val="539665676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233130230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111817583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スカラ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ベクトル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行列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2061373"/>
                      </a:ext>
                    </a:extLst>
                  </a:tr>
                  <a:tr h="121437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" t="-35000" r="-200766" b="-41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5000" r="-100459" b="-41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06" t="-35000" r="-613" b="-41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75993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小文字，斜体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小文字，太字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大文字，太字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1814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299534-4AE5-3B56-6AC6-C8BF2FDFEBDE}"/>
              </a:ext>
            </a:extLst>
          </p:cNvPr>
          <p:cNvSpPr txBox="1"/>
          <p:nvPr/>
        </p:nvSpPr>
        <p:spPr>
          <a:xfrm>
            <a:off x="11118380" y="1205345"/>
            <a:ext cx="94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(1)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9128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B0A93-6458-3844-152B-5391E1BE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アルゴリズムの記法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721410-8573-E4C9-E189-C2820DE75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最適化手法のアルゴリズムは表を用いて記述する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手法名，初期値やハイパーパラメーター，更新則，戻り値を記述する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566DE4-A2CE-A8E0-7933-D9C7CE6A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 6">
                <a:extLst>
                  <a:ext uri="{FF2B5EF4-FFF2-40B4-BE49-F238E27FC236}">
                    <a16:creationId xmlns:a16="http://schemas.microsoft.com/office/drawing/2014/main" id="{AC6913EF-0201-08CD-3C41-012E99968E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774719"/>
                  </p:ext>
                </p:extLst>
              </p:nvPr>
            </p:nvGraphicFramePr>
            <p:xfrm>
              <a:off x="125969" y="1914147"/>
              <a:ext cx="5893831" cy="2222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893831">
                      <a:extLst>
                        <a:ext uri="{9D8B030D-6E8A-4147-A177-3AD203B41FA5}">
                          <a16:colId xmlns:a16="http://schemas.microsoft.com/office/drawing/2014/main" val="17528477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Alg. </a:t>
                          </a:r>
                          <a:r>
                            <a:rPr kumimoji="1" lang="ja-JP" altLang="en-US" sz="2000" dirty="0"/>
                            <a:t>確率的勾配降下法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879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Req.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000" dirty="0"/>
                            <a:t>; </a:t>
                          </a:r>
                          <a:r>
                            <a:rPr kumimoji="1" lang="ja-JP" altLang="en-US" sz="2000" dirty="0"/>
                            <a:t>初期パラメーター，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000" dirty="0"/>
                            <a:t>; </a:t>
                          </a:r>
                          <a:r>
                            <a:rPr kumimoji="1" lang="ja-JP" altLang="en-US" sz="2000" dirty="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88137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kumimoji="1" lang="ja-JP" altLang="en-US" sz="2000" dirty="0"/>
                            <a:t> </a:t>
                          </a:r>
                          <a:r>
                            <a:rPr kumimoji="1" lang="en-US" altLang="ja-JP" sz="2000" dirty="0"/>
                            <a:t>Do</a:t>
                          </a:r>
                        </a:p>
                        <a:p>
                          <a:r>
                            <a:rPr kumimoji="1" lang="en-US" altLang="ja-JP" sz="2000" dirty="0"/>
                            <a:t>    </a:t>
                          </a:r>
                          <a:r>
                            <a:rPr kumimoji="1" lang="ja-JP" altLang="en-US" sz="20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000" dirty="0"/>
                            <a:t>をサンプリング</a:t>
                          </a:r>
                          <a:endParaRPr kumimoji="1" lang="en-US" altLang="ja-JP" sz="2000" dirty="0"/>
                        </a:p>
                        <a:p>
                          <a:r>
                            <a:rPr kumimoji="1" lang="ja-JP" altLang="en-US" sz="20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29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Ret.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1198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 6">
                <a:extLst>
                  <a:ext uri="{FF2B5EF4-FFF2-40B4-BE49-F238E27FC236}">
                    <a16:creationId xmlns:a16="http://schemas.microsoft.com/office/drawing/2014/main" id="{AC6913EF-0201-08CD-3C41-012E99968E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774719"/>
                  </p:ext>
                </p:extLst>
              </p:nvPr>
            </p:nvGraphicFramePr>
            <p:xfrm>
              <a:off x="125969" y="1914147"/>
              <a:ext cx="5893831" cy="2222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893831">
                      <a:extLst>
                        <a:ext uri="{9D8B030D-6E8A-4147-A177-3AD203B41FA5}">
                          <a16:colId xmlns:a16="http://schemas.microsoft.com/office/drawing/2014/main" val="17528477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Alg. </a:t>
                          </a:r>
                          <a:r>
                            <a:rPr kumimoji="1" lang="ja-JP" altLang="en-US" sz="2000" dirty="0"/>
                            <a:t>確率的勾配降下法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87938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7692" r="-103" b="-3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8813793"/>
                      </a:ext>
                    </a:extLst>
                  </a:tr>
                  <a:tr h="103416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9412" r="-103" b="-4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2974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69231" r="-103" b="-2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1198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 8">
                <a:extLst>
                  <a:ext uri="{FF2B5EF4-FFF2-40B4-BE49-F238E27FC236}">
                    <a16:creationId xmlns:a16="http://schemas.microsoft.com/office/drawing/2014/main" id="{94A409E3-866E-8470-CFCB-B3E95A5D2E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296671"/>
                  </p:ext>
                </p:extLst>
              </p:nvPr>
            </p:nvGraphicFramePr>
            <p:xfrm>
              <a:off x="125969" y="4319962"/>
              <a:ext cx="11940062" cy="2222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940062">
                      <a:extLst>
                        <a:ext uri="{9D8B030D-6E8A-4147-A177-3AD203B41FA5}">
                          <a16:colId xmlns:a16="http://schemas.microsoft.com/office/drawing/2014/main" val="17528477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Alg. </a:t>
                          </a:r>
                          <a:r>
                            <a:rPr kumimoji="1" lang="ja-JP" altLang="en-US" sz="2000" dirty="0"/>
                            <a:t>確率的勾配降下法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879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Req.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000" dirty="0"/>
                            <a:t>; </a:t>
                          </a:r>
                          <a:r>
                            <a:rPr kumimoji="1" lang="ja-JP" altLang="en-US" sz="2000" dirty="0"/>
                            <a:t>初期パラメーター，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000" dirty="0"/>
                            <a:t>; </a:t>
                          </a:r>
                          <a:r>
                            <a:rPr kumimoji="1" lang="ja-JP" altLang="en-US" sz="2000" dirty="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88137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kumimoji="1" lang="ja-JP" altLang="en-US" sz="2000" dirty="0"/>
                            <a:t> </a:t>
                          </a:r>
                          <a:r>
                            <a:rPr kumimoji="1" lang="en-US" altLang="ja-JP" sz="2000" dirty="0"/>
                            <a:t>Do</a:t>
                          </a:r>
                        </a:p>
                        <a:p>
                          <a:r>
                            <a:rPr kumimoji="1" lang="en-US" altLang="ja-JP" sz="2000" dirty="0"/>
                            <a:t>    </a:t>
                          </a:r>
                          <a:r>
                            <a:rPr kumimoji="1" lang="ja-JP" altLang="en-US" sz="20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000" dirty="0"/>
                            <a:t>をサンプリング</a:t>
                          </a:r>
                          <a:endParaRPr kumimoji="1" lang="en-US" altLang="ja-JP" sz="2000" dirty="0"/>
                        </a:p>
                        <a:p>
                          <a:r>
                            <a:rPr kumimoji="1" lang="ja-JP" altLang="en-US" sz="20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29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Ret.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1198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 8">
                <a:extLst>
                  <a:ext uri="{FF2B5EF4-FFF2-40B4-BE49-F238E27FC236}">
                    <a16:creationId xmlns:a16="http://schemas.microsoft.com/office/drawing/2014/main" id="{94A409E3-866E-8470-CFCB-B3E95A5D2E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296671"/>
                  </p:ext>
                </p:extLst>
              </p:nvPr>
            </p:nvGraphicFramePr>
            <p:xfrm>
              <a:off x="125969" y="4319962"/>
              <a:ext cx="11940062" cy="2222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940062">
                      <a:extLst>
                        <a:ext uri="{9D8B030D-6E8A-4147-A177-3AD203B41FA5}">
                          <a16:colId xmlns:a16="http://schemas.microsoft.com/office/drawing/2014/main" val="17528477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000" dirty="0"/>
                            <a:t>Alg. </a:t>
                          </a:r>
                          <a:r>
                            <a:rPr kumimoji="1" lang="ja-JP" altLang="en-US" sz="2000" dirty="0"/>
                            <a:t>確率的勾配降下法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87938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51" b="-3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8813793"/>
                      </a:ext>
                    </a:extLst>
                  </a:tr>
                  <a:tr h="103416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8947" r="-51" b="-461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62974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70769" r="-51" b="-2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119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445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D3469-E485-E1E8-19D3-AFD207F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引用の記法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CD1AE0-8804-EFE2-7EEC-E53DEAB0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「電子情報通信学会和文論文誌　投稿のしおり」を参考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en-US" altLang="ja-JP" dirty="0">
                <a:hlinkClick r:id="rId2"/>
              </a:rPr>
              <a:t>https://www.ieice.org/jpn/shiori/ess_2.html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r>
              <a:rPr kumimoji="1" lang="ja-JP" altLang="en-US" dirty="0"/>
              <a:t>・英文論文を引用する場合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・</a:t>
            </a:r>
            <a:r>
              <a:rPr kumimoji="1" lang="ja-JP" altLang="en-US" dirty="0"/>
              <a:t>和文論文を引用する場合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・</a:t>
            </a:r>
            <a:r>
              <a:rPr kumimoji="1" lang="ja-JP" altLang="en-US" dirty="0"/>
              <a:t>書籍を引用する場合</a:t>
            </a:r>
            <a:endParaRPr kumimoji="1" lang="en-US" altLang="ja-JP" dirty="0"/>
          </a:p>
          <a:p>
            <a:endParaRPr lang="en-US" altLang="ja-JP" sz="1100" dirty="0"/>
          </a:p>
          <a:p>
            <a:r>
              <a:rPr lang="ja-JP" altLang="en-US" dirty="0"/>
              <a:t>・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サイトを引用する場合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95457E-68F9-2DC2-16A7-37DDE285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42B130D-A8D8-4C76-35BE-86E915522D87}"/>
              </a:ext>
            </a:extLst>
          </p:cNvPr>
          <p:cNvSpPr txBox="1"/>
          <p:nvPr/>
        </p:nvSpPr>
        <p:spPr>
          <a:xfrm>
            <a:off x="125969" y="2703764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[1] 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R.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Yamatomi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S.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Mahboubi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and H.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Ninomiya,“Generative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 Model of Suitable Meme Sentences for Images using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AutoEncoder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,”Proc. of the 20th Pacific Rim International Conference on Artificial Intelligence, pp.237-248, Nov. 2023.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D11ACE-42DF-3B64-7D6C-2D8D974723ED}"/>
              </a:ext>
            </a:extLst>
          </p:cNvPr>
          <p:cNvSpPr txBox="1"/>
          <p:nvPr/>
        </p:nvSpPr>
        <p:spPr>
          <a:xfrm>
            <a:off x="125969" y="3799581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 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山富龍，シェヘラザードマハブービ，二宮洋，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en" altLang="ja-JP" sz="1200" kern="100" dirty="0" err="1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AutoEncoder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と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Pix2Seq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を用いた大喜利生成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AI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の実装に関する研究，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信学技報，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vol.122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no.453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CCS2022-73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pp.59-62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Mar. 2023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．</a:t>
            </a:r>
            <a:endParaRPr lang="ja-JP" altLang="ja-JP" sz="1200" kern="100" dirty="0">
              <a:effectLst/>
              <a:latin typeface="BIZ UDGothic" panose="020B0400000000000000" pitchFamily="49" charset="-128"/>
              <a:ea typeface="BIZ UDGothic" panose="020B0400000000000000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D33B4B-B0EC-224F-36D0-014DDD71D842}"/>
              </a:ext>
            </a:extLst>
          </p:cNvPr>
          <p:cNvSpPr txBox="1"/>
          <p:nvPr/>
        </p:nvSpPr>
        <p:spPr>
          <a:xfrm>
            <a:off x="125969" y="491089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[3] </a:t>
            </a:r>
            <a:r>
              <a:rPr kumimoji="1"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斎藤康毅，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ゼロから作る</a:t>
            </a:r>
            <a:r>
              <a:rPr lang="en" altLang="ja-JP" sz="1200" i="0" dirty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Deep Learning ―Python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で学ぶディープラーニングの理論と実装，オライリージャパン，</a:t>
            </a:r>
            <a:r>
              <a:rPr lang="en-US" altLang="ja-JP" sz="1200" i="0" dirty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2016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2990F6-5662-BB31-904B-01209E80F142}"/>
              </a:ext>
            </a:extLst>
          </p:cNvPr>
          <p:cNvSpPr txBox="1"/>
          <p:nvPr/>
        </p:nvSpPr>
        <p:spPr>
          <a:xfrm>
            <a:off x="125969" y="5880658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[4] </a:t>
            </a:r>
            <a:r>
              <a:rPr lang="ja-JP" altLang="en-US" sz="1200" b="0" i="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株式会社オモロキ</a:t>
            </a:r>
            <a:r>
              <a:rPr lang="ja-JP" altLang="en-US" sz="1200" b="0" dirty="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ja-JP" altLang="en-US" sz="1200" b="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ボケて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https://</a:t>
            </a:r>
            <a:r>
              <a:rPr lang="en" altLang="ja-JP" sz="1200" kern="100" dirty="0" err="1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bokete.jp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/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，参照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:Oct. 1, 2024.</a:t>
            </a:r>
            <a:endParaRPr lang="ja-JP" altLang="en-US" sz="1200" i="0" dirty="0"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898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D81F3-A795-8651-9527-93D74BB1F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表テンプレート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D3B0D-94D2-BBB3-B5CA-25705511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・表見出しがある場合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dirty="0"/>
              <a:t>・表見出しが無い場合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47CEC4-5566-08C8-2583-45F558F8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F4489DD-FD75-CAD5-2643-2C1A03EE5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96658"/>
              </p:ext>
            </p:extLst>
          </p:nvPr>
        </p:nvGraphicFramePr>
        <p:xfrm>
          <a:off x="125970" y="1347195"/>
          <a:ext cx="58938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610">
                  <a:extLst>
                    <a:ext uri="{9D8B030D-6E8A-4147-A177-3AD203B41FA5}">
                      <a16:colId xmlns:a16="http://schemas.microsoft.com/office/drawing/2014/main" val="5930721"/>
                    </a:ext>
                  </a:extLst>
                </a:gridCol>
                <a:gridCol w="1964610">
                  <a:extLst>
                    <a:ext uri="{9D8B030D-6E8A-4147-A177-3AD203B41FA5}">
                      <a16:colId xmlns:a16="http://schemas.microsoft.com/office/drawing/2014/main" val="95815794"/>
                    </a:ext>
                  </a:extLst>
                </a:gridCol>
                <a:gridCol w="1964610">
                  <a:extLst>
                    <a:ext uri="{9D8B030D-6E8A-4147-A177-3AD203B41FA5}">
                      <a16:colId xmlns:a16="http://schemas.microsoft.com/office/drawing/2014/main" val="189723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15577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02952CFF-33CF-15EE-B672-F30BDBD1C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265266"/>
              </p:ext>
            </p:extLst>
          </p:nvPr>
        </p:nvGraphicFramePr>
        <p:xfrm>
          <a:off x="125968" y="2592714"/>
          <a:ext cx="119400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020">
                  <a:extLst>
                    <a:ext uri="{9D8B030D-6E8A-4147-A177-3AD203B41FA5}">
                      <a16:colId xmlns:a16="http://schemas.microsoft.com/office/drawing/2014/main" val="5930721"/>
                    </a:ext>
                  </a:extLst>
                </a:gridCol>
                <a:gridCol w="3980020">
                  <a:extLst>
                    <a:ext uri="{9D8B030D-6E8A-4147-A177-3AD203B41FA5}">
                      <a16:colId xmlns:a16="http://schemas.microsoft.com/office/drawing/2014/main" val="95815794"/>
                    </a:ext>
                  </a:extLst>
                </a:gridCol>
                <a:gridCol w="3980020">
                  <a:extLst>
                    <a:ext uri="{9D8B030D-6E8A-4147-A177-3AD203B41FA5}">
                      <a16:colId xmlns:a16="http://schemas.microsoft.com/office/drawing/2014/main" val="189723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15577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24B1AADA-B8B2-9DE4-2B40-955C8BE8E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574690"/>
              </p:ext>
            </p:extLst>
          </p:nvPr>
        </p:nvGraphicFramePr>
        <p:xfrm>
          <a:off x="125968" y="4216589"/>
          <a:ext cx="58938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610">
                  <a:extLst>
                    <a:ext uri="{9D8B030D-6E8A-4147-A177-3AD203B41FA5}">
                      <a16:colId xmlns:a16="http://schemas.microsoft.com/office/drawing/2014/main" val="5930721"/>
                    </a:ext>
                  </a:extLst>
                </a:gridCol>
                <a:gridCol w="1964610">
                  <a:extLst>
                    <a:ext uri="{9D8B030D-6E8A-4147-A177-3AD203B41FA5}">
                      <a16:colId xmlns:a16="http://schemas.microsoft.com/office/drawing/2014/main" val="95815794"/>
                    </a:ext>
                  </a:extLst>
                </a:gridCol>
                <a:gridCol w="1964610">
                  <a:extLst>
                    <a:ext uri="{9D8B030D-6E8A-4147-A177-3AD203B41FA5}">
                      <a16:colId xmlns:a16="http://schemas.microsoft.com/office/drawing/2014/main" val="189723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4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65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15577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6F7796FD-7A2F-85DA-2C73-A7986AE06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27078"/>
              </p:ext>
            </p:extLst>
          </p:nvPr>
        </p:nvGraphicFramePr>
        <p:xfrm>
          <a:off x="125968" y="5510805"/>
          <a:ext cx="119400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020">
                  <a:extLst>
                    <a:ext uri="{9D8B030D-6E8A-4147-A177-3AD203B41FA5}">
                      <a16:colId xmlns:a16="http://schemas.microsoft.com/office/drawing/2014/main" val="5930721"/>
                    </a:ext>
                  </a:extLst>
                </a:gridCol>
                <a:gridCol w="3980020">
                  <a:extLst>
                    <a:ext uri="{9D8B030D-6E8A-4147-A177-3AD203B41FA5}">
                      <a16:colId xmlns:a16="http://schemas.microsoft.com/office/drawing/2014/main" val="95815794"/>
                    </a:ext>
                  </a:extLst>
                </a:gridCol>
                <a:gridCol w="3980020">
                  <a:extLst>
                    <a:ext uri="{9D8B030D-6E8A-4147-A177-3AD203B41FA5}">
                      <a16:colId xmlns:a16="http://schemas.microsoft.com/office/drawing/2014/main" val="1897232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4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65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1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51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FC0EA-D556-8E2A-7D9D-798D6C5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367776-7A7B-93E0-CD83-A6528ECA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3C0D6-9A3C-BD21-A899-F0A3AABF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4E0B6E-945A-2E49-D257-34F89DA8B594}"/>
              </a:ext>
            </a:extLst>
          </p:cNvPr>
          <p:cNvSpPr txBox="1"/>
          <p:nvPr/>
        </p:nvSpPr>
        <p:spPr>
          <a:xfrm>
            <a:off x="-809338" y="13092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36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FAC32-585E-3A6A-2398-072BDED4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BB8BDE-2C62-7A94-EA57-2905A0F71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6130C0-32DE-A52E-67B8-E1AB4BF39A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85E263-675E-C473-9CC5-3C5CD193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7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A06C5-5728-FB34-BE1B-BBE643D6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2BOX</a:t>
            </a:r>
            <a:r>
              <a:rPr lang="ja-JP" altLang="en-US" dirty="0"/>
              <a:t>テンプレート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21CBDD-3752-366B-A17B-79227B6731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772A11-6F31-511A-EC00-96CB165AF5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684A6F-4B49-A5D8-A529-CDFD5E44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24B1302-D9D3-03A3-FDAC-D7BAA03FA84F}"/>
              </a:ext>
            </a:extLst>
          </p:cNvPr>
          <p:cNvSpPr/>
          <p:nvPr/>
        </p:nvSpPr>
        <p:spPr>
          <a:xfrm>
            <a:off x="125969" y="813575"/>
            <a:ext cx="5893831" cy="5563759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EACC16E-5722-A959-97EE-5F177F012344}"/>
              </a:ext>
            </a:extLst>
          </p:cNvPr>
          <p:cNvSpPr/>
          <p:nvPr/>
        </p:nvSpPr>
        <p:spPr>
          <a:xfrm>
            <a:off x="6172198" y="813574"/>
            <a:ext cx="5893831" cy="5563759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34871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B2C852-3C80-86AC-23A9-585B10E4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3BOX</a:t>
            </a:r>
            <a:r>
              <a:rPr lang="ja-JP" altLang="en-US" dirty="0"/>
              <a:t>テンプレート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572A7B-4267-85BE-1F19-45138918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88ACEF-A7C4-3676-96F1-216CE348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B42A8C6-2C21-DB40-6B7C-CF06B0126152}"/>
              </a:ext>
            </a:extLst>
          </p:cNvPr>
          <p:cNvSpPr/>
          <p:nvPr/>
        </p:nvSpPr>
        <p:spPr>
          <a:xfrm>
            <a:off x="125969" y="813575"/>
            <a:ext cx="3780000" cy="5563759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B85FEA8-A5FF-C589-B1BF-F3777BA5E206}"/>
              </a:ext>
            </a:extLst>
          </p:cNvPr>
          <p:cNvSpPr/>
          <p:nvPr/>
        </p:nvSpPr>
        <p:spPr>
          <a:xfrm>
            <a:off x="4206000" y="813575"/>
            <a:ext cx="3780000" cy="5563759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87F3500-01F3-7970-2F69-B03FC7E88CD0}"/>
              </a:ext>
            </a:extLst>
          </p:cNvPr>
          <p:cNvSpPr/>
          <p:nvPr/>
        </p:nvSpPr>
        <p:spPr>
          <a:xfrm>
            <a:off x="8286031" y="813575"/>
            <a:ext cx="3780000" cy="5563759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219344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FEEF4A-DD8F-B0C8-FB1D-B4405556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499B7-FA7D-AB71-5287-FF1DEAA1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4BOX</a:t>
            </a:r>
            <a:r>
              <a:rPr lang="ja-JP" altLang="en-US" dirty="0"/>
              <a:t>テンプレート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15D794-B8A9-54C6-92B4-D2AB88682D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0FC5C2-2EE1-1821-1F63-B5191606A4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CBC8A6-12EC-63B3-3631-B66BE01E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ABAA079-3331-27E6-4469-BE7F40462375}"/>
              </a:ext>
            </a:extLst>
          </p:cNvPr>
          <p:cNvSpPr/>
          <p:nvPr/>
        </p:nvSpPr>
        <p:spPr>
          <a:xfrm>
            <a:off x="125969" y="813575"/>
            <a:ext cx="5893831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7424663-D671-533A-5183-FF1FBA679350}"/>
              </a:ext>
            </a:extLst>
          </p:cNvPr>
          <p:cNvSpPr/>
          <p:nvPr/>
        </p:nvSpPr>
        <p:spPr>
          <a:xfrm>
            <a:off x="125968" y="3677333"/>
            <a:ext cx="5893831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FE860BC-CBA7-C814-A392-56E24E72C11D}"/>
              </a:ext>
            </a:extLst>
          </p:cNvPr>
          <p:cNvSpPr/>
          <p:nvPr/>
        </p:nvSpPr>
        <p:spPr>
          <a:xfrm>
            <a:off x="6172199" y="813575"/>
            <a:ext cx="5893831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971B9B8-097A-16AD-6E1C-60243D2E189B}"/>
              </a:ext>
            </a:extLst>
          </p:cNvPr>
          <p:cNvSpPr/>
          <p:nvPr/>
        </p:nvSpPr>
        <p:spPr>
          <a:xfrm>
            <a:off x="6172198" y="3677333"/>
            <a:ext cx="5893831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ボックスタイトルを入力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134629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DF4193-3695-6CFB-5BE6-72867537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5B84E-0377-F358-A003-C525816F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6BOX</a:t>
            </a:r>
            <a:r>
              <a:rPr lang="ja-JP" altLang="en-US" dirty="0"/>
              <a:t>テンプレート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303C74-2FA5-E01C-FC7F-BB7ED1325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C4DA51-1FC0-7277-31C2-09CD0B78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BB15C4B-912C-C893-CAE3-64E1EEEC102C}"/>
              </a:ext>
            </a:extLst>
          </p:cNvPr>
          <p:cNvSpPr/>
          <p:nvPr/>
        </p:nvSpPr>
        <p:spPr>
          <a:xfrm>
            <a:off x="125969" y="813575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7297884-4431-51E5-313F-6EE8F1359F5D}"/>
              </a:ext>
            </a:extLst>
          </p:cNvPr>
          <p:cNvSpPr/>
          <p:nvPr/>
        </p:nvSpPr>
        <p:spPr>
          <a:xfrm>
            <a:off x="4206000" y="813575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00FA8BA-1219-27EE-10DB-ED85978A72E4}"/>
              </a:ext>
            </a:extLst>
          </p:cNvPr>
          <p:cNvSpPr/>
          <p:nvPr/>
        </p:nvSpPr>
        <p:spPr>
          <a:xfrm>
            <a:off x="8286031" y="813575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EC34A7F-F7CD-5380-12BB-772514657E8D}"/>
              </a:ext>
            </a:extLst>
          </p:cNvPr>
          <p:cNvSpPr/>
          <p:nvPr/>
        </p:nvSpPr>
        <p:spPr>
          <a:xfrm>
            <a:off x="125969" y="3677336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9B1B259-8DCF-B3E9-F8C5-CDB31F0B9B47}"/>
              </a:ext>
            </a:extLst>
          </p:cNvPr>
          <p:cNvSpPr/>
          <p:nvPr/>
        </p:nvSpPr>
        <p:spPr>
          <a:xfrm>
            <a:off x="4206000" y="3677336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7E1CECE-DC38-533A-A09D-689BDE8CEE44}"/>
              </a:ext>
            </a:extLst>
          </p:cNvPr>
          <p:cNvSpPr/>
          <p:nvPr/>
        </p:nvSpPr>
        <p:spPr>
          <a:xfrm>
            <a:off x="8286031" y="3677336"/>
            <a:ext cx="3780000" cy="2700000"/>
          </a:xfrm>
          <a:prstGeom prst="roundRect">
            <a:avLst>
              <a:gd name="adj" fmla="val 5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ボックスタイトル</a:t>
            </a:r>
            <a:endParaRPr kumimoji="1" lang="en-US" altLang="ja-JP" sz="28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143328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ゴシック">
      <a:majorFont>
        <a:latin typeface="BIZ UDゴシック"/>
        <a:ea typeface="BIZ UDゴシック"/>
        <a:cs typeface=""/>
      </a:majorFont>
      <a:minorFont>
        <a:latin typeface="BIZ UDゴシック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90000" tIns="90000" rIns="90000" bIns="90000" rtlCol="0" anchor="ctr">
        <a:noAutofit/>
      </a:bodyPr>
      <a:lstStyle>
        <a:defPPr algn="ctr">
          <a:defRPr kumimoji="1" sz="2400" dirty="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9536</TotalTime>
  <Words>603</Words>
  <Application>Microsoft Office PowerPoint</Application>
  <PresentationFormat>ワイド画面</PresentationFormat>
  <Paragraphs>112</Paragraphs>
  <Slides>12</Slides>
  <Notes>0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UDGothic</vt:lpstr>
      <vt:lpstr>游ゴシック</vt:lpstr>
      <vt:lpstr>Arial</vt:lpstr>
      <vt:lpstr>Cambria Math</vt:lpstr>
      <vt:lpstr>Office テーマ</vt:lpstr>
      <vt:lpstr>PowerPoint プレゼンテーション</vt:lpstr>
      <vt:lpstr>スタイル規約</vt:lpstr>
      <vt:lpstr>数式の記法</vt:lpstr>
      <vt:lpstr>アルゴリズムの記法</vt:lpstr>
      <vt:lpstr>引用の記法</vt:lpstr>
      <vt:lpstr>表テンプレート</vt:lpstr>
      <vt:lpstr>1カラム テンプレート</vt:lpstr>
      <vt:lpstr>2カラム テンプレート</vt:lpstr>
      <vt:lpstr>2BOXテンプレート</vt:lpstr>
      <vt:lpstr>3BOXテンプレート</vt:lpstr>
      <vt:lpstr>4BOXテンプレート</vt:lpstr>
      <vt:lpstr>6BOXテンプレート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125</cp:revision>
  <dcterms:created xsi:type="dcterms:W3CDTF">2024-10-01T23:47:44Z</dcterms:created>
  <dcterms:modified xsi:type="dcterms:W3CDTF">2026-09-27T11:49:04Z</dcterms:modified>
</cp:coreProperties>
</file>