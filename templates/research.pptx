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61" r:id="rId2"/>
    <p:sldId id="264" r:id="rId3"/>
    <p:sldId id="259" r:id="rId4"/>
    <p:sldId id="265" r:id="rId5"/>
    <p:sldId id="258" r:id="rId6"/>
    <p:sldId id="262" r:id="rId7"/>
    <p:sldId id="263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73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16" autoAdjust="0"/>
    <p:restoredTop sz="97173"/>
  </p:normalViewPr>
  <p:slideViewPr>
    <p:cSldViewPr snapToGrid="0" showGuides="1">
      <p:cViewPr varScale="1">
        <p:scale>
          <a:sx n="107" d="100"/>
          <a:sy n="107" d="100"/>
        </p:scale>
        <p:origin x="1122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27" d="100"/>
          <a:sy n="127" d="100"/>
        </p:scale>
        <p:origin x="4472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C25AD575-7CC8-6AC7-FE6A-DFDD27A8CA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0F27B0E-A93B-2F38-E0FC-31F597E5E21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5D4A56-4347-7E47-805C-A4CC550EB7FE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E0BCC8F-962C-B670-E032-0E7AD40CE6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585014A-F3B1-11F7-8AE0-A98B75A68B6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D713F-9469-214B-ACCC-5A39EEDA84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347468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171477-B974-724E-B5A2-6B597495C72D}" type="datetimeFigureOut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546392-E619-9147-B7CA-0C7C9A3ADD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0577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FAB798-492E-22C6-68CE-0FBA475D2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D0FF2-8DB4-A340-91B5-0FC7B27917C5}" type="datetime1">
              <a:rPr kumimoji="1" lang="ja-JP" altLang="en-US" smtClean="0"/>
              <a:t>2026/8/24</a:t>
            </a:fld>
            <a:endParaRPr kumimoji="1" lang="ja-JP" alt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7115F2-D155-73B0-C019-2BAC5210E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8BF458-E430-27DE-37E5-3E1C0FBAB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8E8B333-7560-E390-D814-F6BEF1BF4D17}"/>
              </a:ext>
            </a:extLst>
          </p:cNvPr>
          <p:cNvSpPr/>
          <p:nvPr userDrawn="1"/>
        </p:nvSpPr>
        <p:spPr>
          <a:xfrm>
            <a:off x="0" y="0"/>
            <a:ext cx="12192000" cy="410977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D85CBEE-6029-4F7A-A802-D89A4604B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97569" y="772319"/>
            <a:ext cx="9144000" cy="2656681"/>
          </a:xfrm>
        </p:spPr>
        <p:txBody>
          <a:bodyPr anchor="ctr" anchorCtr="0"/>
          <a:lstStyle>
            <a:lvl1pPr algn="ctr">
              <a:defRPr sz="60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5C98D89-2B71-F08E-900C-FBD12F49A2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39531"/>
            <a:ext cx="9144000" cy="1210860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pic>
        <p:nvPicPr>
          <p:cNvPr id="8" name="Picture 2" descr="湘南工科大学">
            <a:extLst>
              <a:ext uri="{FF2B5EF4-FFF2-40B4-BE49-F238E27FC236}">
                <a16:creationId xmlns:a16="http://schemas.microsoft.com/office/drawing/2014/main" id="{F03C5772-EB15-2D75-0B66-C9A0CD990F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41931" y="5780147"/>
            <a:ext cx="2124100" cy="61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図 8" descr="テキスト が含まれている画像&#10;&#10;自動的に生成された説明">
            <a:extLst>
              <a:ext uri="{FF2B5EF4-FFF2-40B4-BE49-F238E27FC236}">
                <a16:creationId xmlns:a16="http://schemas.microsoft.com/office/drawing/2014/main" id="{111DEA92-C74A-8552-E6EA-B0CDBEF8394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867" y="5780147"/>
            <a:ext cx="2658064" cy="62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69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2CA17C-0301-F865-6498-A2374858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6070556-C1B8-17F2-5E6D-E9BE9C3CD9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83D077A-EEA2-D6D0-BB2A-2060171A6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D38D8-431E-2148-A67E-C99D9FDB14AB}" type="datetime1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576F80-2940-EA1C-33F0-C4F03AC30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812638-AAE1-136E-81F2-778F23402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88123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21BE25-8097-E1B2-F1F1-4F9F443CE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927930-B44A-5F80-BF0B-ECC9747D94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969" y="813576"/>
            <a:ext cx="5893831" cy="556375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FA00B66-3C0D-487C-8999-2BBE7A5DD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813576"/>
            <a:ext cx="5893831" cy="556375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70C5A16-605B-678E-7E15-FE95593A5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C9B8-7821-394F-9014-0DAE5FBA846C}" type="datetime1">
              <a:rPr kumimoji="1" lang="ja-JP" altLang="en-US" smtClean="0"/>
              <a:t>2026/8/24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8443E2A-7AA8-41BD-0C20-3B2E08961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4085C57-3338-2D92-76F8-7418B0047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6369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36C7B59-9C0A-A8AF-CF51-2063AD5A1677}"/>
              </a:ext>
            </a:extLst>
          </p:cNvPr>
          <p:cNvSpPr/>
          <p:nvPr userDrawn="1"/>
        </p:nvSpPr>
        <p:spPr>
          <a:xfrm>
            <a:off x="0" y="6445188"/>
            <a:ext cx="12192000" cy="41281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3A1BB62-5804-22AC-B506-505B96B77B5B}"/>
              </a:ext>
            </a:extLst>
          </p:cNvPr>
          <p:cNvSpPr/>
          <p:nvPr userDrawn="1"/>
        </p:nvSpPr>
        <p:spPr>
          <a:xfrm>
            <a:off x="0" y="1"/>
            <a:ext cx="12192000" cy="73684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C86A81B-5CD1-B0C3-31EB-59E19BFD9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9" y="76732"/>
            <a:ext cx="11940062" cy="571337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066C32B-C8AA-5B42-740A-64859E5EC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969" y="813577"/>
            <a:ext cx="11940062" cy="55637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6919BA-5EC6-6F21-A52B-1C6DA85935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969" y="6542843"/>
            <a:ext cx="2743200" cy="2473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  <a:latin typeface="BIZ UDGothic" panose="020B0400000000000000" pitchFamily="49" charset="-128"/>
                <a:ea typeface="BIZ UDGothic" panose="020B0400000000000000" pitchFamily="49" charset="-128"/>
              </a:defRPr>
            </a:lvl1pPr>
          </a:lstStyle>
          <a:p>
            <a:fld id="{C8DD7B46-612B-4747-AC0E-56DE60A5EB0D}" type="datetime1">
              <a:rPr lang="ja-JP" altLang="en-US" smtClean="0"/>
              <a:t>2026/8/24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D700D3-7F2D-6840-2666-703A5F65F0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42843"/>
            <a:ext cx="4114800" cy="2473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  <a:latin typeface="BIZ UDGothic" panose="020B0400000000000000" pitchFamily="49" charset="-128"/>
                <a:ea typeface="BIZ UDGothic" panose="020B0400000000000000" pitchFamily="49" charset="-128"/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BF3CFF-1290-6EDC-C4B9-F4FB9C913D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22831" y="6542843"/>
            <a:ext cx="2743200" cy="2473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BIZ UDGothic" panose="020B0400000000000000" pitchFamily="49" charset="-128"/>
                <a:ea typeface="BIZ UDGothic" panose="020B0400000000000000" pitchFamily="49" charset="-128"/>
              </a:defRPr>
            </a:lvl1pPr>
          </a:lstStyle>
          <a:p>
            <a:fld id="{9C0FEE9A-3EB6-844C-8184-5D808DF01412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10469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4000" kern="1200">
          <a:solidFill>
            <a:schemeClr val="bg1"/>
          </a:solidFill>
          <a:latin typeface="BIZ UDGothic" panose="020B0400000000000000" pitchFamily="49" charset="-128"/>
          <a:ea typeface="BIZ UDGothic" panose="020B0400000000000000" pitchFamily="49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BIZ UDGothic" panose="020B0400000000000000" pitchFamily="49" charset="-128"/>
          <a:ea typeface="BIZ UDGothic" panose="020B0400000000000000" pitchFamily="49" charset="-128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BIZ UDGothic" panose="020B0400000000000000" pitchFamily="49" charset="-128"/>
          <a:ea typeface="BIZ UDGothic" panose="020B0400000000000000" pitchFamily="49" charset="-128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BIZ UDGothic" panose="020B0400000000000000" pitchFamily="49" charset="-128"/>
          <a:ea typeface="BIZ UDGothic" panose="020B0400000000000000" pitchFamily="49" charset="-128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BIZ UDGothic" panose="020B0400000000000000" pitchFamily="49" charset="-128"/>
          <a:ea typeface="BIZ UDGothic" panose="020B0400000000000000" pitchFamily="49" charset="-128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BIZ UDGothic" panose="020B0400000000000000" pitchFamily="49" charset="-128"/>
          <a:ea typeface="BIZ UDGothic" panose="020B0400000000000000" pitchFamily="49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eice.org/jpn/shiori/ess_2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258E456A-A7AB-1C1B-45E8-652629165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kumimoji="1" lang="ja-JP" altLang="en-US" smtClean="0"/>
              <a:t>1</a:t>
            </a:fld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7EC0B609-E426-518F-DD92-521D4980ED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506" y="772319"/>
            <a:ext cx="11940525" cy="2656681"/>
          </a:xfrm>
        </p:spPr>
        <p:txBody>
          <a:bodyPr/>
          <a:lstStyle/>
          <a:p>
            <a:pPr>
              <a:lnSpc>
                <a:spcPct val="100000"/>
              </a:lnSpc>
            </a:pPr>
            <a:endParaRPr kumimoji="1" lang="ja-JP" altLang="en-US"/>
          </a:p>
        </p:txBody>
      </p:sp>
      <p:sp>
        <p:nvSpPr>
          <p:cNvPr id="4" name="字幕 3">
            <a:extLst>
              <a:ext uri="{FF2B5EF4-FFF2-40B4-BE49-F238E27FC236}">
                <a16:creationId xmlns:a16="http://schemas.microsoft.com/office/drawing/2014/main" id="{5C8109D2-3662-CAD0-009C-A93BCAC1A1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506" y="4339531"/>
            <a:ext cx="11940524" cy="1210860"/>
          </a:xfrm>
        </p:spPr>
        <p:txBody>
          <a:bodyPr/>
          <a:lstStyle/>
          <a:p>
            <a:pPr>
              <a:lnSpc>
                <a:spcPct val="100000"/>
              </a:lnSpc>
            </a:pP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5469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CE8689-3455-BE5B-A835-9E1771B7D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スタイル規約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E9F859-FEC8-F937-27BE-12294E85F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ja-JP" altLang="en-US" dirty="0"/>
              <a:t>・文字の大きさ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インデント</a:t>
            </a:r>
            <a:r>
              <a:rPr lang="en-US" altLang="ja-JP" dirty="0"/>
              <a:t>0 28</a:t>
            </a:r>
            <a:r>
              <a:rPr lang="ja-JP" altLang="en-US" dirty="0"/>
              <a:t>ポイント</a:t>
            </a:r>
            <a:r>
              <a:rPr lang="en-US" altLang="ja-JP" dirty="0"/>
              <a:t>;</a:t>
            </a:r>
            <a:r>
              <a:rPr lang="ja-JP" altLang="en-US" dirty="0"/>
              <a:t> 標準的な文章に用いる</a:t>
            </a:r>
            <a:endParaRPr lang="en-US" altLang="ja-JP" dirty="0"/>
          </a:p>
          <a:p>
            <a:pPr marL="457200" lvl="1" indent="0">
              <a:buNone/>
            </a:pPr>
            <a:r>
              <a:rPr lang="ja-JP" altLang="en-US" dirty="0"/>
              <a:t>インデント</a:t>
            </a:r>
            <a:r>
              <a:rPr lang="en-US" altLang="ja-JP" dirty="0"/>
              <a:t>1 24</a:t>
            </a:r>
            <a:r>
              <a:rPr lang="ja-JP" altLang="en-US" dirty="0"/>
              <a:t>ポイント</a:t>
            </a:r>
            <a:r>
              <a:rPr lang="en-US" altLang="ja-JP" dirty="0"/>
              <a:t>; </a:t>
            </a:r>
            <a:r>
              <a:rPr lang="ja-JP" altLang="en-US" dirty="0"/>
              <a:t>注釈文等の相対的な重要度の低い文章に用いる</a:t>
            </a:r>
            <a:endParaRPr lang="en-US" altLang="ja-JP" dirty="0"/>
          </a:p>
          <a:p>
            <a:pPr marL="914400" lvl="2" indent="0">
              <a:buNone/>
            </a:pPr>
            <a:r>
              <a:rPr lang="ja-JP" altLang="en-US" dirty="0"/>
              <a:t>インデント</a:t>
            </a:r>
            <a:r>
              <a:rPr lang="en-US" altLang="ja-JP" dirty="0"/>
              <a:t>2</a:t>
            </a:r>
            <a:r>
              <a:rPr lang="ja-JP" altLang="en-US" dirty="0"/>
              <a:t> </a:t>
            </a:r>
            <a:r>
              <a:rPr lang="en-US" altLang="ja-JP" dirty="0"/>
              <a:t>20</a:t>
            </a:r>
            <a:r>
              <a:rPr lang="ja-JP" altLang="en-US" dirty="0"/>
              <a:t>ポイント</a:t>
            </a:r>
            <a:r>
              <a:rPr lang="en-US" altLang="ja-JP" dirty="0"/>
              <a:t>;</a:t>
            </a:r>
            <a:r>
              <a:rPr lang="ja-JP" altLang="en-US" dirty="0"/>
              <a:t> 図や表などで</a:t>
            </a:r>
            <a:r>
              <a:rPr lang="en-US" altLang="ja-JP" dirty="0"/>
              <a:t>24</a:t>
            </a:r>
            <a:r>
              <a:rPr lang="ja-JP" altLang="en-US" dirty="0"/>
              <a:t>ポイント以上に設定できない場合にのみ用いる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・箇条書き，リスト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箇条書きのマークは</a:t>
            </a:r>
            <a:r>
              <a:rPr lang="en-US" altLang="ja-JP" dirty="0"/>
              <a:t>PowerPoint</a:t>
            </a:r>
            <a:r>
              <a:rPr lang="ja-JP" altLang="en-US" dirty="0"/>
              <a:t>の機能ではなく「・</a:t>
            </a:r>
            <a:r>
              <a:rPr lang="en-US" altLang="ja-JP" dirty="0"/>
              <a:t>(</a:t>
            </a:r>
            <a:r>
              <a:rPr lang="ja-JP" altLang="en-US" dirty="0"/>
              <a:t>てん</a:t>
            </a:r>
            <a:r>
              <a:rPr lang="en-US" altLang="ja-JP" dirty="0"/>
              <a:t>)</a:t>
            </a:r>
            <a:r>
              <a:rPr lang="ja-JP" altLang="en-US" dirty="0"/>
              <a:t>」を用いる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リストの番号は</a:t>
            </a:r>
            <a:r>
              <a:rPr lang="en-US" altLang="ja-JP" dirty="0"/>
              <a:t>PowerPoint</a:t>
            </a:r>
            <a:r>
              <a:rPr lang="ja-JP" altLang="en-US" dirty="0"/>
              <a:t>の機能ではなく「</a:t>
            </a:r>
            <a:r>
              <a:rPr lang="en-US" altLang="ja-JP" dirty="0"/>
              <a:t>1.</a:t>
            </a:r>
            <a:r>
              <a:rPr lang="ja-JP" altLang="en-US" dirty="0"/>
              <a:t>」，「</a:t>
            </a:r>
            <a:r>
              <a:rPr lang="en-US" altLang="ja-JP" dirty="0"/>
              <a:t>2.</a:t>
            </a:r>
            <a:r>
              <a:rPr lang="ja-JP" altLang="en-US" dirty="0"/>
              <a:t>」と記述する</a:t>
            </a:r>
          </a:p>
          <a:p>
            <a:pPr marL="0" indent="0">
              <a:buNone/>
            </a:pP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9F657BD-C951-2710-F4A7-0F66499EB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0971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0C7754-3B39-F266-CD34-E5495FFAA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数式の記法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E1F12A29-277C-E430-D0F1-180C40B107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kumimoji="1" lang="ja-JP" altLang="en-US" dirty="0"/>
                  <a:t>式番号をテキストボックスで式の</a:t>
                </a:r>
                <a:r>
                  <a:rPr lang="ja-JP" altLang="en-US" dirty="0"/>
                  <a:t>右側</a:t>
                </a:r>
                <a:r>
                  <a:rPr kumimoji="1" lang="ja-JP" altLang="en-US" dirty="0"/>
                  <a:t>に配置する</a:t>
                </a:r>
                <a:endParaRPr kumimoji="1" lang="en-US" altLang="ja-JP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𝑎𝑥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altLang="ja-JP" dirty="0"/>
              </a:p>
              <a:p>
                <a:pPr marL="0" indent="0">
                  <a:buNone/>
                </a:pPr>
                <a:endParaRPr kumimoji="1" lang="en-US" altLang="ja-JP" dirty="0"/>
              </a:p>
              <a:p>
                <a:pPr marL="0" indent="0">
                  <a:buNone/>
                </a:pPr>
                <a:r>
                  <a:rPr lang="ja-JP" altLang="en-US" dirty="0"/>
                  <a:t>式中の変数について説明を</a:t>
                </a:r>
                <a:r>
                  <a:rPr lang="ja-JP" altLang="en-US" dirty="0">
                    <a:solidFill>
                      <a:srgbClr val="FF0000"/>
                    </a:solidFill>
                  </a:rPr>
                  <a:t>必ず</a:t>
                </a:r>
                <a:r>
                  <a:rPr lang="ja-JP" altLang="en-US" dirty="0"/>
                  <a:t>記述する</a:t>
                </a:r>
                <a:endParaRPr lang="en-US" altLang="ja-JP" dirty="0"/>
              </a:p>
              <a:p>
                <a:pPr marL="0" indent="0">
                  <a:buNone/>
                </a:pPr>
                <a:r>
                  <a:rPr kumimoji="1" lang="en-US" altLang="ja-JP" dirty="0"/>
                  <a:t>※ </a:t>
                </a:r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kumimoji="1" lang="en-US" altLang="ja-JP" dirty="0"/>
                  <a:t> : </a:t>
                </a:r>
                <a:r>
                  <a:rPr kumimoji="1" lang="ja-JP" altLang="en-US" dirty="0"/>
                  <a:t>傾き，</a:t>
                </a:r>
                <a:r>
                  <a:rPr lang="en-US" altLang="ja-JP" b="0" dirty="0"/>
                  <a:t> </a:t>
                </a:r>
                <a14:m>
                  <m:oMath xmlns:m="http://schemas.openxmlformats.org/officeDocument/2006/math"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kumimoji="1" lang="en-US" altLang="ja-JP" dirty="0"/>
                  <a:t> : </a:t>
                </a:r>
                <a:r>
                  <a:rPr kumimoji="1" lang="ja-JP" altLang="en-US" dirty="0"/>
                  <a:t>切片</a:t>
                </a:r>
                <a:endParaRPr kumimoji="1" lang="en-US" altLang="ja-JP" dirty="0"/>
              </a:p>
              <a:p>
                <a:pPr marL="0" indent="0">
                  <a:buNone/>
                </a:pPr>
                <a:endParaRPr lang="en-US" altLang="ja-JP" dirty="0"/>
              </a:p>
              <a:p>
                <a:pPr marL="0" indent="0">
                  <a:buNone/>
                </a:pPr>
                <a:r>
                  <a:rPr lang="ja-JP" altLang="en-US" dirty="0"/>
                  <a:t>・スカラ，ベクトル，行列の記法</a:t>
                </a:r>
                <a:endParaRPr lang="en-US" altLang="ja-JP" dirty="0"/>
              </a:p>
              <a:p>
                <a:pPr marL="0" indent="0">
                  <a:buNone/>
                </a:pPr>
                <a:endParaRPr lang="en-US" altLang="ja-JP" dirty="0"/>
              </a:p>
            </p:txBody>
          </p:sp>
        </mc:Choice>
        <mc:Fallback>
          <p:sp>
            <p:nvSpPr>
              <p:cNvPr id="3" name="コンテンツ プレースホルダー 2">
                <a:extLst>
                  <a:ext uri="{FF2B5EF4-FFF2-40B4-BE49-F238E27FC236}">
                    <a16:creationId xmlns:a16="http://schemas.microsoft.com/office/drawing/2014/main" id="{E1F12A29-277C-E430-D0F1-180C40B107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3" t="-109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74374C4-DFFF-F779-4E8E-672FFB900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kumimoji="1" lang="ja-JP" altLang="en-US" smtClean="0"/>
              <a:t>3</a:t>
            </a:fld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F7C83BC1-8D08-97C6-FAFF-08F7508EE3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4221325"/>
                  </p:ext>
                </p:extLst>
              </p:nvPr>
            </p:nvGraphicFramePr>
            <p:xfrm>
              <a:off x="125969" y="4535989"/>
              <a:ext cx="11940060" cy="200685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980020">
                      <a:extLst>
                        <a:ext uri="{9D8B030D-6E8A-4147-A177-3AD203B41FA5}">
                          <a16:colId xmlns:a16="http://schemas.microsoft.com/office/drawing/2014/main" val="539665676"/>
                        </a:ext>
                      </a:extLst>
                    </a:gridCol>
                    <a:gridCol w="3980020">
                      <a:extLst>
                        <a:ext uri="{9D8B030D-6E8A-4147-A177-3AD203B41FA5}">
                          <a16:colId xmlns:a16="http://schemas.microsoft.com/office/drawing/2014/main" val="233130230"/>
                        </a:ext>
                      </a:extLst>
                    </a:gridCol>
                    <a:gridCol w="3980020">
                      <a:extLst>
                        <a:ext uri="{9D8B030D-6E8A-4147-A177-3AD203B41FA5}">
                          <a16:colId xmlns:a16="http://schemas.microsoft.com/office/drawing/2014/main" val="111817583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 sz="2000" dirty="0">
                              <a:latin typeface="BIZ UDGothic" panose="020B0400000000000000" pitchFamily="49" charset="-128"/>
                              <a:ea typeface="BIZ UDGothic" panose="020B0400000000000000" pitchFamily="49" charset="-128"/>
                            </a:rPr>
                            <a:t>スカラ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 sz="2000" dirty="0">
                              <a:latin typeface="BIZ UDGothic" panose="020B0400000000000000" pitchFamily="49" charset="-128"/>
                              <a:ea typeface="BIZ UDGothic" panose="020B0400000000000000" pitchFamily="49" charset="-128"/>
                            </a:rPr>
                            <a:t>ベクトル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 sz="2000">
                              <a:latin typeface="BIZ UDGothic" panose="020B0400000000000000" pitchFamily="49" charset="-128"/>
                              <a:ea typeface="BIZ UDGothic" panose="020B0400000000000000" pitchFamily="49" charset="-128"/>
                            </a:rPr>
                            <a:t>行列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220613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</a:rPr>
                                  <m:t>=0,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sSup>
                                  <m:sSupPr>
                                    <m:ctrlPr>
                                      <a:rPr kumimoji="1" lang="en-US" altLang="ja-JP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1" lang="en-US" altLang="ja-JP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p>
                                    <m:r>
                                      <a:rPr kumimoji="1" lang="en-US" altLang="ja-JP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kumimoji="1" lang="ja-JP" altLang="en-US" sz="2000" dirty="0">
                            <a:latin typeface="BIZ UDGothic" panose="020B0400000000000000" pitchFamily="49" charset="-128"/>
                            <a:ea typeface="BIZ UDGothic" panose="020B0400000000000000" pitchFamily="49" charset="-128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kumimoji="1" lang="en-US" altLang="ja-JP" sz="2000" b="1" i="0" smtClean="0">
                                    <a:latin typeface="Cambria Math" panose="02040503050406030204" pitchFamily="18" charset="0"/>
                                    <a:ea typeface="BIZ UDGothic" panose="020B0400000000000000" pitchFamily="49" charset="-128"/>
                                  </a:rPr>
                                  <m:t>𝐚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  <a:ea typeface="BIZ UDGothic" panose="020B0400000000000000" pitchFamily="49" charset="-128"/>
                                  </a:rPr>
                                  <m:t>=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kumimoji="1" lang="en-US" altLang="ja-JP" sz="2000" b="0" i="1" smtClean="0">
                                        <a:latin typeface="Cambria Math" panose="02040503050406030204" pitchFamily="18" charset="0"/>
                                        <a:ea typeface="BIZ UDGothic" panose="020B0400000000000000" pitchFamily="49" charset="-128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1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kumimoji="1" lang="en-US" altLang="ja-JP" sz="2000" b="0" i="1" smtClean="0">
                                            <a:latin typeface="Cambria Math" panose="02040503050406030204" pitchFamily="18" charset="0"/>
                                            <a:ea typeface="BIZ UDGothic" panose="020B0400000000000000" pitchFamily="49" charset="-128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kumimoji="1" lang="en-US" altLang="ja-JP" sz="2000" b="0" i="1" smtClean="0">
                                                  <a:latin typeface="Cambria Math" panose="02040503050406030204" pitchFamily="18" charset="0"/>
                                                  <a:ea typeface="BIZ UDGothic" panose="020B0400000000000000" pitchFamily="49" charset="-128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kumimoji="1" lang="en-US" altLang="ja-JP" sz="2000" b="0" i="1" smtClean="0">
                                                  <a:latin typeface="Cambria Math" panose="02040503050406030204" pitchFamily="18" charset="0"/>
                                                  <a:ea typeface="BIZ UDGothic" panose="020B0400000000000000" pitchFamily="49" charset="-128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kumimoji="1" lang="en-US" altLang="ja-JP" sz="2000" b="0" i="1" smtClean="0">
                                                  <a:latin typeface="Cambria Math" panose="02040503050406030204" pitchFamily="18" charset="0"/>
                                                  <a:ea typeface="BIZ UDGothic" panose="020B0400000000000000" pitchFamily="49" charset="-128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kumimoji="1" lang="en-US" altLang="ja-JP" sz="2000" b="0" i="1" smtClean="0">
                                                  <a:latin typeface="Cambria Math" panose="02040503050406030204" pitchFamily="18" charset="0"/>
                                                  <a:ea typeface="BIZ UDGothic" panose="020B0400000000000000" pitchFamily="49" charset="-128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1" lang="en-US" altLang="ja-JP" sz="2000" b="0" i="1" smtClean="0">
                                                  <a:latin typeface="Cambria Math" panose="02040503050406030204" pitchFamily="18" charset="0"/>
                                                  <a:ea typeface="BIZ UDGothic" panose="020B0400000000000000" pitchFamily="49" charset="-128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kumimoji="1" lang="en-US" altLang="ja-JP" sz="2000" b="0" i="1" smtClean="0">
                                                  <a:latin typeface="Cambria Math" panose="02040503050406030204" pitchFamily="18" charset="0"/>
                                                  <a:ea typeface="BIZ UDGothic" panose="020B0400000000000000" pitchFamily="49" charset="-128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kumimoji="1" lang="en-US" altLang="ja-JP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kumimoji="1" lang="en-US" altLang="ja-JP" sz="2000" b="0" i="1" smtClean="0">
                                                  <a:latin typeface="Cambria Math" panose="02040503050406030204" pitchFamily="18" charset="0"/>
                                                  <a:ea typeface="BIZ UDGothic" panose="020B0400000000000000" pitchFamily="49" charset="-128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1" lang="en-US" altLang="ja-JP" sz="2000" b="0" i="1" smtClean="0">
                                                  <a:latin typeface="Cambria Math" panose="02040503050406030204" pitchFamily="18" charset="0"/>
                                                  <a:ea typeface="BIZ UDGothic" panose="020B0400000000000000" pitchFamily="49" charset="-128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kumimoji="1" lang="en-US" altLang="ja-JP" sz="2000" b="0" i="1" smtClean="0">
                                                  <a:latin typeface="Cambria Math" panose="02040503050406030204" pitchFamily="18" charset="0"/>
                                                  <a:ea typeface="BIZ UDGothic" panose="020B0400000000000000" pitchFamily="49" charset="-128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</m:d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  <a:ea typeface="BIZ UDGothic" panose="020B0400000000000000" pitchFamily="49" charset="-128"/>
                                  </a:rPr>
                                  <m:t>,</m:t>
                                </m:r>
                                <m:r>
                                  <a:rPr kumimoji="1" lang="en-US" altLang="ja-JP" sz="2000" b="1" i="0" smtClean="0">
                                    <a:latin typeface="Cambria Math" panose="02040503050406030204" pitchFamily="18" charset="0"/>
                                    <a:ea typeface="BIZ UDGothic" panose="020B0400000000000000" pitchFamily="49" charset="-128"/>
                                  </a:rPr>
                                  <m:t>𝐱</m:t>
                                </m:r>
                                <m:r>
                                  <a:rPr kumimoji="1" lang="en-US" altLang="ja-JP" sz="2000" b="0" i="1" smtClean="0">
                                    <a:latin typeface="Cambria Math" panose="02040503050406030204" pitchFamily="18" charset="0"/>
                                    <a:ea typeface="BIZ UDGothic" panose="020B0400000000000000" pitchFamily="49" charset="-128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kumimoji="1" lang="en-US" altLang="ja-JP" sz="2000" b="0" i="1" smtClean="0">
                                        <a:latin typeface="Cambria Math" panose="02040503050406030204" pitchFamily="18" charset="0"/>
                                        <a:ea typeface="BIZ UDGothic" panose="020B0400000000000000" pitchFamily="49" charset="-128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kumimoji="1" lang="en-US" altLang="ja-JP" sz="2000" b="0" i="1" smtClean="0">
                                            <a:latin typeface="Cambria Math" panose="02040503050406030204" pitchFamily="18" charset="0"/>
                                            <a:ea typeface="BIZ UDGothic" panose="020B0400000000000000" pitchFamily="49" charset="-128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4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kumimoji="1" lang="en-US" altLang="ja-JP" sz="2000" b="0" i="1" smtClean="0">
                                                <a:latin typeface="Cambria Math" panose="02040503050406030204" pitchFamily="18" charset="0"/>
                                                <a:ea typeface="BIZ UDGothic" panose="020B0400000000000000" pitchFamily="49" charset="-128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kumimoji="1" lang="en-US" altLang="ja-JP" sz="2000" b="0" i="1" smtClean="0">
                                                      <a:latin typeface="Cambria Math" panose="02040503050406030204" pitchFamily="18" charset="0"/>
                                                      <a:ea typeface="BIZ UDGothic" panose="020B0400000000000000" pitchFamily="49" charset="-128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kumimoji="1" lang="en-US" altLang="ja-JP" sz="2000" b="0" i="1" smtClean="0">
                                                      <a:latin typeface="Cambria Math" panose="02040503050406030204" pitchFamily="18" charset="0"/>
                                                      <a:ea typeface="BIZ UDGothic" panose="020B0400000000000000" pitchFamily="49" charset="-128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kumimoji="1" lang="en-US" altLang="ja-JP" sz="2000" b="0" i="1" smtClean="0">
                                                      <a:latin typeface="Cambria Math" panose="02040503050406030204" pitchFamily="18" charset="0"/>
                                                      <a:ea typeface="BIZ UDGothic" panose="020B0400000000000000" pitchFamily="49" charset="-128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</m:e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kumimoji="1" lang="en-US" altLang="ja-JP" sz="2000" b="0" i="1" smtClean="0">
                                                      <a:latin typeface="Cambria Math" panose="02040503050406030204" pitchFamily="18" charset="0"/>
                                                      <a:ea typeface="BIZ UDGothic" panose="020B0400000000000000" pitchFamily="49" charset="-128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kumimoji="1" lang="en-US" altLang="ja-JP" sz="2000" b="0" i="1" smtClean="0">
                                                      <a:latin typeface="Cambria Math" panose="02040503050406030204" pitchFamily="18" charset="0"/>
                                                      <a:ea typeface="BIZ UDGothic" panose="020B0400000000000000" pitchFamily="49" charset="-128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kumimoji="1" lang="en-US" altLang="ja-JP" sz="2000" b="0" i="1" smtClean="0">
                                                      <a:latin typeface="Cambria Math" panose="02040503050406030204" pitchFamily="18" charset="0"/>
                                                      <a:ea typeface="BIZ UDGothic" panose="020B0400000000000000" pitchFamily="49" charset="-128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</m:e>
                                            <m:e>
                                              <m:r>
                                                <a:rPr kumimoji="1" lang="en-US" altLang="ja-JP" sz="2000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⋯</m:t>
                                              </m:r>
                                            </m:e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kumimoji="1" lang="en-US" altLang="ja-JP" sz="2000" b="0" i="1" smtClean="0">
                                                      <a:latin typeface="Cambria Math" panose="02040503050406030204" pitchFamily="18" charset="0"/>
                                                      <a:ea typeface="BIZ UDGothic" panose="020B0400000000000000" pitchFamily="49" charset="-128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kumimoji="1" lang="en-US" altLang="ja-JP" sz="2000" b="0" i="1" smtClean="0">
                                                      <a:latin typeface="Cambria Math" panose="02040503050406030204" pitchFamily="18" charset="0"/>
                                                      <a:ea typeface="BIZ UDGothic" panose="020B0400000000000000" pitchFamily="49" charset="-128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kumimoji="1" lang="en-US" altLang="ja-JP" sz="2000" b="0" i="1" smtClean="0">
                                                      <a:latin typeface="Cambria Math" panose="02040503050406030204" pitchFamily="18" charset="0"/>
                                                      <a:ea typeface="BIZ UDGothic" panose="020B0400000000000000" pitchFamily="49" charset="-128"/>
                                                    </a:rPr>
                                                    <m:t>𝑑</m:t>
                                                  </m:r>
                                                </m:sub>
                                              </m:sSub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kumimoji="1" lang="en-US" altLang="ja-JP" sz="2000" b="0" i="1" smtClean="0">
                                        <a:latin typeface="Cambria Math" panose="02040503050406030204" pitchFamily="18" charset="0"/>
                                        <a:ea typeface="BIZ UDGothic" panose="020B0400000000000000" pitchFamily="49" charset="-128"/>
                                      </a:rPr>
                                      <m:t>𝑇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kumimoji="1" lang="ja-JP" altLang="en-US" sz="2000">
                            <a:latin typeface="BIZ UDGothic" panose="020B0400000000000000" pitchFamily="49" charset="-128"/>
                            <a:ea typeface="BIZ UDGothic" panose="020B0400000000000000" pitchFamily="49" charset="-128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ja-JP" sz="2000" b="1" i="0" smtClean="0">
                                    <a:latin typeface="Cambria Math" panose="02040503050406030204" pitchFamily="18" charset="0"/>
                                  </a:rPr>
                                  <m:t>𝐀</m:t>
                                </m:r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ja-JP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4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en-US" altLang="ja-JP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12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r>
                                            <a:rPr lang="en-US" altLang="ja-JP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21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22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r>
                                            <a:rPr lang="en-US" altLang="ja-JP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  <m:mr>
                                        <m:e>
                                          <m:r>
                                            <a:rPr lang="en-US" altLang="ja-JP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en-US" altLang="ja-JP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  <m:e>
                                          <m:r>
                                            <a:rPr lang="en-US" altLang="ja-JP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en-US" altLang="ja-JP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  <m:m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</m:e>
                                        <m:e>
                                          <m:r>
                                            <a:rPr lang="en-US" altLang="ja-JP" sz="20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ja-JP" sz="20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𝑅𝐶</m:t>
                                              </m:r>
                                            </m:sub>
                                          </m:sSub>
                                        </m:e>
                                      </m:mr>
                                    </m:m>
                                  </m:e>
                                </m:d>
                              </m:oMath>
                            </m:oMathPara>
                          </a14:m>
                          <a:endParaRPr kumimoji="1" lang="ja-JP" altLang="en-US" sz="2000">
                            <a:latin typeface="BIZ UDGothic" panose="020B0400000000000000" pitchFamily="49" charset="-128"/>
                            <a:ea typeface="BIZ UDGothic" panose="020B0400000000000000" pitchFamily="49" charset="-128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8875993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 sz="2000" dirty="0">
                              <a:latin typeface="BIZ UDGothic" panose="020B0400000000000000" pitchFamily="49" charset="-128"/>
                              <a:ea typeface="BIZ UDGothic" panose="020B0400000000000000" pitchFamily="49" charset="-128"/>
                            </a:rPr>
                            <a:t>小文字，斜体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 sz="2000">
                              <a:latin typeface="BIZ UDGothic" panose="020B0400000000000000" pitchFamily="49" charset="-128"/>
                              <a:ea typeface="BIZ UDGothic" panose="020B0400000000000000" pitchFamily="49" charset="-128"/>
                            </a:rPr>
                            <a:t>小文字，太字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 sz="2000" dirty="0">
                              <a:latin typeface="BIZ UDGothic" panose="020B0400000000000000" pitchFamily="49" charset="-128"/>
                              <a:ea typeface="BIZ UDGothic" panose="020B0400000000000000" pitchFamily="49" charset="-128"/>
                            </a:rPr>
                            <a:t>大文字，太字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15918142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F7C83BC1-8D08-97C6-FAFF-08F7508EE3E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4221325"/>
                  </p:ext>
                </p:extLst>
              </p:nvPr>
            </p:nvGraphicFramePr>
            <p:xfrm>
              <a:off x="125969" y="4535989"/>
              <a:ext cx="11940060" cy="200685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980020">
                      <a:extLst>
                        <a:ext uri="{9D8B030D-6E8A-4147-A177-3AD203B41FA5}">
                          <a16:colId xmlns:a16="http://schemas.microsoft.com/office/drawing/2014/main" val="539665676"/>
                        </a:ext>
                      </a:extLst>
                    </a:gridCol>
                    <a:gridCol w="3980020">
                      <a:extLst>
                        <a:ext uri="{9D8B030D-6E8A-4147-A177-3AD203B41FA5}">
                          <a16:colId xmlns:a16="http://schemas.microsoft.com/office/drawing/2014/main" val="233130230"/>
                        </a:ext>
                      </a:extLst>
                    </a:gridCol>
                    <a:gridCol w="3980020">
                      <a:extLst>
                        <a:ext uri="{9D8B030D-6E8A-4147-A177-3AD203B41FA5}">
                          <a16:colId xmlns:a16="http://schemas.microsoft.com/office/drawing/2014/main" val="1118175838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 sz="2000" dirty="0">
                              <a:latin typeface="BIZ UDGothic" panose="020B0400000000000000" pitchFamily="49" charset="-128"/>
                              <a:ea typeface="BIZ UDGothic" panose="020B0400000000000000" pitchFamily="49" charset="-128"/>
                            </a:rPr>
                            <a:t>スカラ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 sz="2000" dirty="0">
                              <a:latin typeface="BIZ UDGothic" panose="020B0400000000000000" pitchFamily="49" charset="-128"/>
                              <a:ea typeface="BIZ UDGothic" panose="020B0400000000000000" pitchFamily="49" charset="-128"/>
                            </a:rPr>
                            <a:t>ベクトル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 sz="2000">
                              <a:latin typeface="BIZ UDGothic" panose="020B0400000000000000" pitchFamily="49" charset="-128"/>
                              <a:ea typeface="BIZ UDGothic" panose="020B0400000000000000" pitchFamily="49" charset="-128"/>
                            </a:rPr>
                            <a:t>行列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22061373"/>
                      </a:ext>
                    </a:extLst>
                  </a:tr>
                  <a:tr h="1214374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3" t="-35000" r="-200766" b="-41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000" t="-35000" r="-100459" b="-41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0306" t="-35000" r="-613" b="-41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87599361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 sz="2000" dirty="0">
                              <a:latin typeface="BIZ UDGothic" panose="020B0400000000000000" pitchFamily="49" charset="-128"/>
                              <a:ea typeface="BIZ UDGothic" panose="020B0400000000000000" pitchFamily="49" charset="-128"/>
                            </a:rPr>
                            <a:t>小文字，斜体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 sz="2000">
                              <a:latin typeface="BIZ UDGothic" panose="020B0400000000000000" pitchFamily="49" charset="-128"/>
                              <a:ea typeface="BIZ UDGothic" panose="020B0400000000000000" pitchFamily="49" charset="-128"/>
                            </a:rPr>
                            <a:t>小文字，太字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 sz="2000" dirty="0">
                              <a:latin typeface="BIZ UDGothic" panose="020B0400000000000000" pitchFamily="49" charset="-128"/>
                              <a:ea typeface="BIZ UDGothic" panose="020B0400000000000000" pitchFamily="49" charset="-128"/>
                            </a:rPr>
                            <a:t>大文字，太字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15918142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6299534-4AE5-3B56-6AC6-C8BF2FDFEBDE}"/>
              </a:ext>
            </a:extLst>
          </p:cNvPr>
          <p:cNvSpPr txBox="1"/>
          <p:nvPr/>
        </p:nvSpPr>
        <p:spPr>
          <a:xfrm>
            <a:off x="11118380" y="1205345"/>
            <a:ext cx="947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BIZ UDGothic" panose="020B0400000000000000" pitchFamily="49" charset="-128"/>
                <a:ea typeface="BIZ UDGothic" panose="020B0400000000000000" pitchFamily="49" charset="-128"/>
              </a:rPr>
              <a:t>(1)</a:t>
            </a:r>
            <a:endParaRPr kumimoji="1" lang="ja-JP" altLang="en-US" sz="2400" dirty="0">
              <a:latin typeface="BIZ UDGothic" panose="020B0400000000000000" pitchFamily="49" charset="-128"/>
              <a:ea typeface="BIZ UDGothic" panose="020B0400000000000000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09128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9B0A93-6458-3844-152B-5391E1BE2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アルゴリズムの記法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721410-8573-E4C9-E189-C2820DE75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最適化手法のアルゴリズムは表を用いて記述する</a:t>
            </a:r>
            <a:endParaRPr kumimoji="1" lang="en-US" altLang="ja-JP" dirty="0"/>
          </a:p>
          <a:p>
            <a:pPr marL="0" indent="0">
              <a:buNone/>
            </a:pPr>
            <a:r>
              <a:rPr kumimoji="1" lang="ja-JP" altLang="en-US" dirty="0"/>
              <a:t>手法名，初期値やハイパーパラメーター，更新則，戻り値を記述する</a:t>
            </a:r>
            <a:endParaRPr kumimoji="1"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5566DE4-A2CE-A8E0-7933-D9C7CE6A4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kumimoji="1" lang="ja-JP" altLang="en-US" smtClean="0"/>
              <a:t>4</a:t>
            </a:fld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1606E017-E85D-EE34-924F-9959E06D1C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2040509"/>
                  </p:ext>
                </p:extLst>
              </p:nvPr>
            </p:nvGraphicFramePr>
            <p:xfrm>
              <a:off x="125969" y="2317559"/>
              <a:ext cx="5970031" cy="2222881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970031">
                      <a:extLst>
                        <a:ext uri="{9D8B030D-6E8A-4147-A177-3AD203B41FA5}">
                          <a16:colId xmlns:a16="http://schemas.microsoft.com/office/drawing/2014/main" val="175284778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 sz="2000" dirty="0"/>
                            <a:t>Alg. </a:t>
                          </a:r>
                          <a:r>
                            <a:rPr kumimoji="1" lang="ja-JP" altLang="en-US" sz="2000" dirty="0"/>
                            <a:t>確率的勾配降下法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7708793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 sz="2000" dirty="0"/>
                            <a:t>Req.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a14:m>
                          <a:r>
                            <a:rPr kumimoji="1" lang="en-US" altLang="ja-JP" sz="2000" dirty="0"/>
                            <a:t>; </a:t>
                          </a:r>
                          <a:r>
                            <a:rPr kumimoji="1" lang="ja-JP" altLang="en-US" sz="2000" dirty="0"/>
                            <a:t>初期パラメーター，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oMath>
                          </a14:m>
                          <a:r>
                            <a:rPr kumimoji="1" lang="en-US" altLang="ja-JP" sz="2000" dirty="0"/>
                            <a:t>; </a:t>
                          </a:r>
                          <a:r>
                            <a:rPr kumimoji="1" lang="ja-JP" altLang="en-US" sz="2000" dirty="0"/>
                            <a:t>学習率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427881379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 sz="2000" dirty="0"/>
                            <a:t>For 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  <m:t>=0,1,…,</m:t>
                              </m:r>
                              <m: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r>
                            <a:rPr kumimoji="1" lang="ja-JP" altLang="en-US" sz="2000" dirty="0"/>
                            <a:t> </a:t>
                          </a:r>
                          <a:r>
                            <a:rPr kumimoji="1" lang="en-US" altLang="ja-JP" sz="2000" dirty="0"/>
                            <a:t>Do</a:t>
                          </a:r>
                        </a:p>
                        <a:p>
                          <a:r>
                            <a:rPr kumimoji="1" lang="en-US" altLang="ja-JP" sz="2000" dirty="0"/>
                            <a:t>    </a:t>
                          </a:r>
                          <a:r>
                            <a:rPr kumimoji="1" lang="ja-JP" altLang="en-US" sz="2000" dirty="0"/>
                            <a:t>ミニバッチ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  <m:t>ℬ</m:t>
                                  </m:r>
                                </m:e>
                                <m:sub>
                                  <m: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oMath>
                          </a14:m>
                          <a:r>
                            <a:rPr kumimoji="1" lang="ja-JP" altLang="en-US" sz="2000" dirty="0"/>
                            <a:t>をサンプリング</a:t>
                          </a:r>
                          <a:endParaRPr kumimoji="1" lang="en-US" altLang="ja-JP" sz="2000" dirty="0"/>
                        </a:p>
                        <a:p>
                          <a:r>
                            <a:rPr kumimoji="1" lang="ja-JP" altLang="en-US" sz="2000" dirty="0"/>
                            <a:t>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1" lang="en-US" altLang="ja-JP" sz="2000" b="0" i="1" smtClean="0"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  <m:r>
                                <m:rPr>
                                  <m:sty m:val="p"/>
                                </m:rPr>
                                <a:rPr kumimoji="1" lang="en-US" altLang="ja-JP" sz="2000" b="0" i="0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sSub>
                                <m:sSubPr>
                                  <m:ctrlP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kumimoji="1" lang="en-US" altLang="ja-JP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sz="2000" b="0" i="1" smtClean="0">
                                          <a:latin typeface="Cambria Math" panose="02040503050406030204" pitchFamily="18" charset="0"/>
                                        </a:rPr>
                                        <m:t>ℬ</m:t>
                                      </m:r>
                                    </m:e>
                                    <m:sub>
                                      <m:r>
                                        <a:rPr kumimoji="1" lang="en-US" altLang="ja-JP" sz="20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ja-JP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ja-JP" sz="20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kumimoji="1" lang="en-US" altLang="ja-JP" sz="20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endParaRPr kumimoji="1" lang="en-US" altLang="ja-JP" sz="2000" dirty="0"/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4456297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 sz="2000" dirty="0"/>
                            <a:t>Ret.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kumimoji="1" lang="en-US" altLang="ja-JP" sz="20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b>
                              </m:sSub>
                            </m:oMath>
                          </a14:m>
                          <a:endParaRPr kumimoji="1" lang="ja-JP" altLang="en-US" sz="2000" dirty="0"/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383111988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1606E017-E85D-EE34-924F-9959E06D1C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2040509"/>
                  </p:ext>
                </p:extLst>
              </p:nvPr>
            </p:nvGraphicFramePr>
            <p:xfrm>
              <a:off x="125969" y="2317559"/>
              <a:ext cx="5970031" cy="2222881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5970031">
                      <a:extLst>
                        <a:ext uri="{9D8B030D-6E8A-4147-A177-3AD203B41FA5}">
                          <a16:colId xmlns:a16="http://schemas.microsoft.com/office/drawing/2014/main" val="1752847787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kumimoji="1" lang="en-US" altLang="ja-JP" sz="2000" dirty="0"/>
                            <a:t>Alg. </a:t>
                          </a:r>
                          <a:r>
                            <a:rPr kumimoji="1" lang="ja-JP" altLang="en-US" sz="2000" dirty="0"/>
                            <a:t>確率的勾配降下法</a:t>
                          </a:r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77087938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07692" r="-204" b="-384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78813793"/>
                      </a:ext>
                    </a:extLst>
                  </a:tr>
                  <a:tr h="1034161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79412" r="-204" b="-470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5629740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469231" r="-204" b="-230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3111988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64451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8D3469-E485-E1E8-19D3-AFD207F01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引用の記法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DCD1AE0-8804-EFE2-7EEC-E53DEAB04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dirty="0"/>
              <a:t>「電子情報通信学会和文論文誌　投稿のしおり」を参考</a:t>
            </a:r>
            <a:endParaRPr kumimoji="1" lang="en-US" altLang="ja-JP" dirty="0"/>
          </a:p>
          <a:p>
            <a:pPr marL="457200" lvl="1" indent="0">
              <a:buNone/>
            </a:pPr>
            <a:r>
              <a:rPr lang="en-US" altLang="ja-JP" dirty="0">
                <a:hlinkClick r:id="rId2"/>
              </a:rPr>
              <a:t>https://www.ieice.org/jpn/shiori/ess_2.html</a:t>
            </a:r>
            <a:endParaRPr lang="en-US" altLang="ja-JP" dirty="0"/>
          </a:p>
          <a:p>
            <a:pPr marL="457200" lvl="1" indent="0">
              <a:buNone/>
            </a:pPr>
            <a:r>
              <a:rPr lang="en-US" altLang="ja-JP" dirty="0"/>
              <a:t>※</a:t>
            </a:r>
            <a:r>
              <a:rPr lang="ja-JP" altLang="en-US" dirty="0"/>
              <a:t> 他のフォーマットでも良いが，理由がなければ上記に準拠</a:t>
            </a:r>
            <a:endParaRPr kumimoji="1" lang="en-US" altLang="ja-JP" dirty="0"/>
          </a:p>
          <a:p>
            <a:r>
              <a:rPr kumimoji="1" lang="ja-JP" altLang="en-US" dirty="0"/>
              <a:t>英文論文を引用する場合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和文論文を引用する場合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書籍を引用する場合</a:t>
            </a:r>
            <a:endParaRPr kumimoji="1" lang="en-US" altLang="ja-JP" dirty="0"/>
          </a:p>
          <a:p>
            <a:endParaRPr lang="en-US" altLang="ja-JP" sz="1100" dirty="0"/>
          </a:p>
          <a:p>
            <a:r>
              <a:rPr kumimoji="1" lang="en-US" altLang="ja-JP" dirty="0"/>
              <a:t>Web</a:t>
            </a:r>
            <a:r>
              <a:rPr kumimoji="1" lang="ja-JP" altLang="en-US" dirty="0"/>
              <a:t>サイトを引用する場合（ハイパーリンクは削除！）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B95457E-68F9-2DC2-16A7-37DDE2850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kumimoji="1" lang="ja-JP" altLang="en-US" smtClean="0"/>
              <a:t>5</a:t>
            </a:fld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42B130D-A8D8-4C76-35BE-86E915522D87}"/>
              </a:ext>
            </a:extLst>
          </p:cNvPr>
          <p:cNvSpPr txBox="1"/>
          <p:nvPr/>
        </p:nvSpPr>
        <p:spPr>
          <a:xfrm>
            <a:off x="125969" y="2703764"/>
            <a:ext cx="119400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BIZ UDGothic" panose="020B0400000000000000" pitchFamily="49" charset="-128"/>
                <a:ea typeface="BIZ UDGothic" panose="020B0400000000000000" pitchFamily="49" charset="-128"/>
              </a:rPr>
              <a:t>[1] </a:t>
            </a:r>
            <a:r>
              <a:rPr kumimoji="1" lang="en-US" altLang="ja-JP" sz="1200" dirty="0">
                <a:latin typeface="BIZ UDGothic" panose="020B0400000000000000" pitchFamily="49" charset="-128"/>
                <a:ea typeface="BIZ UDGothic" panose="020B0400000000000000" pitchFamily="49" charset="-128"/>
              </a:rPr>
              <a:t>R. </a:t>
            </a:r>
            <a:r>
              <a:rPr kumimoji="1" lang="en-US" altLang="ja-JP" sz="1200" dirty="0" err="1">
                <a:latin typeface="BIZ UDGothic" panose="020B0400000000000000" pitchFamily="49" charset="-128"/>
                <a:ea typeface="BIZ UDGothic" panose="020B0400000000000000" pitchFamily="49" charset="-128"/>
              </a:rPr>
              <a:t>Yamatomi</a:t>
            </a:r>
            <a:r>
              <a:rPr kumimoji="1" lang="en-US" altLang="ja-JP" sz="1200" dirty="0">
                <a:latin typeface="BIZ UDGothic" panose="020B0400000000000000" pitchFamily="49" charset="-128"/>
                <a:ea typeface="BIZ UDGothic" panose="020B0400000000000000" pitchFamily="49" charset="-128"/>
              </a:rPr>
              <a:t>, S. </a:t>
            </a:r>
            <a:r>
              <a:rPr kumimoji="1" lang="en-US" altLang="ja-JP" sz="1200" dirty="0" err="1">
                <a:latin typeface="BIZ UDGothic" panose="020B0400000000000000" pitchFamily="49" charset="-128"/>
                <a:ea typeface="BIZ UDGothic" panose="020B0400000000000000" pitchFamily="49" charset="-128"/>
              </a:rPr>
              <a:t>Mahboubi</a:t>
            </a:r>
            <a:r>
              <a:rPr kumimoji="1" lang="en-US" altLang="ja-JP" sz="1200" dirty="0">
                <a:latin typeface="BIZ UDGothic" panose="020B0400000000000000" pitchFamily="49" charset="-128"/>
                <a:ea typeface="BIZ UDGothic" panose="020B0400000000000000" pitchFamily="49" charset="-128"/>
              </a:rPr>
              <a:t>, and H. </a:t>
            </a:r>
            <a:r>
              <a:rPr kumimoji="1" lang="en-US" altLang="ja-JP" sz="1200" dirty="0" err="1">
                <a:latin typeface="BIZ UDGothic" panose="020B0400000000000000" pitchFamily="49" charset="-128"/>
                <a:ea typeface="BIZ UDGothic" panose="020B0400000000000000" pitchFamily="49" charset="-128"/>
              </a:rPr>
              <a:t>Ninomiya,“Generative</a:t>
            </a:r>
            <a:r>
              <a:rPr kumimoji="1" lang="en-US" altLang="ja-JP" sz="1200" dirty="0">
                <a:latin typeface="BIZ UDGothic" panose="020B0400000000000000" pitchFamily="49" charset="-128"/>
                <a:ea typeface="BIZ UDGothic" panose="020B0400000000000000" pitchFamily="49" charset="-128"/>
              </a:rPr>
              <a:t> Model of Suitable Meme Sentences for Images using </a:t>
            </a:r>
            <a:r>
              <a:rPr kumimoji="1" lang="en-US" altLang="ja-JP" sz="1200" dirty="0" err="1">
                <a:latin typeface="BIZ UDGothic" panose="020B0400000000000000" pitchFamily="49" charset="-128"/>
                <a:ea typeface="BIZ UDGothic" panose="020B0400000000000000" pitchFamily="49" charset="-128"/>
              </a:rPr>
              <a:t>AutoEncoder</a:t>
            </a:r>
            <a:r>
              <a:rPr kumimoji="1" lang="en-US" altLang="ja-JP" sz="1200" dirty="0">
                <a:latin typeface="BIZ UDGothic" panose="020B0400000000000000" pitchFamily="49" charset="-128"/>
                <a:ea typeface="BIZ UDGothic" panose="020B0400000000000000" pitchFamily="49" charset="-128"/>
              </a:rPr>
              <a:t>,”Proc. of the 20th Pacific Rim International Conference on Artificial Intelligence, pp.237-248, Nov. 2023.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6D11ACE-42DF-3B64-7D6C-2D8D974723ED}"/>
              </a:ext>
            </a:extLst>
          </p:cNvPr>
          <p:cNvSpPr txBox="1"/>
          <p:nvPr/>
        </p:nvSpPr>
        <p:spPr>
          <a:xfrm>
            <a:off x="125969" y="3799581"/>
            <a:ext cx="119400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>
                <a:latin typeface="BIZ UDGothic" panose="020B0400000000000000" pitchFamily="49" charset="-128"/>
                <a:ea typeface="BIZ UDGothic" panose="020B0400000000000000" pitchFamily="49" charset="-128"/>
              </a:rPr>
              <a:t>[2] </a:t>
            </a:r>
            <a:r>
              <a:rPr lang="ja-JP" altLang="en-US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山富龍，シェヘラザードマハブービ，二宮洋，</a:t>
            </a:r>
            <a:r>
              <a:rPr lang="en-US" altLang="ja-JP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“</a:t>
            </a:r>
            <a:r>
              <a:rPr lang="en" altLang="ja-JP" sz="1200" kern="100" dirty="0" err="1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AutoEncoder</a:t>
            </a:r>
            <a:r>
              <a:rPr lang="ja-JP" altLang="en-US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と</a:t>
            </a:r>
            <a:r>
              <a:rPr lang="en" altLang="ja-JP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Pix2Seq</a:t>
            </a:r>
            <a:r>
              <a:rPr lang="ja-JP" altLang="en-US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を用いた大喜利生成</a:t>
            </a:r>
            <a:r>
              <a:rPr lang="en" altLang="ja-JP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AI</a:t>
            </a:r>
            <a:r>
              <a:rPr lang="ja-JP" altLang="en-US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の実装に関する研究，</a:t>
            </a:r>
            <a:r>
              <a:rPr lang="en-US" altLang="ja-JP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”</a:t>
            </a:r>
            <a:r>
              <a:rPr lang="ja-JP" altLang="en-US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信学技報，</a:t>
            </a:r>
            <a:r>
              <a:rPr lang="en" altLang="ja-JP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vol.122</a:t>
            </a:r>
            <a:r>
              <a:rPr lang="ja-JP" altLang="en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，</a:t>
            </a:r>
            <a:r>
              <a:rPr lang="en" altLang="ja-JP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no.453</a:t>
            </a:r>
            <a:r>
              <a:rPr lang="ja-JP" altLang="en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，</a:t>
            </a:r>
            <a:r>
              <a:rPr lang="en" altLang="ja-JP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CCS2022-73</a:t>
            </a:r>
            <a:r>
              <a:rPr lang="ja-JP" altLang="en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，</a:t>
            </a:r>
            <a:r>
              <a:rPr lang="en" altLang="ja-JP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pp.59-62</a:t>
            </a:r>
            <a:r>
              <a:rPr lang="ja-JP" altLang="en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，</a:t>
            </a:r>
            <a:r>
              <a:rPr lang="en" altLang="ja-JP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Mar. 2023</a:t>
            </a:r>
            <a:r>
              <a:rPr lang="ja-JP" altLang="en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．</a:t>
            </a:r>
            <a:endParaRPr lang="ja-JP" altLang="ja-JP" sz="1200" kern="100" dirty="0">
              <a:effectLst/>
              <a:latin typeface="BIZ UDGothic" panose="020B0400000000000000" pitchFamily="49" charset="-128"/>
              <a:ea typeface="BIZ UDGothic" panose="020B0400000000000000" pitchFamily="49" charset="-128"/>
              <a:cs typeface="Times New Roman" panose="02020603050405020304" pitchFamily="18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5D33B4B-B0EC-224F-36D0-014DDD71D842}"/>
              </a:ext>
            </a:extLst>
          </p:cNvPr>
          <p:cNvSpPr txBox="1"/>
          <p:nvPr/>
        </p:nvSpPr>
        <p:spPr>
          <a:xfrm>
            <a:off x="125969" y="4910897"/>
            <a:ext cx="1194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>
                <a:latin typeface="BIZ UDGothic" panose="020B0400000000000000" pitchFamily="49" charset="-128"/>
                <a:ea typeface="BIZ UDGothic" panose="020B0400000000000000" pitchFamily="49" charset="-128"/>
              </a:rPr>
              <a:t>[3] </a:t>
            </a:r>
            <a:r>
              <a:rPr kumimoji="1" lang="ja-JP" altLang="en-US" sz="1200">
                <a:latin typeface="BIZ UDGothic" panose="020B0400000000000000" pitchFamily="49" charset="-128"/>
                <a:ea typeface="BIZ UDGothic" panose="020B0400000000000000" pitchFamily="49" charset="-128"/>
              </a:rPr>
              <a:t>斎藤康毅，</a:t>
            </a:r>
            <a:r>
              <a:rPr lang="ja-JP" altLang="en-US" sz="1200" i="0">
                <a:solidFill>
                  <a:srgbClr val="0F1111"/>
                </a:solidFill>
                <a:effectLst/>
                <a:latin typeface="BIZ UDGothic" panose="020B0400000000000000" pitchFamily="49" charset="-128"/>
                <a:ea typeface="BIZ UDGothic" panose="020B0400000000000000" pitchFamily="49" charset="-128"/>
              </a:rPr>
              <a:t>ゼロから作る</a:t>
            </a:r>
            <a:r>
              <a:rPr lang="en" altLang="ja-JP" sz="1200" i="0" dirty="0">
                <a:solidFill>
                  <a:srgbClr val="0F1111"/>
                </a:solidFill>
                <a:effectLst/>
                <a:latin typeface="BIZ UDGothic" panose="020B0400000000000000" pitchFamily="49" charset="-128"/>
                <a:ea typeface="BIZ UDGothic" panose="020B0400000000000000" pitchFamily="49" charset="-128"/>
              </a:rPr>
              <a:t>Deep Learning ―Python</a:t>
            </a:r>
            <a:r>
              <a:rPr lang="ja-JP" altLang="en-US" sz="1200" i="0">
                <a:solidFill>
                  <a:srgbClr val="0F1111"/>
                </a:solidFill>
                <a:effectLst/>
                <a:latin typeface="BIZ UDGothic" panose="020B0400000000000000" pitchFamily="49" charset="-128"/>
                <a:ea typeface="BIZ UDGothic" panose="020B0400000000000000" pitchFamily="49" charset="-128"/>
              </a:rPr>
              <a:t>で学ぶディープラーニングの理論と実装，オライリージャパン，</a:t>
            </a:r>
            <a:r>
              <a:rPr lang="en-US" altLang="ja-JP" sz="1200" i="0" dirty="0">
                <a:solidFill>
                  <a:srgbClr val="0F1111"/>
                </a:solidFill>
                <a:effectLst/>
                <a:latin typeface="BIZ UDGothic" panose="020B0400000000000000" pitchFamily="49" charset="-128"/>
                <a:ea typeface="BIZ UDGothic" panose="020B0400000000000000" pitchFamily="49" charset="-128"/>
              </a:rPr>
              <a:t>2016</a:t>
            </a:r>
            <a:r>
              <a:rPr lang="ja-JP" altLang="en-US" sz="1200" i="0">
                <a:solidFill>
                  <a:srgbClr val="0F1111"/>
                </a:solidFill>
                <a:effectLst/>
                <a:latin typeface="BIZ UDGothic" panose="020B0400000000000000" pitchFamily="49" charset="-128"/>
                <a:ea typeface="BIZ UDGothic" panose="020B0400000000000000" pitchFamily="49" charset="-128"/>
              </a:rPr>
              <a:t>．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42990F6-5662-BB31-904B-01209E80F142}"/>
              </a:ext>
            </a:extLst>
          </p:cNvPr>
          <p:cNvSpPr txBox="1"/>
          <p:nvPr/>
        </p:nvSpPr>
        <p:spPr>
          <a:xfrm>
            <a:off x="125969" y="5880658"/>
            <a:ext cx="1194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>
                <a:latin typeface="BIZ UDGothic" panose="020B0400000000000000" pitchFamily="49" charset="-128"/>
                <a:ea typeface="BIZ UDGothic" panose="020B0400000000000000" pitchFamily="49" charset="-128"/>
              </a:rPr>
              <a:t>[4] </a:t>
            </a:r>
            <a:r>
              <a:rPr lang="ja-JP" altLang="en-US" sz="1200" b="0" i="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</a:rPr>
              <a:t>株式会社オモロキ</a:t>
            </a:r>
            <a:r>
              <a:rPr lang="ja-JP" altLang="en-US" sz="1200" b="0" dirty="0">
                <a:latin typeface="BIZ UDGothic" panose="020B0400000000000000" pitchFamily="49" charset="-128"/>
                <a:ea typeface="BIZ UDGothic" panose="020B0400000000000000" pitchFamily="49" charset="-128"/>
              </a:rPr>
              <a:t>，</a:t>
            </a:r>
            <a:r>
              <a:rPr lang="en-US" altLang="ja-JP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“</a:t>
            </a:r>
            <a:r>
              <a:rPr lang="ja-JP" altLang="en-US" sz="1200" b="0" dirty="0">
                <a:latin typeface="BIZ UDGothic" panose="020B0400000000000000" pitchFamily="49" charset="-128"/>
                <a:ea typeface="BIZ UDGothic" panose="020B0400000000000000" pitchFamily="49" charset="-128"/>
              </a:rPr>
              <a:t>ボケて</a:t>
            </a:r>
            <a:r>
              <a:rPr lang="ja-JP" altLang="en-US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，</a:t>
            </a:r>
            <a:r>
              <a:rPr lang="en-US" altLang="ja-JP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”</a:t>
            </a:r>
            <a:r>
              <a:rPr lang="en" altLang="ja-JP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https://</a:t>
            </a:r>
            <a:r>
              <a:rPr lang="en" altLang="ja-JP" sz="1200" kern="100" dirty="0" err="1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bokete.jp</a:t>
            </a:r>
            <a:r>
              <a:rPr lang="en" altLang="ja-JP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/</a:t>
            </a:r>
            <a:r>
              <a:rPr lang="ja-JP" altLang="en-US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，参照</a:t>
            </a:r>
            <a:r>
              <a:rPr lang="en-US" altLang="ja-JP" sz="1200" kern="100" dirty="0">
                <a:effectLst/>
                <a:latin typeface="BIZ UDGothic" panose="020B0400000000000000" pitchFamily="49" charset="-128"/>
                <a:ea typeface="BIZ UDGothic" panose="020B0400000000000000" pitchFamily="49" charset="-128"/>
                <a:cs typeface="Times New Roman" panose="02020603050405020304" pitchFamily="18" charset="0"/>
              </a:rPr>
              <a:t>:Oct. 1, 2024.</a:t>
            </a:r>
            <a:endParaRPr lang="ja-JP" altLang="en-US" sz="1200" i="0" dirty="0">
              <a:effectLst/>
              <a:latin typeface="BIZ UDGothic" panose="020B0400000000000000" pitchFamily="49" charset="-128"/>
              <a:ea typeface="BIZ UDGothic" panose="020B0400000000000000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98982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7FC0EA-D556-8E2A-7D9D-798D6C59D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1</a:t>
            </a:r>
            <a:r>
              <a:rPr kumimoji="1" lang="ja-JP" altLang="en-US" dirty="0"/>
              <a:t>カラム テンプレート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7367776-7A7B-93E0-CD83-A6528ECA0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3C0D6-9A3C-BD21-A899-F0A3AABF5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kumimoji="1" lang="ja-JP" altLang="en-US" smtClean="0"/>
              <a:t>6</a:t>
            </a:fld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14E0B6E-945A-2E49-D257-34F89DA8B594}"/>
              </a:ext>
            </a:extLst>
          </p:cNvPr>
          <p:cNvSpPr txBox="1"/>
          <p:nvPr/>
        </p:nvSpPr>
        <p:spPr>
          <a:xfrm>
            <a:off x="-809338" y="1309255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kumimoji="1" lang="ja-JP" altLang="en-US" sz="2400">
              <a:latin typeface="BIZ UDGothic" panose="020B0400000000000000" pitchFamily="49" charset="-128"/>
              <a:ea typeface="BIZ UDGothic" panose="020B0400000000000000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85369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3FAC32-585E-3A6A-2398-072BDED40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ja-JP" dirty="0"/>
              <a:t>2</a:t>
            </a:r>
            <a:r>
              <a:rPr kumimoji="1" lang="ja-JP" altLang="en-US" dirty="0"/>
              <a:t>カラム テンプレート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BB8BDE-2C62-7A94-EA57-2905A0F719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C6130C0-32DE-A52E-67B8-E1AB4BF39A8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E85E263-675E-C473-9CC5-3C5CD1930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FEE9A-3EB6-844C-8184-5D808DF01412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97767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1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006FB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BIZ UDゴシック">
      <a:majorFont>
        <a:latin typeface="BIZ UDゴシック"/>
        <a:ea typeface="BIZ UDゴシック"/>
        <a:cs typeface=""/>
      </a:majorFont>
      <a:minorFont>
        <a:latin typeface="BIZ UDゴシック"/>
        <a:ea typeface="BIZ UD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tx1"/>
          </a:solidFill>
        </a:ln>
      </a:spPr>
      <a:bodyPr lIns="90000" tIns="90000" rIns="90000" bIns="90000" rtlCol="0" anchor="ctr">
        <a:noAutofit/>
      </a:bodyPr>
      <a:lstStyle>
        <a:defPPr algn="ctr">
          <a:defRPr kumimoji="1" sz="2400" dirty="0" smtClean="0">
            <a:solidFill>
              <a:schemeClr val="tx1"/>
            </a:solidFill>
            <a:latin typeface="BIZ UDGothic" panose="020B0400000000000000" pitchFamily="49" charset="-128"/>
            <a:ea typeface="BIZ UDGothic" panose="020B0400000000000000" pitchFamily="49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triangle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>
        <a:spAutoFit/>
      </a:bodyPr>
      <a:lstStyle>
        <a:defPPr algn="ctr">
          <a:defRPr sz="2400" smtClean="0">
            <a:latin typeface="BIZ UDGothic" panose="020B0400000000000000" pitchFamily="49" charset="-128"/>
            <a:ea typeface="BIZ UDGothic" panose="020B0400000000000000" pitchFamily="49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9500</TotalTime>
  <Words>481</Words>
  <Application>Microsoft Office PowerPoint</Application>
  <PresentationFormat>ワイド画面</PresentationFormat>
  <Paragraphs>60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BIZ UDGothic</vt:lpstr>
      <vt:lpstr>游ゴシック</vt:lpstr>
      <vt:lpstr>Arial</vt:lpstr>
      <vt:lpstr>Cambria Math</vt:lpstr>
      <vt:lpstr>Office テーマ</vt:lpstr>
      <vt:lpstr>PowerPoint プレゼンテーション</vt:lpstr>
      <vt:lpstr>スタイル規約</vt:lpstr>
      <vt:lpstr>数式の記法</vt:lpstr>
      <vt:lpstr>アルゴリズムの記法</vt:lpstr>
      <vt:lpstr>引用の記法</vt:lpstr>
      <vt:lpstr>1カラム テンプレート</vt:lpstr>
      <vt:lpstr>2カラム テンプレート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山富龍</dc:creator>
  <cp:lastModifiedBy>山富龍</cp:lastModifiedBy>
  <cp:revision>119</cp:revision>
  <dcterms:created xsi:type="dcterms:W3CDTF">2024-10-01T23:47:44Z</dcterms:created>
  <dcterms:modified xsi:type="dcterms:W3CDTF">2026-08-24T13:20:15Z</dcterms:modified>
</cp:coreProperties>
</file>