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262" r:id="rId3"/>
    <p:sldId id="263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16" autoAdjust="0"/>
    <p:restoredTop sz="97173"/>
  </p:normalViewPr>
  <p:slideViewPr>
    <p:cSldViewPr snapToGrid="0" showGuides="1">
      <p:cViewPr varScale="1">
        <p:scale>
          <a:sx n="107" d="100"/>
          <a:sy n="107" d="100"/>
        </p:scale>
        <p:origin x="112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0FF2-8DB4-A340-91B5-0FC7B27917C5}" type="datetime1">
              <a:rPr kumimoji="1" lang="ja-JP" altLang="en-US" smtClean="0"/>
              <a:t>2026/8/24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E8B333-7560-E390-D814-F6BEF1BF4D17}"/>
              </a:ext>
            </a:extLst>
          </p:cNvPr>
          <p:cNvSpPr/>
          <p:nvPr userDrawn="1"/>
        </p:nvSpPr>
        <p:spPr>
          <a:xfrm>
            <a:off x="0" y="0"/>
            <a:ext cx="12192000" cy="4109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569" y="772319"/>
            <a:ext cx="9144000" cy="2656681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531"/>
            <a:ext cx="9144000" cy="121086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8" name="Picture 2" descr="湘南工科大学">
            <a:extLst>
              <a:ext uri="{FF2B5EF4-FFF2-40B4-BE49-F238E27FC236}">
                <a16:creationId xmlns:a16="http://schemas.microsoft.com/office/drawing/2014/main" id="{F03C5772-EB15-2D75-0B66-C9A0CD990F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931" y="5780147"/>
            <a:ext cx="2124100" cy="6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111DEA92-C74A-8552-E6EA-B0CDBEF83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867" y="5780147"/>
            <a:ext cx="2658064" cy="62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8D8-431E-2148-A67E-C99D9FDB14AB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1BE25-8097-E1B2-F1F1-4F9F443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27930-B44A-5F80-BF0B-ECC9747D9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6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A00B66-3C0D-487C-8999-2BBE7A5D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0C5A16-605B-678E-7E15-FE95593A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C9B8-7821-394F-9014-0DAE5FBA846C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443E2A-7AA8-41BD-0C20-3B2E0896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085C57-3338-2D92-76F8-7418B004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36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6C7B59-9C0A-A8AF-CF51-2063AD5A1677}"/>
              </a:ext>
            </a:extLst>
          </p:cNvPr>
          <p:cNvSpPr/>
          <p:nvPr userDrawn="1"/>
        </p:nvSpPr>
        <p:spPr>
          <a:xfrm>
            <a:off x="0" y="6445188"/>
            <a:ext cx="12192000" cy="412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A1BB62-5804-22AC-B506-505B96B77B5B}"/>
              </a:ext>
            </a:extLst>
          </p:cNvPr>
          <p:cNvSpPr/>
          <p:nvPr userDrawn="1"/>
        </p:nvSpPr>
        <p:spPr>
          <a:xfrm>
            <a:off x="0" y="1"/>
            <a:ext cx="12192000" cy="736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6A81B-5CD1-B0C3-31EB-59E19BFD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6C32B-C8AA-5B42-740A-64859E5E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9" y="813577"/>
            <a:ext cx="11940062" cy="556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969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C8DD7B46-612B-4747-AC0E-56DE60A5EB0D}" type="datetime1">
              <a:rPr lang="ja-JP" altLang="en-US" smtClean="0"/>
              <a:t>2026/8/24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ice.org/jpn/shiori/ess_2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58E456A-A7AB-1C1B-45E8-6526291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EC0B609-E426-518F-DD92-521D4980E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5C8109D2-3662-CAD0-009C-A93BCAC1A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46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7FC0EA-D556-8E2A-7D9D-798D6C59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カラム 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367776-7A7B-93E0-CD83-A6528ECA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3C0D6-9A3C-BD21-A899-F0A3AABF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4E0B6E-945A-2E49-D257-34F89DA8B594}"/>
              </a:ext>
            </a:extLst>
          </p:cNvPr>
          <p:cNvSpPr txBox="1"/>
          <p:nvPr/>
        </p:nvSpPr>
        <p:spPr>
          <a:xfrm>
            <a:off x="-809338" y="13092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536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FAC32-585E-3A6A-2398-072BDED4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カラム 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BB8BDE-2C62-7A94-EA57-2905A0F71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6130C0-32DE-A52E-67B8-E1AB4BF39A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85E263-675E-C473-9CC5-3C5CD193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7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D3469-E485-E1E8-19D3-AFD207F0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引用の仕方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CD1AE0-8804-EFE2-7EEC-E53DEAB0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「電子情報通信学会和文論文誌　投稿のしおり」を参考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en-US" altLang="ja-JP" dirty="0">
                <a:hlinkClick r:id="rId2"/>
              </a:rPr>
              <a:t>https://www.ieice.org/jpn/shiori/ess_2.html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 他のフォーマットでも良いが，理由がなければ上記に準拠</a:t>
            </a:r>
            <a:endParaRPr kumimoji="1" lang="en-US" altLang="ja-JP" dirty="0"/>
          </a:p>
          <a:p>
            <a:r>
              <a:rPr kumimoji="1" lang="ja-JP" altLang="en-US" dirty="0"/>
              <a:t>英文論文を引用する場合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和文論文を引用する場合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書籍を引用する場合</a:t>
            </a:r>
            <a:endParaRPr kumimoji="1" lang="en-US" altLang="ja-JP" dirty="0"/>
          </a:p>
          <a:p>
            <a:endParaRPr lang="en-US" altLang="ja-JP" sz="1100" dirty="0"/>
          </a:p>
          <a:p>
            <a:r>
              <a:rPr kumimoji="1" lang="en-US" altLang="ja-JP" dirty="0"/>
              <a:t>Web</a:t>
            </a:r>
            <a:r>
              <a:rPr kumimoji="1" lang="ja-JP" altLang="en-US" dirty="0"/>
              <a:t>サイトを引用する場合（ハイパーリンクは削除！）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95457E-68F9-2DC2-16A7-37DDE285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42B130D-A8D8-4C76-35BE-86E915522D87}"/>
              </a:ext>
            </a:extLst>
          </p:cNvPr>
          <p:cNvSpPr txBox="1"/>
          <p:nvPr/>
        </p:nvSpPr>
        <p:spPr>
          <a:xfrm>
            <a:off x="125969" y="2703764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[1] 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R.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Yamatomi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S.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Mahboubi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and H.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Ninomiya,“Generative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 Model of Suitable Meme Sentences for Images using </a:t>
            </a:r>
            <a:r>
              <a:rPr kumimoji="1"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AutoEncoder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,”Proc. of the 20th Pacific Rim International Conference on Artificial Intelligence, pp.237-248, Nov. 2023.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D11ACE-42DF-3B64-7D6C-2D8D974723ED}"/>
              </a:ext>
            </a:extLst>
          </p:cNvPr>
          <p:cNvSpPr txBox="1"/>
          <p:nvPr/>
        </p:nvSpPr>
        <p:spPr>
          <a:xfrm>
            <a:off x="125969" y="3799581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[2] 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山富龍，シェヘラザードマハブービ，二宮洋，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“</a:t>
            </a:r>
            <a:r>
              <a:rPr lang="en" altLang="ja-JP" sz="1200" kern="100" dirty="0" err="1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AutoEncoder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と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Pix2Seq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を用いた大喜利生成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AI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の実装に関する研究，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”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信学技報，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vol.122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no.453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CCS2022-73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pp.59-62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Mar. 2023</a:t>
            </a:r>
            <a:r>
              <a:rPr lang="ja-JP" altLang="en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．</a:t>
            </a:r>
            <a:endParaRPr lang="ja-JP" altLang="ja-JP" sz="1200" kern="100" dirty="0">
              <a:effectLst/>
              <a:latin typeface="BIZ UDGothic" panose="020B0400000000000000" pitchFamily="49" charset="-128"/>
              <a:ea typeface="BIZ UDGothic" panose="020B0400000000000000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D33B4B-B0EC-224F-36D0-014DDD71D842}"/>
              </a:ext>
            </a:extLst>
          </p:cNvPr>
          <p:cNvSpPr txBox="1"/>
          <p:nvPr/>
        </p:nvSpPr>
        <p:spPr>
          <a:xfrm>
            <a:off x="125969" y="491089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[3] </a:t>
            </a:r>
            <a:r>
              <a:rPr kumimoji="1"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斎藤康毅，</a:t>
            </a:r>
            <a:r>
              <a:rPr lang="ja-JP" altLang="en-US" sz="1200" i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ゼロから作る</a:t>
            </a:r>
            <a:r>
              <a:rPr lang="en" altLang="ja-JP" sz="1200" i="0" dirty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Deep Learning ―Python</a:t>
            </a:r>
            <a:r>
              <a:rPr lang="ja-JP" altLang="en-US" sz="1200" i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で学ぶディープラーニングの理論と実装，オライリージャパン，</a:t>
            </a:r>
            <a:r>
              <a:rPr lang="en-US" altLang="ja-JP" sz="1200" i="0" dirty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2016</a:t>
            </a:r>
            <a:r>
              <a:rPr lang="ja-JP" altLang="en-US" sz="1200" i="0">
                <a:solidFill>
                  <a:srgbClr val="0F111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2990F6-5662-BB31-904B-01209E80F142}"/>
              </a:ext>
            </a:extLst>
          </p:cNvPr>
          <p:cNvSpPr txBox="1"/>
          <p:nvPr/>
        </p:nvSpPr>
        <p:spPr>
          <a:xfrm>
            <a:off x="125969" y="5880658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[4] </a:t>
            </a:r>
            <a:r>
              <a:rPr lang="ja-JP" altLang="en-US" sz="1200" b="0" i="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株式会社オモロキ</a:t>
            </a:r>
            <a:r>
              <a:rPr lang="ja-JP" altLang="en-US" sz="1200" b="0" dirty="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“</a:t>
            </a:r>
            <a:r>
              <a:rPr lang="ja-JP" altLang="en-US" sz="1200" b="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ボケて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”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https://</a:t>
            </a:r>
            <a:r>
              <a:rPr lang="en" altLang="ja-JP" sz="1200" kern="100" dirty="0" err="1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bokete.jp</a:t>
            </a:r>
            <a:r>
              <a:rPr lang="en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/</a:t>
            </a:r>
            <a:r>
              <a:rPr lang="ja-JP" altLang="en-US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，参照</a:t>
            </a:r>
            <a:r>
              <a:rPr lang="en-US" altLang="ja-JP" sz="1200" kern="100" dirty="0"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:Oct. 1, 2024.</a:t>
            </a:r>
            <a:endParaRPr lang="ja-JP" altLang="en-US" sz="1200" i="0" dirty="0"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8982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C7754-3B39-F266-CD34-E5495FF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数式の書き方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1F12A29-277C-E430-D0F1-180C40B10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式番号をテキストボックスで式の左側に配置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r>
                  <a:rPr lang="ja-JP" altLang="en-US" dirty="0"/>
                  <a:t>式中の変数について説明を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必ず</a:t>
                </a:r>
                <a:r>
                  <a:rPr lang="ja-JP" altLang="en-US" dirty="0"/>
                  <a:t>記述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傾き，</a:t>
                </a:r>
                <a:r>
                  <a:rPr lang="en-US" altLang="ja-JP" b="0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切片</a:t>
                </a:r>
                <a:endParaRPr lang="en-US" altLang="ja-JP" dirty="0"/>
              </a:p>
              <a:p>
                <a:r>
                  <a:rPr lang="ja-JP" altLang="en-US" dirty="0"/>
                  <a:t>スカラ，ベクトル，行列の記法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1F12A29-277C-E430-D0F1-180C40B10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4374C4-DFFF-F779-4E8E-672FFB90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F7C83BC1-8D08-97C6-FAFF-08F7508EE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3684206"/>
                  </p:ext>
                </p:extLst>
              </p:nvPr>
            </p:nvGraphicFramePr>
            <p:xfrm>
              <a:off x="125971" y="4158046"/>
              <a:ext cx="11940060" cy="2006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020">
                      <a:extLst>
                        <a:ext uri="{9D8B030D-6E8A-4147-A177-3AD203B41FA5}">
                          <a16:colId xmlns:a16="http://schemas.microsoft.com/office/drawing/2014/main" val="539665676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233130230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11181758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スカラ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ベクトル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行列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2061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=0,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ja-JP" altLang="en-US" sz="2000">
                            <a:latin typeface="BIZ UDGothic" panose="020B0400000000000000" pitchFamily="49" charset="-128"/>
                            <a:ea typeface="BIZ UDGothic" panose="020B0400000000000000" pitchFamily="49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sz="2000" b="1" i="0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𝐚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BIZ UDGothic" panose="020B0400000000000000" pitchFamily="49" charset="-128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1" lang="en-US" altLang="ja-JP" sz="2000" b="0" i="1" smtClean="0">
                                            <a:latin typeface="Cambria Math" panose="02040503050406030204" pitchFamily="18" charset="0"/>
                                            <a:ea typeface="BIZ UDGothic" panose="020B0400000000000000" pitchFamily="49" charset="-128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BIZ UDGothic" panose="020B0400000000000000" pitchFamily="49" charset="-128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,</m:t>
                                </m:r>
                                <m:r>
                                  <a:rPr kumimoji="1" lang="en-US" altLang="ja-JP" sz="2000" b="1" i="0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𝐱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  <a:ea typeface="BIZ UDGothic" panose="020B0400000000000000" pitchFamily="49" charset="-128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BIZ UDGothic" panose="020B0400000000000000" pitchFamily="49" charset="-128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1" lang="en-US" altLang="ja-JP" sz="2000" b="0" i="1" smtClean="0">
                                            <a:latin typeface="Cambria Math" panose="02040503050406030204" pitchFamily="18" charset="0"/>
                                            <a:ea typeface="BIZ UDGothic" panose="020B0400000000000000" pitchFamily="49" charset="-128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4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kumimoji="1" lang="en-US" altLang="ja-JP" sz="2000" b="0" i="1" smtClean="0">
                                                <a:latin typeface="Cambria Math" panose="02040503050406030204" pitchFamily="18" charset="0"/>
                                                <a:ea typeface="BIZ UDGothic" panose="020B0400000000000000" pitchFamily="49" charset="-128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kumimoji="1" lang="en-US" altLang="ja-JP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ja-JP" sz="2000" b="0" i="1" smtClean="0">
                                                      <a:latin typeface="Cambria Math" panose="02040503050406030204" pitchFamily="18" charset="0"/>
                                                      <a:ea typeface="BIZ UDGothic" panose="020B0400000000000000" pitchFamily="49" charset="-128"/>
                                                    </a:rPr>
                                                    <m:t>𝑑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  <a:ea typeface="BIZ UDGothic" panose="020B0400000000000000" pitchFamily="49" charset="-128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ja-JP" altLang="en-US" sz="2000">
                            <a:latin typeface="BIZ UDGothic" panose="020B0400000000000000" pitchFamily="49" charset="-128"/>
                            <a:ea typeface="BIZ UDGothic" panose="020B0400000000000000" pitchFamily="49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sz="2000" b="1" i="0" smtClean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𝑅𝐶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sz="2000">
                            <a:latin typeface="BIZ UDGothic" panose="020B0400000000000000" pitchFamily="49" charset="-128"/>
                            <a:ea typeface="BIZ UDGothic" panose="020B0400000000000000" pitchFamily="49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7599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小文字，斜体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小文字，太字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大文字，太字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1814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F7C83BC1-8D08-97C6-FAFF-08F7508EE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3684206"/>
                  </p:ext>
                </p:extLst>
              </p:nvPr>
            </p:nvGraphicFramePr>
            <p:xfrm>
              <a:off x="125971" y="4158046"/>
              <a:ext cx="11940060" cy="20068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020">
                      <a:extLst>
                        <a:ext uri="{9D8B030D-6E8A-4147-A177-3AD203B41FA5}">
                          <a16:colId xmlns:a16="http://schemas.microsoft.com/office/drawing/2014/main" val="539665676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233130230"/>
                        </a:ext>
                      </a:extLst>
                    </a:gridCol>
                    <a:gridCol w="3980020">
                      <a:extLst>
                        <a:ext uri="{9D8B030D-6E8A-4147-A177-3AD203B41FA5}">
                          <a16:colId xmlns:a16="http://schemas.microsoft.com/office/drawing/2014/main" val="111817583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スカラ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ベクトル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行列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2061373"/>
                      </a:ext>
                    </a:extLst>
                  </a:tr>
                  <a:tr h="1214374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" t="-35000" r="-200766" b="-4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5000" r="-100459" b="-4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06" t="-35000" r="-613" b="-4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75993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小文字，斜体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小文字，太字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 dirty="0">
                              <a:latin typeface="BIZ UDGothic" panose="020B0400000000000000" pitchFamily="49" charset="-128"/>
                              <a:ea typeface="BIZ UDGothic" panose="020B0400000000000000" pitchFamily="49" charset="-128"/>
                            </a:rPr>
                            <a:t>大文字，太字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91814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299534-4AE5-3B56-6AC6-C8BF2FDFEBDE}"/>
              </a:ext>
            </a:extLst>
          </p:cNvPr>
          <p:cNvSpPr txBox="1"/>
          <p:nvPr/>
        </p:nvSpPr>
        <p:spPr>
          <a:xfrm>
            <a:off x="11118380" y="1205345"/>
            <a:ext cx="94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(1)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912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0923E9-49C5-C5F2-5671-7F635C46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図の貼り方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8C3F5C-A036-DF7F-4C04-F888219E7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画像の横縦比を変更しない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/>
              <a:t>図番号，図タイトルを挿入する場合は，画像の下部に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A99163-F359-EC5A-5A4F-9BDD2384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7C7F6A-A773-B4A0-3D4C-18E7909C3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033" y="1355490"/>
            <a:ext cx="3862301" cy="298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F1D12F2-F830-2E89-BED8-E0E26E9C774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398" y="1355490"/>
            <a:ext cx="2980800" cy="298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5720118-F126-0B4E-274E-04AAC9D80449}"/>
              </a:ext>
            </a:extLst>
          </p:cNvPr>
          <p:cNvSpPr txBox="1"/>
          <p:nvPr/>
        </p:nvSpPr>
        <p:spPr>
          <a:xfrm>
            <a:off x="1979987" y="4336364"/>
            <a:ext cx="2934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横縦比の変更なし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4F0ED82-C03D-D407-B455-D4AB241702F5}"/>
              </a:ext>
            </a:extLst>
          </p:cNvPr>
          <p:cNvSpPr txBox="1"/>
          <p:nvPr/>
        </p:nvSpPr>
        <p:spPr>
          <a:xfrm>
            <a:off x="6791602" y="4346263"/>
            <a:ext cx="2934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横縦比の変更あり</a:t>
            </a:r>
          </a:p>
        </p:txBody>
      </p:sp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F7CB39A9-3A40-A1CB-7A2B-BDC9B2B98D0D}"/>
              </a:ext>
            </a:extLst>
          </p:cNvPr>
          <p:cNvSpPr/>
          <p:nvPr/>
        </p:nvSpPr>
        <p:spPr>
          <a:xfrm>
            <a:off x="8686799" y="1862049"/>
            <a:ext cx="2527070" cy="540327"/>
          </a:xfrm>
          <a:prstGeom prst="wedgeRectCallout">
            <a:avLst>
              <a:gd name="adj1" fmla="val -33333"/>
              <a:gd name="adj2" fmla="val 9480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フォントが崩れる</a:t>
            </a:r>
          </a:p>
        </p:txBody>
      </p:sp>
    </p:spTree>
    <p:extLst>
      <p:ext uri="{BB962C8B-B14F-4D97-AF65-F5344CB8AC3E}">
        <p14:creationId xmlns:p14="http://schemas.microsoft.com/office/powerpoint/2010/main" val="1629070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6FB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Z UDゴシック">
      <a:majorFont>
        <a:latin typeface="BIZ UDゴシック"/>
        <a:ea typeface="BIZ UDゴシック"/>
        <a:cs typeface=""/>
      </a:majorFont>
      <a:minorFont>
        <a:latin typeface="BIZ UDゴシック"/>
        <a:ea typeface="BIZ UD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90000" tIns="90000" rIns="90000" bIns="90000" rtlCol="0" anchor="ctr">
        <a:noAutofit/>
      </a:bodyPr>
      <a:lstStyle>
        <a:defPPr algn="ctr">
          <a:defRPr kumimoji="1" sz="2400" dirty="0" smtClean="0">
            <a:solidFill>
              <a:schemeClr val="tx1"/>
            </a:solidFill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sz="2400" smtClean="0"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9481</TotalTime>
  <Words>353</Words>
  <Application>Microsoft Office PowerPoint</Application>
  <PresentationFormat>ワイド画面</PresentationFormat>
  <Paragraphs>53</Paragraphs>
  <Slides>6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UDGothic</vt:lpstr>
      <vt:lpstr>游ゴシック</vt:lpstr>
      <vt:lpstr>Arial</vt:lpstr>
      <vt:lpstr>Cambria Math</vt:lpstr>
      <vt:lpstr>Office テーマ</vt:lpstr>
      <vt:lpstr>PowerPoint プレゼンテーション</vt:lpstr>
      <vt:lpstr>1カラム テンプレート</vt:lpstr>
      <vt:lpstr>2カラム テンプレート</vt:lpstr>
      <vt:lpstr>引用の仕方</vt:lpstr>
      <vt:lpstr>数式の書き方</vt:lpstr>
      <vt:lpstr>図の貼り方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113</cp:revision>
  <dcterms:created xsi:type="dcterms:W3CDTF">2024-10-01T23:47:44Z</dcterms:created>
  <dcterms:modified xsi:type="dcterms:W3CDTF">2026-08-24T04:19:54Z</dcterms:modified>
</cp:coreProperties>
</file>