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9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12" r:id="rId15"/>
    <p:sldId id="305" r:id="rId16"/>
    <p:sldId id="310" r:id="rId17"/>
    <p:sldId id="311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64" autoAdjust="0"/>
    <p:restoredTop sz="97173"/>
  </p:normalViewPr>
  <p:slideViewPr>
    <p:cSldViewPr snapToGrid="0" showGuides="1">
      <p:cViewPr varScale="1">
        <p:scale>
          <a:sx n="123" d="100"/>
          <a:sy n="123" d="100"/>
        </p:scale>
        <p:origin x="105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7" d="100"/>
          <a:sy n="127" d="100"/>
        </p:scale>
        <p:origin x="44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25AD575-7CC8-6AC7-FE6A-DFDD27A8CA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F27B0E-A93B-2F38-E0FC-31F597E5E2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4A56-4347-7E47-805C-A4CC550EB7FE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0BCC8F-962C-B670-E032-0E7AD40CE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85014A-F3B1-11F7-8AE0-A98B75A6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D713F-9469-214B-ACCC-5A39EEDA84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4746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71477-B974-724E-B5A2-6B597495C72D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46392-E619-9147-B7CA-0C7C9A3ADD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57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AB798-492E-22C6-68CE-0FBA475D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0FF2-8DB4-A340-91B5-0FC7B27917C5}" type="datetime1">
              <a:rPr kumimoji="1" lang="ja-JP" altLang="en-US" smtClean="0"/>
              <a:t>2026/8/24</a:t>
            </a:fld>
            <a:endParaRPr kumimoji="1"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115F2-D155-73B0-C019-2BAC5210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BF458-E430-27DE-37E5-3E1C0FBA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E8B333-7560-E390-D814-F6BEF1BF4D17}"/>
              </a:ext>
            </a:extLst>
          </p:cNvPr>
          <p:cNvSpPr/>
          <p:nvPr userDrawn="1"/>
        </p:nvSpPr>
        <p:spPr>
          <a:xfrm>
            <a:off x="0" y="0"/>
            <a:ext cx="12192000" cy="4109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85CBEE-6029-4F7A-A802-D89A4604B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569" y="772319"/>
            <a:ext cx="9144000" cy="2656681"/>
          </a:xfrm>
        </p:spPr>
        <p:txBody>
          <a:bodyPr anchor="ctr" anchorCtr="0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C98D89-2B71-F08E-900C-FBD12F49A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9531"/>
            <a:ext cx="9144000" cy="1210860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8" name="Picture 2" descr="湘南工科大学">
            <a:extLst>
              <a:ext uri="{FF2B5EF4-FFF2-40B4-BE49-F238E27FC236}">
                <a16:creationId xmlns:a16="http://schemas.microsoft.com/office/drawing/2014/main" id="{F03C5772-EB15-2D75-0B66-C9A0CD990F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931" y="5780147"/>
            <a:ext cx="2124100" cy="61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111DEA92-C74A-8552-E6EA-B0CDBEF83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867" y="5780147"/>
            <a:ext cx="2658064" cy="62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38D8-431E-2148-A67E-C99D9FDB14AB}" type="datetime1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81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1BE25-8097-E1B2-F1F1-4F9F443C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927930-B44A-5F80-BF0B-ECC9747D9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96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A00B66-3C0D-487C-8999-2BBE7A5D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0C5A16-605B-678E-7E15-FE95593A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C9B8-7821-394F-9014-0DAE5FBA846C}" type="datetime1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443E2A-7AA8-41BD-0C20-3B2E0896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085C57-3338-2D92-76F8-7418B004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36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6C7B59-9C0A-A8AF-CF51-2063AD5A1677}"/>
              </a:ext>
            </a:extLst>
          </p:cNvPr>
          <p:cNvSpPr/>
          <p:nvPr userDrawn="1"/>
        </p:nvSpPr>
        <p:spPr>
          <a:xfrm>
            <a:off x="0" y="6445188"/>
            <a:ext cx="12192000" cy="412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A1BB62-5804-22AC-B506-505B96B77B5B}"/>
              </a:ext>
            </a:extLst>
          </p:cNvPr>
          <p:cNvSpPr/>
          <p:nvPr userDrawn="1"/>
        </p:nvSpPr>
        <p:spPr>
          <a:xfrm>
            <a:off x="0" y="1"/>
            <a:ext cx="12192000" cy="7368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86A81B-5CD1-B0C3-31EB-59E19BFD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9" y="76732"/>
            <a:ext cx="11940062" cy="57133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66C32B-C8AA-5B42-740A-64859E5E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9" y="813577"/>
            <a:ext cx="11940062" cy="556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919BA-5EC6-6F21-A52B-1C6DA8593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969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C8DD7B46-612B-4747-AC0E-56DE60A5EB0D}" type="datetime1">
              <a:rPr lang="ja-JP" altLang="en-US" smtClean="0"/>
              <a:t>2026/8/24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700D3-7F2D-6840-2666-703A5F65F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2843"/>
            <a:ext cx="41148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BF3CFF-1290-6EDC-C4B9-F4FB9C913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2831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46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000" kern="1200">
          <a:solidFill>
            <a:schemeClr val="bg1"/>
          </a:solidFill>
          <a:latin typeface="BIZ UDGothic" panose="020B0400000000000000" pitchFamily="49" charset="-128"/>
          <a:ea typeface="BIZ UDGothic" panose="020B0400000000000000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0.jpe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50.png"/><Relationship Id="rId5" Type="http://schemas.openxmlformats.org/officeDocument/2006/relationships/image" Target="../media/image45.png"/><Relationship Id="rId10" Type="http://schemas.openxmlformats.org/officeDocument/2006/relationships/image" Target="../media/image49.png"/><Relationship Id="rId4" Type="http://schemas.openxmlformats.org/officeDocument/2006/relationships/image" Target="../media/image37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38.png"/><Relationship Id="rId7" Type="http://schemas.openxmlformats.org/officeDocument/2006/relationships/image" Target="../media/image8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E12F197-9804-4DD6-42C5-FB18BE4C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9D43A1E-695E-6CC5-CFCB-674A86B65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0027" y="772319"/>
            <a:ext cx="10291945" cy="2656681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ディープフェイクと</a:t>
            </a:r>
            <a:r>
              <a:rPr kumimoji="1" lang="en-US" altLang="ja-JP" dirty="0"/>
              <a:t>VAE</a:t>
            </a:r>
            <a:r>
              <a:rPr kumimoji="1" lang="ja-JP" altLang="en-US" dirty="0"/>
              <a:t>を用いた</a:t>
            </a:r>
            <a:br>
              <a:rPr kumimoji="1" lang="en-US" altLang="ja-JP" dirty="0"/>
            </a:br>
            <a:r>
              <a:rPr kumimoji="1" lang="ja-JP" altLang="en-US" dirty="0"/>
              <a:t>アイデンティティ保持型匿名化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D19B0F06-4AD3-9B8D-7B88-79E31B5C13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湘南工科大学 </a:t>
            </a:r>
            <a:r>
              <a:rPr kumimoji="1" lang="en-US" altLang="ja-JP" dirty="0"/>
              <a:t>AI</a:t>
            </a:r>
            <a:r>
              <a:rPr kumimoji="1" lang="ja-JP" altLang="en-US" dirty="0"/>
              <a:t> </a:t>
            </a:r>
            <a:r>
              <a:rPr kumimoji="1" lang="en-US" altLang="ja-JP" dirty="0"/>
              <a:t>R&amp;D</a:t>
            </a:r>
            <a:r>
              <a:rPr kumimoji="1" lang="ja-JP" altLang="en-US" dirty="0"/>
              <a:t> </a:t>
            </a:r>
            <a:r>
              <a:rPr kumimoji="1" lang="en-US" altLang="ja-JP" dirty="0"/>
              <a:t>Center</a:t>
            </a:r>
          </a:p>
          <a:p>
            <a:r>
              <a:rPr lang="ja-JP" altLang="en-US" dirty="0"/>
              <a:t>○山富 龍，二宮 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053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65846-2416-0497-2A59-9DDBF6B02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53449F-CD42-1E39-C073-05A6C9F4E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291941-C474-9417-0778-44F24C8B4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・街頭インタビューのインターネットミーム化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に投稿する写真の映り込み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→ 消えることのない</a:t>
            </a:r>
            <a:r>
              <a:rPr lang="ja-JP" altLang="en-US" dirty="0">
                <a:solidFill>
                  <a:srgbClr val="FF0000"/>
                </a:solidFill>
              </a:rPr>
              <a:t>デジタルタトゥー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47A76A-C1B8-3DBD-9BC5-4B7BE002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9A8D15-0551-8307-D7B9-1D350A3D40B1}"/>
              </a:ext>
            </a:extLst>
          </p:cNvPr>
          <p:cNvSpPr txBox="1"/>
          <p:nvPr/>
        </p:nvSpPr>
        <p:spPr>
          <a:xfrm>
            <a:off x="-809338" y="130925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6" name="図 5" descr="B!] 面白いテレビの街頭インタビューの名言まとめ">
            <a:extLst>
              <a:ext uri="{FF2B5EF4-FFF2-40B4-BE49-F238E27FC236}">
                <a16:creationId xmlns:a16="http://schemas.microsoft.com/office/drawing/2014/main" id="{D0BAD173-C347-79D1-05DC-0ED6D1DA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348" y="2433902"/>
            <a:ext cx="7511303" cy="394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54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FB9E-1FBC-F62F-49DC-C255BA9A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2B989-239A-D474-CC4B-E377C662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研究背景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74AC54-D4B7-1260-A773-A2AB0049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モザイクやぼかしといった匿名化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匿名性は高いが，</a:t>
            </a:r>
            <a:r>
              <a:rPr lang="ja-JP" altLang="en-US" dirty="0">
                <a:solidFill>
                  <a:srgbClr val="FF0000"/>
                </a:solidFill>
              </a:rPr>
              <a:t>画像のコンテキストが損なわれる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9D68E0-F259-5694-4C59-52ACABE2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5" name="図 4" descr="加工前と加工後の写真">
            <a:extLst>
              <a:ext uri="{FF2B5EF4-FFF2-40B4-BE49-F238E27FC236}">
                <a16:creationId xmlns:a16="http://schemas.microsoft.com/office/drawing/2014/main" id="{5CA695A7-92B5-95E8-7B1D-445EF8213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67" y="1332915"/>
            <a:ext cx="3547947" cy="40602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2C4382-C26F-06B5-33D7-FC3BB49B018A}"/>
              </a:ext>
            </a:extLst>
          </p:cNvPr>
          <p:cNvSpPr txBox="1"/>
          <p:nvPr/>
        </p:nvSpPr>
        <p:spPr>
          <a:xfrm>
            <a:off x="1631004" y="5393133"/>
            <a:ext cx="1810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HiFacE</a:t>
            </a:r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[1]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9" name="図 8" descr="Googleフォトで写真の不要部分を削除できる「消しゴムマジック」がiPhoneでも利用可能になったので「消去」「カモフラージュ」の使い方＆性能を確かめてみた  - GIGAZINE">
            <a:extLst>
              <a:ext uri="{FF2B5EF4-FFF2-40B4-BE49-F238E27FC236}">
                <a16:creationId xmlns:a16="http://schemas.microsoft.com/office/drawing/2014/main" id="{3AB3F018-448A-049F-2364-13F76CD44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714" y="1332915"/>
            <a:ext cx="7218166" cy="406021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FA4096-4915-5898-6750-F9BD9A51AC79}"/>
              </a:ext>
            </a:extLst>
          </p:cNvPr>
          <p:cNvSpPr txBox="1"/>
          <p:nvPr/>
        </p:nvSpPr>
        <p:spPr>
          <a:xfrm>
            <a:off x="6665603" y="5393132"/>
            <a:ext cx="315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消しゴムマジック</a:t>
            </a:r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[2]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258A3B6-EEE7-6C52-995E-9F3AF3F619E6}"/>
              </a:ext>
            </a:extLst>
          </p:cNvPr>
          <p:cNvSpPr txBox="1"/>
          <p:nvPr/>
        </p:nvSpPr>
        <p:spPr>
          <a:xfrm>
            <a:off x="125969" y="6431238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[1] </a:t>
            </a:r>
            <a:r>
              <a:rPr lang="en" altLang="ja-JP" sz="1200" b="0" i="0" dirty="0" err="1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Cotofure,Inc</a:t>
            </a:r>
            <a:r>
              <a:rPr lang="en" altLang="ja-JP" sz="1200" b="0" i="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 </a:t>
            </a:r>
            <a:r>
              <a:rPr lang="ja-JP" altLang="en-US" sz="1200" b="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200" kern="10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“</a:t>
            </a:r>
            <a:r>
              <a:rPr lang="en" altLang="ja-JP" sz="1200" b="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HiFacE</a:t>
            </a:r>
            <a:r>
              <a:rPr lang="ja-JP" altLang="en-US" sz="1200" kern="10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-US" altLang="ja-JP" sz="1200" kern="10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”</a:t>
            </a:r>
            <a:r>
              <a:rPr lang="en" altLang="ja-JP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 https://</a:t>
            </a:r>
            <a:r>
              <a:rPr lang="en" altLang="ja-JP" sz="1200" kern="1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hiface.me</a:t>
            </a:r>
            <a:r>
              <a:rPr lang="en" altLang="ja-JP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/</a:t>
            </a:r>
            <a:r>
              <a:rPr lang="ja-JP" altLang="en-US" sz="1200" kern="10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，参照</a:t>
            </a:r>
            <a:r>
              <a:rPr lang="en-US" altLang="ja-JP" sz="1200" kern="10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: 2026/5/27</a:t>
            </a:r>
            <a:r>
              <a:rPr lang="ja-JP" altLang="en-US" sz="1200" kern="10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．</a:t>
            </a:r>
            <a:endParaRPr lang="en-US" altLang="ja-JP" sz="1200" kern="100" dirty="0">
              <a:solidFill>
                <a:schemeClr val="bg1"/>
              </a:solidFill>
              <a:effectLst/>
              <a:latin typeface="BIZ UDGothic" panose="020B0400000000000000" pitchFamily="49" charset="-128"/>
              <a:ea typeface="BIZ UDGothic" panose="020B0400000000000000" pitchFamily="49" charset="-128"/>
              <a:cs typeface="Times New Roman" panose="02020603050405020304" pitchFamily="18" charset="0"/>
            </a:endParaRPr>
          </a:p>
          <a:p>
            <a:r>
              <a:rPr lang="en-US" altLang="ja-JP" sz="1200" i="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[2] Google LLC</a:t>
            </a:r>
            <a:r>
              <a:rPr lang="ja-JP" altLang="en-US" sz="1200" i="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-US" altLang="ja-JP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“</a:t>
            </a:r>
            <a:r>
              <a:rPr lang="en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AI 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で写真を編集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: </a:t>
            </a:r>
            <a:r>
              <a:rPr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消しゴムマジックとボケ補正</a:t>
            </a:r>
            <a:r>
              <a:rPr lang="ja-JP" altLang="en-US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</a:t>
            </a:r>
            <a:r>
              <a:rPr lang="en-US" altLang="ja-JP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” https://</a:t>
            </a:r>
            <a:r>
              <a:rPr lang="en-US" altLang="ja-JP" sz="1200" kern="1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www.google.com</a:t>
            </a:r>
            <a:r>
              <a:rPr lang="en-US" altLang="ja-JP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/</a:t>
            </a:r>
            <a:r>
              <a:rPr lang="en-US" altLang="ja-JP" sz="1200" kern="1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intl</a:t>
            </a:r>
            <a:r>
              <a:rPr lang="en-US" altLang="ja-JP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/ja/photos/editing/</a:t>
            </a:r>
            <a:r>
              <a:rPr lang="ja-JP" altLang="en-US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，参照</a:t>
            </a:r>
            <a:r>
              <a:rPr lang="en-US" altLang="ja-JP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: 2026/5/27</a:t>
            </a:r>
            <a:r>
              <a:rPr lang="ja-JP" altLang="en-US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．</a:t>
            </a:r>
            <a:r>
              <a:rPr lang="en" altLang="ja-JP" sz="1200" kern="1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Times New Roman" panose="02020603050405020304" pitchFamily="18" charset="0"/>
              </a:rPr>
              <a:t> </a:t>
            </a:r>
            <a:endParaRPr lang="ja-JP" altLang="en-US" sz="1200" i="0" dirty="0">
              <a:solidFill>
                <a:schemeClr val="bg1"/>
              </a:solidFill>
              <a:effectLst/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763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BD949-4D4E-26EB-6581-B6A59895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8B79D5-3F12-F43C-FBD5-B4EE8787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研究目的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A1B5D2-9569-250D-FDD2-DFCC95728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 err="1"/>
              <a:t>DeepFake</a:t>
            </a:r>
            <a:r>
              <a:rPr kumimoji="1" lang="ja-JP" altLang="en-US" dirty="0"/>
              <a:t>技術を用いた架空の人物の顔への置き換え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ターゲットの人物の</a:t>
            </a:r>
            <a:r>
              <a:rPr kumimoji="1" lang="ja-JP" altLang="en-US" dirty="0">
                <a:solidFill>
                  <a:srgbClr val="FF0000"/>
                </a:solidFill>
              </a:rPr>
              <a:t>属性や表情を保持しつつ匿名化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39FE70-963D-382F-810B-284B91E6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F4739B0D-D327-8777-C9F2-3124359E42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r="1083"/>
          <a:stretch/>
        </p:blipFill>
        <p:spPr>
          <a:xfrm>
            <a:off x="9357783" y="2099473"/>
            <a:ext cx="2708106" cy="275823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E31BB6D-9298-088C-8059-C00F8BA6A2B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09" r="909"/>
          <a:stretch/>
        </p:blipFill>
        <p:spPr>
          <a:xfrm>
            <a:off x="3174889" y="2099473"/>
            <a:ext cx="2708107" cy="2758234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4FFF4C25-31C4-432B-2721-11AADC9454B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" r="909"/>
          <a:stretch/>
        </p:blipFill>
        <p:spPr>
          <a:xfrm>
            <a:off x="125969" y="2099473"/>
            <a:ext cx="2708105" cy="2758232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DEBCCDF7-4889-5627-62ED-C7DD34955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09005" y="2149598"/>
            <a:ext cx="2708106" cy="270810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761B5DD-5148-7388-B461-47857540A153}"/>
              </a:ext>
            </a:extLst>
          </p:cNvPr>
          <p:cNvSpPr txBox="1"/>
          <p:nvPr/>
        </p:nvSpPr>
        <p:spPr>
          <a:xfrm>
            <a:off x="328462" y="4854457"/>
            <a:ext cx="2309670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ターゲット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50F5FF0-44DB-C51F-5428-21A33C896931}"/>
              </a:ext>
            </a:extLst>
          </p:cNvPr>
          <p:cNvSpPr txBox="1"/>
          <p:nvPr/>
        </p:nvSpPr>
        <p:spPr>
          <a:xfrm>
            <a:off x="3373696" y="4854639"/>
            <a:ext cx="2310494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モザイク処理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C53ECD7-E7F7-7AFA-D695-D03A3C712CE8}"/>
              </a:ext>
            </a:extLst>
          </p:cNvPr>
          <p:cNvSpPr txBox="1"/>
          <p:nvPr/>
        </p:nvSpPr>
        <p:spPr>
          <a:xfrm>
            <a:off x="6507668" y="4857705"/>
            <a:ext cx="2312143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ぼかし処理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65EDCB0-EFFC-4DD2-5477-557E5AD4C31C}"/>
              </a:ext>
            </a:extLst>
          </p:cNvPr>
          <p:cNvSpPr txBox="1"/>
          <p:nvPr/>
        </p:nvSpPr>
        <p:spPr>
          <a:xfrm>
            <a:off x="9488834" y="4854639"/>
            <a:ext cx="2446004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DeepFake</a:t>
            </a: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38D3E60-4F2B-4DA6-D78F-0CDF92170EFF}"/>
              </a:ext>
            </a:extLst>
          </p:cNvPr>
          <p:cNvCxnSpPr>
            <a:cxnSpLocks/>
          </p:cNvCxnSpPr>
          <p:nvPr/>
        </p:nvCxnSpPr>
        <p:spPr>
          <a:xfrm>
            <a:off x="2994212" y="1882587"/>
            <a:ext cx="0" cy="35141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吹き出し: 四角形 23">
            <a:extLst>
              <a:ext uri="{FF2B5EF4-FFF2-40B4-BE49-F238E27FC236}">
                <a16:creationId xmlns:a16="http://schemas.microsoft.com/office/drawing/2014/main" id="{366AD0D2-5166-CFA4-E9EA-D15B51A900A8}"/>
              </a:ext>
            </a:extLst>
          </p:cNvPr>
          <p:cNvSpPr/>
          <p:nvPr/>
        </p:nvSpPr>
        <p:spPr>
          <a:xfrm>
            <a:off x="9619885" y="1207823"/>
            <a:ext cx="2446004" cy="726142"/>
          </a:xfrm>
          <a:prstGeom prst="wedgeRectCallout">
            <a:avLst>
              <a:gd name="adj1" fmla="val 8350"/>
              <a:gd name="adj2" fmla="val 7592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架空の人物の顔</a:t>
            </a:r>
          </a:p>
        </p:txBody>
      </p:sp>
    </p:spTree>
    <p:extLst>
      <p:ext uri="{BB962C8B-B14F-4D97-AF65-F5344CB8AC3E}">
        <p14:creationId xmlns:p14="http://schemas.microsoft.com/office/powerpoint/2010/main" val="123162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C0F04-F856-E791-647D-927FE5834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FE4749-2C68-B6CC-459E-A5E98314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GHOST[3]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AEB2EB-1854-F436-E050-058BEB539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 err="1"/>
              <a:t>DeepFake</a:t>
            </a:r>
            <a:r>
              <a:rPr kumimoji="1" lang="ja-JP" altLang="en-US" dirty="0"/>
              <a:t>技術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ソースのプライバシーを侵害する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DD6504-AAFD-364D-85DA-6A00D6F9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1668628-D6F6-2DAF-900A-7DE9E47C1F5E}"/>
              </a:ext>
            </a:extLst>
          </p:cNvPr>
          <p:cNvSpPr/>
          <p:nvPr/>
        </p:nvSpPr>
        <p:spPr>
          <a:xfrm>
            <a:off x="5372100" y="1362076"/>
            <a:ext cx="6693931" cy="43243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A418C8F-806F-3A99-AC27-1368448FC8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2" b="532"/>
          <a:stretch/>
        </p:blipFill>
        <p:spPr>
          <a:xfrm>
            <a:off x="138276" y="2016496"/>
            <a:ext cx="1518932" cy="1532966"/>
          </a:xfrm>
          <a:prstGeom prst="rect">
            <a:avLst/>
          </a:prstGeom>
        </p:spPr>
      </p:pic>
      <p:sp>
        <p:nvSpPr>
          <p:cNvPr id="7" name="フローチャート: 手作業 6">
            <a:extLst>
              <a:ext uri="{FF2B5EF4-FFF2-40B4-BE49-F238E27FC236}">
                <a16:creationId xmlns:a16="http://schemas.microsoft.com/office/drawing/2014/main" id="{FFBDEDCA-B8FA-4D42-1126-55423BD21E24}"/>
              </a:ext>
            </a:extLst>
          </p:cNvPr>
          <p:cNvSpPr/>
          <p:nvPr/>
        </p:nvSpPr>
        <p:spPr>
          <a:xfrm rot="16200000">
            <a:off x="5672416" y="2023513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Attribute</a:t>
            </a:r>
          </a:p>
          <a:p>
            <a:pPr algn="ctr"/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EBBA5B71-E200-6DA5-2236-8E8140ACB933}"/>
              </a:ext>
            </a:extLst>
          </p:cNvPr>
          <p:cNvSpPr/>
          <p:nvPr/>
        </p:nvSpPr>
        <p:spPr>
          <a:xfrm rot="16200000">
            <a:off x="5672416" y="3969610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ArcFace[4]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フローチャート: 手作業 8">
            <a:extLst>
              <a:ext uri="{FF2B5EF4-FFF2-40B4-BE49-F238E27FC236}">
                <a16:creationId xmlns:a16="http://schemas.microsoft.com/office/drawing/2014/main" id="{8EC7A244-1EDB-221B-B5E2-52454BC2C9D6}"/>
              </a:ext>
            </a:extLst>
          </p:cNvPr>
          <p:cNvSpPr/>
          <p:nvPr/>
        </p:nvSpPr>
        <p:spPr>
          <a:xfrm rot="5400000" flipH="1">
            <a:off x="8432522" y="2988535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Generator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D1DDEFA-1873-53DA-DA3E-AB607853AF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5" t="6389" r="14085" b="45725"/>
          <a:stretch/>
        </p:blipFill>
        <p:spPr>
          <a:xfrm>
            <a:off x="10242298" y="2981517"/>
            <a:ext cx="1518932" cy="1518932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555EA7B-1D7F-622B-BA3A-AB3D2AD8CA4E}"/>
              </a:ext>
            </a:extLst>
          </p:cNvPr>
          <p:cNvCxnSpPr>
            <a:stCxn id="9" idx="0"/>
            <a:endCxn id="10" idx="1"/>
          </p:cNvCxnSpPr>
          <p:nvPr/>
        </p:nvCxnSpPr>
        <p:spPr>
          <a:xfrm flipV="1">
            <a:off x="9958471" y="3740983"/>
            <a:ext cx="283827" cy="7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B235F03-F39A-6950-1212-B13089FECC40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V="1">
            <a:off x="1657208" y="2782978"/>
            <a:ext cx="402222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11BAF43-8F8B-A0E2-ECE8-8C7259B001C1}"/>
              </a:ext>
            </a:extLst>
          </p:cNvPr>
          <p:cNvCxnSpPr>
            <a:cxnSpLocks/>
            <a:stCxn id="47" idx="3"/>
            <a:endCxn id="8" idx="0"/>
          </p:cNvCxnSpPr>
          <p:nvPr/>
        </p:nvCxnSpPr>
        <p:spPr>
          <a:xfrm>
            <a:off x="1644901" y="4721049"/>
            <a:ext cx="4034533" cy="8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D265BCE-39E0-685F-7C06-A3BE286B2A62}"/>
              </a:ext>
            </a:extLst>
          </p:cNvPr>
          <p:cNvCxnSpPr>
            <a:cxnSpLocks/>
            <a:stCxn id="8" idx="2"/>
            <a:endCxn id="32" idx="1"/>
          </p:cNvCxnSpPr>
          <p:nvPr/>
        </p:nvCxnSpPr>
        <p:spPr>
          <a:xfrm flipV="1">
            <a:off x="7198365" y="4721049"/>
            <a:ext cx="334816" cy="8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73E093C-A8EC-1147-61F8-743B60F66036}"/>
              </a:ext>
            </a:extLst>
          </p:cNvPr>
          <p:cNvCxnSpPr>
            <a:cxnSpLocks/>
            <a:stCxn id="7" idx="2"/>
            <a:endCxn id="25" idx="1"/>
          </p:cNvCxnSpPr>
          <p:nvPr/>
        </p:nvCxnSpPr>
        <p:spPr>
          <a:xfrm>
            <a:off x="7198365" y="2782978"/>
            <a:ext cx="329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52BCE851-15E8-AD41-0124-75C2C6C9B0FF}"/>
                  </a:ext>
                </a:extLst>
              </p:cNvPr>
              <p:cNvSpPr txBox="1"/>
              <p:nvPr/>
            </p:nvSpPr>
            <p:spPr>
              <a:xfrm>
                <a:off x="7528276" y="2598312"/>
                <a:ext cx="3622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𝐀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113A1CBB-CAAF-CC1C-7A81-2B3C98E77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276" y="2598312"/>
                <a:ext cx="362279" cy="369332"/>
              </a:xfrm>
              <a:prstGeom prst="rect">
                <a:avLst/>
              </a:prstGeom>
              <a:blipFill>
                <a:blip r:embed="rId4"/>
                <a:stretch>
                  <a:fillRect l="-28814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084E343C-BAB4-5265-73FF-D8C56D94615C}"/>
              </a:ext>
            </a:extLst>
          </p:cNvPr>
          <p:cNvCxnSpPr>
            <a:cxnSpLocks/>
            <a:stCxn id="25" idx="3"/>
            <a:endCxn id="9" idx="2"/>
          </p:cNvCxnSpPr>
          <p:nvPr/>
        </p:nvCxnSpPr>
        <p:spPr>
          <a:xfrm>
            <a:off x="7890555" y="2782978"/>
            <a:ext cx="548985" cy="9650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264B5479-946B-D9B5-FFB5-C1E7D6C944FD}"/>
                  </a:ext>
                </a:extLst>
              </p:cNvPr>
              <p:cNvSpPr txBox="1"/>
              <p:nvPr/>
            </p:nvSpPr>
            <p:spPr>
              <a:xfrm>
                <a:off x="7533181" y="4536383"/>
                <a:ext cx="35246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𝐯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8021B3B6-2659-F100-BB7B-418E8E5D9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181" y="4536383"/>
                <a:ext cx="352468" cy="369332"/>
              </a:xfrm>
              <a:prstGeom prst="rect">
                <a:avLst/>
              </a:prstGeom>
              <a:blipFill>
                <a:blip r:embed="rId5"/>
                <a:stretch>
                  <a:fillRect l="-18966" b="-3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19CA43D2-479D-A4EB-F890-6BEACB2668BF}"/>
              </a:ext>
            </a:extLst>
          </p:cNvPr>
          <p:cNvCxnSpPr>
            <a:cxnSpLocks/>
            <a:stCxn id="32" idx="3"/>
            <a:endCxn id="9" idx="2"/>
          </p:cNvCxnSpPr>
          <p:nvPr/>
        </p:nvCxnSpPr>
        <p:spPr>
          <a:xfrm flipV="1">
            <a:off x="7885649" y="3748000"/>
            <a:ext cx="553891" cy="9730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吹き出し: 四角形 41">
            <a:extLst>
              <a:ext uri="{FF2B5EF4-FFF2-40B4-BE49-F238E27FC236}">
                <a16:creationId xmlns:a16="http://schemas.microsoft.com/office/drawing/2014/main" id="{44FB09CF-28D1-FC6B-47DE-82D18A259135}"/>
              </a:ext>
            </a:extLst>
          </p:cNvPr>
          <p:cNvSpPr/>
          <p:nvPr/>
        </p:nvSpPr>
        <p:spPr>
          <a:xfrm>
            <a:off x="7845557" y="1845863"/>
            <a:ext cx="2706895" cy="548548"/>
          </a:xfrm>
          <a:prstGeom prst="wedgeRectCallout">
            <a:avLst>
              <a:gd name="adj1" fmla="val -48278"/>
              <a:gd name="adj2" fmla="val 8802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rgbClr val="FF0000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向きや表情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の情報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3" name="吹き出し: 四角形 42">
            <a:extLst>
              <a:ext uri="{FF2B5EF4-FFF2-40B4-BE49-F238E27FC236}">
                <a16:creationId xmlns:a16="http://schemas.microsoft.com/office/drawing/2014/main" id="{BD672132-CCC1-C383-841C-3421FCCCEED9}"/>
              </a:ext>
            </a:extLst>
          </p:cNvPr>
          <p:cNvSpPr/>
          <p:nvPr/>
        </p:nvSpPr>
        <p:spPr>
          <a:xfrm>
            <a:off x="7845557" y="5015889"/>
            <a:ext cx="2913852" cy="545886"/>
          </a:xfrm>
          <a:prstGeom prst="wedgeRectCallout">
            <a:avLst>
              <a:gd name="adj1" fmla="val -49790"/>
              <a:gd name="adj2" fmla="val -8406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顔の</a:t>
            </a:r>
            <a:r>
              <a:rPr lang="ja-JP" altLang="en-US" sz="2400" dirty="0">
                <a:solidFill>
                  <a:srgbClr val="FF0000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パーツ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の情報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CD66E17-9AE1-F0DC-B965-313309E93F65}"/>
              </a:ext>
            </a:extLst>
          </p:cNvPr>
          <p:cNvSpPr txBox="1"/>
          <p:nvPr/>
        </p:nvSpPr>
        <p:spPr>
          <a:xfrm>
            <a:off x="7572374" y="1368314"/>
            <a:ext cx="2293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GHOST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FBB8C8A-FF58-3433-953A-33F6EAAB2543}"/>
              </a:ext>
            </a:extLst>
          </p:cNvPr>
          <p:cNvSpPr txBox="1"/>
          <p:nvPr/>
        </p:nvSpPr>
        <p:spPr>
          <a:xfrm>
            <a:off x="138276" y="3554455"/>
            <a:ext cx="1518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ターゲット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AFC52A1-680B-4927-C9A2-8787AC53D28F}"/>
              </a:ext>
            </a:extLst>
          </p:cNvPr>
          <p:cNvSpPr txBox="1"/>
          <p:nvPr/>
        </p:nvSpPr>
        <p:spPr>
          <a:xfrm>
            <a:off x="125969" y="5486369"/>
            <a:ext cx="1518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ソース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47" name="コンテンツ プレースホルダー 4">
            <a:extLst>
              <a:ext uri="{FF2B5EF4-FFF2-40B4-BE49-F238E27FC236}">
                <a16:creationId xmlns:a16="http://schemas.microsoft.com/office/drawing/2014/main" id="{103E732C-2FC4-3CD8-2B71-6D011D70C3D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" r="1640"/>
          <a:stretch/>
        </p:blipFill>
        <p:spPr>
          <a:xfrm>
            <a:off x="125969" y="3954566"/>
            <a:ext cx="1518932" cy="153296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EEC27EB-50D1-09AC-9A12-33029DD7418A}"/>
              </a:ext>
            </a:extLst>
          </p:cNvPr>
          <p:cNvSpPr txBox="1"/>
          <p:nvPr/>
        </p:nvSpPr>
        <p:spPr>
          <a:xfrm>
            <a:off x="125969" y="6420613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[3]</a:t>
            </a:r>
            <a:r>
              <a:rPr lang="ja-JP" altLang="ja-JP" sz="1200">
                <a:solidFill>
                  <a:schemeClr val="bg1"/>
                </a:solidFill>
              </a:rPr>
              <a:t> A. Groshev, et al., </a:t>
            </a:r>
            <a:r>
              <a:rPr lang="en-US" altLang="ja-JP" sz="1200" dirty="0">
                <a:solidFill>
                  <a:schemeClr val="bg1"/>
                </a:solidFill>
              </a:rPr>
              <a:t>“</a:t>
            </a:r>
            <a:r>
              <a:rPr lang="ja-JP" altLang="ja-JP" sz="1200">
                <a:solidFill>
                  <a:schemeClr val="bg1"/>
                </a:solidFill>
              </a:rPr>
              <a:t>GHOST—A New Face Swap Approach for Image and Video Domains</a:t>
            </a:r>
            <a:r>
              <a:rPr lang="en-US" altLang="ja-JP" sz="1200" dirty="0">
                <a:solidFill>
                  <a:schemeClr val="bg1"/>
                </a:solidFill>
              </a:rPr>
              <a:t>,”</a:t>
            </a:r>
            <a:r>
              <a:rPr lang="ja-JP" altLang="ja-JP" sz="1200">
                <a:solidFill>
                  <a:schemeClr val="bg1"/>
                </a:solidFill>
              </a:rPr>
              <a:t>IEEE Access, vol. 10, pp.83452-83462, August 2022</a:t>
            </a:r>
            <a:r>
              <a:rPr lang="en-US" altLang="ja-JP" sz="1200" dirty="0">
                <a:solidFill>
                  <a:schemeClr val="bg1"/>
                </a:solidFill>
              </a:rPr>
              <a:t>.</a:t>
            </a:r>
          </a:p>
          <a:p>
            <a:r>
              <a:rPr lang="en-US" altLang="ja-JP" sz="1200" i="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[4] </a:t>
            </a:r>
            <a:r>
              <a:rPr lang="ja-JP" altLang="ja-JP" sz="1200">
                <a:solidFill>
                  <a:schemeClr val="bg1"/>
                </a:solidFill>
              </a:rPr>
              <a:t>J. Deng, et al., </a:t>
            </a:r>
            <a:r>
              <a:rPr lang="en-US" altLang="ja-JP" sz="1200" dirty="0">
                <a:solidFill>
                  <a:schemeClr val="bg1"/>
                </a:solidFill>
              </a:rPr>
              <a:t>“</a:t>
            </a:r>
            <a:r>
              <a:rPr lang="ja-JP" altLang="ja-JP" sz="1200">
                <a:solidFill>
                  <a:schemeClr val="bg1"/>
                </a:solidFill>
              </a:rPr>
              <a:t>ArcFace: Additive Angular Margin Loss for Deep Face Recognition</a:t>
            </a:r>
            <a:r>
              <a:rPr lang="en-US" altLang="ja-JP" sz="1200" dirty="0">
                <a:solidFill>
                  <a:schemeClr val="bg1"/>
                </a:solidFill>
              </a:rPr>
              <a:t>,”</a:t>
            </a:r>
            <a:r>
              <a:rPr lang="ja-JP" altLang="ja-JP" sz="1200">
                <a:solidFill>
                  <a:schemeClr val="bg1"/>
                </a:solidFill>
              </a:rPr>
              <a:t>Proc. IEEE CVPR, pp.4690-4699, June 2019</a:t>
            </a:r>
            <a:r>
              <a:rPr lang="en-US" altLang="ja-JP" sz="1200" dirty="0">
                <a:solidFill>
                  <a:schemeClr val="bg1"/>
                </a:solidFill>
              </a:rPr>
              <a:t>.</a:t>
            </a:r>
            <a:endParaRPr lang="ja-JP" altLang="en-US" sz="1200" i="0" dirty="0">
              <a:solidFill>
                <a:schemeClr val="bg1"/>
              </a:solidFill>
              <a:effectLst/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1" name="吹き出し: 四角形 41">
            <a:extLst>
              <a:ext uri="{FF2B5EF4-FFF2-40B4-BE49-F238E27FC236}">
                <a16:creationId xmlns:a16="http://schemas.microsoft.com/office/drawing/2014/main" id="{5954CCD4-00EF-ABEE-7659-1759DAF9D59A}"/>
              </a:ext>
            </a:extLst>
          </p:cNvPr>
          <p:cNvSpPr/>
          <p:nvPr/>
        </p:nvSpPr>
        <p:spPr>
          <a:xfrm>
            <a:off x="1492326" y="1405363"/>
            <a:ext cx="3295650" cy="545886"/>
          </a:xfrm>
          <a:prstGeom prst="wedgeRectCallout">
            <a:avLst>
              <a:gd name="adj1" fmla="val -49735"/>
              <a:gd name="adj2" fmla="val 8169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貼り付けられる土台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5" name="吹き出し: 四角形 42">
            <a:extLst>
              <a:ext uri="{FF2B5EF4-FFF2-40B4-BE49-F238E27FC236}">
                <a16:creationId xmlns:a16="http://schemas.microsoft.com/office/drawing/2014/main" id="{EEF61962-3583-2B42-C6CA-09C55C335688}"/>
              </a:ext>
            </a:extLst>
          </p:cNvPr>
          <p:cNvSpPr/>
          <p:nvPr/>
        </p:nvSpPr>
        <p:spPr>
          <a:xfrm>
            <a:off x="1745609" y="3802079"/>
            <a:ext cx="2575591" cy="545886"/>
          </a:xfrm>
          <a:prstGeom prst="wedgeRectCallout">
            <a:avLst>
              <a:gd name="adj1" fmla="val -50255"/>
              <a:gd name="adj2" fmla="val 7812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貼り付ける顔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392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203FC-AC41-9542-7635-5EFA90F5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D27873-C5DA-D9DA-80D8-54F6CBA7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従来手法</a:t>
            </a:r>
            <a:r>
              <a:rPr kumimoji="1" lang="en-US" altLang="ja-JP" dirty="0"/>
              <a:t>1[5]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6B0807-A72B-F867-0523-7939C5F7E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ソースを</a:t>
            </a:r>
            <a:r>
              <a:rPr kumimoji="1" lang="en-US" altLang="ja-JP" dirty="0"/>
              <a:t>Stable</a:t>
            </a:r>
            <a:r>
              <a:rPr kumimoji="1" lang="ja-JP" altLang="en-US" dirty="0"/>
              <a:t> </a:t>
            </a:r>
            <a:r>
              <a:rPr kumimoji="1" lang="en-US" altLang="ja-JP" dirty="0"/>
              <a:t>Diffusion[6]</a:t>
            </a:r>
            <a:r>
              <a:rPr lang="ja-JP" altLang="en-US" dirty="0"/>
              <a:t>が生成した架空の人物の顔に変換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95634A-F673-CD5E-C3B3-E50DD1F0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6EDA02C8-79B3-724D-EF0E-60C69620B162}"/>
              </a:ext>
            </a:extLst>
          </p:cNvPr>
          <p:cNvSpPr/>
          <p:nvPr/>
        </p:nvSpPr>
        <p:spPr>
          <a:xfrm>
            <a:off x="5372100" y="1362076"/>
            <a:ext cx="6693931" cy="43243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8F0C93B-5C45-3107-6C7B-B6CB55601D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2" b="532"/>
          <a:stretch/>
        </p:blipFill>
        <p:spPr>
          <a:xfrm>
            <a:off x="138276" y="2016496"/>
            <a:ext cx="1518932" cy="1532966"/>
          </a:xfrm>
          <a:prstGeom prst="rect">
            <a:avLst/>
          </a:prstGeom>
        </p:spPr>
      </p:pic>
      <p:sp>
        <p:nvSpPr>
          <p:cNvPr id="7" name="フローチャート: 手作業 6">
            <a:extLst>
              <a:ext uri="{FF2B5EF4-FFF2-40B4-BE49-F238E27FC236}">
                <a16:creationId xmlns:a16="http://schemas.microsoft.com/office/drawing/2014/main" id="{31083E83-D659-1668-1C69-14091A52ED9C}"/>
              </a:ext>
            </a:extLst>
          </p:cNvPr>
          <p:cNvSpPr/>
          <p:nvPr/>
        </p:nvSpPr>
        <p:spPr>
          <a:xfrm rot="16200000">
            <a:off x="5672416" y="2023513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Attribute</a:t>
            </a:r>
          </a:p>
          <a:p>
            <a:pPr algn="ctr"/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DCB5FBF0-ED06-E695-1812-44B436017C9A}"/>
              </a:ext>
            </a:extLst>
          </p:cNvPr>
          <p:cNvSpPr/>
          <p:nvPr/>
        </p:nvSpPr>
        <p:spPr>
          <a:xfrm rot="16200000">
            <a:off x="5672416" y="3969610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ArcFace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フローチャート: 手作業 8">
            <a:extLst>
              <a:ext uri="{FF2B5EF4-FFF2-40B4-BE49-F238E27FC236}">
                <a16:creationId xmlns:a16="http://schemas.microsoft.com/office/drawing/2014/main" id="{C0ACE32C-A85A-827A-F4BA-3010086A3D6C}"/>
              </a:ext>
            </a:extLst>
          </p:cNvPr>
          <p:cNvSpPr/>
          <p:nvPr/>
        </p:nvSpPr>
        <p:spPr>
          <a:xfrm rot="5400000" flipH="1">
            <a:off x="8432522" y="2988535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Generator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108C926-1A86-D569-6290-A50EBD588F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0242298" y="2981517"/>
            <a:ext cx="1518932" cy="1518932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A7DBBEC-E3D0-2C11-3C0B-56192811BCAE}"/>
              </a:ext>
            </a:extLst>
          </p:cNvPr>
          <p:cNvCxnSpPr>
            <a:stCxn id="9" idx="0"/>
            <a:endCxn id="10" idx="1"/>
          </p:cNvCxnSpPr>
          <p:nvPr/>
        </p:nvCxnSpPr>
        <p:spPr>
          <a:xfrm flipV="1">
            <a:off x="9958471" y="3740983"/>
            <a:ext cx="283827" cy="7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E80CD6F-02E9-A026-F773-8F55E1CFAFF3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V="1">
            <a:off x="1657208" y="2782978"/>
            <a:ext cx="402222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AD90E82-CC9B-C910-C3CB-0ACD765710DC}"/>
              </a:ext>
            </a:extLst>
          </p:cNvPr>
          <p:cNvCxnSpPr>
            <a:cxnSpLocks/>
            <a:stCxn id="8" idx="2"/>
            <a:endCxn id="32" idx="1"/>
          </p:cNvCxnSpPr>
          <p:nvPr/>
        </p:nvCxnSpPr>
        <p:spPr>
          <a:xfrm flipV="1">
            <a:off x="7198365" y="4721049"/>
            <a:ext cx="334816" cy="8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FDA83626-CD1B-8E6F-2A0B-6BB13B6690E7}"/>
              </a:ext>
            </a:extLst>
          </p:cNvPr>
          <p:cNvCxnSpPr>
            <a:cxnSpLocks/>
            <a:stCxn id="7" idx="2"/>
            <a:endCxn id="25" idx="1"/>
          </p:cNvCxnSpPr>
          <p:nvPr/>
        </p:nvCxnSpPr>
        <p:spPr>
          <a:xfrm>
            <a:off x="7198365" y="2782978"/>
            <a:ext cx="329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7034963E-6281-AFCD-8C1A-A3AE0381663E}"/>
                  </a:ext>
                </a:extLst>
              </p:cNvPr>
              <p:cNvSpPr txBox="1"/>
              <p:nvPr/>
            </p:nvSpPr>
            <p:spPr>
              <a:xfrm>
                <a:off x="7528276" y="2598312"/>
                <a:ext cx="3622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𝐀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AA5B6044-7795-028E-CCBF-9352D64D5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276" y="2598312"/>
                <a:ext cx="362279" cy="369332"/>
              </a:xfrm>
              <a:prstGeom prst="rect">
                <a:avLst/>
              </a:prstGeom>
              <a:blipFill>
                <a:blip r:embed="rId4"/>
                <a:stretch>
                  <a:fillRect l="-28814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E6DE056C-5434-8DCF-8EAD-BB4446E7033B}"/>
              </a:ext>
            </a:extLst>
          </p:cNvPr>
          <p:cNvCxnSpPr>
            <a:cxnSpLocks/>
            <a:stCxn id="25" idx="3"/>
            <a:endCxn id="9" idx="2"/>
          </p:cNvCxnSpPr>
          <p:nvPr/>
        </p:nvCxnSpPr>
        <p:spPr>
          <a:xfrm>
            <a:off x="7890555" y="2782978"/>
            <a:ext cx="548985" cy="9650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39619A43-3049-5AA4-F841-8BDEAA9675AB}"/>
                  </a:ext>
                </a:extLst>
              </p:cNvPr>
              <p:cNvSpPr txBox="1"/>
              <p:nvPr/>
            </p:nvSpPr>
            <p:spPr>
              <a:xfrm>
                <a:off x="7533181" y="4536383"/>
                <a:ext cx="35246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𝐯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10300A8C-3A09-8180-77E9-6A75EDD4B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181" y="4536383"/>
                <a:ext cx="352468" cy="369332"/>
              </a:xfrm>
              <a:prstGeom prst="rect">
                <a:avLst/>
              </a:prstGeom>
              <a:blipFill>
                <a:blip r:embed="rId5"/>
                <a:stretch>
                  <a:fillRect l="-18966" b="-3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067656AE-FB88-622F-8489-4DB5051B35DF}"/>
              </a:ext>
            </a:extLst>
          </p:cNvPr>
          <p:cNvCxnSpPr>
            <a:cxnSpLocks/>
            <a:stCxn id="32" idx="3"/>
            <a:endCxn id="9" idx="2"/>
          </p:cNvCxnSpPr>
          <p:nvPr/>
        </p:nvCxnSpPr>
        <p:spPr>
          <a:xfrm flipV="1">
            <a:off x="7885649" y="3748000"/>
            <a:ext cx="553891" cy="9730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吹き出し: 四角形 42">
            <a:extLst>
              <a:ext uri="{FF2B5EF4-FFF2-40B4-BE49-F238E27FC236}">
                <a16:creationId xmlns:a16="http://schemas.microsoft.com/office/drawing/2014/main" id="{04C5A192-A1CE-2560-F1B5-049249EC559B}"/>
              </a:ext>
            </a:extLst>
          </p:cNvPr>
          <p:cNvSpPr/>
          <p:nvPr/>
        </p:nvSpPr>
        <p:spPr>
          <a:xfrm>
            <a:off x="619942" y="5550178"/>
            <a:ext cx="1883975" cy="792786"/>
          </a:xfrm>
          <a:prstGeom prst="wedgeRectCallout">
            <a:avLst>
              <a:gd name="adj1" fmla="val -33107"/>
              <a:gd name="adj2" fmla="val -7411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顔の</a:t>
            </a:r>
            <a:r>
              <a:rPr lang="ja-JP" altLang="en-US" sz="2400" dirty="0">
                <a:solidFill>
                  <a:srgbClr val="FF0000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属性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(Identity)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11792AA-C769-6DDF-1C44-FE3C7494609E}"/>
              </a:ext>
            </a:extLst>
          </p:cNvPr>
          <p:cNvSpPr txBox="1"/>
          <p:nvPr/>
        </p:nvSpPr>
        <p:spPr>
          <a:xfrm>
            <a:off x="7572374" y="1368314"/>
            <a:ext cx="2293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GHOST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070E2E5-1602-F187-5376-997D130D8A87}"/>
              </a:ext>
            </a:extLst>
          </p:cNvPr>
          <p:cNvSpPr txBox="1"/>
          <p:nvPr/>
        </p:nvSpPr>
        <p:spPr>
          <a:xfrm>
            <a:off x="138276" y="3554455"/>
            <a:ext cx="1518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ターゲット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BE2725-BA59-9787-126C-1225854A7AD0}"/>
              </a:ext>
            </a:extLst>
          </p:cNvPr>
          <p:cNvSpPr txBox="1"/>
          <p:nvPr/>
        </p:nvSpPr>
        <p:spPr>
          <a:xfrm>
            <a:off x="125969" y="4120884"/>
            <a:ext cx="1518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・性別</a:t>
            </a:r>
            <a:endParaRPr kumimoji="1"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・年齢</a:t>
            </a:r>
            <a:endParaRPr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・人種</a:t>
            </a:r>
          </a:p>
        </p:txBody>
      </p:sp>
      <p:pic>
        <p:nvPicPr>
          <p:cNvPr id="14" name="コンテンツ プレースホルダー 4">
            <a:extLst>
              <a:ext uri="{FF2B5EF4-FFF2-40B4-BE49-F238E27FC236}">
                <a16:creationId xmlns:a16="http://schemas.microsoft.com/office/drawing/2014/main" id="{6D26E089-340D-9F9C-506F-A4328199F63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" r="458"/>
          <a:stretch/>
        </p:blipFill>
        <p:spPr>
          <a:xfrm>
            <a:off x="3744677" y="3962591"/>
            <a:ext cx="1518933" cy="1532967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A8DA025-9AD2-CC22-40FD-09A33977F670}"/>
              </a:ext>
            </a:extLst>
          </p:cNvPr>
          <p:cNvSpPr/>
          <p:nvPr/>
        </p:nvSpPr>
        <p:spPr>
          <a:xfrm>
            <a:off x="1923330" y="4262007"/>
            <a:ext cx="1544401" cy="9180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Stable</a:t>
            </a:r>
          </a:p>
          <a:p>
            <a:pPr algn="ctr"/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Diffusion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10CF5AAD-4B39-9765-A795-3D1D5EC13795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 flipV="1">
            <a:off x="1644901" y="4721048"/>
            <a:ext cx="27842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8ADE196-86CD-8EEB-5C36-9ACCB52A3555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>
            <a:off x="3467731" y="4721048"/>
            <a:ext cx="276946" cy="80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1925E05B-1EBE-3220-B1DB-56897B6F35A3}"/>
              </a:ext>
            </a:extLst>
          </p:cNvPr>
          <p:cNvCxnSpPr>
            <a:cxnSpLocks/>
            <a:stCxn id="14" idx="3"/>
            <a:endCxn id="8" idx="0"/>
          </p:cNvCxnSpPr>
          <p:nvPr/>
        </p:nvCxnSpPr>
        <p:spPr>
          <a:xfrm>
            <a:off x="5263610" y="4729075"/>
            <a:ext cx="4158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E5F1DA-2F0A-99BB-EB46-BD89DB2FED5A}"/>
              </a:ext>
            </a:extLst>
          </p:cNvPr>
          <p:cNvSpPr txBox="1"/>
          <p:nvPr/>
        </p:nvSpPr>
        <p:spPr>
          <a:xfrm>
            <a:off x="125969" y="6420613"/>
            <a:ext cx="11940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[5] </a:t>
            </a:r>
            <a:r>
              <a:rPr lang="ja-JP" altLang="ja-JP" sz="1200" dirty="0">
                <a:solidFill>
                  <a:schemeClr val="bg1"/>
                </a:solidFill>
              </a:rPr>
              <a:t>池田 麻輝, 他, </a:t>
            </a:r>
            <a:r>
              <a:rPr lang="en-US" altLang="ja-JP" sz="1200" dirty="0">
                <a:solidFill>
                  <a:schemeClr val="bg1"/>
                </a:solidFill>
              </a:rPr>
              <a:t>“Stable Diffusion</a:t>
            </a:r>
            <a:r>
              <a:rPr lang="ja-JP" altLang="en-US" sz="1200" dirty="0">
                <a:solidFill>
                  <a:schemeClr val="bg1"/>
                </a:solidFill>
              </a:rPr>
              <a:t>と</a:t>
            </a:r>
            <a:r>
              <a:rPr lang="en-US" altLang="ja-JP" sz="1200" dirty="0">
                <a:solidFill>
                  <a:schemeClr val="bg1"/>
                </a:solidFill>
              </a:rPr>
              <a:t>GHOST</a:t>
            </a:r>
            <a:r>
              <a:rPr lang="ja-JP" altLang="en-US" sz="1200" dirty="0">
                <a:solidFill>
                  <a:schemeClr val="bg1"/>
                </a:solidFill>
              </a:rPr>
              <a:t>を用いたプライバシー保護のための顔変換システムの提案，</a:t>
            </a:r>
            <a:r>
              <a:rPr lang="en-US" altLang="ja-JP" sz="1200" dirty="0">
                <a:solidFill>
                  <a:schemeClr val="bg1"/>
                </a:solidFill>
              </a:rPr>
              <a:t>”</a:t>
            </a:r>
            <a:r>
              <a:rPr lang="ja-JP" altLang="ja-JP" sz="1200" dirty="0">
                <a:solidFill>
                  <a:schemeClr val="bg1"/>
                </a:solidFill>
              </a:rPr>
              <a:t>情報処理学会第85回全国大会, 1R-02, </a:t>
            </a:r>
            <a:r>
              <a:rPr lang="en-US" altLang="ja-JP" sz="1200" dirty="0">
                <a:solidFill>
                  <a:schemeClr val="bg1"/>
                </a:solidFill>
              </a:rPr>
              <a:t>March </a:t>
            </a:r>
            <a:r>
              <a:rPr lang="ja-JP" altLang="ja-JP" sz="1200" dirty="0">
                <a:solidFill>
                  <a:schemeClr val="bg1"/>
                </a:solidFill>
              </a:rPr>
              <a:t>2023.</a:t>
            </a:r>
            <a:endParaRPr lang="en-US" altLang="ja-JP" sz="1200" dirty="0">
              <a:solidFill>
                <a:schemeClr val="bg1"/>
              </a:solidFill>
            </a:endParaRPr>
          </a:p>
          <a:p>
            <a:r>
              <a:rPr lang="en-US" altLang="ja-JP" sz="120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[6] </a:t>
            </a:r>
            <a:r>
              <a:rPr lang="ja-JP" altLang="ja-JP" sz="1200" dirty="0">
                <a:solidFill>
                  <a:schemeClr val="bg1"/>
                </a:solidFill>
              </a:rPr>
              <a:t>R.</a:t>
            </a:r>
            <a:r>
              <a:rPr lang="en-US" altLang="ja-JP" sz="1200" dirty="0">
                <a:solidFill>
                  <a:schemeClr val="bg1"/>
                </a:solidFill>
              </a:rPr>
              <a:t> </a:t>
            </a:r>
            <a:r>
              <a:rPr lang="ja-JP" altLang="ja-JP" sz="1200" dirty="0">
                <a:solidFill>
                  <a:schemeClr val="bg1"/>
                </a:solidFill>
              </a:rPr>
              <a:t>Rombach, </a:t>
            </a:r>
            <a:r>
              <a:rPr lang="en-US" altLang="ja-JP" sz="1200" dirty="0">
                <a:solidFill>
                  <a:schemeClr val="bg1"/>
                </a:solidFill>
              </a:rPr>
              <a:t>et al</a:t>
            </a:r>
            <a:r>
              <a:rPr lang="ja-JP" altLang="ja-JP" sz="1200" dirty="0">
                <a:solidFill>
                  <a:schemeClr val="bg1"/>
                </a:solidFill>
              </a:rPr>
              <a:t>.</a:t>
            </a:r>
            <a:r>
              <a:rPr lang="en-US" altLang="ja-JP" sz="1200" dirty="0">
                <a:solidFill>
                  <a:schemeClr val="bg1"/>
                </a:solidFill>
              </a:rPr>
              <a:t>,</a:t>
            </a:r>
            <a:r>
              <a:rPr lang="ja-JP" altLang="ja-JP" sz="1200" dirty="0">
                <a:solidFill>
                  <a:schemeClr val="bg1"/>
                </a:solidFill>
              </a:rPr>
              <a:t> </a:t>
            </a:r>
            <a:r>
              <a:rPr lang="en-US" altLang="ja-JP" sz="1200" dirty="0">
                <a:solidFill>
                  <a:schemeClr val="bg1"/>
                </a:solidFill>
              </a:rPr>
              <a:t>“</a:t>
            </a:r>
            <a:r>
              <a:rPr lang="ja-JP" altLang="ja-JP" sz="1200" dirty="0">
                <a:solidFill>
                  <a:schemeClr val="bg1"/>
                </a:solidFill>
              </a:rPr>
              <a:t>High-resolution image synthesis with latent diffusion models</a:t>
            </a:r>
            <a:r>
              <a:rPr lang="en-US" altLang="ja-JP" sz="1200" dirty="0">
                <a:solidFill>
                  <a:schemeClr val="bg1"/>
                </a:solidFill>
              </a:rPr>
              <a:t>,”</a:t>
            </a:r>
            <a:r>
              <a:rPr lang="ja-JP" altLang="ja-JP" sz="1200" dirty="0">
                <a:solidFill>
                  <a:schemeClr val="bg1"/>
                </a:solidFill>
              </a:rPr>
              <a:t> Proc. IEEE CVPR, pp.10684-10695, June 20</a:t>
            </a:r>
            <a:r>
              <a:rPr lang="en-US" altLang="ja-JP" sz="1200" dirty="0">
                <a:solidFill>
                  <a:schemeClr val="bg1"/>
                </a:solidFill>
              </a:rPr>
              <a:t>22.</a:t>
            </a:r>
            <a:endParaRPr lang="ja-JP" altLang="en-US" sz="1200" dirty="0">
              <a:solidFill>
                <a:schemeClr val="bg1"/>
              </a:solidFill>
              <a:effectLst/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25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9BC1E-8B24-7AC2-A465-778BA396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EB78AB-DFB8-9CEB-1C1C-F6A1FFCF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従来手法</a:t>
            </a:r>
            <a:r>
              <a:rPr kumimoji="1" lang="en-US" altLang="ja-JP" dirty="0"/>
              <a:t>2[7]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E77574-5F83-2F21-1A91-39E26F2AC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属性を入力とし，顔ベクトルを出力する</a:t>
            </a:r>
            <a:r>
              <a:rPr kumimoji="1" lang="en-US" altLang="ja-JP" dirty="0"/>
              <a:t>NN</a:t>
            </a:r>
            <a:r>
              <a:rPr kumimoji="1" lang="ja-JP" altLang="en-US" dirty="0"/>
              <a:t>を学習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83A71F6-0CE6-3484-27DD-68DA8421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16" name="フリーフォーム: 図形 15">
            <a:extLst>
              <a:ext uri="{FF2B5EF4-FFF2-40B4-BE49-F238E27FC236}">
                <a16:creationId xmlns:a16="http://schemas.microsoft.com/office/drawing/2014/main" id="{4E33AEED-AEA6-8713-0368-C3610BC085AD}"/>
              </a:ext>
            </a:extLst>
          </p:cNvPr>
          <p:cNvSpPr/>
          <p:nvPr/>
        </p:nvSpPr>
        <p:spPr>
          <a:xfrm>
            <a:off x="5372100" y="1362076"/>
            <a:ext cx="6693931" cy="4324348"/>
          </a:xfrm>
          <a:custGeom>
            <a:avLst/>
            <a:gdLst>
              <a:gd name="csX0" fmla="*/ 0 w 6693931"/>
              <a:gd name="csY0" fmla="*/ 0 h 4324348"/>
              <a:gd name="csX1" fmla="*/ 6693931 w 6693931"/>
              <a:gd name="csY1" fmla="*/ 0 h 4324348"/>
              <a:gd name="csX2" fmla="*/ 6693931 w 6693931"/>
              <a:gd name="csY2" fmla="*/ 4324348 h 4324348"/>
              <a:gd name="csX3" fmla="*/ 2676525 w 6693931"/>
              <a:gd name="csY3" fmla="*/ 4324348 h 4324348"/>
              <a:gd name="csX4" fmla="*/ 2676525 w 6693931"/>
              <a:gd name="csY4" fmla="*/ 2495552 h 4324348"/>
              <a:gd name="csX5" fmla="*/ 0 w 6693931"/>
              <a:gd name="csY5" fmla="*/ 2495552 h 43243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693931" h="4324348">
                <a:moveTo>
                  <a:pt x="0" y="0"/>
                </a:moveTo>
                <a:lnTo>
                  <a:pt x="6693931" y="0"/>
                </a:lnTo>
                <a:lnTo>
                  <a:pt x="6693931" y="4324348"/>
                </a:lnTo>
                <a:lnTo>
                  <a:pt x="2676525" y="4324348"/>
                </a:lnTo>
                <a:lnTo>
                  <a:pt x="2676525" y="2495552"/>
                </a:lnTo>
                <a:lnTo>
                  <a:pt x="0" y="24955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5DCB2E6-114B-44F6-8ACF-5CF8B45A6E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2" b="532"/>
          <a:stretch/>
        </p:blipFill>
        <p:spPr>
          <a:xfrm>
            <a:off x="138276" y="2016496"/>
            <a:ext cx="1518932" cy="1532966"/>
          </a:xfrm>
          <a:prstGeom prst="rect">
            <a:avLst/>
          </a:prstGeom>
        </p:spPr>
      </p:pic>
      <p:sp>
        <p:nvSpPr>
          <p:cNvPr id="7" name="フローチャート: 手作業 6">
            <a:extLst>
              <a:ext uri="{FF2B5EF4-FFF2-40B4-BE49-F238E27FC236}">
                <a16:creationId xmlns:a16="http://schemas.microsoft.com/office/drawing/2014/main" id="{C7D2AB26-3E33-D409-2A3C-595AB0B71EEA}"/>
              </a:ext>
            </a:extLst>
          </p:cNvPr>
          <p:cNvSpPr/>
          <p:nvPr/>
        </p:nvSpPr>
        <p:spPr>
          <a:xfrm rot="16200000">
            <a:off x="5672416" y="2023513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Attribute</a:t>
            </a:r>
          </a:p>
          <a:p>
            <a:pPr algn="ctr"/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フローチャート: 手作業 8">
            <a:extLst>
              <a:ext uri="{FF2B5EF4-FFF2-40B4-BE49-F238E27FC236}">
                <a16:creationId xmlns:a16="http://schemas.microsoft.com/office/drawing/2014/main" id="{AE12257E-6854-838B-2FBD-3182B72A7F01}"/>
              </a:ext>
            </a:extLst>
          </p:cNvPr>
          <p:cNvSpPr/>
          <p:nvPr/>
        </p:nvSpPr>
        <p:spPr>
          <a:xfrm rot="5400000" flipH="1">
            <a:off x="8432522" y="2988535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Generator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85C5E55-489C-7E6D-A0D3-23C8C0BAE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0242298" y="2981517"/>
            <a:ext cx="1518932" cy="1518932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8E8F8C3-E79D-7880-28C2-12D24475F654}"/>
              </a:ext>
            </a:extLst>
          </p:cNvPr>
          <p:cNvCxnSpPr>
            <a:stCxn id="9" idx="0"/>
            <a:endCxn id="10" idx="1"/>
          </p:cNvCxnSpPr>
          <p:nvPr/>
        </p:nvCxnSpPr>
        <p:spPr>
          <a:xfrm flipV="1">
            <a:off x="9958471" y="3740983"/>
            <a:ext cx="283827" cy="7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DF635AA-59D9-E780-4589-711F3F84908F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V="1">
            <a:off x="1657208" y="2782978"/>
            <a:ext cx="402222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45326C0-7C46-43A5-0306-4D8961753533}"/>
              </a:ext>
            </a:extLst>
          </p:cNvPr>
          <p:cNvCxnSpPr>
            <a:cxnSpLocks/>
            <a:stCxn id="15" idx="3"/>
            <a:endCxn id="32" idx="1"/>
          </p:cNvCxnSpPr>
          <p:nvPr/>
        </p:nvCxnSpPr>
        <p:spPr>
          <a:xfrm flipV="1">
            <a:off x="4678890" y="4721049"/>
            <a:ext cx="2854291" cy="8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B4F91BA4-F5CC-05AE-0710-C22EDB6AB12A}"/>
              </a:ext>
            </a:extLst>
          </p:cNvPr>
          <p:cNvCxnSpPr>
            <a:cxnSpLocks/>
            <a:stCxn id="7" idx="2"/>
            <a:endCxn id="25" idx="1"/>
          </p:cNvCxnSpPr>
          <p:nvPr/>
        </p:nvCxnSpPr>
        <p:spPr>
          <a:xfrm>
            <a:off x="7198365" y="2782978"/>
            <a:ext cx="329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89A6EE1-3E5A-19CF-51AA-5EEE9AE26846}"/>
                  </a:ext>
                </a:extLst>
              </p:cNvPr>
              <p:cNvSpPr txBox="1"/>
              <p:nvPr/>
            </p:nvSpPr>
            <p:spPr>
              <a:xfrm>
                <a:off x="7528276" y="2598312"/>
                <a:ext cx="3622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𝐀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2E62B3E8-2955-75C5-374A-B6B98F0B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276" y="2598312"/>
                <a:ext cx="362279" cy="369332"/>
              </a:xfrm>
              <a:prstGeom prst="rect">
                <a:avLst/>
              </a:prstGeom>
              <a:blipFill>
                <a:blip r:embed="rId4"/>
                <a:stretch>
                  <a:fillRect l="-28814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074605E2-1EE4-D733-84DC-F3D7FC029D41}"/>
              </a:ext>
            </a:extLst>
          </p:cNvPr>
          <p:cNvCxnSpPr>
            <a:cxnSpLocks/>
            <a:stCxn id="25" idx="3"/>
            <a:endCxn id="9" idx="2"/>
          </p:cNvCxnSpPr>
          <p:nvPr/>
        </p:nvCxnSpPr>
        <p:spPr>
          <a:xfrm>
            <a:off x="7890555" y="2782978"/>
            <a:ext cx="548985" cy="9650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47AE1550-2627-8431-5511-34B929FF36B5}"/>
                  </a:ext>
                </a:extLst>
              </p:cNvPr>
              <p:cNvSpPr txBox="1"/>
              <p:nvPr/>
            </p:nvSpPr>
            <p:spPr>
              <a:xfrm>
                <a:off x="7533181" y="4536383"/>
                <a:ext cx="35246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𝐯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CCD5E8F4-9E5D-06E8-94C3-D76C4AF6D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181" y="4536383"/>
                <a:ext cx="352468" cy="369332"/>
              </a:xfrm>
              <a:prstGeom prst="rect">
                <a:avLst/>
              </a:prstGeom>
              <a:blipFill>
                <a:blip r:embed="rId5"/>
                <a:stretch>
                  <a:fillRect l="-18966" b="-3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CDDD7488-D490-EB6A-0063-5129A0AECCBF}"/>
              </a:ext>
            </a:extLst>
          </p:cNvPr>
          <p:cNvCxnSpPr>
            <a:cxnSpLocks/>
            <a:stCxn id="32" idx="3"/>
            <a:endCxn id="9" idx="2"/>
          </p:cNvCxnSpPr>
          <p:nvPr/>
        </p:nvCxnSpPr>
        <p:spPr>
          <a:xfrm flipV="1">
            <a:off x="7885649" y="3748000"/>
            <a:ext cx="553891" cy="9730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0C8DD92-1FF8-33E3-C1C0-D146EB446D5F}"/>
              </a:ext>
            </a:extLst>
          </p:cNvPr>
          <p:cNvSpPr txBox="1"/>
          <p:nvPr/>
        </p:nvSpPr>
        <p:spPr>
          <a:xfrm>
            <a:off x="7572374" y="1368314"/>
            <a:ext cx="2293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GHOST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52A5D77-533F-B654-4745-2DC2F2BB9492}"/>
              </a:ext>
            </a:extLst>
          </p:cNvPr>
          <p:cNvSpPr txBox="1"/>
          <p:nvPr/>
        </p:nvSpPr>
        <p:spPr>
          <a:xfrm>
            <a:off x="138276" y="3554455"/>
            <a:ext cx="1518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ターゲット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DFA464-DBD2-BA27-2AEA-1AE2B07D81EB}"/>
              </a:ext>
            </a:extLst>
          </p:cNvPr>
          <p:cNvSpPr txBox="1"/>
          <p:nvPr/>
        </p:nvSpPr>
        <p:spPr>
          <a:xfrm>
            <a:off x="125969" y="4120884"/>
            <a:ext cx="1518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・性別</a:t>
            </a:r>
            <a:endParaRPr kumimoji="1"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・年齢</a:t>
            </a:r>
            <a:endParaRPr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・人種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1762D5E-3B2C-1644-6FA1-7F7A8F838F83}"/>
              </a:ext>
            </a:extLst>
          </p:cNvPr>
          <p:cNvSpPr/>
          <p:nvPr/>
        </p:nvSpPr>
        <p:spPr>
          <a:xfrm>
            <a:off x="3134489" y="4270034"/>
            <a:ext cx="1544401" cy="9180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NN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92754706-54F7-891C-B4E4-8CD3DD8F2DA7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1644901" y="4721049"/>
            <a:ext cx="1489588" cy="80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吹き出し: 四角形 42">
            <a:extLst>
              <a:ext uri="{FF2B5EF4-FFF2-40B4-BE49-F238E27FC236}">
                <a16:creationId xmlns:a16="http://schemas.microsoft.com/office/drawing/2014/main" id="{F40673A8-6EB5-AFFB-BC3F-ADFB36FD8E49}"/>
              </a:ext>
            </a:extLst>
          </p:cNvPr>
          <p:cNvSpPr/>
          <p:nvPr/>
        </p:nvSpPr>
        <p:spPr>
          <a:xfrm>
            <a:off x="619942" y="5550178"/>
            <a:ext cx="1883975" cy="792786"/>
          </a:xfrm>
          <a:prstGeom prst="wedgeRectCallout">
            <a:avLst>
              <a:gd name="adj1" fmla="val -33107"/>
              <a:gd name="adj2" fmla="val -7411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顔</a:t>
            </a:r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</a:t>
            </a:r>
            <a:r>
              <a:rPr lang="ja-JP" altLang="en-US" sz="2400">
                <a:solidFill>
                  <a:srgbClr val="FF0000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属性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(Identity)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1" name="吹き出し: 四角形 42">
            <a:extLst>
              <a:ext uri="{FF2B5EF4-FFF2-40B4-BE49-F238E27FC236}">
                <a16:creationId xmlns:a16="http://schemas.microsoft.com/office/drawing/2014/main" id="{1FF499F7-4951-FC14-6907-3C2DA01D857C}"/>
              </a:ext>
            </a:extLst>
          </p:cNvPr>
          <p:cNvSpPr/>
          <p:nvPr/>
        </p:nvSpPr>
        <p:spPr>
          <a:xfrm>
            <a:off x="7096230" y="5091391"/>
            <a:ext cx="3073265" cy="552100"/>
          </a:xfrm>
          <a:prstGeom prst="wedgeRectCallout">
            <a:avLst>
              <a:gd name="adj1" fmla="val -33107"/>
              <a:gd name="adj2" fmla="val -7411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属性を表すベクトル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9460090-E439-9BA5-302A-6348579EF1D6}"/>
              </a:ext>
            </a:extLst>
          </p:cNvPr>
          <p:cNvSpPr txBox="1"/>
          <p:nvPr/>
        </p:nvSpPr>
        <p:spPr>
          <a:xfrm>
            <a:off x="138276" y="6507527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[7] </a:t>
            </a:r>
            <a:r>
              <a:rPr lang="ja-JP" altLang="ja-JP" sz="1200" dirty="0">
                <a:solidFill>
                  <a:schemeClr val="bg1"/>
                </a:solidFill>
              </a:rPr>
              <a:t>池田 麻輝,</a:t>
            </a:r>
            <a:r>
              <a:rPr lang="en-US" altLang="ja-JP" sz="1200" dirty="0">
                <a:solidFill>
                  <a:schemeClr val="bg1"/>
                </a:solidFill>
              </a:rPr>
              <a:t>“GHOST</a:t>
            </a:r>
            <a:r>
              <a:rPr lang="ja-JP" altLang="en-US" sz="1200" dirty="0">
                <a:solidFill>
                  <a:schemeClr val="bg1"/>
                </a:solidFill>
              </a:rPr>
              <a:t>を用いたプライバシー保護のための顔変換システムの実装に関する研究，</a:t>
            </a:r>
            <a:r>
              <a:rPr lang="en-US" altLang="ja-JP" sz="1200" dirty="0">
                <a:solidFill>
                  <a:schemeClr val="bg1"/>
                </a:solidFill>
              </a:rPr>
              <a:t>”</a:t>
            </a:r>
            <a:r>
              <a:rPr lang="ja-JP" altLang="en-US" sz="1200" dirty="0">
                <a:solidFill>
                  <a:schemeClr val="bg1"/>
                </a:solidFill>
              </a:rPr>
              <a:t>湘南工科大学卒業研究発表会予稿集</a:t>
            </a:r>
            <a:r>
              <a:rPr lang="ja-JP" altLang="ja-JP" sz="1200" dirty="0">
                <a:solidFill>
                  <a:schemeClr val="bg1"/>
                </a:solidFill>
              </a:rPr>
              <a:t>, 202</a:t>
            </a:r>
            <a:r>
              <a:rPr lang="en-US" altLang="ja-JP" sz="1200" dirty="0">
                <a:solidFill>
                  <a:schemeClr val="bg1"/>
                </a:solidFill>
              </a:rPr>
              <a:t>4</a:t>
            </a:r>
            <a:r>
              <a:rPr lang="ja-JP" altLang="ja-JP" sz="1200" dirty="0">
                <a:solidFill>
                  <a:schemeClr val="bg1"/>
                </a:solidFill>
              </a:rPr>
              <a:t>.</a:t>
            </a:r>
            <a:endParaRPr lang="en-US" altLang="ja-JP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04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CFF2-9A77-A0E1-ABEF-3D0454043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3ADDAA-9CFB-C0AD-394E-868E0B8DA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顔ベクトルを出力する</a:t>
            </a:r>
            <a:r>
              <a:rPr lang="en-US" altLang="ja-JP" dirty="0"/>
              <a:t>NN</a:t>
            </a:r>
            <a:r>
              <a:rPr lang="ja-JP" altLang="en-US"/>
              <a:t>の学習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49BC881-351A-9D5C-D0C6-012B56424C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kumimoji="1" lang="en-US" altLang="ja-JP" dirty="0" err="1"/>
                  <a:t>UTKFace</a:t>
                </a:r>
                <a:r>
                  <a:rPr kumimoji="1" lang="en-US" altLang="ja-JP" dirty="0"/>
                  <a:t>[8]</a:t>
                </a:r>
                <a:r>
                  <a:rPr kumimoji="1" lang="ja-JP" altLang="en-US" dirty="0"/>
                  <a:t>を用いて</a:t>
                </a:r>
                <a:r>
                  <a:rPr kumimoji="1" lang="en-US" altLang="ja-JP" dirty="0"/>
                  <a:t>NN</a:t>
                </a:r>
                <a:r>
                  <a:rPr kumimoji="1" lang="ja-JP" altLang="en-US" dirty="0"/>
                  <a:t>を学習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𝑁𝑁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𝐴𝑟𝑐𝐹𝑎𝑐𝑒</m:t>
                                </m:r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𝑁𝑁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kumimoji="1" lang="ja-JP" altLang="en-US" dirty="0"/>
                  <a:t> </a:t>
                </a:r>
                <a:r>
                  <a:rPr kumimoji="1" lang="en-US" altLang="ja-JP" dirty="0"/>
                  <a:t>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ja-JP" dirty="0"/>
                  <a:t>;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番目の顔写真・顔の属性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49BC881-351A-9D5C-D0C6-012B56424C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9" t="-17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9D3D28-EADF-E0E2-FE24-3ADEBFE2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6EC6BE8-8DEA-B520-5E3F-9F55EA4A58CC}"/>
              </a:ext>
            </a:extLst>
          </p:cNvPr>
          <p:cNvSpPr/>
          <p:nvPr/>
        </p:nvSpPr>
        <p:spPr>
          <a:xfrm>
            <a:off x="1509562" y="1437098"/>
            <a:ext cx="2757810" cy="40440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lang="en-US" altLang="ja-JP" sz="2400" dirty="0" err="1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UTKFace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49303E7-D8AE-3183-394E-8A920B4855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2" b="532"/>
          <a:stretch/>
        </p:blipFill>
        <p:spPr>
          <a:xfrm>
            <a:off x="2129001" y="1996702"/>
            <a:ext cx="1518932" cy="153296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46BA60-1538-B91C-8B51-5B45EDB07503}"/>
              </a:ext>
            </a:extLst>
          </p:cNvPr>
          <p:cNvSpPr txBox="1"/>
          <p:nvPr/>
        </p:nvSpPr>
        <p:spPr>
          <a:xfrm>
            <a:off x="2116694" y="4101090"/>
            <a:ext cx="1518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・男</a:t>
            </a:r>
            <a:endParaRPr kumimoji="1"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</a:t>
            </a:r>
            <a:r>
              <a:rPr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40</a:t>
            </a:r>
            <a:r>
              <a:rPr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歳</a:t>
            </a:r>
            <a:endParaRPr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・白人</a:t>
            </a:r>
          </a:p>
        </p:txBody>
      </p:sp>
      <p:sp>
        <p:nvSpPr>
          <p:cNvPr id="7" name="フローチャート: 手作業 6">
            <a:extLst>
              <a:ext uri="{FF2B5EF4-FFF2-40B4-BE49-F238E27FC236}">
                <a16:creationId xmlns:a16="http://schemas.microsoft.com/office/drawing/2014/main" id="{358840F3-3489-619D-3775-09600DB1B44F}"/>
              </a:ext>
            </a:extLst>
          </p:cNvPr>
          <p:cNvSpPr/>
          <p:nvPr/>
        </p:nvSpPr>
        <p:spPr>
          <a:xfrm rot="16200000">
            <a:off x="5329516" y="2003719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ArcFace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8517CCA-443D-A9BE-C6D1-316570ED99A0}"/>
              </a:ext>
            </a:extLst>
          </p:cNvPr>
          <p:cNvSpPr/>
          <p:nvPr/>
        </p:nvSpPr>
        <p:spPr>
          <a:xfrm>
            <a:off x="5336534" y="4242213"/>
            <a:ext cx="1518931" cy="9180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NN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A472AB06-5417-7EBE-677D-6BE029747BF3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 flipV="1">
            <a:off x="3647933" y="2763184"/>
            <a:ext cx="168860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E082972-D47F-769E-1E28-B3DD028AE72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635626" y="4701254"/>
            <a:ext cx="170090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F93429F-7A2E-ADBB-87A1-69417463D52E}"/>
                  </a:ext>
                </a:extLst>
              </p:cNvPr>
              <p:cNvSpPr txBox="1"/>
              <p:nvPr/>
            </p:nvSpPr>
            <p:spPr>
              <a:xfrm>
                <a:off x="8544066" y="2578518"/>
                <a:ext cx="35246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𝐯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D4D1AD4D-47BC-F515-3AEE-4C59690E4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066" y="2578518"/>
                <a:ext cx="352468" cy="369332"/>
              </a:xfrm>
              <a:prstGeom prst="rect">
                <a:avLst/>
              </a:prstGeom>
              <a:blipFill>
                <a:blip r:embed="rId4"/>
                <a:stretch>
                  <a:fillRect l="-19298" b="-3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1ADD90A-B414-EB11-602C-4830C278E88E}"/>
              </a:ext>
            </a:extLst>
          </p:cNvPr>
          <p:cNvCxnSpPr>
            <a:cxnSpLocks/>
            <a:stCxn id="7" idx="2"/>
            <a:endCxn id="16" idx="1"/>
          </p:cNvCxnSpPr>
          <p:nvPr/>
        </p:nvCxnSpPr>
        <p:spPr>
          <a:xfrm>
            <a:off x="6855465" y="2763184"/>
            <a:ext cx="16886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4923A4D-3353-0DAC-BBA0-18A7EC2F4B7F}"/>
                  </a:ext>
                </a:extLst>
              </p:cNvPr>
              <p:cNvSpPr txBox="1"/>
              <p:nvPr/>
            </p:nvSpPr>
            <p:spPr>
              <a:xfrm>
                <a:off x="8544066" y="4516587"/>
                <a:ext cx="35246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accPr>
                        <m:e>
                          <m: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𝐯</m:t>
                          </m:r>
                        </m:e>
                      </m:acc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48D6D41A-6953-6923-5732-2B5B55BC5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4066" y="4516587"/>
                <a:ext cx="352468" cy="369332"/>
              </a:xfrm>
              <a:prstGeom prst="rect">
                <a:avLst/>
              </a:prstGeom>
              <a:blipFill>
                <a:blip r:embed="rId5"/>
                <a:stretch>
                  <a:fillRect l="-19298" t="-15000" r="-47368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3133CD9-54C2-78A4-02FD-4440E8E0D662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 flipV="1">
            <a:off x="6855465" y="4701253"/>
            <a:ext cx="168860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A1992A84-D2DD-5BA3-0B3A-9931BE11080A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>
            <a:off x="8720300" y="2947850"/>
            <a:ext cx="0" cy="15687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1A16007-A46A-B67D-C8D4-8063A1C8F36B}"/>
              </a:ext>
            </a:extLst>
          </p:cNvPr>
          <p:cNvSpPr txBox="1"/>
          <p:nvPr/>
        </p:nvSpPr>
        <p:spPr>
          <a:xfrm>
            <a:off x="125968" y="6524547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[8] GitHub, “</a:t>
            </a:r>
            <a:r>
              <a:rPr kumimoji="1" lang="en-US" altLang="ja-JP" sz="12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UTKFace</a:t>
            </a:r>
            <a:r>
              <a:rPr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 </a:t>
            </a:r>
            <a:r>
              <a:rPr kumimoji="1"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Large Scale Face </a:t>
            </a:r>
            <a:r>
              <a:rPr kumimoji="1" lang="en-US" altLang="ja-JP" sz="12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Dataset,”https</a:t>
            </a:r>
            <a:r>
              <a:rPr kumimoji="1"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://susanqq.github.io/</a:t>
            </a:r>
            <a:r>
              <a:rPr kumimoji="1" lang="en-US" altLang="ja-JP" sz="1200" dirty="0" err="1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UTKFace</a:t>
            </a:r>
            <a:r>
              <a:rPr kumimoji="1"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/</a:t>
            </a:r>
            <a:r>
              <a:rPr kumimoji="1"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，参照</a:t>
            </a:r>
            <a:r>
              <a:rPr kumimoji="1" lang="en-US" altLang="ja-JP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: 2026/5/27</a:t>
            </a:r>
            <a:r>
              <a:rPr kumimoji="1" lang="ja-JP" altLang="en-US" sz="1200" dirty="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  <a:endParaRPr lang="ja-JP" altLang="en-US" sz="1200" dirty="0">
              <a:solidFill>
                <a:schemeClr val="bg1"/>
              </a:solidFill>
              <a:effectLst/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2" name="吹き出し: 四角形 42">
            <a:extLst>
              <a:ext uri="{FF2B5EF4-FFF2-40B4-BE49-F238E27FC236}">
                <a16:creationId xmlns:a16="http://schemas.microsoft.com/office/drawing/2014/main" id="{02345C0B-560E-DFFF-B089-ECDCBD56C3AD}"/>
              </a:ext>
            </a:extLst>
          </p:cNvPr>
          <p:cNvSpPr/>
          <p:nvPr/>
        </p:nvSpPr>
        <p:spPr>
          <a:xfrm>
            <a:off x="4581771" y="1087101"/>
            <a:ext cx="3962295" cy="781447"/>
          </a:xfrm>
          <a:prstGeom prst="wedgeRectCallout">
            <a:avLst>
              <a:gd name="adj1" fmla="val -60512"/>
              <a:gd name="adj2" fmla="val 3558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顔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写真と属性が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ペアとなったデータセット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934ADC8A-DF2A-A419-8343-D0FCACEADAEB}"/>
              </a:ext>
            </a:extLst>
          </p:cNvPr>
          <p:cNvSpPr/>
          <p:nvPr/>
        </p:nvSpPr>
        <p:spPr>
          <a:xfrm>
            <a:off x="8896534" y="1943863"/>
            <a:ext cx="2913852" cy="545886"/>
          </a:xfrm>
          <a:prstGeom prst="wedgeRectCallout">
            <a:avLst>
              <a:gd name="adj1" fmla="val -49463"/>
              <a:gd name="adj2" fmla="val 9041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顔の</a:t>
            </a:r>
            <a:r>
              <a:rPr lang="ja-JP" altLang="en-US" sz="2400" dirty="0">
                <a:solidFill>
                  <a:srgbClr val="FF0000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パーツ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の情報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4079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2728F-6FC6-4D61-191F-EAFA7DB01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467A7F-EADD-E29A-8CD7-C1F91B2F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従来手法の問題点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634CA0-B2F4-EA30-EF84-225574DB1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・ターゲットの顔の属性を事前に取得しておく必要がある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</a:t>
            </a:r>
            <a:r>
              <a:rPr lang="en-US" altLang="ja-JP" dirty="0"/>
              <a:t>NN</a:t>
            </a:r>
            <a:r>
              <a:rPr lang="ja-JP" altLang="en-US" dirty="0"/>
              <a:t>の学習には顔写真と属性がペアになったデータが必要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F6EDD1-4D17-BBCB-41EB-166C911E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4DDCF02E-3CFA-36B5-60FD-3E36562AA036}"/>
              </a:ext>
            </a:extLst>
          </p:cNvPr>
          <p:cNvSpPr/>
          <p:nvPr/>
        </p:nvSpPr>
        <p:spPr>
          <a:xfrm>
            <a:off x="5372100" y="2019432"/>
            <a:ext cx="6693931" cy="4324348"/>
          </a:xfrm>
          <a:custGeom>
            <a:avLst/>
            <a:gdLst>
              <a:gd name="csX0" fmla="*/ 0 w 6693931"/>
              <a:gd name="csY0" fmla="*/ 0 h 4324348"/>
              <a:gd name="csX1" fmla="*/ 6693931 w 6693931"/>
              <a:gd name="csY1" fmla="*/ 0 h 4324348"/>
              <a:gd name="csX2" fmla="*/ 6693931 w 6693931"/>
              <a:gd name="csY2" fmla="*/ 4324348 h 4324348"/>
              <a:gd name="csX3" fmla="*/ 2676525 w 6693931"/>
              <a:gd name="csY3" fmla="*/ 4324348 h 4324348"/>
              <a:gd name="csX4" fmla="*/ 2676525 w 6693931"/>
              <a:gd name="csY4" fmla="*/ 2495552 h 4324348"/>
              <a:gd name="csX5" fmla="*/ 0 w 6693931"/>
              <a:gd name="csY5" fmla="*/ 2495552 h 43243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693931" h="4324348">
                <a:moveTo>
                  <a:pt x="0" y="0"/>
                </a:moveTo>
                <a:lnTo>
                  <a:pt x="6693931" y="0"/>
                </a:lnTo>
                <a:lnTo>
                  <a:pt x="6693931" y="4324348"/>
                </a:lnTo>
                <a:lnTo>
                  <a:pt x="2676525" y="4324348"/>
                </a:lnTo>
                <a:lnTo>
                  <a:pt x="2676525" y="2495552"/>
                </a:lnTo>
                <a:lnTo>
                  <a:pt x="0" y="24955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6" name="コンテンツ プレースホルダー 4">
            <a:extLst>
              <a:ext uri="{FF2B5EF4-FFF2-40B4-BE49-F238E27FC236}">
                <a16:creationId xmlns:a16="http://schemas.microsoft.com/office/drawing/2014/main" id="{FEA7A05B-6C20-9183-583D-17E39B575F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2" b="532"/>
          <a:stretch/>
        </p:blipFill>
        <p:spPr>
          <a:xfrm>
            <a:off x="138276" y="2673852"/>
            <a:ext cx="1518932" cy="1532966"/>
          </a:xfrm>
          <a:prstGeom prst="rect">
            <a:avLst/>
          </a:prstGeom>
        </p:spPr>
      </p:pic>
      <p:sp>
        <p:nvSpPr>
          <p:cNvPr id="7" name="フローチャート: 手作業 6">
            <a:extLst>
              <a:ext uri="{FF2B5EF4-FFF2-40B4-BE49-F238E27FC236}">
                <a16:creationId xmlns:a16="http://schemas.microsoft.com/office/drawing/2014/main" id="{A58537C8-AABC-AED9-1ACA-22EB85A3F600}"/>
              </a:ext>
            </a:extLst>
          </p:cNvPr>
          <p:cNvSpPr/>
          <p:nvPr/>
        </p:nvSpPr>
        <p:spPr>
          <a:xfrm rot="16200000">
            <a:off x="5672416" y="2680869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Attribute</a:t>
            </a:r>
          </a:p>
          <a:p>
            <a:pPr algn="ctr"/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3D3BC055-FF21-8BEC-5D54-CF1E302EDCE1}"/>
              </a:ext>
            </a:extLst>
          </p:cNvPr>
          <p:cNvSpPr/>
          <p:nvPr/>
        </p:nvSpPr>
        <p:spPr>
          <a:xfrm rot="5400000" flipH="1">
            <a:off x="8432522" y="3645891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Generator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EBC60D0-D6C6-9855-B94E-6666E5F598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0242298" y="3638873"/>
            <a:ext cx="1518932" cy="1518932"/>
          </a:xfrm>
          <a:prstGeom prst="rect">
            <a:avLst/>
          </a:prstGeom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359F7FC-67F2-2CA0-8599-F180B93DD9D4}"/>
              </a:ext>
            </a:extLst>
          </p:cNvPr>
          <p:cNvCxnSpPr>
            <a:stCxn id="8" idx="0"/>
            <a:endCxn id="9" idx="1"/>
          </p:cNvCxnSpPr>
          <p:nvPr/>
        </p:nvCxnSpPr>
        <p:spPr>
          <a:xfrm flipV="1">
            <a:off x="9958471" y="4398339"/>
            <a:ext cx="283827" cy="70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EB758EE-CDD0-7BBA-0971-74B3E5A9F4AE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V="1">
            <a:off x="1657208" y="3440334"/>
            <a:ext cx="402222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74360B57-D392-FAF5-83B1-282B1DDAC8B7}"/>
              </a:ext>
            </a:extLst>
          </p:cNvPr>
          <p:cNvCxnSpPr>
            <a:cxnSpLocks/>
            <a:stCxn id="23" idx="3"/>
            <a:endCxn id="16" idx="1"/>
          </p:cNvCxnSpPr>
          <p:nvPr/>
        </p:nvCxnSpPr>
        <p:spPr>
          <a:xfrm>
            <a:off x="7223835" y="5378404"/>
            <a:ext cx="30934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3DCA8D8-34F5-E9AF-5D19-90AB8C43F193}"/>
              </a:ext>
            </a:extLst>
          </p:cNvPr>
          <p:cNvCxnSpPr>
            <a:cxnSpLocks/>
            <a:stCxn id="7" idx="2"/>
            <a:endCxn id="14" idx="1"/>
          </p:cNvCxnSpPr>
          <p:nvPr/>
        </p:nvCxnSpPr>
        <p:spPr>
          <a:xfrm>
            <a:off x="7198365" y="3440334"/>
            <a:ext cx="329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3CBD2A72-EA9A-5908-1432-B5D0D5192575}"/>
                  </a:ext>
                </a:extLst>
              </p:cNvPr>
              <p:cNvSpPr txBox="1"/>
              <p:nvPr/>
            </p:nvSpPr>
            <p:spPr>
              <a:xfrm>
                <a:off x="7528276" y="3255668"/>
                <a:ext cx="3622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𝐀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3CBD2A72-EA9A-5908-1432-B5D0D5192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276" y="3255668"/>
                <a:ext cx="362279" cy="369332"/>
              </a:xfrm>
              <a:prstGeom prst="rect">
                <a:avLst/>
              </a:prstGeom>
              <a:blipFill>
                <a:blip r:embed="rId4"/>
                <a:stretch>
                  <a:fillRect l="-28814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27">
            <a:extLst>
              <a:ext uri="{FF2B5EF4-FFF2-40B4-BE49-F238E27FC236}">
                <a16:creationId xmlns:a16="http://schemas.microsoft.com/office/drawing/2014/main" id="{00DD23F7-34AF-7AAC-7CF6-500C576F9C40}"/>
              </a:ext>
            </a:extLst>
          </p:cNvPr>
          <p:cNvCxnSpPr>
            <a:cxnSpLocks/>
            <a:stCxn id="14" idx="3"/>
            <a:endCxn id="8" idx="2"/>
          </p:cNvCxnSpPr>
          <p:nvPr/>
        </p:nvCxnSpPr>
        <p:spPr>
          <a:xfrm>
            <a:off x="7890555" y="3440334"/>
            <a:ext cx="548985" cy="9650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A0F1927-35B6-8BB0-3F2A-B7A0AA4CECBC}"/>
                  </a:ext>
                </a:extLst>
              </p:cNvPr>
              <p:cNvSpPr txBox="1"/>
              <p:nvPr/>
            </p:nvSpPr>
            <p:spPr>
              <a:xfrm>
                <a:off x="7533181" y="5193739"/>
                <a:ext cx="35246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𝐯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A0F1927-35B6-8BB0-3F2A-B7A0AA4CE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181" y="5193739"/>
                <a:ext cx="352468" cy="369332"/>
              </a:xfrm>
              <a:prstGeom prst="rect">
                <a:avLst/>
              </a:prstGeom>
              <a:blipFill>
                <a:blip r:embed="rId5"/>
                <a:stretch>
                  <a:fillRect l="-18966" b="-3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33">
            <a:extLst>
              <a:ext uri="{FF2B5EF4-FFF2-40B4-BE49-F238E27FC236}">
                <a16:creationId xmlns:a16="http://schemas.microsoft.com/office/drawing/2014/main" id="{32436B48-9C52-C7E4-517E-2EA860E0D537}"/>
              </a:ext>
            </a:extLst>
          </p:cNvPr>
          <p:cNvCxnSpPr>
            <a:cxnSpLocks/>
            <a:stCxn id="16" idx="3"/>
            <a:endCxn id="8" idx="2"/>
          </p:cNvCxnSpPr>
          <p:nvPr/>
        </p:nvCxnSpPr>
        <p:spPr>
          <a:xfrm flipV="1">
            <a:off x="7885649" y="4405356"/>
            <a:ext cx="553891" cy="9730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3D33FE7-0785-E912-A607-EA183DD64411}"/>
              </a:ext>
            </a:extLst>
          </p:cNvPr>
          <p:cNvSpPr txBox="1"/>
          <p:nvPr/>
        </p:nvSpPr>
        <p:spPr>
          <a:xfrm>
            <a:off x="7572374" y="2025670"/>
            <a:ext cx="2293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GHOST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C9C2718-DDB8-6FBB-8BD4-7D9004A5F81A}"/>
              </a:ext>
            </a:extLst>
          </p:cNvPr>
          <p:cNvSpPr/>
          <p:nvPr/>
        </p:nvSpPr>
        <p:spPr>
          <a:xfrm>
            <a:off x="5679434" y="4919363"/>
            <a:ext cx="1544401" cy="9180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NN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FFA2AB2-1954-34C9-0DEB-4B6C7361AB48}"/>
              </a:ext>
            </a:extLst>
          </p:cNvPr>
          <p:cNvSpPr/>
          <p:nvPr/>
        </p:nvSpPr>
        <p:spPr>
          <a:xfrm>
            <a:off x="1568741" y="4354068"/>
            <a:ext cx="3915650" cy="201487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0F7C619-CDCA-C2AD-5737-1AEE41FC1CE1}"/>
              </a:ext>
            </a:extLst>
          </p:cNvPr>
          <p:cNvSpPr txBox="1"/>
          <p:nvPr/>
        </p:nvSpPr>
        <p:spPr>
          <a:xfrm>
            <a:off x="3832986" y="4778239"/>
            <a:ext cx="1308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・性別</a:t>
            </a:r>
            <a:endParaRPr kumimoji="1"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・年齢</a:t>
            </a:r>
            <a:endParaRPr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・人種</a:t>
            </a:r>
          </a:p>
        </p:txBody>
      </p:sp>
      <p:sp>
        <p:nvSpPr>
          <p:cNvPr id="28" name="フローチャート: 手作業 27">
            <a:extLst>
              <a:ext uri="{FF2B5EF4-FFF2-40B4-BE49-F238E27FC236}">
                <a16:creationId xmlns:a16="http://schemas.microsoft.com/office/drawing/2014/main" id="{8DB69C40-52F2-BC9A-F70F-2CC73A8DDF63}"/>
              </a:ext>
            </a:extLst>
          </p:cNvPr>
          <p:cNvSpPr/>
          <p:nvPr/>
        </p:nvSpPr>
        <p:spPr>
          <a:xfrm rot="16200000">
            <a:off x="1826850" y="4618939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属性判定</a:t>
            </a:r>
            <a:endParaRPr kumimoji="1" lang="en-US" altLang="ja-JP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AI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6D85D300-C42D-E01C-1692-50F920D7A787}"/>
              </a:ext>
            </a:extLst>
          </p:cNvPr>
          <p:cNvCxnSpPr>
            <a:cxnSpLocks/>
            <a:stCxn id="28" idx="2"/>
            <a:endCxn id="22" idx="1"/>
          </p:cNvCxnSpPr>
          <p:nvPr/>
        </p:nvCxnSpPr>
        <p:spPr>
          <a:xfrm>
            <a:off x="3352799" y="5378404"/>
            <a:ext cx="4801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7CB929C8-25A2-A40E-6122-910BC2DD9CF0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5141227" y="5378404"/>
            <a:ext cx="5382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7C00D85D-84DF-AD9B-206D-11558D000273}"/>
              </a:ext>
            </a:extLst>
          </p:cNvPr>
          <p:cNvCxnSpPr>
            <a:cxnSpLocks/>
            <a:stCxn id="6" idx="2"/>
            <a:endCxn id="28" idx="0"/>
          </p:cNvCxnSpPr>
          <p:nvPr/>
        </p:nvCxnSpPr>
        <p:spPr>
          <a:xfrm rot="16200000" flipH="1">
            <a:off x="780012" y="4324548"/>
            <a:ext cx="1171586" cy="9361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8D747F1-5274-5497-48BF-A862536440B8}"/>
              </a:ext>
            </a:extLst>
          </p:cNvPr>
          <p:cNvSpPr txBox="1"/>
          <p:nvPr/>
        </p:nvSpPr>
        <p:spPr>
          <a:xfrm>
            <a:off x="138276" y="2273741"/>
            <a:ext cx="1518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ターゲット</a:t>
            </a:r>
          </a:p>
        </p:txBody>
      </p:sp>
    </p:spTree>
    <p:extLst>
      <p:ext uri="{BB962C8B-B14F-4D97-AF65-F5344CB8AC3E}">
        <p14:creationId xmlns:p14="http://schemas.microsoft.com/office/powerpoint/2010/main" val="82315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5EB6-726E-F1AD-DBC8-0AB1151D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BCDA2-29AA-8970-E75B-66E80504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提案手法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982894A-BE0B-0A80-FBB2-7E1808948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ja-JP" dirty="0"/>
                  <a:t>Variational Autoencoder(VAE)</a:t>
                </a:r>
                <a:r>
                  <a:rPr kumimoji="1" lang="en-US" altLang="ja-JP" dirty="0"/>
                  <a:t>[9]</a:t>
                </a:r>
                <a:r>
                  <a:rPr kumimoji="1" lang="ja-JP" altLang="en-US" dirty="0"/>
                  <a:t>を用いて顔ベクトルを生成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VAE</a:t>
                </a:r>
                <a:r>
                  <a:rPr lang="ja-JP" altLang="en-US" dirty="0"/>
                  <a:t>は入力と類似しつつ異なる値を出力する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ja-JP" altLang="en-US" dirty="0"/>
                  <a:t>→ 個人は特定できないが，同じ属性の顔ベクトル</a:t>
                </a:r>
                <a:r>
                  <a:rPr lang="ja-JP" altLang="en-US" dirty="0"/>
                  <a:t>を出力すると期待できる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sz="2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𝑉𝐴𝐸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ja-JP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ja-JP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1">
                                            <a:latin typeface="Cambria Math" panose="02040503050406030204" pitchFamily="18" charset="0"/>
                                          </a:rPr>
                                          <m:t>𝐯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𝑑𝑒𝑐𝑜𝑑𝑒𝑟</m:t>
                                    </m:r>
                                    <m:d>
                                      <m:dPr>
                                        <m:ctrlPr>
                                          <a:rPr lang="en-US" altLang="ja-JP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1">
                                                <a:latin typeface="Cambria Math" panose="02040503050406030204" pitchFamily="18" charset="0"/>
                                              </a:rPr>
                                              <m:t>𝐳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⊙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sSub>
                                              <m:sSubPr>
                                                <m:ctrlPr>
                                                  <a:rPr lang="en-US" altLang="ja-JP" b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b="1">
                                                    <a:latin typeface="Cambria Math" panose="02040503050406030204" pitchFamily="18" charset="0"/>
                                                  </a:rPr>
                                                  <m:t>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sup>
                                        </m:sSup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ja-JP" b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1">
                                                <a:latin typeface="Cambria Math" panose="02040503050406030204" pitchFamily="18" charset="0"/>
                                              </a:rPr>
                                              <m:t>𝛍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ja-JP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ja-JP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ja-JP" b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d>
                                <m:r>
                                  <a:rPr lang="en-US" altLang="ja-JP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ja-JP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altLang="ja-JP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𝛔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ja-JP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b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b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𝛍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kumimoji="1" lang="ja-JP" altLang="en-US" dirty="0"/>
                  <a:t> 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※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𝐴𝑟𝑐𝐹𝑎𝑐𝑒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dirty="0"/>
                  <a:t>; </a:t>
                </a:r>
                <a:r>
                  <a:rPr kumimoji="1" lang="ja-JP" altLang="en-US" dirty="0"/>
                  <a:t>顔ベクトル，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0" smtClean="0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𝑒𝑛𝑐𝑜𝑑𝑒𝑟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0" smtClean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b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1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ja-JP" altLang="en-US" b="1" dirty="0"/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982894A-BE0B-0A80-FBB2-7E1808948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9" t="-10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19B01F5-7277-8BC6-3D63-DF60EEE2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A326516-9D03-91DE-7F3C-8B1C4FFFAE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2" b="532"/>
          <a:stretch/>
        </p:blipFill>
        <p:spPr>
          <a:xfrm>
            <a:off x="125968" y="2575171"/>
            <a:ext cx="1518932" cy="1532966"/>
          </a:xfrm>
          <a:prstGeom prst="rect">
            <a:avLst/>
          </a:prstGeom>
        </p:spPr>
      </p:pic>
      <p:sp>
        <p:nvSpPr>
          <p:cNvPr id="6" name="フローチャート: 手作業 5">
            <a:extLst>
              <a:ext uri="{FF2B5EF4-FFF2-40B4-BE49-F238E27FC236}">
                <a16:creationId xmlns:a16="http://schemas.microsoft.com/office/drawing/2014/main" id="{4131F10E-E9A4-A13C-C8A4-C8E6CCB41975}"/>
              </a:ext>
            </a:extLst>
          </p:cNvPr>
          <p:cNvSpPr/>
          <p:nvPr/>
        </p:nvSpPr>
        <p:spPr>
          <a:xfrm rot="16200000">
            <a:off x="2462491" y="2582191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ArcFace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C82AF0F3-D31D-CB33-33CF-0AA2694F849D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1644900" y="3341654"/>
            <a:ext cx="824609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A7CFD47E-94F5-4AB1-FFB7-18FB14FE20CE}"/>
              </a:ext>
            </a:extLst>
          </p:cNvPr>
          <p:cNvCxnSpPr>
            <a:cxnSpLocks/>
            <a:stCxn id="6" idx="2"/>
            <a:endCxn id="44" idx="1"/>
          </p:cNvCxnSpPr>
          <p:nvPr/>
        </p:nvCxnSpPr>
        <p:spPr>
          <a:xfrm>
            <a:off x="3988440" y="3341656"/>
            <a:ext cx="508559" cy="6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F863A9D-B504-E4B8-2635-BF5DC86F359A}"/>
              </a:ext>
            </a:extLst>
          </p:cNvPr>
          <p:cNvSpPr/>
          <p:nvPr/>
        </p:nvSpPr>
        <p:spPr>
          <a:xfrm>
            <a:off x="5162244" y="2416034"/>
            <a:ext cx="5774293" cy="22939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VAE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フローチャート: 手作業 8">
            <a:extLst>
              <a:ext uri="{FF2B5EF4-FFF2-40B4-BE49-F238E27FC236}">
                <a16:creationId xmlns:a16="http://schemas.microsoft.com/office/drawing/2014/main" id="{5A8FE180-4EA9-096A-C7DB-73E661024D8B}"/>
              </a:ext>
            </a:extLst>
          </p:cNvPr>
          <p:cNvSpPr/>
          <p:nvPr/>
        </p:nvSpPr>
        <p:spPr>
          <a:xfrm rot="16200000">
            <a:off x="5339891" y="2582190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0" name="フローチャート: 手作業 9">
            <a:extLst>
              <a:ext uri="{FF2B5EF4-FFF2-40B4-BE49-F238E27FC236}">
                <a16:creationId xmlns:a16="http://schemas.microsoft.com/office/drawing/2014/main" id="{9C7F83AD-7513-0152-699F-509BBA0F3422}"/>
              </a:ext>
            </a:extLst>
          </p:cNvPr>
          <p:cNvSpPr/>
          <p:nvPr/>
        </p:nvSpPr>
        <p:spPr>
          <a:xfrm rot="5400000" flipH="1">
            <a:off x="9202362" y="2582190"/>
            <a:ext cx="1532967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Decoder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DB74FD6E-61CA-F6FA-CE1E-C21DA4E3B8B2}"/>
                  </a:ext>
                </a:extLst>
              </p:cNvPr>
              <p:cNvSpPr txBox="1"/>
              <p:nvPr/>
            </p:nvSpPr>
            <p:spPr>
              <a:xfrm>
                <a:off x="7454469" y="2976811"/>
                <a:ext cx="3446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𝛔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12C616C-1E02-BB38-4352-79DE0325D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69" y="2976811"/>
                <a:ext cx="344645" cy="369332"/>
              </a:xfrm>
              <a:prstGeom prst="rect">
                <a:avLst/>
              </a:prstGeom>
              <a:blipFill>
                <a:blip r:embed="rId4"/>
                <a:stretch>
                  <a:fillRect l="-25926" b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3CBE1D-5F37-FF93-8D6D-5A99E0AB0C81}"/>
                  </a:ext>
                </a:extLst>
              </p:cNvPr>
              <p:cNvSpPr txBox="1"/>
              <p:nvPr/>
            </p:nvSpPr>
            <p:spPr>
              <a:xfrm>
                <a:off x="7454469" y="3346143"/>
                <a:ext cx="3494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𝛍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B09D9FD9-B6F2-A612-4CF6-A84A111BF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69" y="3346143"/>
                <a:ext cx="349455" cy="369332"/>
              </a:xfrm>
              <a:prstGeom prst="rect">
                <a:avLst/>
              </a:prstGeom>
              <a:blipFill>
                <a:blip r:embed="rId5"/>
                <a:stretch>
                  <a:fillRect l="-32143" b="-3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3891E4B2-6BC5-270B-A2EF-F3DB06220EB7}"/>
              </a:ext>
            </a:extLst>
          </p:cNvPr>
          <p:cNvCxnSpPr>
            <a:cxnSpLocks/>
            <a:stCxn id="9" idx="2"/>
            <a:endCxn id="13" idx="1"/>
          </p:cNvCxnSpPr>
          <p:nvPr/>
        </p:nvCxnSpPr>
        <p:spPr>
          <a:xfrm flipV="1">
            <a:off x="6865840" y="3161477"/>
            <a:ext cx="588629" cy="180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2D975F44-EE6B-B47D-4318-094A86ADFABE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>
            <a:off x="6865840" y="3341655"/>
            <a:ext cx="588629" cy="189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A0FE577-D9D0-39CB-0B0B-E3A16A043F67}"/>
                  </a:ext>
                </a:extLst>
              </p:cNvPr>
              <p:cNvSpPr txBox="1"/>
              <p:nvPr/>
            </p:nvSpPr>
            <p:spPr>
              <a:xfrm>
                <a:off x="6305308" y="4169492"/>
                <a:ext cx="149380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𝐳</m:t>
                      </m:r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~</m:t>
                      </m:r>
                      <m:r>
                        <a:rPr kumimoji="1" lang="en-US" altLang="ja-JP" sz="2400" b="1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𝒩</m:t>
                      </m:r>
                      <m:d>
                        <m:dPr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dPr>
                        <m:e>
                          <m:r>
                            <a:rPr kumimoji="1" lang="en-US" altLang="ja-JP" sz="2400" b="0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8D2D3C0-354E-7AA9-ED21-1C02D8222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308" y="4169492"/>
                <a:ext cx="1493806" cy="369332"/>
              </a:xfrm>
              <a:prstGeom prst="rect">
                <a:avLst/>
              </a:prstGeom>
              <a:blipFill>
                <a:blip r:embed="rId6"/>
                <a:stretch>
                  <a:fillRect l="-4237"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DB62FC90-0B9D-8522-B473-E78916351167}"/>
                  </a:ext>
                </a:extLst>
              </p:cNvPr>
              <p:cNvSpPr txBox="1"/>
              <p:nvPr/>
            </p:nvSpPr>
            <p:spPr>
              <a:xfrm>
                <a:off x="8360777" y="3161477"/>
                <a:ext cx="2821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𝐟</m:t>
                      </m:r>
                    </m:oMath>
                  </m:oMathPara>
                </a14:m>
                <a:endParaRPr kumimoji="1" lang="ja-JP" altLang="en-US" sz="2400" b="1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BA03F727-995E-2AAF-6BF8-B295248B1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777" y="3161477"/>
                <a:ext cx="282129" cy="369332"/>
              </a:xfrm>
              <a:prstGeom prst="rect">
                <a:avLst/>
              </a:prstGeom>
              <a:blipFill>
                <a:blip r:embed="rId7"/>
                <a:stretch>
                  <a:fillRect l="-39130" b="-137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D59507C1-536F-3DF9-5C12-C16C8595D4BE}"/>
              </a:ext>
            </a:extLst>
          </p:cNvPr>
          <p:cNvCxnSpPr>
            <a:cxnSpLocks/>
            <a:stCxn id="23" idx="3"/>
            <a:endCxn id="24" idx="2"/>
          </p:cNvCxnSpPr>
          <p:nvPr/>
        </p:nvCxnSpPr>
        <p:spPr>
          <a:xfrm flipV="1">
            <a:off x="7799114" y="3530809"/>
            <a:ext cx="702728" cy="8233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4">
            <a:extLst>
              <a:ext uri="{FF2B5EF4-FFF2-40B4-BE49-F238E27FC236}">
                <a16:creationId xmlns:a16="http://schemas.microsoft.com/office/drawing/2014/main" id="{B4E05783-F39E-85C3-C1C6-9F4F5A5297DC}"/>
              </a:ext>
            </a:extLst>
          </p:cNvPr>
          <p:cNvCxnSpPr>
            <a:cxnSpLocks/>
            <a:stCxn id="16" idx="3"/>
            <a:endCxn id="24" idx="1"/>
          </p:cNvCxnSpPr>
          <p:nvPr/>
        </p:nvCxnSpPr>
        <p:spPr>
          <a:xfrm flipV="1">
            <a:off x="7803924" y="3346143"/>
            <a:ext cx="556853" cy="18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24">
            <a:extLst>
              <a:ext uri="{FF2B5EF4-FFF2-40B4-BE49-F238E27FC236}">
                <a16:creationId xmlns:a16="http://schemas.microsoft.com/office/drawing/2014/main" id="{BFEA212E-25F4-E77C-394C-A8A439DA109B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7799114" y="3161477"/>
            <a:ext cx="561663" cy="18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24">
            <a:extLst>
              <a:ext uri="{FF2B5EF4-FFF2-40B4-BE49-F238E27FC236}">
                <a16:creationId xmlns:a16="http://schemas.microsoft.com/office/drawing/2014/main" id="{36E8A19A-6214-BFF3-B068-CDD874A01FE3}"/>
              </a:ext>
            </a:extLst>
          </p:cNvPr>
          <p:cNvCxnSpPr>
            <a:cxnSpLocks/>
            <a:stCxn id="24" idx="3"/>
            <a:endCxn id="10" idx="2"/>
          </p:cNvCxnSpPr>
          <p:nvPr/>
        </p:nvCxnSpPr>
        <p:spPr>
          <a:xfrm flipV="1">
            <a:off x="8642906" y="3341655"/>
            <a:ext cx="566474" cy="4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27CCA7D5-6FFF-6AB0-BC43-2FD9A0164968}"/>
                  </a:ext>
                </a:extLst>
              </p:cNvPr>
              <p:cNvSpPr txBox="1"/>
              <p:nvPr/>
            </p:nvSpPr>
            <p:spPr>
              <a:xfrm>
                <a:off x="11340984" y="3161477"/>
                <a:ext cx="3206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accPr>
                        <m:e>
                          <m: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𝐯</m:t>
                          </m:r>
                        </m:e>
                      </m:acc>
                    </m:oMath>
                  </m:oMathPara>
                </a14:m>
                <a:endParaRPr kumimoji="1" lang="ja-JP" altLang="en-US" sz="2400" b="1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D30835FF-D1C2-2FCE-B5B6-C7CDB8876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0984" y="3161477"/>
                <a:ext cx="320601" cy="369332"/>
              </a:xfrm>
              <a:prstGeom prst="rect">
                <a:avLst/>
              </a:prstGeom>
              <a:blipFill>
                <a:blip r:embed="rId8"/>
                <a:stretch>
                  <a:fillRect l="-18519" b="-6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矢印コネクタ 24">
            <a:extLst>
              <a:ext uri="{FF2B5EF4-FFF2-40B4-BE49-F238E27FC236}">
                <a16:creationId xmlns:a16="http://schemas.microsoft.com/office/drawing/2014/main" id="{8480CDBB-13AA-77FE-9A67-CE496D25157D}"/>
              </a:ext>
            </a:extLst>
          </p:cNvPr>
          <p:cNvCxnSpPr>
            <a:cxnSpLocks/>
            <a:stCxn id="10" idx="0"/>
            <a:endCxn id="37" idx="1"/>
          </p:cNvCxnSpPr>
          <p:nvPr/>
        </p:nvCxnSpPr>
        <p:spPr>
          <a:xfrm>
            <a:off x="10728311" y="3341655"/>
            <a:ext cx="612673" cy="4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18908B9-8A76-A4E4-11DA-EB7A12811673}"/>
                  </a:ext>
                </a:extLst>
              </p:cNvPr>
              <p:cNvSpPr txBox="1"/>
              <p:nvPr/>
            </p:nvSpPr>
            <p:spPr>
              <a:xfrm>
                <a:off x="4496999" y="3163645"/>
                <a:ext cx="3206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𝐯</m:t>
                      </m:r>
                    </m:oMath>
                  </m:oMathPara>
                </a14:m>
                <a:endParaRPr kumimoji="1" lang="ja-JP" altLang="en-US" sz="2400" b="1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60FB8AC0-8E1B-3948-A314-E967E484D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999" y="3163645"/>
                <a:ext cx="320601" cy="369332"/>
              </a:xfrm>
              <a:prstGeom prst="rect">
                <a:avLst/>
              </a:prstGeom>
              <a:blipFill>
                <a:blip r:embed="rId9"/>
                <a:stretch>
                  <a:fillRect l="-23077" b="-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15278BA-D27F-8E4C-18EA-4CD27FDF5678}"/>
              </a:ext>
            </a:extLst>
          </p:cNvPr>
          <p:cNvCxnSpPr>
            <a:cxnSpLocks/>
            <a:stCxn id="44" idx="3"/>
            <a:endCxn id="9" idx="0"/>
          </p:cNvCxnSpPr>
          <p:nvPr/>
        </p:nvCxnSpPr>
        <p:spPr>
          <a:xfrm flipV="1">
            <a:off x="4817600" y="3341655"/>
            <a:ext cx="529309" cy="66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吹き出し: 四角形 18">
            <a:extLst>
              <a:ext uri="{FF2B5EF4-FFF2-40B4-BE49-F238E27FC236}">
                <a16:creationId xmlns:a16="http://schemas.microsoft.com/office/drawing/2014/main" id="{B480FD97-43C3-52CC-A133-86BA8D2C87E8}"/>
              </a:ext>
            </a:extLst>
          </p:cNvPr>
          <p:cNvSpPr/>
          <p:nvPr/>
        </p:nvSpPr>
        <p:spPr>
          <a:xfrm>
            <a:off x="4002153" y="4256414"/>
            <a:ext cx="1856633" cy="545886"/>
          </a:xfrm>
          <a:prstGeom prst="wedgeRectCallout">
            <a:avLst>
              <a:gd name="adj1" fmla="val 63068"/>
              <a:gd name="adj2" fmla="val 709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ランダム性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92A00F6-8FE3-BDE4-4753-C828EFE35454}"/>
              </a:ext>
            </a:extLst>
          </p:cNvPr>
          <p:cNvSpPr txBox="1"/>
          <p:nvPr/>
        </p:nvSpPr>
        <p:spPr>
          <a:xfrm>
            <a:off x="125969" y="6527994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[9] </a:t>
            </a:r>
            <a:r>
              <a:rPr lang="en-US" altLang="ja-JP" sz="1200" dirty="0">
                <a:solidFill>
                  <a:schemeClr val="bg1"/>
                </a:solidFill>
              </a:rPr>
              <a:t>K.</a:t>
            </a:r>
            <a:r>
              <a:rPr lang="ja-JP" altLang="ja-JP" sz="1200" dirty="0">
                <a:solidFill>
                  <a:schemeClr val="bg1"/>
                </a:solidFill>
              </a:rPr>
              <a:t> Diederik</a:t>
            </a:r>
            <a:r>
              <a:rPr lang="en-US" altLang="ja-JP" sz="1200" dirty="0">
                <a:solidFill>
                  <a:schemeClr val="bg1"/>
                </a:solidFill>
              </a:rPr>
              <a:t> et al.,</a:t>
            </a:r>
            <a:r>
              <a:rPr lang="ja-JP" altLang="ja-JP" sz="1200" dirty="0">
                <a:solidFill>
                  <a:schemeClr val="bg1"/>
                </a:solidFill>
              </a:rPr>
              <a:t> “Auto-encoding variational bayes</a:t>
            </a:r>
            <a:r>
              <a:rPr lang="en-US" altLang="ja-JP" sz="1200" dirty="0">
                <a:solidFill>
                  <a:schemeClr val="bg1"/>
                </a:solidFill>
              </a:rPr>
              <a:t>,</a:t>
            </a:r>
            <a:r>
              <a:rPr lang="ja-JP" altLang="ja-JP" sz="1200" dirty="0">
                <a:solidFill>
                  <a:schemeClr val="bg1"/>
                </a:solidFill>
              </a:rPr>
              <a:t>” arXiv preprint arXiv:1312.6114</a:t>
            </a:r>
            <a:r>
              <a:rPr lang="en-US" altLang="ja-JP" sz="1200" dirty="0">
                <a:solidFill>
                  <a:schemeClr val="bg1"/>
                </a:solidFill>
              </a:rPr>
              <a:t>, December </a:t>
            </a:r>
            <a:r>
              <a:rPr lang="ja-JP" altLang="ja-JP" sz="1200" dirty="0">
                <a:solidFill>
                  <a:schemeClr val="bg1"/>
                </a:solidFill>
              </a:rPr>
              <a:t>2013.</a:t>
            </a:r>
            <a:endParaRPr lang="ja-JP" altLang="en-US" sz="1200" dirty="0">
              <a:solidFill>
                <a:schemeClr val="bg1"/>
              </a:solidFill>
              <a:effectLst/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1027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F285-C120-620B-B4B0-FA81B95E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E74889F-77F1-D5C7-B479-3581CE1A4A28}"/>
              </a:ext>
            </a:extLst>
          </p:cNvPr>
          <p:cNvSpPr/>
          <p:nvPr/>
        </p:nvSpPr>
        <p:spPr>
          <a:xfrm>
            <a:off x="2571750" y="986347"/>
            <a:ext cx="7341774" cy="20807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GHOST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2" name="フリーフォーム 31">
            <a:extLst>
              <a:ext uri="{FF2B5EF4-FFF2-40B4-BE49-F238E27FC236}">
                <a16:creationId xmlns:a16="http://schemas.microsoft.com/office/drawing/2014/main" id="{7F509F56-6093-C9E9-EA8F-8621DDF73AE8}"/>
              </a:ext>
            </a:extLst>
          </p:cNvPr>
          <p:cNvSpPr/>
          <p:nvPr/>
        </p:nvSpPr>
        <p:spPr>
          <a:xfrm>
            <a:off x="324141" y="3200665"/>
            <a:ext cx="9038333" cy="3495954"/>
          </a:xfrm>
          <a:custGeom>
            <a:avLst/>
            <a:gdLst>
              <a:gd name="csX0" fmla="*/ 2781525 w 9038333"/>
              <a:gd name="csY0" fmla="*/ 0 h 3495954"/>
              <a:gd name="csX1" fmla="*/ 9038333 w 9038333"/>
              <a:gd name="csY1" fmla="*/ 0 h 3495954"/>
              <a:gd name="csX2" fmla="*/ 9038333 w 9038333"/>
              <a:gd name="csY2" fmla="*/ 2006026 h 3495954"/>
              <a:gd name="csX3" fmla="*/ 9038333 w 9038333"/>
              <a:gd name="csY3" fmla="*/ 2951331 h 3495954"/>
              <a:gd name="csX4" fmla="*/ 9038333 w 9038333"/>
              <a:gd name="csY4" fmla="*/ 3495954 h 3495954"/>
              <a:gd name="csX5" fmla="*/ 0 w 9038333"/>
              <a:gd name="csY5" fmla="*/ 3495954 h 3495954"/>
              <a:gd name="csX6" fmla="*/ 0 w 9038333"/>
              <a:gd name="csY6" fmla="*/ 2006026 h 3495954"/>
              <a:gd name="csX7" fmla="*/ 2781525 w 9038333"/>
              <a:gd name="csY7" fmla="*/ 2006026 h 3495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038333" h="3495954">
                <a:moveTo>
                  <a:pt x="2781525" y="0"/>
                </a:moveTo>
                <a:lnTo>
                  <a:pt x="9038333" y="0"/>
                </a:lnTo>
                <a:lnTo>
                  <a:pt x="9038333" y="2006026"/>
                </a:lnTo>
                <a:lnTo>
                  <a:pt x="9038333" y="2951331"/>
                </a:lnTo>
                <a:lnTo>
                  <a:pt x="9038333" y="3495954"/>
                </a:lnTo>
                <a:lnTo>
                  <a:pt x="0" y="3495954"/>
                </a:lnTo>
                <a:lnTo>
                  <a:pt x="0" y="2006026"/>
                </a:lnTo>
                <a:lnTo>
                  <a:pt x="2781525" y="2006026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90000" rIns="90000" bIns="90000" rtlCol="0" anchor="t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VAE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4FA095F-C5DF-66AA-1790-129B8972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提案手法による顔変換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C4EAD7-D764-6B01-1BE5-CDCAE0CB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11</a:t>
            </a:fld>
            <a:endParaRPr kumimoji="1" lang="ja-JP" alt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840F4F3-7C40-2829-7E61-3C61F1E5AC89}"/>
              </a:ext>
            </a:extLst>
          </p:cNvPr>
          <p:cNvCxnSpPr>
            <a:cxnSpLocks/>
          </p:cNvCxnSpPr>
          <p:nvPr/>
        </p:nvCxnSpPr>
        <p:spPr>
          <a:xfrm flipV="1">
            <a:off x="5420437" y="4457700"/>
            <a:ext cx="0" cy="2157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CD6CA78-F2DD-836E-EF62-C702BA386EAA}"/>
              </a:ext>
            </a:extLst>
          </p:cNvPr>
          <p:cNvCxnSpPr>
            <a:cxnSpLocks/>
          </p:cNvCxnSpPr>
          <p:nvPr/>
        </p:nvCxnSpPr>
        <p:spPr>
          <a:xfrm rot="5400000" flipV="1">
            <a:off x="7134874" y="4219575"/>
            <a:ext cx="0" cy="4072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楕円 11">
            <a:extLst>
              <a:ext uri="{FF2B5EF4-FFF2-40B4-BE49-F238E27FC236}">
                <a16:creationId xmlns:a16="http://schemas.microsoft.com/office/drawing/2014/main" id="{E233558C-52BE-C3C9-1A4D-F0AC5680EFAE}"/>
              </a:ext>
            </a:extLst>
          </p:cNvPr>
          <p:cNvSpPr/>
          <p:nvPr/>
        </p:nvSpPr>
        <p:spPr>
          <a:xfrm rot="5400000">
            <a:off x="6202148" y="3732358"/>
            <a:ext cx="1865451" cy="3730904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40ACD0C-7A23-547E-7CA6-0E1D3631C434}"/>
              </a:ext>
            </a:extLst>
          </p:cNvPr>
          <p:cNvSpPr/>
          <p:nvPr/>
        </p:nvSpPr>
        <p:spPr>
          <a:xfrm rot="5400000">
            <a:off x="6458600" y="4245262"/>
            <a:ext cx="1352547" cy="27050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18" name="コンテンツ プレースホルダー 4">
            <a:extLst>
              <a:ext uri="{FF2B5EF4-FFF2-40B4-BE49-F238E27FC236}">
                <a16:creationId xmlns:a16="http://schemas.microsoft.com/office/drawing/2014/main" id="{10EE4233-1C5C-D25A-9924-C24F37AEC8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2" b="532"/>
          <a:stretch/>
        </p:blipFill>
        <p:spPr>
          <a:xfrm>
            <a:off x="384913" y="1346446"/>
            <a:ext cx="1518932" cy="1532966"/>
          </a:xfrm>
          <a:prstGeom prst="rect">
            <a:avLst/>
          </a:prstGeom>
        </p:spPr>
      </p:pic>
      <p:sp>
        <p:nvSpPr>
          <p:cNvPr id="19" name="フローチャート: 手作業 18">
            <a:extLst>
              <a:ext uri="{FF2B5EF4-FFF2-40B4-BE49-F238E27FC236}">
                <a16:creationId xmlns:a16="http://schemas.microsoft.com/office/drawing/2014/main" id="{1181F5D3-9C3A-AB8E-0F44-24192ABE82EF}"/>
              </a:ext>
            </a:extLst>
          </p:cNvPr>
          <p:cNvSpPr/>
          <p:nvPr/>
        </p:nvSpPr>
        <p:spPr>
          <a:xfrm>
            <a:off x="370878" y="3438933"/>
            <a:ext cx="1532967" cy="1018767"/>
          </a:xfrm>
          <a:prstGeom prst="flowChartManualOperat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pc="-1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ArcFace</a:t>
            </a:r>
            <a:endParaRPr kumimoji="1" lang="ja-JP" altLang="en-US" spc="-1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481A16D-BA3C-7A1C-3662-1CA3AF9312E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1137362" y="2879412"/>
            <a:ext cx="7017" cy="559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5543977D-142C-507C-B84E-2AFBC607EA9D}"/>
              </a:ext>
            </a:extLst>
          </p:cNvPr>
          <p:cNvCxnSpPr>
            <a:cxnSpLocks/>
            <a:stCxn id="19" idx="2"/>
            <a:endCxn id="27" idx="0"/>
          </p:cNvCxnSpPr>
          <p:nvPr/>
        </p:nvCxnSpPr>
        <p:spPr>
          <a:xfrm>
            <a:off x="1137362" y="4457700"/>
            <a:ext cx="7018" cy="254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フローチャート: 手作業 21">
            <a:extLst>
              <a:ext uri="{FF2B5EF4-FFF2-40B4-BE49-F238E27FC236}">
                <a16:creationId xmlns:a16="http://schemas.microsoft.com/office/drawing/2014/main" id="{5AA03D8F-0718-4992-40B3-CC21D70DFDF1}"/>
              </a:ext>
            </a:extLst>
          </p:cNvPr>
          <p:cNvSpPr/>
          <p:nvPr/>
        </p:nvSpPr>
        <p:spPr>
          <a:xfrm>
            <a:off x="377896" y="5336474"/>
            <a:ext cx="1532966" cy="1018768"/>
          </a:xfrm>
          <a:prstGeom prst="flowChartManualOperat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pc="-1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pc="-1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22E898A-5EF4-1988-7D2B-6D95285BB38A}"/>
                  </a:ext>
                </a:extLst>
              </p:cNvPr>
              <p:cNvSpPr txBox="1"/>
              <p:nvPr/>
            </p:nvSpPr>
            <p:spPr>
              <a:xfrm>
                <a:off x="3406554" y="5925643"/>
                <a:ext cx="3446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𝛔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22E898A-5EF4-1988-7D2B-6D95285BB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554" y="5925643"/>
                <a:ext cx="344645" cy="369332"/>
              </a:xfrm>
              <a:prstGeom prst="rect">
                <a:avLst/>
              </a:prstGeom>
              <a:blipFill>
                <a:blip r:embed="rId3"/>
                <a:stretch>
                  <a:fillRect l="-23214" b="-3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07091E4-C105-2A90-62FC-A5A5283D5CB4}"/>
                  </a:ext>
                </a:extLst>
              </p:cNvPr>
              <p:cNvSpPr txBox="1"/>
              <p:nvPr/>
            </p:nvSpPr>
            <p:spPr>
              <a:xfrm>
                <a:off x="4306008" y="5925643"/>
                <a:ext cx="3494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𝛍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907091E4-C105-2A90-62FC-A5A5283D5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008" y="5925643"/>
                <a:ext cx="349455" cy="369332"/>
              </a:xfrm>
              <a:prstGeom prst="rect">
                <a:avLst/>
              </a:prstGeom>
              <a:blipFill>
                <a:blip r:embed="rId4"/>
                <a:stretch>
                  <a:fillRect l="-31034" b="-311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905B54BB-3931-A40C-2D61-7AD80238C4E5}"/>
              </a:ext>
            </a:extLst>
          </p:cNvPr>
          <p:cNvCxnSpPr>
            <a:cxnSpLocks/>
            <a:stCxn id="22" idx="2"/>
            <a:endCxn id="23" idx="2"/>
          </p:cNvCxnSpPr>
          <p:nvPr/>
        </p:nvCxnSpPr>
        <p:spPr>
          <a:xfrm rot="5400000" flipH="1" flipV="1">
            <a:off x="2331494" y="5107860"/>
            <a:ext cx="60267" cy="2434498"/>
          </a:xfrm>
          <a:prstGeom prst="bentConnector3">
            <a:avLst>
              <a:gd name="adj1" fmla="val -3793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42ADD365-789A-BD6B-77FB-39C362421C93}"/>
              </a:ext>
            </a:extLst>
          </p:cNvPr>
          <p:cNvCxnSpPr>
            <a:cxnSpLocks/>
            <a:stCxn id="22" idx="2"/>
            <a:endCxn id="24" idx="2"/>
          </p:cNvCxnSpPr>
          <p:nvPr/>
        </p:nvCxnSpPr>
        <p:spPr>
          <a:xfrm rot="5400000" flipH="1" flipV="1">
            <a:off x="2782423" y="4656930"/>
            <a:ext cx="60267" cy="3336357"/>
          </a:xfrm>
          <a:prstGeom prst="bentConnector3">
            <a:avLst>
              <a:gd name="adj1" fmla="val -3793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E827627-D6B9-57E0-739C-A62089F9FD5F}"/>
                  </a:ext>
                </a:extLst>
              </p:cNvPr>
              <p:cNvSpPr txBox="1"/>
              <p:nvPr/>
            </p:nvSpPr>
            <p:spPr>
              <a:xfrm>
                <a:off x="984079" y="4712421"/>
                <a:ext cx="3206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𝐯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E827627-D6B9-57E0-739C-A62089F9F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79" y="4712421"/>
                <a:ext cx="320601" cy="369332"/>
              </a:xfrm>
              <a:prstGeom prst="rect">
                <a:avLst/>
              </a:prstGeom>
              <a:blipFill>
                <a:blip r:embed="rId5"/>
                <a:stretch>
                  <a:fillRect l="-22642" b="-32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FAB10757-7188-E00D-3E06-DC10758DE266}"/>
              </a:ext>
            </a:extLst>
          </p:cNvPr>
          <p:cNvCxnSpPr>
            <a:cxnSpLocks/>
            <a:stCxn id="27" idx="2"/>
            <a:endCxn id="22" idx="0"/>
          </p:cNvCxnSpPr>
          <p:nvPr/>
        </p:nvCxnSpPr>
        <p:spPr>
          <a:xfrm flipH="1">
            <a:off x="1144379" y="5081753"/>
            <a:ext cx="1" cy="254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30277789-17B9-01A6-6E13-C629D2B8AFE2}"/>
                  </a:ext>
                </a:extLst>
              </p:cNvPr>
              <p:cNvSpPr txBox="1"/>
              <p:nvPr/>
            </p:nvSpPr>
            <p:spPr>
              <a:xfrm>
                <a:off x="3246234" y="5220275"/>
                <a:ext cx="15329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𝛍</m:t>
                          </m:r>
                          <m:r>
                            <a:rPr lang="en-US" altLang="ja-JP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𝛔</m:t>
                          </m:r>
                        </m:e>
                      </m:d>
                    </m:oMath>
                  </m:oMathPara>
                </a14:m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30277789-17B9-01A6-6E13-C629D2B8A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234" y="5220275"/>
                <a:ext cx="1532967" cy="461665"/>
              </a:xfrm>
              <a:prstGeom prst="rect">
                <a:avLst/>
              </a:prstGeom>
              <a:blipFill>
                <a:blip r:embed="rId6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3FDBE414-1EDA-8453-4848-B9EA6CCF8983}"/>
              </a:ext>
            </a:extLst>
          </p:cNvPr>
          <p:cNvCxnSpPr>
            <a:cxnSpLocks/>
            <a:stCxn id="23" idx="0"/>
            <a:endCxn id="65" idx="2"/>
          </p:cNvCxnSpPr>
          <p:nvPr/>
        </p:nvCxnSpPr>
        <p:spPr>
          <a:xfrm flipV="1">
            <a:off x="3578877" y="5681940"/>
            <a:ext cx="433841" cy="243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1A98457E-D772-1C00-17D2-2FA41B523F0A}"/>
              </a:ext>
            </a:extLst>
          </p:cNvPr>
          <p:cNvCxnSpPr>
            <a:cxnSpLocks/>
            <a:stCxn id="24" idx="0"/>
            <a:endCxn id="65" idx="2"/>
          </p:cNvCxnSpPr>
          <p:nvPr/>
        </p:nvCxnSpPr>
        <p:spPr>
          <a:xfrm flipH="1" flipV="1">
            <a:off x="4012718" y="5681940"/>
            <a:ext cx="468018" cy="243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BBB35974-2E0C-9ADE-6086-449CE16A6B77}"/>
              </a:ext>
            </a:extLst>
          </p:cNvPr>
          <p:cNvCxnSpPr>
            <a:cxnSpLocks/>
            <a:stCxn id="65" idx="3"/>
            <a:endCxn id="13" idx="4"/>
          </p:cNvCxnSpPr>
          <p:nvPr/>
        </p:nvCxnSpPr>
        <p:spPr>
          <a:xfrm>
            <a:off x="4779201" y="5451108"/>
            <a:ext cx="1003125" cy="1467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3C6C4806-0995-BCB7-6AD1-BCD2E5E15BE2}"/>
                  </a:ext>
                </a:extLst>
              </p:cNvPr>
              <p:cNvSpPr txBox="1"/>
              <p:nvPr/>
            </p:nvSpPr>
            <p:spPr>
              <a:xfrm>
                <a:off x="3246233" y="4490192"/>
                <a:ext cx="15329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altLang="ja-JP" sz="24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dPr>
                        <m:e>
                          <m:r>
                            <a:rPr lang="en-US" altLang="ja-JP" sz="24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𝛍</m:t>
                          </m:r>
                          <m:r>
                            <a:rPr lang="en-US" altLang="ja-JP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ja-JP" sz="2400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𝛔</m:t>
                          </m:r>
                        </m:e>
                      </m:d>
                    </m:oMath>
                  </m:oMathPara>
                </a14:m>
                <a:endParaRPr lang="ja-JP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3C6C4806-0995-BCB7-6AD1-BCD2E5E15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233" y="4490192"/>
                <a:ext cx="1532967" cy="461665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4A1FC022-BB54-77AC-258C-5640E01CBCD7}"/>
              </a:ext>
            </a:extLst>
          </p:cNvPr>
          <p:cNvCxnSpPr>
            <a:cxnSpLocks/>
            <a:stCxn id="65" idx="0"/>
            <a:endCxn id="86" idx="2"/>
          </p:cNvCxnSpPr>
          <p:nvPr/>
        </p:nvCxnSpPr>
        <p:spPr>
          <a:xfrm flipH="1" flipV="1">
            <a:off x="4012717" y="4951857"/>
            <a:ext cx="1" cy="26841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047736CA-EACD-3E8B-C843-5BC1D4E0EC7C}"/>
              </a:ext>
            </a:extLst>
          </p:cNvPr>
          <p:cNvCxnSpPr>
            <a:cxnSpLocks/>
            <a:stCxn id="86" idx="3"/>
            <a:endCxn id="12" idx="3"/>
          </p:cNvCxnSpPr>
          <p:nvPr/>
        </p:nvCxnSpPr>
        <p:spPr>
          <a:xfrm>
            <a:off x="4779200" y="4721025"/>
            <a:ext cx="1036600" cy="21724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フローチャート: 手作業 107">
            <a:extLst>
              <a:ext uri="{FF2B5EF4-FFF2-40B4-BE49-F238E27FC236}">
                <a16:creationId xmlns:a16="http://schemas.microsoft.com/office/drawing/2014/main" id="{D9CE0849-2C92-CDE3-07ED-BC303192ECA0}"/>
              </a:ext>
            </a:extLst>
          </p:cNvPr>
          <p:cNvSpPr/>
          <p:nvPr/>
        </p:nvSpPr>
        <p:spPr>
          <a:xfrm rot="16200000">
            <a:off x="2792852" y="1353464"/>
            <a:ext cx="1532967" cy="1518931"/>
          </a:xfrm>
          <a:prstGeom prst="flowChartManualOperat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Attribute</a:t>
            </a:r>
          </a:p>
          <a:p>
            <a:pPr algn="ctr"/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8303EFB-BEDF-1F07-44F8-23647AEA7573}"/>
              </a:ext>
            </a:extLst>
          </p:cNvPr>
          <p:cNvCxnSpPr>
            <a:cxnSpLocks/>
            <a:stCxn id="18" idx="3"/>
            <a:endCxn id="108" idx="0"/>
          </p:cNvCxnSpPr>
          <p:nvPr/>
        </p:nvCxnSpPr>
        <p:spPr>
          <a:xfrm>
            <a:off x="1903845" y="2112929"/>
            <a:ext cx="8960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フローチャート: 手作業 111">
            <a:extLst>
              <a:ext uri="{FF2B5EF4-FFF2-40B4-BE49-F238E27FC236}">
                <a16:creationId xmlns:a16="http://schemas.microsoft.com/office/drawing/2014/main" id="{8CC79EC0-551C-1BA7-B56C-540081A5523F}"/>
              </a:ext>
            </a:extLst>
          </p:cNvPr>
          <p:cNvSpPr/>
          <p:nvPr/>
        </p:nvSpPr>
        <p:spPr>
          <a:xfrm rot="5400000" flipH="1">
            <a:off x="8205130" y="1353021"/>
            <a:ext cx="1532967" cy="1518931"/>
          </a:xfrm>
          <a:prstGeom prst="flowChartManualOperat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Generator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60CAC2E3-0918-146A-7839-90CE5635FA53}"/>
              </a:ext>
            </a:extLst>
          </p:cNvPr>
          <p:cNvCxnSpPr>
            <a:cxnSpLocks/>
            <a:stCxn id="108" idx="2"/>
            <a:endCxn id="166" idx="1"/>
          </p:cNvCxnSpPr>
          <p:nvPr/>
        </p:nvCxnSpPr>
        <p:spPr>
          <a:xfrm flipV="1">
            <a:off x="4318801" y="2112486"/>
            <a:ext cx="551725" cy="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5EC3EB16-D3AF-AC3D-DD7E-892EADD7B410}"/>
              </a:ext>
            </a:extLst>
          </p:cNvPr>
          <p:cNvCxnSpPr>
            <a:cxnSpLocks/>
            <a:stCxn id="123" idx="0"/>
            <a:endCxn id="5" idx="2"/>
          </p:cNvCxnSpPr>
          <p:nvPr/>
        </p:nvCxnSpPr>
        <p:spPr>
          <a:xfrm flipV="1">
            <a:off x="7144399" y="4376303"/>
            <a:ext cx="6232" cy="9982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29AF2096-793A-83CD-740D-5934CD0CA88A}"/>
                  </a:ext>
                </a:extLst>
              </p:cNvPr>
              <p:cNvSpPr txBox="1"/>
              <p:nvPr/>
            </p:nvSpPr>
            <p:spPr>
              <a:xfrm>
                <a:off x="6926390" y="5374515"/>
                <a:ext cx="4360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×</m:t>
                      </m:r>
                    </m:oMath>
                  </m:oMathPara>
                </a14:m>
                <a:endParaRPr kumimoji="1" lang="ja-JP" altLang="en-US" sz="2800" b="1" dirty="0">
                  <a:solidFill>
                    <a:srgbClr val="FF0000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29AF2096-793A-83CD-740D-5934CD0CA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390" y="5374515"/>
                <a:ext cx="43601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テキスト ボックス 125">
                <a:extLst>
                  <a:ext uri="{FF2B5EF4-FFF2-40B4-BE49-F238E27FC236}">
                    <a16:creationId xmlns:a16="http://schemas.microsoft.com/office/drawing/2014/main" id="{916ECAB4-FA9D-1396-EDA6-F1495BDB9020}"/>
                  </a:ext>
                </a:extLst>
              </p:cNvPr>
              <p:cNvSpPr txBox="1"/>
              <p:nvPr/>
            </p:nvSpPr>
            <p:spPr>
              <a:xfrm>
                <a:off x="6144213" y="5167540"/>
                <a:ext cx="4360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8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×</m:t>
                      </m:r>
                    </m:oMath>
                  </m:oMathPara>
                </a14:m>
                <a:endParaRPr kumimoji="1" lang="ja-JP" altLang="en-US" sz="2800" b="1" dirty="0">
                  <a:solidFill>
                    <a:srgbClr val="FFC000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26" name="テキスト ボックス 125">
                <a:extLst>
                  <a:ext uri="{FF2B5EF4-FFF2-40B4-BE49-F238E27FC236}">
                    <a16:creationId xmlns:a16="http://schemas.microsoft.com/office/drawing/2014/main" id="{916ECAB4-FA9D-1396-EDA6-F1495BDB9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213" y="5167540"/>
                <a:ext cx="436017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BAEDD299-EC80-98BD-CAE4-57B83316048F}"/>
                  </a:ext>
                </a:extLst>
              </p:cNvPr>
              <p:cNvSpPr txBox="1"/>
              <p:nvPr/>
            </p:nvSpPr>
            <p:spPr>
              <a:xfrm>
                <a:off x="8564309" y="5383931"/>
                <a:ext cx="4360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×</m:t>
                      </m:r>
                    </m:oMath>
                  </m:oMathPara>
                </a14:m>
                <a:endParaRPr kumimoji="1" lang="ja-JP" altLang="en-US" sz="2800" b="1" dirty="0">
                  <a:solidFill>
                    <a:srgbClr val="00B050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BAEDD299-EC80-98BD-CAE4-57B833160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309" y="5383931"/>
                <a:ext cx="436017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77E0EE41-3E09-4D29-6746-B2A0073DC3B5}"/>
              </a:ext>
            </a:extLst>
          </p:cNvPr>
          <p:cNvCxnSpPr>
            <a:cxnSpLocks/>
            <a:stCxn id="126" idx="0"/>
            <a:endCxn id="5" idx="2"/>
          </p:cNvCxnSpPr>
          <p:nvPr/>
        </p:nvCxnSpPr>
        <p:spPr>
          <a:xfrm flipV="1">
            <a:off x="6362222" y="4376303"/>
            <a:ext cx="788409" cy="79123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00E148C0-C418-AEC8-D254-AE032C432008}"/>
              </a:ext>
            </a:extLst>
          </p:cNvPr>
          <p:cNvCxnSpPr>
            <a:cxnSpLocks/>
            <a:stCxn id="127" idx="0"/>
            <a:endCxn id="5" idx="2"/>
          </p:cNvCxnSpPr>
          <p:nvPr/>
        </p:nvCxnSpPr>
        <p:spPr>
          <a:xfrm flipH="1" flipV="1">
            <a:off x="7150631" y="4376303"/>
            <a:ext cx="1631687" cy="100762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6F614807-37C9-8983-8C66-50E425A6FA9C}"/>
              </a:ext>
            </a:extLst>
          </p:cNvPr>
          <p:cNvCxnSpPr>
            <a:cxnSpLocks/>
            <a:stCxn id="5" idx="0"/>
            <a:endCxn id="112" idx="2"/>
          </p:cNvCxnSpPr>
          <p:nvPr/>
        </p:nvCxnSpPr>
        <p:spPr>
          <a:xfrm flipV="1">
            <a:off x="7150631" y="2112486"/>
            <a:ext cx="1061517" cy="1235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線矢印コネクタ 136">
            <a:extLst>
              <a:ext uri="{FF2B5EF4-FFF2-40B4-BE49-F238E27FC236}">
                <a16:creationId xmlns:a16="http://schemas.microsoft.com/office/drawing/2014/main" id="{24E7E456-7446-8143-B71F-7ED9C32F48CE}"/>
              </a:ext>
            </a:extLst>
          </p:cNvPr>
          <p:cNvCxnSpPr>
            <a:cxnSpLocks/>
            <a:stCxn id="5" idx="0"/>
            <a:endCxn id="112" idx="2"/>
          </p:cNvCxnSpPr>
          <p:nvPr/>
        </p:nvCxnSpPr>
        <p:spPr>
          <a:xfrm flipV="1">
            <a:off x="7150631" y="2112486"/>
            <a:ext cx="1061517" cy="1235523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線矢印コネクタ 139">
            <a:extLst>
              <a:ext uri="{FF2B5EF4-FFF2-40B4-BE49-F238E27FC236}">
                <a16:creationId xmlns:a16="http://schemas.microsoft.com/office/drawing/2014/main" id="{1DEBF61E-CD15-9217-6670-4BB2AC4A046F}"/>
              </a:ext>
            </a:extLst>
          </p:cNvPr>
          <p:cNvCxnSpPr>
            <a:cxnSpLocks/>
            <a:stCxn id="5" idx="0"/>
            <a:endCxn id="112" idx="2"/>
          </p:cNvCxnSpPr>
          <p:nvPr/>
        </p:nvCxnSpPr>
        <p:spPr>
          <a:xfrm flipV="1">
            <a:off x="7150631" y="2112486"/>
            <a:ext cx="1061517" cy="1235523"/>
          </a:xfrm>
          <a:prstGeom prst="straightConnector1">
            <a:avLst/>
          </a:prstGeom>
          <a:ln>
            <a:solidFill>
              <a:srgbClr val="0070C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3" name="図 142">
            <a:extLst>
              <a:ext uri="{FF2B5EF4-FFF2-40B4-BE49-F238E27FC236}">
                <a16:creationId xmlns:a16="http://schemas.microsoft.com/office/drawing/2014/main" id="{C9811F14-C4BC-F21E-0DE2-5A3812119F6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0695" t="16961" r="618" b="2304"/>
          <a:stretch>
            <a:fillRect/>
          </a:stretch>
        </p:blipFill>
        <p:spPr>
          <a:xfrm>
            <a:off x="10288155" y="1346003"/>
            <a:ext cx="1518931" cy="1533409"/>
          </a:xfrm>
          <a:prstGeom prst="rect">
            <a:avLst/>
          </a:prstGeom>
        </p:spPr>
      </p:pic>
      <p:cxnSp>
        <p:nvCxnSpPr>
          <p:cNvPr id="148" name="直線矢印コネクタ 147">
            <a:extLst>
              <a:ext uri="{FF2B5EF4-FFF2-40B4-BE49-F238E27FC236}">
                <a16:creationId xmlns:a16="http://schemas.microsoft.com/office/drawing/2014/main" id="{A6510493-DDB6-FE69-70F2-6DAAAA1AC126}"/>
              </a:ext>
            </a:extLst>
          </p:cNvPr>
          <p:cNvCxnSpPr>
            <a:cxnSpLocks/>
            <a:stCxn id="112" idx="0"/>
            <a:endCxn id="143" idx="1"/>
          </p:cNvCxnSpPr>
          <p:nvPr/>
        </p:nvCxnSpPr>
        <p:spPr>
          <a:xfrm>
            <a:off x="9731079" y="2112486"/>
            <a:ext cx="557076" cy="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1" name="図 150">
            <a:extLst>
              <a:ext uri="{FF2B5EF4-FFF2-40B4-BE49-F238E27FC236}">
                <a16:creationId xmlns:a16="http://schemas.microsoft.com/office/drawing/2014/main" id="{346096A9-3A50-3C7A-0C47-546697C4667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0271" t="17684" r="630" b="1993"/>
          <a:stretch>
            <a:fillRect/>
          </a:stretch>
        </p:blipFill>
        <p:spPr>
          <a:xfrm>
            <a:off x="10288154" y="2951128"/>
            <a:ext cx="1504101" cy="1489315"/>
          </a:xfrm>
          <a:prstGeom prst="rect">
            <a:avLst/>
          </a:prstGeom>
        </p:spPr>
      </p:pic>
      <p:pic>
        <p:nvPicPr>
          <p:cNvPr id="153" name="図 152">
            <a:extLst>
              <a:ext uri="{FF2B5EF4-FFF2-40B4-BE49-F238E27FC236}">
                <a16:creationId xmlns:a16="http://schemas.microsoft.com/office/drawing/2014/main" id="{8EA6436F-BE31-7ECC-F0C8-F153E55C1D7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70489" t="17389" r="901" b="2431"/>
          <a:stretch>
            <a:fillRect/>
          </a:stretch>
        </p:blipFill>
        <p:spPr>
          <a:xfrm>
            <a:off x="10288153" y="4512159"/>
            <a:ext cx="1504102" cy="1512074"/>
          </a:xfrm>
          <a:prstGeom prst="rect">
            <a:avLst/>
          </a:prstGeom>
        </p:spPr>
      </p:pic>
      <p:cxnSp>
        <p:nvCxnSpPr>
          <p:cNvPr id="154" name="直線矢印コネクタ 153">
            <a:extLst>
              <a:ext uri="{FF2B5EF4-FFF2-40B4-BE49-F238E27FC236}">
                <a16:creationId xmlns:a16="http://schemas.microsoft.com/office/drawing/2014/main" id="{FED7B49F-50EF-D889-AB9B-A9A0E8CEEEDC}"/>
              </a:ext>
            </a:extLst>
          </p:cNvPr>
          <p:cNvCxnSpPr>
            <a:cxnSpLocks/>
            <a:stCxn id="112" idx="0"/>
            <a:endCxn id="153" idx="1"/>
          </p:cNvCxnSpPr>
          <p:nvPr/>
        </p:nvCxnSpPr>
        <p:spPr>
          <a:xfrm>
            <a:off x="9731079" y="2112486"/>
            <a:ext cx="557074" cy="31557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039D5295-70EB-B321-2CF1-8204503DB34C}"/>
              </a:ext>
            </a:extLst>
          </p:cNvPr>
          <p:cNvCxnSpPr>
            <a:cxnSpLocks/>
            <a:stCxn id="112" idx="0"/>
            <a:endCxn id="151" idx="1"/>
          </p:cNvCxnSpPr>
          <p:nvPr/>
        </p:nvCxnSpPr>
        <p:spPr>
          <a:xfrm>
            <a:off x="9731079" y="2112486"/>
            <a:ext cx="557075" cy="15833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A4E8E27A-0F5E-00F3-A33D-2B12B3B73A81}"/>
              </a:ext>
            </a:extLst>
          </p:cNvPr>
          <p:cNvSpPr txBox="1"/>
          <p:nvPr/>
        </p:nvSpPr>
        <p:spPr>
          <a:xfrm>
            <a:off x="384912" y="945893"/>
            <a:ext cx="1518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ターゲット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テキスト ボックス 165">
                <a:extLst>
                  <a:ext uri="{FF2B5EF4-FFF2-40B4-BE49-F238E27FC236}">
                    <a16:creationId xmlns:a16="http://schemas.microsoft.com/office/drawing/2014/main" id="{15536280-6A22-3B6A-6ABC-4D3F9DBA5856}"/>
                  </a:ext>
                </a:extLst>
              </p:cNvPr>
              <p:cNvSpPr txBox="1"/>
              <p:nvPr/>
            </p:nvSpPr>
            <p:spPr>
              <a:xfrm>
                <a:off x="4870526" y="1927820"/>
                <a:ext cx="3622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𝐀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66" name="テキスト ボックス 165">
                <a:extLst>
                  <a:ext uri="{FF2B5EF4-FFF2-40B4-BE49-F238E27FC236}">
                    <a16:creationId xmlns:a16="http://schemas.microsoft.com/office/drawing/2014/main" id="{615C0B7E-FBFD-A8DD-CD0F-3055213E9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526" y="1927820"/>
                <a:ext cx="362279" cy="369332"/>
              </a:xfrm>
              <a:prstGeom prst="rect">
                <a:avLst/>
              </a:prstGeom>
              <a:blipFill>
                <a:blip r:embed="rId14"/>
                <a:stretch>
                  <a:fillRect l="-27586"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A3A3DE4F-C6F5-85FE-A5EF-087F408083E6}"/>
              </a:ext>
            </a:extLst>
          </p:cNvPr>
          <p:cNvCxnSpPr>
            <a:cxnSpLocks/>
            <a:stCxn id="166" idx="3"/>
            <a:endCxn id="112" idx="2"/>
          </p:cNvCxnSpPr>
          <p:nvPr/>
        </p:nvCxnSpPr>
        <p:spPr>
          <a:xfrm>
            <a:off x="5232805" y="2112486"/>
            <a:ext cx="29793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吹き出し: 四角形 42">
            <a:extLst>
              <a:ext uri="{FF2B5EF4-FFF2-40B4-BE49-F238E27FC236}">
                <a16:creationId xmlns:a16="http://schemas.microsoft.com/office/drawing/2014/main" id="{50FEAFDB-B61F-AD9F-D228-8FBDD0FA188D}"/>
              </a:ext>
            </a:extLst>
          </p:cNvPr>
          <p:cNvSpPr/>
          <p:nvPr/>
        </p:nvSpPr>
        <p:spPr>
          <a:xfrm>
            <a:off x="1518073" y="4594664"/>
            <a:ext cx="1413637" cy="408341"/>
          </a:xfrm>
          <a:prstGeom prst="wedgeRectCallout">
            <a:avLst>
              <a:gd name="adj1" fmla="val -66755"/>
              <a:gd name="adj2" fmla="val 348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顔の属性</a:t>
            </a:r>
          </a:p>
        </p:txBody>
      </p:sp>
      <p:sp>
        <p:nvSpPr>
          <p:cNvPr id="172" name="吹き出し: 四角形 171">
            <a:extLst>
              <a:ext uri="{FF2B5EF4-FFF2-40B4-BE49-F238E27FC236}">
                <a16:creationId xmlns:a16="http://schemas.microsoft.com/office/drawing/2014/main" id="{1E827EB5-5119-43FF-2DA9-C06D371E12F0}"/>
              </a:ext>
            </a:extLst>
          </p:cNvPr>
          <p:cNvSpPr/>
          <p:nvPr/>
        </p:nvSpPr>
        <p:spPr>
          <a:xfrm>
            <a:off x="4517697" y="2516072"/>
            <a:ext cx="2618776" cy="364724"/>
          </a:xfrm>
          <a:prstGeom prst="wedgeRectCallout">
            <a:avLst>
              <a:gd name="adj1" fmla="val -33273"/>
              <a:gd name="adj2" fmla="val -8862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000" dirty="0">
                <a:solidFill>
                  <a:srgbClr val="FF0000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向きや表情</a:t>
            </a:r>
            <a:r>
              <a:rPr lang="ja-JP" altLang="en-US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の情報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吹き出し: 四角形 42">
                <a:extLst>
                  <a:ext uri="{FF2B5EF4-FFF2-40B4-BE49-F238E27FC236}">
                    <a16:creationId xmlns:a16="http://schemas.microsoft.com/office/drawing/2014/main" id="{8FAF5A14-91E5-F616-3BFF-0BF6432FEF4A}"/>
                  </a:ext>
                </a:extLst>
              </p:cNvPr>
              <p:cNvSpPr/>
              <p:nvPr/>
            </p:nvSpPr>
            <p:spPr>
              <a:xfrm>
                <a:off x="3230134" y="3767786"/>
                <a:ext cx="1734879" cy="646721"/>
              </a:xfrm>
              <a:prstGeom prst="wedgeRectCallout">
                <a:avLst>
                  <a:gd name="adj1" fmla="val -8564"/>
                  <a:gd name="adj2" fmla="val 71199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90000" rIns="90000" bIns="90000" rtlCol="0" anchor="ctr">
                <a:noAutofit/>
              </a:bodyPr>
              <a:lstStyle/>
              <a:p>
                <a:pPr algn="ctr"/>
                <a:r>
                  <a:rPr kumimoji="1" lang="ja-JP" altLang="en-US" sz="20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係数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𝑠</m:t>
                    </m:r>
                    <m:r>
                      <a:rPr kumimoji="1" lang="en-US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Gothic" panose="020B0400000000000000" pitchFamily="49" charset="-128"/>
                      </a:rPr>
                      <m:t>&gt;1</m:t>
                    </m:r>
                  </m:oMath>
                </a14:m>
                <a:r>
                  <a:rPr kumimoji="1" lang="ja-JP" altLang="en-US" sz="20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で</a:t>
                </a:r>
                <a:endParaRPr kumimoji="1" lang="en-US" altLang="ja-JP" sz="2000" dirty="0">
                  <a:solidFill>
                    <a:schemeClr val="tx1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  <a:p>
                <a:pPr algn="ctr"/>
                <a:r>
                  <a:rPr kumimoji="1" lang="ja-JP" altLang="en-US" sz="2000" dirty="0">
                    <a:solidFill>
                      <a:schemeClr val="tx1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スケーリング</a:t>
                </a:r>
              </a:p>
            </p:txBody>
          </p:sp>
        </mc:Choice>
        <mc:Fallback xmlns="">
          <p:sp>
            <p:nvSpPr>
              <p:cNvPr id="173" name="吹き出し: 四角形 42">
                <a:extLst>
                  <a:ext uri="{FF2B5EF4-FFF2-40B4-BE49-F238E27FC236}">
                    <a16:creationId xmlns:a16="http://schemas.microsoft.com/office/drawing/2014/main" id="{8FAF5A14-91E5-F616-3BFF-0BF6432FEF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134" y="3767786"/>
                <a:ext cx="1734879" cy="646721"/>
              </a:xfrm>
              <a:prstGeom prst="wedgeRectCallout">
                <a:avLst>
                  <a:gd name="adj1" fmla="val -8564"/>
                  <a:gd name="adj2" fmla="val 71199"/>
                </a:avLst>
              </a:prstGeom>
              <a:blipFill>
                <a:blip r:embed="rId15"/>
                <a:stretch>
                  <a:fillRect l="-2787" t="-9023" r="-20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フローチャート: 手作業 4">
            <a:extLst>
              <a:ext uri="{FF2B5EF4-FFF2-40B4-BE49-F238E27FC236}">
                <a16:creationId xmlns:a16="http://schemas.microsoft.com/office/drawing/2014/main" id="{7F73BC39-5CE8-AE71-29BB-79BCF0B946AB}"/>
              </a:ext>
            </a:extLst>
          </p:cNvPr>
          <p:cNvSpPr/>
          <p:nvPr/>
        </p:nvSpPr>
        <p:spPr>
          <a:xfrm>
            <a:off x="6384147" y="3348009"/>
            <a:ext cx="1532968" cy="1028294"/>
          </a:xfrm>
          <a:prstGeom prst="flowChartManualOperation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en-US" altLang="ja-JP" spc="-1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Decoder</a:t>
            </a:r>
            <a:endParaRPr lang="ja-JP" altLang="en-US" spc="-1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0183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0DEC-0AA2-8B1E-A937-9450D22DC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71190-75F7-34BA-1767-A5AB8542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実験</a:t>
            </a:r>
            <a:r>
              <a:rPr lang="en-US" altLang="ja-JP" dirty="0"/>
              <a:t>; VAE</a:t>
            </a:r>
            <a:r>
              <a:rPr lang="ja-JP" altLang="en-US" dirty="0"/>
              <a:t>の学習，提案手法による顔変換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379DBBB-3C3C-6405-A739-940718B33C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ja-JP" altLang="en-US" dirty="0"/>
                  <a:t>・</a:t>
                </a:r>
                <a:r>
                  <a:rPr kumimoji="1" lang="en-US" altLang="ja-JP" dirty="0"/>
                  <a:t>VAE</a:t>
                </a:r>
                <a:r>
                  <a:rPr kumimoji="1" lang="ja-JP" altLang="en-US" dirty="0"/>
                  <a:t>の学習条件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kumimoji="1" lang="ja-JP" altLang="en-US" dirty="0"/>
                  <a:t>データセット</a:t>
                </a:r>
                <a:r>
                  <a:rPr kumimoji="1" lang="en-US" altLang="ja-JP" dirty="0"/>
                  <a:t>; </a:t>
                </a:r>
                <a:r>
                  <a:rPr kumimoji="1" lang="en-US" altLang="ja-JP" dirty="0" err="1"/>
                  <a:t>UTKFace</a:t>
                </a:r>
                <a:r>
                  <a:rPr lang="en-US" altLang="ja-JP" dirty="0"/>
                  <a:t>[8](23,088</a:t>
                </a:r>
                <a:r>
                  <a:rPr lang="ja-JP" altLang="en-US" dirty="0"/>
                  <a:t>人の顔写真</a:t>
                </a:r>
                <a:r>
                  <a:rPr lang="en-US" altLang="ja-JP" dirty="0"/>
                  <a:t>)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モデル</a:t>
                </a:r>
                <a:r>
                  <a:rPr lang="en-US" altLang="ja-JP" dirty="0"/>
                  <a:t>; 512-128-512</a:t>
                </a:r>
              </a:p>
              <a:p>
                <a:pPr marL="0" indent="0">
                  <a:buNone/>
                </a:pPr>
                <a:r>
                  <a:rPr kumimoji="1" lang="en-US" altLang="ja-JP" dirty="0"/>
                  <a:t>EPOCH; 25</a:t>
                </a:r>
              </a:p>
              <a:p>
                <a:pPr marL="0" indent="0">
                  <a:buNone/>
                </a:pPr>
                <a:r>
                  <a:rPr lang="en-US" altLang="ja-JP" dirty="0"/>
                  <a:t>BATCH_SIZE; 8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・提案手法の変換条件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スケール係数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ja-JP" dirty="0"/>
                  <a:t>; 0</a:t>
                </a:r>
                <a:r>
                  <a:rPr lang="ja-JP" altLang="en-US" dirty="0"/>
                  <a:t>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，</a:t>
                </a:r>
                <a:r>
                  <a:rPr lang="en-US" altLang="ja-JP" dirty="0"/>
                  <a:t>1.25</a:t>
                </a:r>
                <a:r>
                  <a:rPr lang="ja-JP" altLang="en-US" dirty="0"/>
                  <a:t>，</a:t>
                </a:r>
                <a:r>
                  <a:rPr lang="en-US" altLang="ja-JP" dirty="0"/>
                  <a:t>1.5</a:t>
                </a:r>
                <a:r>
                  <a:rPr lang="ja-JP" altLang="en-US" dirty="0"/>
                  <a:t>，</a:t>
                </a:r>
                <a:r>
                  <a:rPr lang="en-US" altLang="ja-JP" dirty="0"/>
                  <a:t>2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9379DBBB-3C3C-6405-A739-940718B33C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3" t="-10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BDD838-E5E4-0999-33FD-0C53690A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1026" name="Picture 2" descr="samples">
            <a:extLst>
              <a:ext uri="{FF2B5EF4-FFF2-40B4-BE49-F238E27FC236}">
                <a16:creationId xmlns:a16="http://schemas.microsoft.com/office/drawing/2014/main" id="{52508EF7-4FE2-2DDC-8325-8E1593EF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3229766"/>
            <a:ext cx="5474732" cy="314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D52892-3DA1-8328-DA5F-67642C0F7051}"/>
              </a:ext>
            </a:extLst>
          </p:cNvPr>
          <p:cNvSpPr txBox="1"/>
          <p:nvPr/>
        </p:nvSpPr>
        <p:spPr>
          <a:xfrm>
            <a:off x="8098868" y="2768101"/>
            <a:ext cx="2447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 err="1"/>
              <a:t>UTKFace</a:t>
            </a:r>
            <a:r>
              <a:rPr kumimoji="1" lang="ja-JP" altLang="en-US" sz="2400" dirty="0"/>
              <a:t>の画像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0007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31CE-448D-61BC-967E-EAAFFFF69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D9EE59-F7BA-DEA9-9EA2-0E2DD4393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VAE</a:t>
            </a:r>
            <a:r>
              <a:rPr kumimoji="1" lang="ja-JP" altLang="en-US" dirty="0"/>
              <a:t>が出力した顔ベクトルの可視化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475377-47C9-A3AB-3B2E-0E25CE4A7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・入力と出力の大部分が類似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→ 性別や年齢といったマクロな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 情報</a:t>
            </a:r>
            <a:r>
              <a:rPr lang="en-US" altLang="ja-JP" dirty="0"/>
              <a:t>(Identity)</a:t>
            </a:r>
            <a:r>
              <a:rPr lang="ja-JP" altLang="en-US" dirty="0"/>
              <a:t>を保持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・一部の次元で値が相違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→</a:t>
            </a:r>
            <a:r>
              <a:rPr lang="en-US" altLang="ja-JP" dirty="0"/>
              <a:t> </a:t>
            </a:r>
            <a:r>
              <a:rPr lang="ja-JP" altLang="en-US" dirty="0"/>
              <a:t>個人の特定に直結するミクロな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 情報</a:t>
            </a:r>
            <a:r>
              <a:rPr kumimoji="1" lang="en-US" altLang="ja-JP" dirty="0"/>
              <a:t>(Feature)</a:t>
            </a:r>
            <a:r>
              <a:rPr kumimoji="1" lang="ja-JP" altLang="en-US" dirty="0"/>
              <a:t>を変換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98BF0E-2BAF-EB7F-C953-E19A1D75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FA40D81-995A-82AA-5856-C30D567A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297" y="821941"/>
            <a:ext cx="5214734" cy="555539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E57A79-B1CA-501F-B0C3-4A48BD6CAE54}"/>
              </a:ext>
            </a:extLst>
          </p:cNvPr>
          <p:cNvSpPr txBox="1"/>
          <p:nvPr/>
        </p:nvSpPr>
        <p:spPr>
          <a:xfrm>
            <a:off x="6410325" y="1914081"/>
            <a:ext cx="440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入力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BEE3B6-02B3-0379-E07A-A3E37B0B6892}"/>
              </a:ext>
            </a:extLst>
          </p:cNvPr>
          <p:cNvSpPr txBox="1"/>
          <p:nvPr/>
        </p:nvSpPr>
        <p:spPr>
          <a:xfrm>
            <a:off x="6410324" y="4370066"/>
            <a:ext cx="440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出力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C32BFD0-E9F2-C33B-244D-4583620B4B8B}"/>
              </a:ext>
            </a:extLst>
          </p:cNvPr>
          <p:cNvSpPr/>
          <p:nvPr/>
        </p:nvSpPr>
        <p:spPr>
          <a:xfrm>
            <a:off x="7102517" y="944241"/>
            <a:ext cx="1580010" cy="50467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8801A2F-9402-16E3-C4E8-A0C42603F6F8}"/>
              </a:ext>
            </a:extLst>
          </p:cNvPr>
          <p:cNvSpPr/>
          <p:nvPr/>
        </p:nvSpPr>
        <p:spPr>
          <a:xfrm>
            <a:off x="8776951" y="944240"/>
            <a:ext cx="545879" cy="50467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8905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00F6E-6F82-7F84-2BC5-FF878855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04343E-7F7F-E812-B442-E7C220BC1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47" y="830941"/>
            <a:ext cx="11940062" cy="571337"/>
          </a:xfrm>
        </p:spPr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E754A0-3795-D52D-BF9F-7A91301FE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3D69C6-1548-05EE-B1C9-A269F874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14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249AB2B-D628-2D3A-D05C-CD14E67B017D}"/>
              </a:ext>
            </a:extLst>
          </p:cNvPr>
          <p:cNvGraphicFramePr>
            <a:graphicFrameLocks noGrp="1"/>
          </p:cNvGraphicFramePr>
          <p:nvPr/>
        </p:nvGraphicFramePr>
        <p:xfrm>
          <a:off x="115450" y="830941"/>
          <a:ext cx="11940060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010">
                  <a:extLst>
                    <a:ext uri="{9D8B030D-6E8A-4147-A177-3AD203B41FA5}">
                      <a16:colId xmlns:a16="http://schemas.microsoft.com/office/drawing/2014/main" val="702168605"/>
                    </a:ext>
                  </a:extLst>
                </a:gridCol>
                <a:gridCol w="1990010">
                  <a:extLst>
                    <a:ext uri="{9D8B030D-6E8A-4147-A177-3AD203B41FA5}">
                      <a16:colId xmlns:a16="http://schemas.microsoft.com/office/drawing/2014/main" val="1314300057"/>
                    </a:ext>
                  </a:extLst>
                </a:gridCol>
                <a:gridCol w="1990010">
                  <a:extLst>
                    <a:ext uri="{9D8B030D-6E8A-4147-A177-3AD203B41FA5}">
                      <a16:colId xmlns:a16="http://schemas.microsoft.com/office/drawing/2014/main" val="3243622445"/>
                    </a:ext>
                  </a:extLst>
                </a:gridCol>
                <a:gridCol w="1990010">
                  <a:extLst>
                    <a:ext uri="{9D8B030D-6E8A-4147-A177-3AD203B41FA5}">
                      <a16:colId xmlns:a16="http://schemas.microsoft.com/office/drawing/2014/main" val="3055001124"/>
                    </a:ext>
                  </a:extLst>
                </a:gridCol>
                <a:gridCol w="1990010">
                  <a:extLst>
                    <a:ext uri="{9D8B030D-6E8A-4147-A177-3AD203B41FA5}">
                      <a16:colId xmlns:a16="http://schemas.microsoft.com/office/drawing/2014/main" val="3370771259"/>
                    </a:ext>
                  </a:extLst>
                </a:gridCol>
                <a:gridCol w="1990010">
                  <a:extLst>
                    <a:ext uri="{9D8B030D-6E8A-4147-A177-3AD203B41FA5}">
                      <a16:colId xmlns:a16="http://schemas.microsoft.com/office/drawing/2014/main" val="2644795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Original</a:t>
                      </a:r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0</a:t>
                      </a:r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1</a:t>
                      </a:r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1.25</a:t>
                      </a:r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1.5</a:t>
                      </a:r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2</a:t>
                      </a:r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2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93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en-US" altLang="ja-JP" sz="2000" dirty="0"/>
                    </a:p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102869"/>
                  </a:ext>
                </a:extLst>
              </a:tr>
            </a:tbl>
          </a:graphicData>
        </a:graphic>
      </p:graphicFrame>
      <p:sp>
        <p:nvSpPr>
          <p:cNvPr id="32" name="タイトル 1">
            <a:extLst>
              <a:ext uri="{FF2B5EF4-FFF2-40B4-BE49-F238E27FC236}">
                <a16:creationId xmlns:a16="http://schemas.microsoft.com/office/drawing/2014/main" id="{0FFED1B0-6184-D8BC-7477-09F682246F41}"/>
              </a:ext>
            </a:extLst>
          </p:cNvPr>
          <p:cNvSpPr txBox="1">
            <a:spLocks/>
          </p:cNvSpPr>
          <p:nvPr/>
        </p:nvSpPr>
        <p:spPr>
          <a:xfrm>
            <a:off x="125969" y="76732"/>
            <a:ext cx="11940062" cy="571337"/>
          </a:xfrm>
          <a:prstGeom prst="rect">
            <a:avLst/>
          </a:prstGeom>
        </p:spPr>
        <p:txBody>
          <a:bodyPr vert="horz" lIns="0" tIns="0" rIns="0" bIns="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sz="4000" kern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j-cs"/>
              </a:defRPr>
            </a:lvl1pPr>
          </a:lstStyle>
          <a:p>
            <a:r>
              <a:rPr lang="ja-JP" altLang="en-US" sz="3600" dirty="0"/>
              <a:t>提案手法による顔の変換</a:t>
            </a:r>
          </a:p>
        </p:txBody>
      </p:sp>
      <p:pic>
        <p:nvPicPr>
          <p:cNvPr id="84" name="図 83">
            <a:extLst>
              <a:ext uri="{FF2B5EF4-FFF2-40B4-BE49-F238E27FC236}">
                <a16:creationId xmlns:a16="http://schemas.microsoft.com/office/drawing/2014/main" id="{1C6F514F-7C1E-B66C-7922-F16A390A60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191"/>
          <a:stretch>
            <a:fillRect/>
          </a:stretch>
        </p:blipFill>
        <p:spPr>
          <a:xfrm>
            <a:off x="125969" y="3875725"/>
            <a:ext cx="1992555" cy="2319959"/>
          </a:xfrm>
          <a:prstGeom prst="rect">
            <a:avLst/>
          </a:prstGeom>
        </p:spPr>
      </p:pic>
      <p:pic>
        <p:nvPicPr>
          <p:cNvPr id="86" name="図 85">
            <a:extLst>
              <a:ext uri="{FF2B5EF4-FFF2-40B4-BE49-F238E27FC236}">
                <a16:creationId xmlns:a16="http://schemas.microsoft.com/office/drawing/2014/main" id="{FCAECE81-069F-8D36-8B60-0ED14E01C2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191"/>
          <a:stretch>
            <a:fillRect/>
          </a:stretch>
        </p:blipFill>
        <p:spPr>
          <a:xfrm>
            <a:off x="2118524" y="3875724"/>
            <a:ext cx="1992556" cy="2319959"/>
          </a:xfrm>
          <a:prstGeom prst="rect">
            <a:avLst/>
          </a:prstGeom>
        </p:spPr>
      </p:pic>
      <p:pic>
        <p:nvPicPr>
          <p:cNvPr id="88" name="図 87">
            <a:extLst>
              <a:ext uri="{FF2B5EF4-FFF2-40B4-BE49-F238E27FC236}">
                <a16:creationId xmlns:a16="http://schemas.microsoft.com/office/drawing/2014/main" id="{20A8F350-F9D0-1C69-D3F0-A43F74DB3C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191"/>
          <a:stretch>
            <a:fillRect/>
          </a:stretch>
        </p:blipFill>
        <p:spPr>
          <a:xfrm>
            <a:off x="4111075" y="3870324"/>
            <a:ext cx="1992556" cy="2319959"/>
          </a:xfrm>
          <a:prstGeom prst="rect">
            <a:avLst/>
          </a:prstGeom>
        </p:spPr>
      </p:pic>
      <p:pic>
        <p:nvPicPr>
          <p:cNvPr id="90" name="図 89">
            <a:extLst>
              <a:ext uri="{FF2B5EF4-FFF2-40B4-BE49-F238E27FC236}">
                <a16:creationId xmlns:a16="http://schemas.microsoft.com/office/drawing/2014/main" id="{E7D4BB6B-B8C0-ED1F-3444-18724704E0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191"/>
          <a:stretch>
            <a:fillRect/>
          </a:stretch>
        </p:blipFill>
        <p:spPr>
          <a:xfrm>
            <a:off x="6103626" y="3870323"/>
            <a:ext cx="1992556" cy="2319959"/>
          </a:xfrm>
          <a:prstGeom prst="rect">
            <a:avLst/>
          </a:prstGeom>
        </p:spPr>
      </p:pic>
      <p:pic>
        <p:nvPicPr>
          <p:cNvPr id="92" name="図 91">
            <a:extLst>
              <a:ext uri="{FF2B5EF4-FFF2-40B4-BE49-F238E27FC236}">
                <a16:creationId xmlns:a16="http://schemas.microsoft.com/office/drawing/2014/main" id="{5F8769C4-4C1C-A0C5-404F-06D71F07ED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9191"/>
          <a:stretch>
            <a:fillRect/>
          </a:stretch>
        </p:blipFill>
        <p:spPr>
          <a:xfrm>
            <a:off x="8088549" y="3870323"/>
            <a:ext cx="1992557" cy="2319959"/>
          </a:xfrm>
          <a:prstGeom prst="rect">
            <a:avLst/>
          </a:prstGeom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E8FD90C9-8A6D-D6D4-877D-EA9DD0D6F3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9191"/>
          <a:stretch>
            <a:fillRect/>
          </a:stretch>
        </p:blipFill>
        <p:spPr>
          <a:xfrm>
            <a:off x="10079270" y="3870323"/>
            <a:ext cx="1997283" cy="2325465"/>
          </a:xfrm>
          <a:prstGeom prst="rect">
            <a:avLst/>
          </a:prstGeom>
        </p:spPr>
      </p:pic>
      <p:sp>
        <p:nvSpPr>
          <p:cNvPr id="14" name="吹き出し: 四角形 18">
            <a:extLst>
              <a:ext uri="{FF2B5EF4-FFF2-40B4-BE49-F238E27FC236}">
                <a16:creationId xmlns:a16="http://schemas.microsoft.com/office/drawing/2014/main" id="{FFE91742-6008-3DBF-0B4E-E561DC9136C4}"/>
              </a:ext>
            </a:extLst>
          </p:cNvPr>
          <p:cNvSpPr/>
          <p:nvPr/>
        </p:nvSpPr>
        <p:spPr>
          <a:xfrm>
            <a:off x="6515100" y="6231610"/>
            <a:ext cx="5408056" cy="571337"/>
          </a:xfrm>
          <a:prstGeom prst="wedgeRectCallout">
            <a:avLst>
              <a:gd name="adj1" fmla="val 33178"/>
              <a:gd name="adj2" fmla="val -7946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スケール係数が大きいと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類似度が減少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6" name="吹き出し: 四角形 18">
            <a:extLst>
              <a:ext uri="{FF2B5EF4-FFF2-40B4-BE49-F238E27FC236}">
                <a16:creationId xmlns:a16="http://schemas.microsoft.com/office/drawing/2014/main" id="{CB69D98A-B50A-BA1C-C744-8ADDF8F57286}"/>
              </a:ext>
            </a:extLst>
          </p:cNvPr>
          <p:cNvSpPr/>
          <p:nvPr/>
        </p:nvSpPr>
        <p:spPr>
          <a:xfrm>
            <a:off x="136490" y="6231610"/>
            <a:ext cx="4817160" cy="571337"/>
          </a:xfrm>
          <a:prstGeom prst="wedgeRectCallout">
            <a:avLst>
              <a:gd name="adj1" fmla="val 8344"/>
              <a:gd name="adj2" fmla="val -8446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平均ベクトルは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ターゲットと類似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96" name="図 95">
            <a:extLst>
              <a:ext uri="{FF2B5EF4-FFF2-40B4-BE49-F238E27FC236}">
                <a16:creationId xmlns:a16="http://schemas.microsoft.com/office/drawing/2014/main" id="{6BFA62AF-B6AB-8A65-CC58-CA7CA075E4A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1" r="261"/>
          <a:stretch/>
        </p:blipFill>
        <p:spPr>
          <a:xfrm>
            <a:off x="2108002" y="1325347"/>
            <a:ext cx="1992556" cy="2319959"/>
          </a:xfrm>
          <a:prstGeom prst="rect">
            <a:avLst/>
          </a:prstGeom>
        </p:spPr>
      </p:pic>
      <p:pic>
        <p:nvPicPr>
          <p:cNvPr id="98" name="図 97">
            <a:extLst>
              <a:ext uri="{FF2B5EF4-FFF2-40B4-BE49-F238E27FC236}">
                <a16:creationId xmlns:a16="http://schemas.microsoft.com/office/drawing/2014/main" id="{AC1C39DD-FF7E-5EC1-8EC7-88D0950B95D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74" b="374"/>
          <a:stretch/>
        </p:blipFill>
        <p:spPr>
          <a:xfrm>
            <a:off x="4100553" y="1319947"/>
            <a:ext cx="1992556" cy="2319959"/>
          </a:xfrm>
          <a:prstGeom prst="rect">
            <a:avLst/>
          </a:prstGeom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FFA7F341-514F-FA3C-3F6D-1E6E130A265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74" b="374"/>
          <a:stretch/>
        </p:blipFill>
        <p:spPr>
          <a:xfrm>
            <a:off x="6093104" y="1319946"/>
            <a:ext cx="1992556" cy="2319959"/>
          </a:xfrm>
          <a:prstGeom prst="rect">
            <a:avLst/>
          </a:prstGeom>
        </p:spPr>
      </p:pic>
      <p:pic>
        <p:nvPicPr>
          <p:cNvPr id="102" name="図 101">
            <a:extLst>
              <a:ext uri="{FF2B5EF4-FFF2-40B4-BE49-F238E27FC236}">
                <a16:creationId xmlns:a16="http://schemas.microsoft.com/office/drawing/2014/main" id="{BCB8AC5C-F89C-7B93-A226-6F95B4F65C7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327" b="327"/>
          <a:stretch/>
        </p:blipFill>
        <p:spPr>
          <a:xfrm>
            <a:off x="8078027" y="1319946"/>
            <a:ext cx="1992557" cy="2319959"/>
          </a:xfrm>
          <a:prstGeom prst="rect">
            <a:avLst/>
          </a:prstGeom>
        </p:spPr>
      </p:pic>
      <p:pic>
        <p:nvPicPr>
          <p:cNvPr id="104" name="図 103">
            <a:extLst>
              <a:ext uri="{FF2B5EF4-FFF2-40B4-BE49-F238E27FC236}">
                <a16:creationId xmlns:a16="http://schemas.microsoft.com/office/drawing/2014/main" id="{4AE173C3-C3B8-BFA9-D0E7-11615C90796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55" b="55"/>
          <a:stretch/>
        </p:blipFill>
        <p:spPr>
          <a:xfrm>
            <a:off x="10068748" y="1319946"/>
            <a:ext cx="1997283" cy="2325465"/>
          </a:xfrm>
          <a:prstGeom prst="rect">
            <a:avLst/>
          </a:prstGeom>
        </p:spPr>
      </p:pic>
      <p:pic>
        <p:nvPicPr>
          <p:cNvPr id="106" name="図 105">
            <a:extLst>
              <a:ext uri="{FF2B5EF4-FFF2-40B4-BE49-F238E27FC236}">
                <a16:creationId xmlns:a16="http://schemas.microsoft.com/office/drawing/2014/main" id="{554DB5F3-94A7-B33D-943E-D64955C7C3A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55" b="55"/>
          <a:stretch/>
        </p:blipFill>
        <p:spPr>
          <a:xfrm>
            <a:off x="104925" y="1319946"/>
            <a:ext cx="1992555" cy="231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72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80B8E-ED22-11F6-B3EA-E9EA229F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DEF79-45A9-FADE-8E44-6E09DDD8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提案手法による顔の変換の定量的な評価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DD21E7-2349-34D8-DEC2-CA662BDEE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kumimoji="1" lang="en-US" altLang="ja-JP" dirty="0"/>
              <a:t>Age</a:t>
            </a:r>
            <a:r>
              <a:rPr kumimoji="1" lang="ja-JP" altLang="en-US" dirty="0"/>
              <a:t>，</a:t>
            </a:r>
            <a:r>
              <a:rPr kumimoji="1" lang="en-US" altLang="ja-JP" dirty="0"/>
              <a:t>Gender; DEX</a:t>
            </a:r>
            <a:r>
              <a:rPr lang="en-US" altLang="ja-JP" dirty="0"/>
              <a:t>[10]</a:t>
            </a:r>
            <a:r>
              <a:rPr lang="ja-JP" altLang="en-US" dirty="0"/>
              <a:t>予測された年齢，性別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kumimoji="1" lang="en-US" altLang="ja-JP" dirty="0"/>
              <a:t>Cosine Sim.; </a:t>
            </a:r>
            <a:r>
              <a:rPr kumimoji="1" lang="ja-JP" altLang="en-US" dirty="0"/>
              <a:t>オリジナル画像と変更画像の顔の類似度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FE9AD7-3DEA-DEE5-86C9-F5F65048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92B878-C3C1-3FCB-B99B-179597EE877E}"/>
              </a:ext>
            </a:extLst>
          </p:cNvPr>
          <p:cNvSpPr txBox="1"/>
          <p:nvPr/>
        </p:nvSpPr>
        <p:spPr>
          <a:xfrm>
            <a:off x="125969" y="6527994"/>
            <a:ext cx="11940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  <a:effectLst/>
                <a:latin typeface="BIZ UDGothic" panose="020B0400000000000000" pitchFamily="49" charset="-128"/>
                <a:ea typeface="BIZ UDGothic" panose="020B0400000000000000" pitchFamily="49" charset="-128"/>
              </a:rPr>
              <a:t>[10] </a:t>
            </a:r>
            <a:r>
              <a:rPr lang="en-US" altLang="ja-JP" sz="1200" dirty="0">
                <a:solidFill>
                  <a:schemeClr val="bg1"/>
                </a:solidFill>
              </a:rPr>
              <a:t>R.</a:t>
            </a:r>
            <a:r>
              <a:rPr lang="ja-JP" altLang="ja-JP" sz="1200" dirty="0">
                <a:solidFill>
                  <a:schemeClr val="bg1"/>
                </a:solidFill>
              </a:rPr>
              <a:t> Rasmus</a:t>
            </a:r>
            <a:r>
              <a:rPr lang="en-US" altLang="ja-JP" sz="1200" dirty="0">
                <a:solidFill>
                  <a:schemeClr val="bg1"/>
                </a:solidFill>
              </a:rPr>
              <a:t> et al., </a:t>
            </a:r>
            <a:r>
              <a:rPr lang="ja-JP" altLang="ja-JP" sz="1200" dirty="0">
                <a:solidFill>
                  <a:schemeClr val="bg1"/>
                </a:solidFill>
              </a:rPr>
              <a:t>"Dex: Deep expectation of apparent age from a single image</a:t>
            </a:r>
            <a:r>
              <a:rPr lang="en-US" altLang="ja-JP" sz="1200" dirty="0">
                <a:solidFill>
                  <a:schemeClr val="bg1"/>
                </a:solidFill>
              </a:rPr>
              <a:t>,</a:t>
            </a:r>
            <a:r>
              <a:rPr lang="ja-JP" altLang="ja-JP" sz="1200" dirty="0">
                <a:solidFill>
                  <a:schemeClr val="bg1"/>
                </a:solidFill>
              </a:rPr>
              <a:t>" </a:t>
            </a:r>
            <a:r>
              <a:rPr lang="en-US" altLang="ja-JP" sz="1200" dirty="0">
                <a:solidFill>
                  <a:schemeClr val="bg1"/>
                </a:solidFill>
              </a:rPr>
              <a:t>Proc.</a:t>
            </a:r>
            <a:r>
              <a:rPr lang="ja-JP" altLang="ja-JP" sz="1200" dirty="0">
                <a:solidFill>
                  <a:schemeClr val="bg1"/>
                </a:solidFill>
              </a:rPr>
              <a:t> IEEE </a:t>
            </a:r>
            <a:r>
              <a:rPr lang="en-US" altLang="ja-JP" sz="1200" dirty="0">
                <a:solidFill>
                  <a:schemeClr val="bg1"/>
                </a:solidFill>
              </a:rPr>
              <a:t>CVPR </a:t>
            </a:r>
            <a:r>
              <a:rPr lang="ja-JP" altLang="ja-JP" sz="1200" dirty="0">
                <a:solidFill>
                  <a:schemeClr val="bg1"/>
                </a:solidFill>
              </a:rPr>
              <a:t>workshops</a:t>
            </a:r>
            <a:r>
              <a:rPr lang="en-US" altLang="ja-JP" sz="1200" dirty="0">
                <a:solidFill>
                  <a:schemeClr val="bg1"/>
                </a:solidFill>
              </a:rPr>
              <a:t>,</a:t>
            </a:r>
            <a:r>
              <a:rPr lang="ja-JP" altLang="ja-JP" sz="1200" dirty="0">
                <a:solidFill>
                  <a:schemeClr val="bg1"/>
                </a:solidFill>
              </a:rPr>
              <a:t> December</a:t>
            </a:r>
            <a:r>
              <a:rPr lang="en-US" altLang="ja-JP" sz="1200" dirty="0">
                <a:solidFill>
                  <a:schemeClr val="bg1"/>
                </a:solidFill>
              </a:rPr>
              <a:t> </a:t>
            </a:r>
            <a:r>
              <a:rPr lang="ja-JP" altLang="ja-JP" sz="1200" dirty="0">
                <a:solidFill>
                  <a:schemeClr val="bg1"/>
                </a:solidFill>
              </a:rPr>
              <a:t>2015.</a:t>
            </a:r>
            <a:endParaRPr lang="ja-JP" altLang="en-US" sz="1200" dirty="0">
              <a:solidFill>
                <a:schemeClr val="bg1"/>
              </a:solidFill>
              <a:effectLst/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83005C57-5EDE-DDEF-4668-658D6EC567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95" t="16961" r="618" b="2304"/>
          <a:stretch>
            <a:fillRect/>
          </a:stretch>
        </p:blipFill>
        <p:spPr>
          <a:xfrm>
            <a:off x="1543304" y="2457032"/>
            <a:ext cx="1081795" cy="109210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5E70918A-E60D-A66A-A5A3-3A0B4D2932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489" t="17389" r="901" b="2431"/>
          <a:stretch>
            <a:fillRect/>
          </a:stretch>
        </p:blipFill>
        <p:spPr>
          <a:xfrm>
            <a:off x="1543304" y="4686976"/>
            <a:ext cx="1081795" cy="1087528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4470030-0A4A-8492-0D4B-0A6CBFC34A05}"/>
              </a:ext>
            </a:extLst>
          </p:cNvPr>
          <p:cNvSpPr/>
          <p:nvPr/>
        </p:nvSpPr>
        <p:spPr>
          <a:xfrm>
            <a:off x="1315979" y="3778345"/>
            <a:ext cx="1536447" cy="7053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提案手法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8" name="直線矢印コネクタ 9">
            <a:extLst>
              <a:ext uri="{FF2B5EF4-FFF2-40B4-BE49-F238E27FC236}">
                <a16:creationId xmlns:a16="http://schemas.microsoft.com/office/drawing/2014/main" id="{9A50F0CE-6D8A-EC9B-684F-A6170AC64619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>
            <a:off x="2084202" y="3549138"/>
            <a:ext cx="1" cy="2292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フローチャート: 手作業 18">
            <a:extLst>
              <a:ext uri="{FF2B5EF4-FFF2-40B4-BE49-F238E27FC236}">
                <a16:creationId xmlns:a16="http://schemas.microsoft.com/office/drawing/2014/main" id="{37F1D893-A790-C738-E7F9-0578B6F954DA}"/>
              </a:ext>
            </a:extLst>
          </p:cNvPr>
          <p:cNvSpPr/>
          <p:nvPr/>
        </p:nvSpPr>
        <p:spPr>
          <a:xfrm rot="16200000">
            <a:off x="5385988" y="2234995"/>
            <a:ext cx="1425096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ArcFace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0" name="直線矢印コネクタ 14">
            <a:extLst>
              <a:ext uri="{FF2B5EF4-FFF2-40B4-BE49-F238E27FC236}">
                <a16:creationId xmlns:a16="http://schemas.microsoft.com/office/drawing/2014/main" id="{85BAEB19-2632-4193-872D-5EEB819F0B03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 flipV="1">
            <a:off x="2625099" y="2994461"/>
            <a:ext cx="2713972" cy="86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47FD259-B85B-DAB9-1B17-04BDACC538E1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flipH="1">
            <a:off x="2084202" y="4483658"/>
            <a:ext cx="1" cy="203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6751D234-7371-6357-49E4-577205339476}"/>
              </a:ext>
            </a:extLst>
          </p:cNvPr>
          <p:cNvCxnSpPr>
            <a:cxnSpLocks/>
            <a:stCxn id="15" idx="3"/>
            <a:endCxn id="19" idx="0"/>
          </p:cNvCxnSpPr>
          <p:nvPr/>
        </p:nvCxnSpPr>
        <p:spPr>
          <a:xfrm flipV="1">
            <a:off x="2625099" y="2994461"/>
            <a:ext cx="2713972" cy="223627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3B80C4A-7F6A-069A-2A53-37BA63E7776A}"/>
                  </a:ext>
                </a:extLst>
              </p:cNvPr>
              <p:cNvSpPr txBox="1"/>
              <p:nvPr/>
            </p:nvSpPr>
            <p:spPr>
              <a:xfrm>
                <a:off x="7796832" y="2522747"/>
                <a:ext cx="3206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𝐯</m:t>
                      </m:r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3B80C4A-7F6A-069A-2A53-37BA63E77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832" y="2522747"/>
                <a:ext cx="320601" cy="369332"/>
              </a:xfrm>
              <a:prstGeom prst="rect">
                <a:avLst/>
              </a:prstGeom>
              <a:blipFill>
                <a:blip r:embed="rId4"/>
                <a:stretch>
                  <a:fillRect l="-22642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3281A93F-1404-5819-5ECB-E1E5FE44DF63}"/>
                  </a:ext>
                </a:extLst>
              </p:cNvPr>
              <p:cNvSpPr txBox="1"/>
              <p:nvPr/>
            </p:nvSpPr>
            <p:spPr>
              <a:xfrm>
                <a:off x="7796831" y="3076745"/>
                <a:ext cx="3206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accPr>
                        <m:e>
                          <m:r>
                            <a:rPr kumimoji="1" lang="en-US" altLang="ja-JP" sz="2400" b="1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𝐯</m:t>
                          </m:r>
                        </m:e>
                      </m:acc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3281A93F-1404-5819-5ECB-E1E5FE44D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831" y="3076745"/>
                <a:ext cx="320601" cy="369332"/>
              </a:xfrm>
              <a:prstGeom prst="rect">
                <a:avLst/>
              </a:prstGeom>
              <a:blipFill>
                <a:blip r:embed="rId5"/>
                <a:stretch>
                  <a:fillRect l="-24528" t="-15000" r="-43396"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723C08D-A751-2E6B-401F-3D6127ADC96A}"/>
              </a:ext>
            </a:extLst>
          </p:cNvPr>
          <p:cNvCxnSpPr>
            <a:cxnSpLocks/>
            <a:stCxn id="19" idx="2"/>
            <a:endCxn id="24" idx="1"/>
          </p:cNvCxnSpPr>
          <p:nvPr/>
        </p:nvCxnSpPr>
        <p:spPr>
          <a:xfrm>
            <a:off x="6858002" y="2994461"/>
            <a:ext cx="938829" cy="2669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77165D0E-8408-1243-E37D-E1661B88CF9A}"/>
              </a:ext>
            </a:extLst>
          </p:cNvPr>
          <p:cNvCxnSpPr>
            <a:cxnSpLocks/>
            <a:stCxn id="19" idx="2"/>
            <a:endCxn id="23" idx="1"/>
          </p:cNvCxnSpPr>
          <p:nvPr/>
        </p:nvCxnSpPr>
        <p:spPr>
          <a:xfrm flipV="1">
            <a:off x="6858002" y="2707413"/>
            <a:ext cx="938830" cy="2870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A7745F8-2D67-74A9-C42F-8305ED6EA41E}"/>
              </a:ext>
            </a:extLst>
          </p:cNvPr>
          <p:cNvSpPr txBox="1"/>
          <p:nvPr/>
        </p:nvSpPr>
        <p:spPr>
          <a:xfrm>
            <a:off x="8413266" y="2818419"/>
            <a:ext cx="138499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cos</a:t>
            </a:r>
            <a:r>
              <a:rPr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類似度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0" name="フローチャート: 手作業 69">
            <a:extLst>
              <a:ext uri="{FF2B5EF4-FFF2-40B4-BE49-F238E27FC236}">
                <a16:creationId xmlns:a16="http://schemas.microsoft.com/office/drawing/2014/main" id="{068207D0-4292-A1BF-C566-2EA84E71438D}"/>
              </a:ext>
            </a:extLst>
          </p:cNvPr>
          <p:cNvSpPr/>
          <p:nvPr/>
        </p:nvSpPr>
        <p:spPr>
          <a:xfrm rot="16200000">
            <a:off x="5385987" y="4471275"/>
            <a:ext cx="1425096" cy="1518931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DEX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974F667B-7335-7D9C-7699-8B1E0D8F6785}"/>
              </a:ext>
            </a:extLst>
          </p:cNvPr>
          <p:cNvCxnSpPr>
            <a:cxnSpLocks/>
            <a:stCxn id="15" idx="3"/>
            <a:endCxn id="70" idx="0"/>
          </p:cNvCxnSpPr>
          <p:nvPr/>
        </p:nvCxnSpPr>
        <p:spPr>
          <a:xfrm>
            <a:off x="2625099" y="5230740"/>
            <a:ext cx="2713971" cy="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14">
            <a:extLst>
              <a:ext uri="{FF2B5EF4-FFF2-40B4-BE49-F238E27FC236}">
                <a16:creationId xmlns:a16="http://schemas.microsoft.com/office/drawing/2014/main" id="{5545BC86-4961-697B-44C3-B127D74A2A95}"/>
              </a:ext>
            </a:extLst>
          </p:cNvPr>
          <p:cNvCxnSpPr>
            <a:cxnSpLocks/>
            <a:stCxn id="14" idx="3"/>
            <a:endCxn id="70" idx="0"/>
          </p:cNvCxnSpPr>
          <p:nvPr/>
        </p:nvCxnSpPr>
        <p:spPr>
          <a:xfrm>
            <a:off x="2625099" y="3003085"/>
            <a:ext cx="2713971" cy="22276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AE33A6E4-0A1B-481D-2B4C-E6414C59C598}"/>
                  </a:ext>
                </a:extLst>
              </p:cNvPr>
              <p:cNvSpPr txBox="1"/>
              <p:nvPr/>
            </p:nvSpPr>
            <p:spPr>
              <a:xfrm>
                <a:off x="7796831" y="4180406"/>
                <a:ext cx="75661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𝑎𝑔𝑒</m:t>
                      </m:r>
                    </m:oMath>
                  </m:oMathPara>
                </a14:m>
                <a:endParaRPr kumimoji="1" lang="ja-JP" altLang="en-US" sz="2400" i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77" name="テキスト ボックス 76">
                <a:extLst>
                  <a:ext uri="{FF2B5EF4-FFF2-40B4-BE49-F238E27FC236}">
                    <a16:creationId xmlns:a16="http://schemas.microsoft.com/office/drawing/2014/main" id="{AE33A6E4-0A1B-481D-2B4C-E6414C59C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831" y="4180406"/>
                <a:ext cx="756619" cy="369332"/>
              </a:xfrm>
              <a:prstGeom prst="rect">
                <a:avLst/>
              </a:prstGeom>
              <a:blipFill>
                <a:blip r:embed="rId6"/>
                <a:stretch>
                  <a:fillRect l="-8065" b="-3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F53CABE7-92A2-A000-0EF1-36D83549B2E0}"/>
                  </a:ext>
                </a:extLst>
              </p:cNvPr>
              <p:cNvSpPr txBox="1"/>
              <p:nvPr/>
            </p:nvSpPr>
            <p:spPr>
              <a:xfrm>
                <a:off x="7796831" y="4632492"/>
                <a:ext cx="75661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a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𝑔𝑒</m:t>
                          </m:r>
                        </m:e>
                      </m:acc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F53CABE7-92A2-A000-0EF1-36D83549B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831" y="4632492"/>
                <a:ext cx="756619" cy="369332"/>
              </a:xfrm>
              <a:prstGeom prst="rect">
                <a:avLst/>
              </a:prstGeom>
              <a:blipFill>
                <a:blip r:embed="rId7"/>
                <a:stretch>
                  <a:fillRect l="-2419" t="-13115" r="-36290" b="-295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F5325739-701E-E5A5-51B6-4B9380C6DF68}"/>
              </a:ext>
            </a:extLst>
          </p:cNvPr>
          <p:cNvCxnSpPr>
            <a:cxnSpLocks/>
            <a:stCxn id="70" idx="2"/>
            <a:endCxn id="78" idx="1"/>
          </p:cNvCxnSpPr>
          <p:nvPr/>
        </p:nvCxnSpPr>
        <p:spPr>
          <a:xfrm flipV="1">
            <a:off x="6858001" y="4817158"/>
            <a:ext cx="938830" cy="41358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3E43048F-71F4-1622-E48F-492975891738}"/>
              </a:ext>
            </a:extLst>
          </p:cNvPr>
          <p:cNvCxnSpPr>
            <a:cxnSpLocks/>
            <a:stCxn id="70" idx="2"/>
            <a:endCxn id="77" idx="1"/>
          </p:cNvCxnSpPr>
          <p:nvPr/>
        </p:nvCxnSpPr>
        <p:spPr>
          <a:xfrm flipV="1">
            <a:off x="6858001" y="4365072"/>
            <a:ext cx="938830" cy="8656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386497D1-797D-CD05-D442-9B834700A1E2}"/>
                  </a:ext>
                </a:extLst>
              </p:cNvPr>
              <p:cNvSpPr txBox="1"/>
              <p:nvPr/>
            </p:nvSpPr>
            <p:spPr>
              <a:xfrm>
                <a:off x="7796831" y="5323405"/>
                <a:ext cx="123287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𝑔𝑒𝑛𝑑𝑒𝑟</m:t>
                      </m:r>
                    </m:oMath>
                  </m:oMathPara>
                </a14:m>
                <a:endParaRPr kumimoji="1" lang="ja-JP" altLang="en-US" sz="2400" i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96" name="テキスト ボックス 95">
                <a:extLst>
                  <a:ext uri="{FF2B5EF4-FFF2-40B4-BE49-F238E27FC236}">
                    <a16:creationId xmlns:a16="http://schemas.microsoft.com/office/drawing/2014/main" id="{386497D1-797D-CD05-D442-9B834700A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831" y="5323405"/>
                <a:ext cx="1232870" cy="369332"/>
              </a:xfrm>
              <a:prstGeom prst="rect">
                <a:avLst/>
              </a:prstGeom>
              <a:blipFill>
                <a:blip r:embed="rId8"/>
                <a:stretch>
                  <a:fillRect l="-7921" b="-393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AA61041F-67B5-BB52-6637-D1FAD3273FD5}"/>
                  </a:ext>
                </a:extLst>
              </p:cNvPr>
              <p:cNvSpPr txBox="1"/>
              <p:nvPr/>
            </p:nvSpPr>
            <p:spPr>
              <a:xfrm>
                <a:off x="7796831" y="5775491"/>
                <a:ext cx="1232870" cy="3890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acc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𝑔𝑒𝑛𝑑𝑒𝑟</m:t>
                          </m:r>
                        </m:e>
                      </m:acc>
                    </m:oMath>
                  </m:oMathPara>
                </a14:m>
                <a:endParaRPr kumimoji="1" lang="ja-JP" altLang="en-US" sz="2400" b="1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97" name="テキスト ボックス 96">
                <a:extLst>
                  <a:ext uri="{FF2B5EF4-FFF2-40B4-BE49-F238E27FC236}">
                    <a16:creationId xmlns:a16="http://schemas.microsoft.com/office/drawing/2014/main" id="{AA61041F-67B5-BB52-6637-D1FAD3273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831" y="5775491"/>
                <a:ext cx="1232870" cy="3890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36933D44-1775-5090-AC2E-C87D414A0F87}"/>
              </a:ext>
            </a:extLst>
          </p:cNvPr>
          <p:cNvCxnSpPr>
            <a:cxnSpLocks/>
            <a:stCxn id="70" idx="2"/>
            <a:endCxn id="97" idx="1"/>
          </p:cNvCxnSpPr>
          <p:nvPr/>
        </p:nvCxnSpPr>
        <p:spPr>
          <a:xfrm>
            <a:off x="6858001" y="5230741"/>
            <a:ext cx="938830" cy="73925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941F5C52-2AAE-654D-DE1D-A3958231CC58}"/>
              </a:ext>
            </a:extLst>
          </p:cNvPr>
          <p:cNvCxnSpPr>
            <a:cxnSpLocks/>
            <a:stCxn id="70" idx="2"/>
            <a:endCxn id="96" idx="1"/>
          </p:cNvCxnSpPr>
          <p:nvPr/>
        </p:nvCxnSpPr>
        <p:spPr>
          <a:xfrm>
            <a:off x="6858001" y="5230741"/>
            <a:ext cx="938830" cy="2773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F16D88A-497B-7FF1-8BF3-16E8E97C2509}"/>
              </a:ext>
            </a:extLst>
          </p:cNvPr>
          <p:cNvSpPr txBox="1"/>
          <p:nvPr/>
        </p:nvSpPr>
        <p:spPr>
          <a:xfrm>
            <a:off x="1333494" y="2064353"/>
            <a:ext cx="1518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ターゲット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9CA9C87-E605-7E88-EC55-ADF73D63EC95}"/>
              </a:ext>
            </a:extLst>
          </p:cNvPr>
          <p:cNvSpPr txBox="1"/>
          <p:nvPr/>
        </p:nvSpPr>
        <p:spPr>
          <a:xfrm>
            <a:off x="1324735" y="5774504"/>
            <a:ext cx="1518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変換後</a:t>
            </a:r>
            <a:endParaRPr kumimoji="1" lang="ja-JP" altLang="en-US" sz="20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18" name="右中かっこ 117">
            <a:extLst>
              <a:ext uri="{FF2B5EF4-FFF2-40B4-BE49-F238E27FC236}">
                <a16:creationId xmlns:a16="http://schemas.microsoft.com/office/drawing/2014/main" id="{9A3F35F1-CA68-49ED-657C-0C4945702DE5}"/>
              </a:ext>
            </a:extLst>
          </p:cNvPr>
          <p:cNvSpPr/>
          <p:nvPr/>
        </p:nvSpPr>
        <p:spPr>
          <a:xfrm>
            <a:off x="8053041" y="2522747"/>
            <a:ext cx="323892" cy="923330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FADB84B1-330D-FFD8-8999-3CD44C07D2B4}"/>
              </a:ext>
            </a:extLst>
          </p:cNvPr>
          <p:cNvSpPr txBox="1"/>
          <p:nvPr/>
        </p:nvSpPr>
        <p:spPr>
          <a:xfrm>
            <a:off x="8735661" y="4466311"/>
            <a:ext cx="92333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一致率</a:t>
            </a:r>
          </a:p>
        </p:txBody>
      </p:sp>
      <p:sp>
        <p:nvSpPr>
          <p:cNvPr id="122" name="右中かっこ 121">
            <a:extLst>
              <a:ext uri="{FF2B5EF4-FFF2-40B4-BE49-F238E27FC236}">
                <a16:creationId xmlns:a16="http://schemas.microsoft.com/office/drawing/2014/main" id="{ED8D605E-340A-894E-E2AB-B4A254238E76}"/>
              </a:ext>
            </a:extLst>
          </p:cNvPr>
          <p:cNvSpPr/>
          <p:nvPr/>
        </p:nvSpPr>
        <p:spPr>
          <a:xfrm>
            <a:off x="8376931" y="4189312"/>
            <a:ext cx="323892" cy="923330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E15EF7DA-9543-F217-A0A4-1DE66B2F7E12}"/>
              </a:ext>
            </a:extLst>
          </p:cNvPr>
          <p:cNvSpPr txBox="1"/>
          <p:nvPr/>
        </p:nvSpPr>
        <p:spPr>
          <a:xfrm>
            <a:off x="9224152" y="5405172"/>
            <a:ext cx="2462213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二乗平均平方誤差</a:t>
            </a:r>
            <a:endParaRPr kumimoji="1" lang="en-US" altLang="ja-JP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(RMSE)</a:t>
            </a:r>
            <a:endParaRPr kumimoji="1"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26" name="右中かっこ 125">
            <a:extLst>
              <a:ext uri="{FF2B5EF4-FFF2-40B4-BE49-F238E27FC236}">
                <a16:creationId xmlns:a16="http://schemas.microsoft.com/office/drawing/2014/main" id="{875F5FB5-0B58-CB34-A393-53C0C91BB305}"/>
              </a:ext>
            </a:extLst>
          </p:cNvPr>
          <p:cNvSpPr/>
          <p:nvPr/>
        </p:nvSpPr>
        <p:spPr>
          <a:xfrm>
            <a:off x="8900260" y="5304996"/>
            <a:ext cx="323892" cy="923330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379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03C9-ABE6-9491-E84F-D0B154B4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999716-F0FB-E293-A09F-15525EDD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提案手法による顔の変換の定量的な評価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50DD6F-4BB5-3D95-E6EB-0CC9C2608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 err="1"/>
              <a:t>UTKFace</a:t>
            </a:r>
            <a:r>
              <a:rPr lang="ja-JP" altLang="en-US" dirty="0"/>
              <a:t>の顔写真</a:t>
            </a:r>
            <a:r>
              <a:rPr lang="en-US" altLang="ja-JP" dirty="0"/>
              <a:t>23,088</a:t>
            </a:r>
            <a:r>
              <a:rPr kumimoji="1" lang="ja-JP" altLang="en-US" dirty="0"/>
              <a:t>枚について計算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・スケール係数を大きくすることで，性別の一致率と</a:t>
            </a:r>
            <a:r>
              <a:rPr lang="en-US" altLang="ja-JP" dirty="0"/>
              <a:t>cos</a:t>
            </a:r>
            <a:r>
              <a:rPr lang="ja-JP" altLang="en-US" dirty="0"/>
              <a:t>類似度が減少，年齢の</a:t>
            </a:r>
            <a:r>
              <a:rPr lang="en-US" altLang="ja-JP" dirty="0"/>
              <a:t>RMSE</a:t>
            </a:r>
            <a:r>
              <a:rPr lang="ja-JP" altLang="en-US" dirty="0"/>
              <a:t>が増加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→ スケール係数は，属性の一貫性とプライバシーの保護のトレードオフを制御できる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06341C-3820-3CB2-B3CB-092EBEA7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16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FE93984-D41B-014C-E475-7EA139EEC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388563"/>
              </p:ext>
            </p:extLst>
          </p:nvPr>
        </p:nvGraphicFramePr>
        <p:xfrm>
          <a:off x="125969" y="1690456"/>
          <a:ext cx="11940064" cy="2333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5016">
                  <a:extLst>
                    <a:ext uri="{9D8B030D-6E8A-4147-A177-3AD203B41FA5}">
                      <a16:colId xmlns:a16="http://schemas.microsoft.com/office/drawing/2014/main" val="3965389724"/>
                    </a:ext>
                  </a:extLst>
                </a:gridCol>
                <a:gridCol w="2985016">
                  <a:extLst>
                    <a:ext uri="{9D8B030D-6E8A-4147-A177-3AD203B41FA5}">
                      <a16:colId xmlns:a16="http://schemas.microsoft.com/office/drawing/2014/main" val="488726"/>
                    </a:ext>
                  </a:extLst>
                </a:gridCol>
                <a:gridCol w="2985016">
                  <a:extLst>
                    <a:ext uri="{9D8B030D-6E8A-4147-A177-3AD203B41FA5}">
                      <a16:colId xmlns:a16="http://schemas.microsoft.com/office/drawing/2014/main" val="1979774484"/>
                    </a:ext>
                  </a:extLst>
                </a:gridCol>
                <a:gridCol w="2985016">
                  <a:extLst>
                    <a:ext uri="{9D8B030D-6E8A-4147-A177-3AD203B41FA5}">
                      <a16:colId xmlns:a16="http://schemas.microsoft.com/office/drawing/2014/main" val="223265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n-ea"/>
                          <a:ea typeface="+mn-ea"/>
                        </a:rPr>
                        <a:t>スケール係数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n-ea"/>
                          <a:ea typeface="+mn-ea"/>
                        </a:rPr>
                        <a:t>年齢の</a:t>
                      </a:r>
                      <a:r>
                        <a:rPr kumimoji="1" lang="en-US" altLang="ja-JP" sz="2400" dirty="0">
                          <a:latin typeface="+mn-ea"/>
                          <a:ea typeface="+mn-ea"/>
                        </a:rPr>
                        <a:t>RMSE</a:t>
                      </a:r>
                      <a:endParaRPr kumimoji="1" lang="ja-JP" altLang="en-US" sz="2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+mn-ea"/>
                          <a:ea typeface="+mn-ea"/>
                        </a:rPr>
                        <a:t>性別の一致率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dirty="0">
                          <a:latin typeface="+mn-ea"/>
                          <a:ea typeface="+mn-ea"/>
                        </a:rPr>
                        <a:t>cos</a:t>
                      </a:r>
                      <a:r>
                        <a:rPr kumimoji="1" lang="ja-JP" altLang="en-US" sz="2400" dirty="0">
                          <a:latin typeface="+mn-ea"/>
                          <a:ea typeface="+mn-ea"/>
                        </a:rPr>
                        <a:t>類似度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787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6.7274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0.9294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1581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0.9206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0.6851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7713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7.3699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0.9169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0.6592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6682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7.5622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0.6306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412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7.8757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0.9041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0.5734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1599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186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1E32A-A691-4716-FA77-589D45F7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5FC61-E0BD-E824-27DA-E71ED2AA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218D17-B808-C66C-C529-665E37A5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kumimoji="1" lang="en-US" altLang="ja-JP" dirty="0"/>
              <a:t>GHOST</a:t>
            </a:r>
            <a:r>
              <a:rPr kumimoji="1" lang="ja-JP" altLang="en-US" dirty="0"/>
              <a:t>，</a:t>
            </a:r>
            <a:r>
              <a:rPr kumimoji="1" lang="en-US" altLang="ja-JP" dirty="0"/>
              <a:t>VAE</a:t>
            </a:r>
            <a:r>
              <a:rPr kumimoji="1" lang="ja-JP" altLang="en-US" dirty="0"/>
              <a:t>を用いた人物匿名化システムを提案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・提案手法の</a:t>
            </a:r>
            <a:r>
              <a:rPr lang="en-US" altLang="ja-JP" dirty="0"/>
              <a:t>VAE</a:t>
            </a:r>
            <a:r>
              <a:rPr lang="ja-JP" altLang="en-US" dirty="0"/>
              <a:t>は顔写真のみで学習可能であり，顔写真のアノテーションが不要</a:t>
            </a:r>
            <a:endParaRPr lang="en-US" altLang="ja-JP" dirty="0"/>
          </a:p>
          <a:p>
            <a:pPr marL="457200" lvl="1" indent="0">
              <a:buNone/>
            </a:pPr>
            <a:r>
              <a:rPr kumimoji="1" lang="ja-JP" altLang="en-US" dirty="0"/>
              <a:t>・提案手法ではターゲットの属性の情報が不要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・スケール係数を変更することで，属性を維持したまま類似度が減少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今後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・顔ベクトルのサンプリング方法の変更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・年齢，性別以外の属性の一貫性評価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</a:t>
            </a:r>
            <a:r>
              <a:rPr lang="en-US" altLang="ja-JP" dirty="0" err="1"/>
              <a:t>UTKFace</a:t>
            </a:r>
            <a:r>
              <a:rPr lang="ja-JP" altLang="en-US" dirty="0"/>
              <a:t>以外の大規模顔画像データセットで</a:t>
            </a:r>
            <a:r>
              <a:rPr lang="en-US" altLang="ja-JP" dirty="0"/>
              <a:t>VAE</a:t>
            </a:r>
            <a:r>
              <a:rPr lang="ja-JP" altLang="en-US" dirty="0"/>
              <a:t>を学習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・人間による匿名性の定性的評価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DBDEE4-14F0-6477-EA1A-38D7F751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0412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6FB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IZ UDゴシック">
      <a:majorFont>
        <a:latin typeface="BIZ UDゴシック"/>
        <a:ea typeface="BIZ UDゴシック"/>
        <a:cs typeface=""/>
      </a:majorFont>
      <a:minorFont>
        <a:latin typeface="BIZ UDゴシック"/>
        <a:ea typeface="BIZ UD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lIns="90000" tIns="90000" rIns="90000" bIns="90000" rtlCol="0" anchor="ctr">
        <a:noAutofit/>
      </a:bodyPr>
      <a:lstStyle>
        <a:defPPr algn="ctr">
          <a:defRPr kumimoji="1" sz="2400" dirty="0" smtClean="0">
            <a:solidFill>
              <a:schemeClr val="tx1"/>
            </a:solidFill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ctr">
          <a:defRPr sz="2400" smtClean="0"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17099</TotalTime>
  <Words>1210</Words>
  <Application>Microsoft Macintosh PowerPoint</Application>
  <PresentationFormat>ワイド画面</PresentationFormat>
  <Paragraphs>307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3" baseType="lpstr">
      <vt:lpstr>BIZ UDGothic</vt:lpstr>
      <vt:lpstr>BIZ UDGothic</vt:lpstr>
      <vt:lpstr>游ゴシック</vt:lpstr>
      <vt:lpstr>Arial</vt:lpstr>
      <vt:lpstr>Cambria Math</vt:lpstr>
      <vt:lpstr>Office テーマ</vt:lpstr>
      <vt:lpstr>ディープフェイクとVAEを用いた アイデンティティ保持型匿名化</vt:lpstr>
      <vt:lpstr>研究背景</vt:lpstr>
      <vt:lpstr>研究背景</vt:lpstr>
      <vt:lpstr>研究目的</vt:lpstr>
      <vt:lpstr>GHOST[3]</vt:lpstr>
      <vt:lpstr>従来手法1[5]</vt:lpstr>
      <vt:lpstr>従来手法2[7]</vt:lpstr>
      <vt:lpstr>顔ベクトルを出力するNNの学習</vt:lpstr>
      <vt:lpstr>従来手法の問題点</vt:lpstr>
      <vt:lpstr>提案手法</vt:lpstr>
      <vt:lpstr>提案手法による顔変換</vt:lpstr>
      <vt:lpstr>実験; VAEの学習，提案手法による顔変換</vt:lpstr>
      <vt:lpstr>VAEが出力した顔ベクトルの可視化</vt:lpstr>
      <vt:lpstr>PowerPoint プレゼンテーション</vt:lpstr>
      <vt:lpstr>提案手法による顔の変換の定量的な評価</vt:lpstr>
      <vt:lpstr>提案手法による顔の変換の定量的な評価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山富龍</dc:creator>
  <cp:lastModifiedBy>山富龍</cp:lastModifiedBy>
  <cp:revision>152</cp:revision>
  <cp:lastPrinted>2026-08-15T14:26:46Z</cp:lastPrinted>
  <dcterms:created xsi:type="dcterms:W3CDTF">2024-10-01T23:47:44Z</dcterms:created>
  <dcterms:modified xsi:type="dcterms:W3CDTF">2026-08-24T03:35:53Z</dcterms:modified>
</cp:coreProperties>
</file>