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61" r:id="rId2"/>
    <p:sldId id="285" r:id="rId3"/>
    <p:sldId id="262" r:id="rId4"/>
    <p:sldId id="263" r:id="rId5"/>
    <p:sldId id="264" r:id="rId6"/>
    <p:sldId id="265" r:id="rId7"/>
    <p:sldId id="266" r:id="rId8"/>
    <p:sldId id="269" r:id="rId9"/>
    <p:sldId id="267" r:id="rId10"/>
    <p:sldId id="286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9" r:id="rId26"/>
    <p:sldId id="288" r:id="rId27"/>
    <p:sldId id="284" r:id="rId2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73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865" autoAdjust="0"/>
    <p:restoredTop sz="97173"/>
  </p:normalViewPr>
  <p:slideViewPr>
    <p:cSldViewPr snapToGrid="0" showGuides="1">
      <p:cViewPr varScale="1">
        <p:scale>
          <a:sx n="123" d="100"/>
          <a:sy n="123" d="100"/>
        </p:scale>
        <p:origin x="1152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27" d="100"/>
          <a:sy n="127" d="100"/>
        </p:scale>
        <p:origin x="4472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C25AD575-7CC8-6AC7-FE6A-DFDD27A8CA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0F27B0E-A93B-2F38-E0FC-31F597E5E21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5D4A56-4347-7E47-805C-A4CC550EB7FE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E0BCC8F-962C-B670-E032-0E7AD40CE6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585014A-F3B1-11F7-8AE0-A98B75A68B6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DD713F-9469-214B-ACCC-5A39EEDA84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347468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171477-B974-724E-B5A2-6B597495C72D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546392-E619-9147-B7CA-0C7C9A3ADD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0577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FAB798-492E-22C6-68CE-0FBA475D2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D0FF2-8DB4-A340-91B5-0FC7B27917C5}" type="datetime1">
              <a:rPr kumimoji="1" lang="ja-JP" altLang="en-US" smtClean="0"/>
              <a:t>2026/8/24</a:t>
            </a:fld>
            <a:endParaRPr kumimoji="1"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7115F2-D155-73B0-C019-2BAC5210E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8BF458-E430-27DE-37E5-3E1C0FBAB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8E8B333-7560-E390-D814-F6BEF1BF4D17}"/>
              </a:ext>
            </a:extLst>
          </p:cNvPr>
          <p:cNvSpPr/>
          <p:nvPr userDrawn="1"/>
        </p:nvSpPr>
        <p:spPr>
          <a:xfrm>
            <a:off x="0" y="0"/>
            <a:ext cx="12192000" cy="41097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D85CBEE-6029-4F7A-A802-D89A4604B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7569" y="772319"/>
            <a:ext cx="9144000" cy="2656681"/>
          </a:xfrm>
        </p:spPr>
        <p:txBody>
          <a:bodyPr anchor="ctr" anchorCtr="0"/>
          <a:lstStyle>
            <a:lvl1pPr algn="ctr">
              <a:defRPr sz="6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5C98D89-2B71-F08E-900C-FBD12F49A2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39531"/>
            <a:ext cx="9144000" cy="1210860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pic>
        <p:nvPicPr>
          <p:cNvPr id="8" name="Picture 2" descr="湘南工科大学">
            <a:extLst>
              <a:ext uri="{FF2B5EF4-FFF2-40B4-BE49-F238E27FC236}">
                <a16:creationId xmlns:a16="http://schemas.microsoft.com/office/drawing/2014/main" id="{F03C5772-EB15-2D75-0B66-C9A0CD990F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1931" y="5780147"/>
            <a:ext cx="2124100" cy="618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図 8" descr="テキスト が含まれている画像&#10;&#10;自動的に生成された説明">
            <a:extLst>
              <a:ext uri="{FF2B5EF4-FFF2-40B4-BE49-F238E27FC236}">
                <a16:creationId xmlns:a16="http://schemas.microsoft.com/office/drawing/2014/main" id="{111DEA92-C74A-8552-E6EA-B0CDBEF8394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3867" y="5780147"/>
            <a:ext cx="2658064" cy="62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90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2CA17C-0301-F865-6498-A23748583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6070556-C1B8-17F2-5E6D-E9BE9C3CD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3D077A-EEA2-D6D0-BB2A-2060171A6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D38D8-431E-2148-A67E-C99D9FDB14AB}" type="datetime1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576F80-2940-EA1C-33F0-C4F03AC30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812638-AAE1-136E-81F2-778F23402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8812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21BE25-8097-E1B2-F1F1-4F9F443CE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927930-B44A-5F80-BF0B-ECC9747D94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969" y="813576"/>
            <a:ext cx="5893831" cy="556375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FA00B66-3C0D-487C-8999-2BBE7A5DD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813576"/>
            <a:ext cx="5893831" cy="556375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70C5A16-605B-678E-7E15-FE95593A5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0C9B8-7821-394F-9014-0DAE5FBA846C}" type="datetime1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8443E2A-7AA8-41BD-0C20-3B2E08961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4085C57-3338-2D92-76F8-7418B0047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6369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36C7B59-9C0A-A8AF-CF51-2063AD5A1677}"/>
              </a:ext>
            </a:extLst>
          </p:cNvPr>
          <p:cNvSpPr/>
          <p:nvPr userDrawn="1"/>
        </p:nvSpPr>
        <p:spPr>
          <a:xfrm>
            <a:off x="0" y="6445188"/>
            <a:ext cx="12192000" cy="41281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3A1BB62-5804-22AC-B506-505B96B77B5B}"/>
              </a:ext>
            </a:extLst>
          </p:cNvPr>
          <p:cNvSpPr/>
          <p:nvPr userDrawn="1"/>
        </p:nvSpPr>
        <p:spPr>
          <a:xfrm>
            <a:off x="0" y="1"/>
            <a:ext cx="12192000" cy="73684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C86A81B-5CD1-B0C3-31EB-59E19BFD9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9" y="76732"/>
            <a:ext cx="11940062" cy="57133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066C32B-C8AA-5B42-740A-64859E5EC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9" y="813577"/>
            <a:ext cx="11940062" cy="5563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6919BA-5EC6-6F21-A52B-1C6DA85935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969" y="6542843"/>
            <a:ext cx="2743200" cy="2473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defRPr>
            </a:lvl1pPr>
          </a:lstStyle>
          <a:p>
            <a:fld id="{C8DD7B46-612B-4747-AC0E-56DE60A5EB0D}" type="datetime1">
              <a:rPr lang="ja-JP" altLang="en-US" smtClean="0"/>
              <a:t>2026/8/24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D700D3-7F2D-6840-2666-703A5F65F0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42843"/>
            <a:ext cx="4114800" cy="2473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FBF3CFF-1290-6EDC-C4B9-F4FB9C913D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22831" y="6542843"/>
            <a:ext cx="2743200" cy="2473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defRPr>
            </a:lvl1pPr>
          </a:lstStyle>
          <a:p>
            <a:fld id="{9C0FEE9A-3EB6-844C-8184-5D808DF0141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10469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kumimoji="1" sz="4000" kern="1200">
          <a:solidFill>
            <a:schemeClr val="bg1"/>
          </a:solidFill>
          <a:latin typeface="BIZ UDGothic" panose="020B0400000000000000" pitchFamily="49" charset="-128"/>
          <a:ea typeface="BIZ UDGothic" panose="020B0400000000000000" pitchFamily="49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BIZ UDGothic" panose="020B0400000000000000" pitchFamily="49" charset="-128"/>
          <a:ea typeface="BIZ UDGothic" panose="020B0400000000000000" pitchFamily="49" charset="-128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BIZ UDGothic" panose="020B0400000000000000" pitchFamily="49" charset="-128"/>
          <a:ea typeface="BIZ UDGothic" panose="020B0400000000000000" pitchFamily="49" charset="-128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BIZ UDGothic" panose="020B0400000000000000" pitchFamily="49" charset="-128"/>
          <a:ea typeface="BIZ UDGothic" panose="020B0400000000000000" pitchFamily="49" charset="-128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BIZ UDGothic" panose="020B0400000000000000" pitchFamily="49" charset="-128"/>
          <a:ea typeface="BIZ UDGothic" panose="020B0400000000000000" pitchFamily="49" charset="-128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BIZ UDGothic" panose="020B0400000000000000" pitchFamily="49" charset="-128"/>
          <a:ea typeface="BIZ UDGothic" panose="020B0400000000000000" pitchFamily="49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10.png"/><Relationship Id="rId7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1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5.png"/><Relationship Id="rId7" Type="http://schemas.openxmlformats.org/officeDocument/2006/relationships/image" Target="../media/image150.png"/><Relationship Id="rId12" Type="http://schemas.openxmlformats.org/officeDocument/2006/relationships/image" Target="../media/image2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9.png"/><Relationship Id="rId5" Type="http://schemas.openxmlformats.org/officeDocument/2006/relationships/image" Target="../media/image7.png"/><Relationship Id="rId10" Type="http://schemas.openxmlformats.org/officeDocument/2006/relationships/image" Target="../media/image18.png"/><Relationship Id="rId4" Type="http://schemas.openxmlformats.org/officeDocument/2006/relationships/image" Target="../media/image61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8.png"/><Relationship Id="rId4" Type="http://schemas.openxmlformats.org/officeDocument/2006/relationships/image" Target="../media/image19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1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6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258E456A-A7AB-1C1B-45E8-652629165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7EC0B609-E426-518F-DD92-521D4980ED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884" y="772319"/>
            <a:ext cx="11518232" cy="2656681"/>
          </a:xfrm>
        </p:spPr>
        <p:txBody>
          <a:bodyPr/>
          <a:lstStyle/>
          <a:p>
            <a:r>
              <a:rPr lang="en-US" altLang="ja-JP" dirty="0"/>
              <a:t>Interpolated Schedule Free SGD</a:t>
            </a:r>
            <a:endParaRPr kumimoji="1" lang="ja-JP" altLang="en-US" dirty="0"/>
          </a:p>
        </p:txBody>
      </p:sp>
      <p:sp>
        <p:nvSpPr>
          <p:cNvPr id="4" name="字幕 3">
            <a:extLst>
              <a:ext uri="{FF2B5EF4-FFF2-40B4-BE49-F238E27FC236}">
                <a16:creationId xmlns:a16="http://schemas.microsoft.com/office/drawing/2014/main" id="{5C8109D2-3662-CAD0-009C-A93BCAC1A1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kumimoji="1" lang="ja-JP" altLang="en-US"/>
              <a:t>湘南工科大学</a:t>
            </a:r>
            <a:endParaRPr kumimoji="1" lang="en-US" altLang="ja-JP" dirty="0"/>
          </a:p>
          <a:p>
            <a:pPr>
              <a:lnSpc>
                <a:spcPct val="100000"/>
              </a:lnSpc>
            </a:pPr>
            <a:r>
              <a:rPr lang="ja-JP" altLang="en-US"/>
              <a:t>山富 龍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75469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3A0C95-4856-ADD5-0D81-57DF51C2A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はじめに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371DD77-FB3E-C8B5-A5C0-7760D581E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/>
              <a:t>身の回りは最適化問題に溢れている</a:t>
            </a:r>
            <a:endParaRPr kumimoji="1" lang="en-US" altLang="ja-JP" dirty="0"/>
          </a:p>
          <a:p>
            <a:pPr marL="457200" lvl="1" indent="0">
              <a:buNone/>
            </a:pPr>
            <a:r>
              <a:rPr lang="ja-JP" altLang="en-US"/>
              <a:t>ナップサック問題</a:t>
            </a:r>
            <a:endParaRPr lang="en-US" altLang="ja-JP" dirty="0"/>
          </a:p>
          <a:p>
            <a:pPr marL="457200" lvl="1" indent="0">
              <a:buNone/>
            </a:pPr>
            <a:r>
              <a:rPr lang="ja-JP" altLang="en-US"/>
              <a:t>巡回セールスマン問題</a:t>
            </a:r>
            <a:endParaRPr lang="en-US" altLang="ja-JP" dirty="0"/>
          </a:p>
          <a:p>
            <a:pPr marL="457200" lvl="1" indent="0">
              <a:buNone/>
            </a:pPr>
            <a:r>
              <a:rPr lang="ja-JP" altLang="en-US"/>
              <a:t>最適輸送問題</a:t>
            </a:r>
            <a:endParaRPr lang="en-US" altLang="ja-JP" dirty="0"/>
          </a:p>
          <a:p>
            <a:pPr marL="457200" lvl="1" indent="0">
              <a:buNone/>
            </a:pPr>
            <a:r>
              <a:rPr lang="en-US" altLang="ja-JP" dirty="0">
                <a:solidFill>
                  <a:srgbClr val="FF0000"/>
                </a:solidFill>
              </a:rPr>
              <a:t>AI</a:t>
            </a:r>
            <a:r>
              <a:rPr lang="ja-JP" altLang="en-US">
                <a:solidFill>
                  <a:srgbClr val="FF0000"/>
                </a:solidFill>
              </a:rPr>
              <a:t>の学習</a:t>
            </a:r>
            <a:r>
              <a:rPr lang="en-US" altLang="ja-JP" dirty="0">
                <a:solidFill>
                  <a:srgbClr val="FF0000"/>
                </a:solidFill>
              </a:rPr>
              <a:t>(</a:t>
            </a:r>
            <a:r>
              <a:rPr lang="ja-JP" altLang="en-US">
                <a:solidFill>
                  <a:srgbClr val="FF0000"/>
                </a:solidFill>
              </a:rPr>
              <a:t>関数の最小化問題</a:t>
            </a:r>
            <a:r>
              <a:rPr lang="en-US" altLang="ja-JP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kumimoji="1" lang="en-US" altLang="ja-JP" dirty="0"/>
              <a:t>AI</a:t>
            </a:r>
            <a:r>
              <a:rPr kumimoji="1" lang="ja-JP" altLang="en-US"/>
              <a:t>の学習には</a:t>
            </a:r>
            <a:r>
              <a:rPr kumimoji="1" lang="ja-JP" altLang="en-US">
                <a:solidFill>
                  <a:srgbClr val="FF0000"/>
                </a:solidFill>
              </a:rPr>
              <a:t>勾配降下法</a:t>
            </a:r>
            <a:r>
              <a:rPr kumimoji="1" lang="en-US" altLang="ja-JP" dirty="0">
                <a:solidFill>
                  <a:srgbClr val="FF0000"/>
                </a:solidFill>
              </a:rPr>
              <a:t>[1]</a:t>
            </a:r>
            <a:r>
              <a:rPr kumimoji="1" lang="ja-JP" altLang="en-US"/>
              <a:t>に基づく最適化アルゴリズムが用いられる</a:t>
            </a:r>
            <a:endParaRPr kumimoji="1" lang="en-US" altLang="ja-JP" dirty="0"/>
          </a:p>
          <a:p>
            <a:pPr lvl="1"/>
            <a:r>
              <a:rPr lang="ja-JP" altLang="en-US"/>
              <a:t>高速であること</a:t>
            </a:r>
            <a:endParaRPr lang="en-US" altLang="ja-JP" dirty="0"/>
          </a:p>
          <a:p>
            <a:pPr lvl="1"/>
            <a:r>
              <a:rPr kumimoji="1" lang="ja-JP" altLang="en-US">
                <a:solidFill>
                  <a:srgbClr val="FF0000"/>
                </a:solidFill>
              </a:rPr>
              <a:t>優れた解が得られること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pPr lvl="1"/>
            <a:r>
              <a:rPr lang="ja-JP" altLang="en-US">
                <a:solidFill>
                  <a:srgbClr val="FF0000"/>
                </a:solidFill>
              </a:rPr>
              <a:t>軽量であること</a:t>
            </a:r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ECB7596-8390-33CD-0CFC-B680E85E5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AF5BE41-0016-0304-83D2-05677FFE275D}"/>
              </a:ext>
            </a:extLst>
          </p:cNvPr>
          <p:cNvSpPr/>
          <p:nvPr/>
        </p:nvSpPr>
        <p:spPr>
          <a:xfrm>
            <a:off x="6096000" y="870196"/>
            <a:ext cx="5970031" cy="33647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541040D9-5F86-72A9-6B36-3DAF47DD9B97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6488821" y="1275241"/>
            <a:ext cx="0" cy="29483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18EBC47B-FA69-0237-1A53-A499BACA1E67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6085763" y="3761912"/>
            <a:ext cx="555895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B02F30C6-F8C2-92BC-4B37-D2820798A111}"/>
                  </a:ext>
                </a:extLst>
              </p:cNvPr>
              <p:cNvSpPr txBox="1"/>
              <p:nvPr/>
            </p:nvSpPr>
            <p:spPr>
              <a:xfrm>
                <a:off x="6085763" y="3761912"/>
                <a:ext cx="4191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ja-JP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ja-JP" altLang="en-US" i="1"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B02F30C6-F8C2-92BC-4B37-D2820798A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5763" y="3761912"/>
                <a:ext cx="41910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893DA3C9-25F2-5A23-DDBB-FA218CC1383A}"/>
                  </a:ext>
                </a:extLst>
              </p:cNvPr>
              <p:cNvSpPr txBox="1"/>
              <p:nvPr/>
            </p:nvSpPr>
            <p:spPr>
              <a:xfrm>
                <a:off x="6003547" y="813576"/>
                <a:ext cx="97054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ja-JP" sz="24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4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𝐰</m:t>
                          </m:r>
                        </m:e>
                      </m:d>
                    </m:oMath>
                  </m:oMathPara>
                </a14:m>
                <a:endParaRPr lang="ja-JP" altLang="en-US" i="1"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893DA3C9-25F2-5A23-DDBB-FA218CC138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3547" y="813576"/>
                <a:ext cx="970547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CABB6EC9-6AE7-8C7D-BEA6-14E42B5B3DA6}"/>
                  </a:ext>
                </a:extLst>
              </p:cNvPr>
              <p:cNvSpPr txBox="1"/>
              <p:nvPr/>
            </p:nvSpPr>
            <p:spPr>
              <a:xfrm>
                <a:off x="11644716" y="3531079"/>
                <a:ext cx="41107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ja-JP" sz="24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𝐰</m:t>
                      </m:r>
                    </m:oMath>
                  </m:oMathPara>
                </a14:m>
                <a:endParaRPr lang="ja-JP" altLang="en-US" i="1"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CABB6EC9-6AE7-8C7D-BEA6-14E42B5B3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4716" y="3531079"/>
                <a:ext cx="411078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フリーフォーム 16">
            <a:extLst>
              <a:ext uri="{FF2B5EF4-FFF2-40B4-BE49-F238E27FC236}">
                <a16:creationId xmlns:a16="http://schemas.microsoft.com/office/drawing/2014/main" id="{7DE21617-75CF-D4C1-0875-5A883354B8EB}"/>
              </a:ext>
            </a:extLst>
          </p:cNvPr>
          <p:cNvSpPr/>
          <p:nvPr/>
        </p:nvSpPr>
        <p:spPr>
          <a:xfrm>
            <a:off x="6168603" y="1611925"/>
            <a:ext cx="5614586" cy="2077966"/>
          </a:xfrm>
          <a:custGeom>
            <a:avLst/>
            <a:gdLst>
              <a:gd name="csX0" fmla="*/ 0 w 5614586"/>
              <a:gd name="csY0" fmla="*/ 922946 h 2077966"/>
              <a:gd name="csX1" fmla="*/ 564022 w 5614586"/>
              <a:gd name="csY1" fmla="*/ 102549 h 2077966"/>
              <a:gd name="csX2" fmla="*/ 1119499 w 5614586"/>
              <a:gd name="csY2" fmla="*/ 880217 h 2077966"/>
              <a:gd name="csX3" fmla="*/ 1546788 w 5614586"/>
              <a:gd name="csY3" fmla="*/ 1717704 h 2077966"/>
              <a:gd name="csX4" fmla="*/ 2136448 w 5614586"/>
              <a:gd name="csY4" fmla="*/ 2076628 h 2077966"/>
              <a:gd name="csX5" fmla="*/ 2794474 w 5614586"/>
              <a:gd name="csY5" fmla="*/ 1811708 h 2077966"/>
              <a:gd name="csX6" fmla="*/ 3631962 w 5614586"/>
              <a:gd name="csY6" fmla="*/ 1136590 h 2077966"/>
              <a:gd name="csX7" fmla="*/ 4358355 w 5614586"/>
              <a:gd name="csY7" fmla="*/ 1589518 h 2077966"/>
              <a:gd name="csX8" fmla="*/ 4956560 w 5614586"/>
              <a:gd name="csY8" fmla="*/ 1008404 h 2077966"/>
              <a:gd name="csX9" fmla="*/ 5614586 w 5614586"/>
              <a:gd name="csY9" fmla="*/ 0 h 20779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5614586" h="2077966">
                <a:moveTo>
                  <a:pt x="0" y="922946"/>
                </a:moveTo>
                <a:cubicBezTo>
                  <a:pt x="188719" y="516308"/>
                  <a:pt x="377439" y="109671"/>
                  <a:pt x="564022" y="102549"/>
                </a:cubicBezTo>
                <a:cubicBezTo>
                  <a:pt x="750605" y="95427"/>
                  <a:pt x="955705" y="611025"/>
                  <a:pt x="1119499" y="880217"/>
                </a:cubicBezTo>
                <a:cubicBezTo>
                  <a:pt x="1283293" y="1149409"/>
                  <a:pt x="1377297" y="1518302"/>
                  <a:pt x="1546788" y="1717704"/>
                </a:cubicBezTo>
                <a:cubicBezTo>
                  <a:pt x="1716279" y="1917106"/>
                  <a:pt x="1928500" y="2060961"/>
                  <a:pt x="2136448" y="2076628"/>
                </a:cubicBezTo>
                <a:cubicBezTo>
                  <a:pt x="2344396" y="2092295"/>
                  <a:pt x="2545222" y="1968381"/>
                  <a:pt x="2794474" y="1811708"/>
                </a:cubicBezTo>
                <a:cubicBezTo>
                  <a:pt x="3043726" y="1655035"/>
                  <a:pt x="3371315" y="1173622"/>
                  <a:pt x="3631962" y="1136590"/>
                </a:cubicBezTo>
                <a:cubicBezTo>
                  <a:pt x="3892609" y="1099558"/>
                  <a:pt x="4137589" y="1610882"/>
                  <a:pt x="4358355" y="1589518"/>
                </a:cubicBezTo>
                <a:cubicBezTo>
                  <a:pt x="4579121" y="1568154"/>
                  <a:pt x="4747188" y="1273324"/>
                  <a:pt x="4956560" y="1008404"/>
                </a:cubicBezTo>
                <a:cubicBezTo>
                  <a:pt x="5165932" y="743484"/>
                  <a:pt x="5390259" y="371742"/>
                  <a:pt x="5614586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9" name="グラフィックス 18" descr="フラグ 単色塗りつぶし">
            <a:extLst>
              <a:ext uri="{FF2B5EF4-FFF2-40B4-BE49-F238E27FC236}">
                <a16:creationId xmlns:a16="http://schemas.microsoft.com/office/drawing/2014/main" id="{1A7C5F14-13C9-118F-BD4B-0EF5160F39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75978" y="3110294"/>
            <a:ext cx="636217" cy="636217"/>
          </a:xfrm>
          <a:prstGeom prst="rect">
            <a:avLst/>
          </a:prstGeom>
        </p:spPr>
      </p:pic>
      <p:pic>
        <p:nvPicPr>
          <p:cNvPr id="21" name="グラフィックス 20" descr="実行 単色塗りつぶし">
            <a:extLst>
              <a:ext uri="{FF2B5EF4-FFF2-40B4-BE49-F238E27FC236}">
                <a16:creationId xmlns:a16="http://schemas.microsoft.com/office/drawing/2014/main" id="{12A5FF19-9709-22C0-261E-AB1ED7AEE2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9491494" y="2107039"/>
            <a:ext cx="636217" cy="636217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EB7AA3A-99C0-1C55-BCFE-7B4B9BA9E660}"/>
              </a:ext>
            </a:extLst>
          </p:cNvPr>
          <p:cNvSpPr txBox="1"/>
          <p:nvPr/>
        </p:nvSpPr>
        <p:spPr>
          <a:xfrm>
            <a:off x="125969" y="6513147"/>
            <a:ext cx="1194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[1] Ian Goodfellow</a:t>
            </a:r>
            <a:r>
              <a:rPr lang="ja-JP" altLang="en-US" sz="12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，他，</a:t>
            </a:r>
            <a:r>
              <a:rPr lang="en-US" altLang="ja-JP" sz="12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“</a:t>
            </a:r>
            <a:r>
              <a:rPr lang="ja-JP" altLang="en-US" sz="12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深層学習，</a:t>
            </a:r>
            <a:r>
              <a:rPr lang="en-US" altLang="ja-JP" sz="12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”</a:t>
            </a:r>
            <a:r>
              <a:rPr lang="ja-JP" altLang="en-US" sz="12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 株式会社ドワンゴ，</a:t>
            </a:r>
            <a:r>
              <a:rPr lang="en-US" altLang="ja-JP" sz="12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March 2018</a:t>
            </a:r>
            <a:r>
              <a:rPr lang="ja-JP" altLang="en-US" sz="12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．</a:t>
            </a:r>
            <a:endParaRPr kumimoji="1" lang="en-US" altLang="ja-JP" sz="1200" dirty="0">
              <a:solidFill>
                <a:schemeClr val="bg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8227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48E97D-3006-C2CF-EA53-4A9DF0C45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問題設定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45E0D96C-7ACD-401D-CE04-2DB216EFBE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5968" y="813577"/>
                <a:ext cx="12066031" cy="5563759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" altLang="ja-JP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en-US" altLang="ja-JP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ja-JP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a:rPr kumimoji="1" lang="en-US" altLang="ja-JP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kumimoji="1" lang="en" altLang="ja-JP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kumimoji="1" lang="en-US" altLang="ja-JP" b="1" i="0" smtClean="0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𝒟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ja-JP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𝐰</m:t>
                              </m:r>
                            </m:e>
                          </m:d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≔</m:t>
                          </m:r>
                          <m:f>
                            <m:f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ctrlPr>
                                    <a:rPr lang="en-US" altLang="ja-JP" b="1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b="1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ja-JP" b="1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𝐭</m:t>
                                  </m:r>
                                </m:e>
                              </m:d>
                              <m:r>
                                <m:rPr>
                                  <m:brk m:alnAt="23"/>
                                </m:rPr>
                                <a:rPr lang="en-US" altLang="ja-JP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𝒟</m:t>
                              </m:r>
                            </m:sub>
                            <m:sup/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  <m:d>
                                <m:d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kumimoji="1" lang="en-US" altLang="ja-JP" b="1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𝐰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kumimoji="1" lang="en-US" altLang="ja-JP" b="1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ja-JP" b="1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</m:d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kumimoji="1" lang="en-US" altLang="ja-JP" b="1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𝐭</m:t>
                                  </m:r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kumimoji="1" lang="en-US" altLang="ja-JP" dirty="0"/>
              </a:p>
              <a:p>
                <a:pPr marL="0" indent="0">
                  <a:buNone/>
                </a:pPr>
                <a:r>
                  <a:rPr kumimoji="1" lang="en-US" altLang="ja-JP" dirty="0"/>
                  <a:t>※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ja-JP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ja-JP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𝐭</m:t>
                                </m:r>
                              </m:e>
                              <m: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</m:sSubSup>
                  </m:oMath>
                </a14:m>
                <a:r>
                  <a:rPr kumimoji="1" lang="en-US" altLang="ja-JP" dirty="0"/>
                  <a:t>; </a:t>
                </a:r>
                <a:r>
                  <a:rPr kumimoji="1" lang="ja-JP" altLang="en-US" dirty="0"/>
                  <a:t>データセット，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kumimoji="1" lang="en-US" altLang="ja-JP" dirty="0"/>
                  <a:t>; </a:t>
                </a:r>
                <a:r>
                  <a:rPr kumimoji="1" lang="ja-JP" altLang="en-US" dirty="0"/>
                  <a:t>データ数，</a:t>
                </a:r>
                <a:endParaRPr kumimoji="1"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　</a:t>
                </a:r>
                <a:r>
                  <a:rPr lang="en-US" altLang="ja-JP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𝐭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1" lang="en-US" altLang="ja-JP" dirty="0"/>
                  <a:t>; </a:t>
                </a:r>
                <a:r>
                  <a:rPr kumimoji="1" lang="ja-JP" altLang="en-US" dirty="0"/>
                  <a:t>データセットの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/>
                  <a:t>番目の入力・教師信号，</a:t>
                </a:r>
                <a:endParaRPr kumimoji="1"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ja-JP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𝐰</m:t>
                        </m:r>
                      </m:sub>
                    </m:sSub>
                    <m:d>
                      <m:dPr>
                        <m:ctrlPr>
                          <a:rPr lang="en-US" altLang="ja-JP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kumimoji="1" lang="en-US" altLang="ja-JP" dirty="0"/>
                  <a:t>; </a:t>
                </a:r>
                <a:r>
                  <a:rPr kumimoji="1" lang="ja-JP" altLang="en-US" dirty="0"/>
                  <a:t>パラメータが</a:t>
                </a:r>
                <a14:m>
                  <m:oMath xmlns:m="http://schemas.openxmlformats.org/officeDocument/2006/math">
                    <m:r>
                      <a:rPr lang="en-US" altLang="ja-JP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𝐰</m:t>
                    </m:r>
                  </m:oMath>
                </a14:m>
                <a:r>
                  <a:rPr kumimoji="1" lang="ja-JP" altLang="en-US" dirty="0"/>
                  <a:t>のモデルに</a:t>
                </a:r>
                <a14:m>
                  <m:oMath xmlns:m="http://schemas.openxmlformats.org/officeDocument/2006/math">
                    <m:r>
                      <a:rPr lang="en-US" altLang="ja-JP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kumimoji="1" lang="ja-JP" altLang="en-US" dirty="0"/>
                  <a:t>を入力した際の出力，</a:t>
                </a:r>
                <a:endParaRPr kumimoji="1"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　</a:t>
                </a:r>
                <a:r>
                  <a:rPr lang="en-US" altLang="ja-JP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ja-JP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𝐰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𝐱</m:t>
                            </m:r>
                          </m:e>
                        </m:d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ja-JP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𝐭</m:t>
                        </m:r>
                      </m:e>
                    </m:d>
                  </m:oMath>
                </a14:m>
                <a:r>
                  <a:rPr kumimoji="1" lang="en-US" altLang="ja-JP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ja-JP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𝐰</m:t>
                        </m:r>
                      </m:sub>
                    </m:sSub>
                    <m:d>
                      <m:dPr>
                        <m:ctrlPr>
                          <a:rPr lang="en-US" altLang="ja-JP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ja-JP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𝐭</m:t>
                    </m:r>
                  </m:oMath>
                </a14:m>
                <a:r>
                  <a:rPr kumimoji="1" lang="ja-JP" altLang="en-US" dirty="0"/>
                  <a:t>の時最小となる関数，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ctrlPr>
                          <a:rPr lang="en-US" altLang="ja-JP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𝐰</m:t>
                        </m:r>
                      </m:e>
                    </m:d>
                  </m:oMath>
                </a14:m>
                <a:r>
                  <a:rPr kumimoji="1" lang="en-US" altLang="ja-JP" dirty="0"/>
                  <a:t>; </a:t>
                </a:r>
                <a:r>
                  <a:rPr kumimoji="1" lang="ja-JP" altLang="en-US" dirty="0"/>
                  <a:t>誤差関数</a:t>
                </a:r>
                <a:endParaRPr kumimoji="1"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勾配降下法に基づく最適化アルゴリズム</a:t>
                </a:r>
                <a:endParaRPr lang="en-US" altLang="ja-JP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ja-JP" b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1"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b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1"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ja-JP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altLang="ja-JP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ja-JP">
                              <a:latin typeface="Cambria Math" panose="02040503050406030204" pitchFamily="18" charset="0"/>
                            </a:rPr>
                            <m:t>∇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𝒟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ja-JP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b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kumimoji="1" lang="en-US" altLang="ja-JP" dirty="0"/>
              </a:p>
              <a:p>
                <a:pPr marL="0" indent="0">
                  <a:buNone/>
                </a:pPr>
                <a:r>
                  <a:rPr kumimoji="1" lang="en-US" altLang="ja-JP" dirty="0"/>
                  <a:t>※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ja-JP" dirty="0"/>
                  <a:t>; </a:t>
                </a:r>
                <a:r>
                  <a:rPr kumimoji="1" lang="ja-JP" altLang="en-US" dirty="0"/>
                  <a:t>乱数，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ctrlPr>
                          <a:rPr lang="en-US" altLang="ja-JP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𝒟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b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b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ja-JP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𝐰</m:t>
                        </m:r>
                      </m:den>
                    </m:f>
                  </m:oMath>
                </a14:m>
                <a:r>
                  <a:rPr lang="en-US" altLang="ja-JP" dirty="0"/>
                  <a:t>; </a:t>
                </a:r>
                <a:r>
                  <a:rPr lang="ja-JP" altLang="en-US" dirty="0"/>
                  <a:t>勾配，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altLang="ja-JP" dirty="0"/>
                  <a:t>; </a:t>
                </a:r>
                <a:r>
                  <a:rPr lang="ja-JP" altLang="en-US" dirty="0"/>
                  <a:t>任意の更新量</a:t>
                </a:r>
                <a:endParaRPr lang="en-US" altLang="ja-JP" dirty="0"/>
              </a:p>
              <a:p>
                <a:pPr marL="0" indent="0">
                  <a:buNone/>
                </a:pPr>
                <a:endParaRPr kumimoji="1" lang="en-US" altLang="ja-JP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45E0D96C-7ACD-401D-CE04-2DB216EFBE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5968" y="813577"/>
                <a:ext cx="12066031" cy="5563759"/>
              </a:xfrm>
              <a:blipFill>
                <a:blip r:embed="rId2"/>
                <a:stretch>
                  <a:fillRect l="-1052" t="-265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A24D1F4-0685-742F-F969-48347B6BA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3</a:t>
            </a:fld>
            <a:endParaRPr kumimoji="1" lang="ja-JP" altLang="en-US"/>
          </a:p>
        </p:txBody>
      </p:sp>
      <p:sp>
        <p:nvSpPr>
          <p:cNvPr id="5" name="四角形吹き出し 4">
            <a:extLst>
              <a:ext uri="{FF2B5EF4-FFF2-40B4-BE49-F238E27FC236}">
                <a16:creationId xmlns:a16="http://schemas.microsoft.com/office/drawing/2014/main" id="{3C479633-32E1-5176-E8A4-6CB66CE7267D}"/>
              </a:ext>
            </a:extLst>
          </p:cNvPr>
          <p:cNvSpPr/>
          <p:nvPr/>
        </p:nvSpPr>
        <p:spPr>
          <a:xfrm>
            <a:off x="8552330" y="4945215"/>
            <a:ext cx="3281082" cy="577516"/>
          </a:xfrm>
          <a:prstGeom prst="wedgeRectCallout">
            <a:avLst>
              <a:gd name="adj1" fmla="val -58722"/>
              <a:gd name="adj2" fmla="val 1127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kumimoji="1"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この反復を学習と呼ぶ</a:t>
            </a:r>
          </a:p>
        </p:txBody>
      </p:sp>
    </p:spTree>
    <p:extLst>
      <p:ext uri="{BB962C8B-B14F-4D97-AF65-F5344CB8AC3E}">
        <p14:creationId xmlns:p14="http://schemas.microsoft.com/office/powerpoint/2010/main" val="2141278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7385C7-1B6D-5A15-F814-DC929F748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勾配降下法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AC56CF4-9363-4000-657C-8130FE25F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誤差をパラメータで微分し得られた</a:t>
            </a:r>
            <a:r>
              <a:rPr kumimoji="1" lang="ja-JP" altLang="en-US" dirty="0">
                <a:solidFill>
                  <a:srgbClr val="FF0000"/>
                </a:solidFill>
              </a:rPr>
              <a:t>勾配を用いてパラメータを更新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全データでの勾配が必要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→ 空間計算量が大きい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E0F876A-6E9A-8469-1DB9-8CEC47C2E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 4">
                <a:extLst>
                  <a:ext uri="{FF2B5EF4-FFF2-40B4-BE49-F238E27FC236}">
                    <a16:creationId xmlns:a16="http://schemas.microsoft.com/office/drawing/2014/main" id="{F79C492A-1E7A-BB8F-300B-ADFD3A74AA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0759555"/>
                  </p:ext>
                </p:extLst>
              </p:nvPr>
            </p:nvGraphicFramePr>
            <p:xfrm>
              <a:off x="125969" y="1465623"/>
              <a:ext cx="5970031" cy="25603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970031">
                      <a:extLst>
                        <a:ext uri="{9D8B030D-6E8A-4147-A177-3AD203B41FA5}">
                          <a16:colId xmlns:a16="http://schemas.microsoft.com/office/drawing/2014/main" val="208667922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400" b="1" dirty="0"/>
                            <a:t>Algorithm</a:t>
                          </a:r>
                          <a:r>
                            <a:rPr kumimoji="1" lang="en-US" altLang="ja-JP" sz="2400" dirty="0"/>
                            <a:t> Gradient Descent(GD)</a:t>
                          </a:r>
                          <a:endParaRPr kumimoji="1" lang="ja-JP" altLang="en-US" sz="240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796546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400" b="1" dirty="0"/>
                            <a:t>Require</a:t>
                          </a:r>
                          <a:r>
                            <a:rPr kumimoji="1" lang="en-US" altLang="ja-JP" sz="240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en-US" altLang="ja-JP" sz="2400" dirty="0"/>
                            <a:t>; </a:t>
                          </a:r>
                          <a:r>
                            <a:rPr kumimoji="1" lang="ja-JP" altLang="en-US" sz="2400"/>
                            <a:t>パラメータの初期値</a:t>
                          </a:r>
                          <a:r>
                            <a:rPr kumimoji="1" lang="en-US" altLang="ja-JP" sz="2400" dirty="0"/>
                            <a:t>(</a:t>
                          </a:r>
                          <a:r>
                            <a:rPr kumimoji="1" lang="ja-JP" altLang="en-US" sz="2400"/>
                            <a:t>乱数</a:t>
                          </a:r>
                          <a:r>
                            <a:rPr kumimoji="1" lang="en-US" altLang="ja-JP" sz="2400" dirty="0"/>
                            <a:t>)</a:t>
                          </a:r>
                          <a:r>
                            <a:rPr kumimoji="1" lang="ja-JP" altLang="en-US" sz="2400"/>
                            <a:t>，　　</a:t>
                          </a:r>
                          <a:endParaRPr kumimoji="1" lang="en-US" altLang="ja-JP" sz="2400" dirty="0"/>
                        </a:p>
                        <a:p>
                          <a:r>
                            <a:rPr kumimoji="1" lang="ja-JP" altLang="en-US" sz="2400" b="0"/>
                            <a:t>　　　　</a:t>
                          </a:r>
                          <a:r>
                            <a:rPr kumimoji="1" lang="ja-JP" altLang="en-US" sz="1600" b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oMath>
                          </a14:m>
                          <a:r>
                            <a:rPr kumimoji="1" lang="en-US" altLang="ja-JP" sz="2400" dirty="0"/>
                            <a:t>; </a:t>
                          </a:r>
                          <a:r>
                            <a:rPr kumimoji="1" lang="ja-JP" altLang="en-US" sz="2400"/>
                            <a:t>学習率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5989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400" dirty="0"/>
                            <a:t>For 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=0,1,…,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oMath>
                          </a14:m>
                          <a:r>
                            <a:rPr kumimoji="1" lang="en-US" altLang="ja-JP" sz="2400" dirty="0"/>
                            <a:t> Do</a:t>
                          </a:r>
                        </a:p>
                        <a:p>
                          <a:r>
                            <a:rPr kumimoji="1" lang="en-US" altLang="ja-JP" sz="2400" dirty="0"/>
                            <a:t>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ja-JP" sz="2400" b="0" i="0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𝒟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kumimoji="1" lang="en-US" altLang="ja-JP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ja-JP" sz="2400" b="1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2400" b="1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𝐰</m:t>
                                      </m:r>
                                    </m:e>
                                    <m:sub>
                                      <m:r>
                                        <a:rPr kumimoji="1" lang="en-US" altLang="ja-JP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kumimoji="1" lang="ja-JP" altLang="en-US" sz="24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920196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400" b="1" dirty="0"/>
                            <a:t>Return</a:t>
                          </a:r>
                          <a:r>
                            <a:rPr kumimoji="1" lang="en-US" altLang="ja-JP" sz="240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b>
                              </m:sSub>
                            </m:oMath>
                          </a14:m>
                          <a:endParaRPr kumimoji="1" lang="ja-JP" altLang="en-US" sz="24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01297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 4">
                <a:extLst>
                  <a:ext uri="{FF2B5EF4-FFF2-40B4-BE49-F238E27FC236}">
                    <a16:creationId xmlns:a16="http://schemas.microsoft.com/office/drawing/2014/main" id="{F79C492A-1E7A-BB8F-300B-ADFD3A74AA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0759555"/>
                  </p:ext>
                </p:extLst>
              </p:nvPr>
            </p:nvGraphicFramePr>
            <p:xfrm>
              <a:off x="125969" y="1465623"/>
              <a:ext cx="5970031" cy="25603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970031">
                      <a:extLst>
                        <a:ext uri="{9D8B030D-6E8A-4147-A177-3AD203B41FA5}">
                          <a16:colId xmlns:a16="http://schemas.microsoft.com/office/drawing/2014/main" val="208667922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400" b="1" dirty="0"/>
                            <a:t>Algorithm</a:t>
                          </a:r>
                          <a:r>
                            <a:rPr kumimoji="1" lang="en-US" altLang="ja-JP" sz="2400" dirty="0"/>
                            <a:t> Gradient Descent(GD)</a:t>
                          </a:r>
                          <a:endParaRPr kumimoji="1" lang="ja-JP" altLang="en-US" sz="240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79654697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60606" r="-212" b="-16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4598942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163077" r="-212" b="-6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201967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475000" r="-212" b="-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0129712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30D81A91-D1D0-0E46-9C35-E86EF78A1EA6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6499058" y="3429000"/>
            <a:ext cx="0" cy="29483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C6CA4E2C-0280-5F50-DE5E-2C5C881D55CA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6096000" y="5915671"/>
            <a:ext cx="555895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F28A4012-2E3D-7D9D-5D38-9C593C353201}"/>
                  </a:ext>
                </a:extLst>
              </p:cNvPr>
              <p:cNvSpPr txBox="1"/>
              <p:nvPr/>
            </p:nvSpPr>
            <p:spPr>
              <a:xfrm>
                <a:off x="6096000" y="5915671"/>
                <a:ext cx="4191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ja-JP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ja-JP" altLang="en-US" i="1"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F28A4012-2E3D-7D9D-5D38-9C593C353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915671"/>
                <a:ext cx="41910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E0901729-30C0-8568-5ED2-65A44930E439}"/>
                  </a:ext>
                </a:extLst>
              </p:cNvPr>
              <p:cNvSpPr txBox="1"/>
              <p:nvPr/>
            </p:nvSpPr>
            <p:spPr>
              <a:xfrm>
                <a:off x="6013784" y="2967335"/>
                <a:ext cx="97054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ja-JP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sub>
                      </m:sSub>
                      <m:d>
                        <m:dPr>
                          <m:ctrlPr>
                            <a:rPr lang="en-US" altLang="ja-JP" sz="24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4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𝐰</m:t>
                          </m:r>
                        </m:e>
                      </m:d>
                    </m:oMath>
                  </m:oMathPara>
                </a14:m>
                <a:endParaRPr lang="ja-JP" altLang="en-US" i="1"/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E0901729-30C0-8568-5ED2-65A44930E4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784" y="2967335"/>
                <a:ext cx="970547" cy="461665"/>
              </a:xfrm>
              <a:prstGeom prst="rect">
                <a:avLst/>
              </a:prstGeom>
              <a:blipFill>
                <a:blip r:embed="rId5"/>
                <a:stretch>
                  <a:fillRect l="-1282" b="-526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683873F0-7994-F51D-D19C-C1280FE20FBF}"/>
                  </a:ext>
                </a:extLst>
              </p:cNvPr>
              <p:cNvSpPr txBox="1"/>
              <p:nvPr/>
            </p:nvSpPr>
            <p:spPr>
              <a:xfrm>
                <a:off x="11654953" y="5684838"/>
                <a:ext cx="41107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ja-JP" sz="24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𝐰</m:t>
                      </m:r>
                    </m:oMath>
                  </m:oMathPara>
                </a14:m>
                <a:endParaRPr lang="ja-JP" altLang="en-US" i="1"/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683873F0-7994-F51D-D19C-C1280FE20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4953" y="5684838"/>
                <a:ext cx="411078" cy="461665"/>
              </a:xfrm>
              <a:prstGeom prst="rect">
                <a:avLst/>
              </a:prstGeom>
              <a:blipFill>
                <a:blip r:embed="rId6"/>
                <a:stretch>
                  <a:fillRect r="-30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フリーフォーム 21">
            <a:extLst>
              <a:ext uri="{FF2B5EF4-FFF2-40B4-BE49-F238E27FC236}">
                <a16:creationId xmlns:a16="http://schemas.microsoft.com/office/drawing/2014/main" id="{F6E850EA-F084-3399-76BE-1AD4DB8B18EB}"/>
              </a:ext>
            </a:extLst>
          </p:cNvPr>
          <p:cNvSpPr/>
          <p:nvPr/>
        </p:nvSpPr>
        <p:spPr>
          <a:xfrm>
            <a:off x="6192253" y="3626733"/>
            <a:ext cx="5181600" cy="2173521"/>
          </a:xfrm>
          <a:custGeom>
            <a:avLst/>
            <a:gdLst>
              <a:gd name="csX0" fmla="*/ 0 w 5181600"/>
              <a:gd name="csY0" fmla="*/ 1074822 h 2173521"/>
              <a:gd name="csX1" fmla="*/ 1243263 w 5181600"/>
              <a:gd name="csY1" fmla="*/ 2021306 h 2173521"/>
              <a:gd name="csX2" fmla="*/ 2045368 w 5181600"/>
              <a:gd name="csY2" fmla="*/ 2053390 h 2173521"/>
              <a:gd name="csX3" fmla="*/ 3986463 w 5181600"/>
              <a:gd name="csY3" fmla="*/ 858253 h 2173521"/>
              <a:gd name="csX4" fmla="*/ 5181600 w 5181600"/>
              <a:gd name="csY4" fmla="*/ 0 h 21735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181600" h="2173521">
                <a:moveTo>
                  <a:pt x="0" y="1074822"/>
                </a:moveTo>
                <a:cubicBezTo>
                  <a:pt x="451184" y="1466516"/>
                  <a:pt x="902368" y="1858211"/>
                  <a:pt x="1243263" y="2021306"/>
                </a:cubicBezTo>
                <a:cubicBezTo>
                  <a:pt x="1584158" y="2184401"/>
                  <a:pt x="1588168" y="2247232"/>
                  <a:pt x="2045368" y="2053390"/>
                </a:cubicBezTo>
                <a:cubicBezTo>
                  <a:pt x="2502568" y="1859548"/>
                  <a:pt x="3463758" y="1200485"/>
                  <a:pt x="3986463" y="858253"/>
                </a:cubicBezTo>
                <a:cubicBezTo>
                  <a:pt x="4509168" y="516021"/>
                  <a:pt x="4845384" y="258010"/>
                  <a:pt x="5181600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35B3B4DB-0FE5-BF54-335F-ADCA4F348D7F}"/>
                  </a:ext>
                </a:extLst>
              </p:cNvPr>
              <p:cNvSpPr txBox="1"/>
              <p:nvPr/>
            </p:nvSpPr>
            <p:spPr>
              <a:xfrm>
                <a:off x="10897785" y="5915671"/>
                <a:ext cx="55627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ja-JP" sz="2400" b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b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𝐰</m:t>
                          </m:r>
                        </m:e>
                        <m: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ja-JP" altLang="en-US" i="1"/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35B3B4DB-0FE5-BF54-335F-ADCA4F348D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7785" y="5915671"/>
                <a:ext cx="556277" cy="461665"/>
              </a:xfrm>
              <a:prstGeom prst="rect">
                <a:avLst/>
              </a:prstGeom>
              <a:blipFill>
                <a:blip r:embed="rId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5CACC019-AB90-3873-2A8C-3E9D3F3EAAAE}"/>
                  </a:ext>
                </a:extLst>
              </p:cNvPr>
              <p:cNvSpPr txBox="1"/>
              <p:nvPr/>
            </p:nvSpPr>
            <p:spPr>
              <a:xfrm>
                <a:off x="9962924" y="5915671"/>
                <a:ext cx="55627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ja-JP" sz="2400" b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b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𝐰</m:t>
                          </m:r>
                        </m:e>
                        <m: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ja-JP" altLang="en-US" i="1"/>
              </a:p>
            </p:txBody>
          </p:sp>
        </mc:Choice>
        <mc:Fallback xmlns="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5CACC019-AB90-3873-2A8C-3E9D3F3EAA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2924" y="5915671"/>
                <a:ext cx="556277" cy="461665"/>
              </a:xfrm>
              <a:prstGeom prst="rect">
                <a:avLst/>
              </a:prstGeom>
              <a:blipFill>
                <a:blip r:embed="rId8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7D473A53-1875-5541-9461-154681ABB87F}"/>
              </a:ext>
            </a:extLst>
          </p:cNvPr>
          <p:cNvCxnSpPr>
            <a:cxnSpLocks/>
            <a:stCxn id="23" idx="0"/>
          </p:cNvCxnSpPr>
          <p:nvPr/>
        </p:nvCxnSpPr>
        <p:spPr>
          <a:xfrm flipH="1" flipV="1">
            <a:off x="11175923" y="3429000"/>
            <a:ext cx="1" cy="2486671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52CA7AE3-0A7F-BCEE-CEC9-BB1158E22B69}"/>
              </a:ext>
            </a:extLst>
          </p:cNvPr>
          <p:cNvCxnSpPr/>
          <p:nvPr/>
        </p:nvCxnSpPr>
        <p:spPr>
          <a:xfrm flipV="1">
            <a:off x="10980821" y="3626733"/>
            <a:ext cx="393032" cy="30358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71A5A73A-C206-A9D8-AD7E-A306D56FC8B2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10241062" y="3429000"/>
            <a:ext cx="1" cy="2486671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7481CA9D-2CD6-3585-8679-CD9AC8D181E3}"/>
              </a:ext>
            </a:extLst>
          </p:cNvPr>
          <p:cNvCxnSpPr/>
          <p:nvPr/>
        </p:nvCxnSpPr>
        <p:spPr>
          <a:xfrm flipH="1">
            <a:off x="10241062" y="3778524"/>
            <a:ext cx="934861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A6626588-EB3D-6E6E-DC21-EB3127805C04}"/>
              </a:ext>
            </a:extLst>
          </p:cNvPr>
          <p:cNvCxnSpPr>
            <a:cxnSpLocks/>
          </p:cNvCxnSpPr>
          <p:nvPr/>
        </p:nvCxnSpPr>
        <p:spPr>
          <a:xfrm flipV="1">
            <a:off x="10028504" y="4331369"/>
            <a:ext cx="382822" cy="260548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AEBC5E7E-9B3F-F7CC-B79B-92C9DE3F40E2}"/>
                  </a:ext>
                </a:extLst>
              </p:cNvPr>
              <p:cNvSpPr txBox="1"/>
              <p:nvPr/>
            </p:nvSpPr>
            <p:spPr>
              <a:xfrm>
                <a:off x="9024348" y="5915671"/>
                <a:ext cx="55627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ja-JP" sz="2400" b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b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𝐰</m:t>
                          </m:r>
                        </m:e>
                        <m: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ja-JP" altLang="en-US" i="1"/>
              </a:p>
            </p:txBody>
          </p:sp>
        </mc:Choice>
        <mc:Fallback xmlns="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AEBC5E7E-9B3F-F7CC-B79B-92C9DE3F40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4348" y="5915671"/>
                <a:ext cx="556277" cy="461665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693B6584-D5BA-1E1A-8289-CC484B456F2F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9302487" y="3429000"/>
            <a:ext cx="0" cy="2486671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649BA11E-DE6B-C774-E746-215DB03E0456}"/>
              </a:ext>
            </a:extLst>
          </p:cNvPr>
          <p:cNvCxnSpPr/>
          <p:nvPr/>
        </p:nvCxnSpPr>
        <p:spPr>
          <a:xfrm flipH="1">
            <a:off x="9322831" y="4454230"/>
            <a:ext cx="934861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84AECC76-76E0-1FB8-8FF0-F1CDE5591A6E}"/>
                  </a:ext>
                </a:extLst>
              </p:cNvPr>
              <p:cNvSpPr txBox="1"/>
              <p:nvPr/>
            </p:nvSpPr>
            <p:spPr>
              <a:xfrm>
                <a:off x="9847973" y="3237819"/>
                <a:ext cx="17210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ja-JP" sz="24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ja-JP" sz="240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m:rPr>
                          <m:sty m:val="p"/>
                        </m:rPr>
                        <a:rPr lang="en-US" altLang="ja-JP" sz="2400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ja-JP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sub>
                      </m:sSub>
                      <m:d>
                        <m:dPr>
                          <m:ctrlPr>
                            <a:rPr lang="en-US" altLang="ja-JP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sz="24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𝐰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ja-JP" altLang="en-US" i="1"/>
              </a:p>
            </p:txBody>
          </p:sp>
        </mc:Choice>
        <mc:Fallback xmlns=""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84AECC76-76E0-1FB8-8FF0-F1CDE5591A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7973" y="3237819"/>
                <a:ext cx="1721037" cy="461665"/>
              </a:xfrm>
              <a:prstGeom prst="rect">
                <a:avLst/>
              </a:prstGeom>
              <a:blipFill>
                <a:blip r:embed="rId10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DA49FA6D-6F46-124F-A0BE-6FE1F6B3D7F8}"/>
                  </a:ext>
                </a:extLst>
              </p:cNvPr>
              <p:cNvSpPr txBox="1"/>
              <p:nvPr/>
            </p:nvSpPr>
            <p:spPr>
              <a:xfrm>
                <a:off x="8929742" y="3913243"/>
                <a:ext cx="17210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ja-JP" sz="24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ja-JP" sz="240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m:rPr>
                          <m:sty m:val="p"/>
                        </m:rPr>
                        <a:rPr lang="en-US" altLang="ja-JP" sz="2400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ja-JP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sub>
                      </m:sSub>
                      <m:d>
                        <m:dPr>
                          <m:ctrlPr>
                            <a:rPr lang="en-US" altLang="ja-JP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sz="24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𝐰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ja-JP" altLang="en-US" i="1"/>
              </a:p>
            </p:txBody>
          </p:sp>
        </mc:Choice>
        <mc:Fallback xmlns=""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DA49FA6D-6F46-124F-A0BE-6FE1F6B3D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742" y="3913243"/>
                <a:ext cx="1721037" cy="461665"/>
              </a:xfrm>
              <a:prstGeom prst="rect">
                <a:avLst/>
              </a:prstGeom>
              <a:blipFill>
                <a:blip r:embed="rId11"/>
                <a:stretch>
                  <a:fillRect b="-108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6900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9D5082-D00B-4387-3F68-F5E33B90D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確率的勾配降下法</a:t>
            </a:r>
            <a:r>
              <a:rPr kumimoji="1" lang="en-US" altLang="ja-JP" dirty="0"/>
              <a:t>[1]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FE46FD22-C299-4FE7-D431-A09A2FAA6E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kumimoji="1" lang="ja-JP" altLang="en-US" dirty="0"/>
                  <a:t>データセットから小さなデータセット</a:t>
                </a:r>
                <a:r>
                  <a:rPr kumimoji="1" lang="en-US" altLang="ja-JP" dirty="0"/>
                  <a:t>(</a:t>
                </a:r>
                <a:r>
                  <a:rPr kumimoji="1" lang="ja-JP" altLang="en-US" dirty="0"/>
                  <a:t>ミニバッチ</a:t>
                </a:r>
                <a:r>
                  <a:rPr kumimoji="1" lang="en-US" altLang="ja-JP" dirty="0"/>
                  <a:t>)</a:t>
                </a:r>
                <a:r>
                  <a:rPr kumimoji="1" lang="ja-JP" altLang="en-US" dirty="0"/>
                  <a:t>を抽出し，</a:t>
                </a:r>
                <a:r>
                  <a:rPr lang="ja-JP" altLang="en-US" dirty="0"/>
                  <a:t>　　　　　　　</a:t>
                </a:r>
                <a:r>
                  <a:rPr kumimoji="1" lang="ja-JP" altLang="en-US" dirty="0">
                    <a:solidFill>
                      <a:srgbClr val="FF0000"/>
                    </a:solidFill>
                  </a:rPr>
                  <a:t>ミニバッチごとに誤差</a:t>
                </a:r>
                <a:r>
                  <a:rPr kumimoji="1" lang="ja-JP" altLang="en-US" dirty="0"/>
                  <a:t>を計算</a:t>
                </a:r>
                <a:endParaRPr kumimoji="1"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endParaRPr kumimoji="1"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endParaRPr kumimoji="1"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endParaRPr kumimoji="1" lang="en-US" altLang="ja-JP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ℬ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ja-JP" altLang="en-US" dirty="0"/>
                  <a:t>のデータ数</a:t>
                </a:r>
                <a:r>
                  <a:rPr lang="en-US" altLang="ja-JP" dirty="0"/>
                  <a:t>(</a:t>
                </a:r>
                <a:r>
                  <a:rPr lang="ja-JP" altLang="en-US" dirty="0"/>
                  <a:t>バッチサイズ</a:t>
                </a:r>
                <a:r>
                  <a:rPr lang="en-US" altLang="ja-JP" dirty="0"/>
                  <a:t>)</a:t>
                </a:r>
                <a:r>
                  <a:rPr lang="ja-JP" altLang="en-US" dirty="0"/>
                  <a:t>は任意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kumimoji="1" lang="ja-JP" altLang="en-US" dirty="0"/>
                  <a:t>→ </a:t>
                </a:r>
                <a:r>
                  <a:rPr kumimoji="1" lang="en-US" altLang="ja-JP" dirty="0"/>
                  <a:t>GD</a:t>
                </a:r>
                <a:r>
                  <a:rPr kumimoji="1" lang="ja-JP" altLang="en-US" dirty="0"/>
                  <a:t>と比べ空間計算量が小さい</a:t>
                </a:r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FE46FD22-C299-4FE7-D431-A09A2FAA6E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19" t="-109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2966F85-0272-D970-D9C1-CC03FB67C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 4">
                <a:extLst>
                  <a:ext uri="{FF2B5EF4-FFF2-40B4-BE49-F238E27FC236}">
                    <a16:creationId xmlns:a16="http://schemas.microsoft.com/office/drawing/2014/main" id="{E0783008-A117-4EE4-F710-86F0AC2C45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3542176"/>
                  </p:ext>
                </p:extLst>
              </p:nvPr>
            </p:nvGraphicFramePr>
            <p:xfrm>
              <a:off x="125969" y="1834592"/>
              <a:ext cx="6587651" cy="2960307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587651">
                      <a:extLst>
                        <a:ext uri="{9D8B030D-6E8A-4147-A177-3AD203B41FA5}">
                          <a16:colId xmlns:a16="http://schemas.microsoft.com/office/drawing/2014/main" val="208667922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400" b="1" dirty="0"/>
                            <a:t>Algorithm</a:t>
                          </a:r>
                          <a:r>
                            <a:rPr kumimoji="1" lang="en-US" altLang="ja-JP" sz="2400" dirty="0"/>
                            <a:t> Stochastic Gradient Descent(SGD)</a:t>
                          </a:r>
                          <a:endParaRPr kumimoji="1" lang="ja-JP" altLang="en-US" sz="240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796546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400" b="1" dirty="0"/>
                            <a:t>Require</a:t>
                          </a:r>
                          <a:r>
                            <a:rPr kumimoji="1" lang="ja-JP" altLang="en-US" sz="2400" b="1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en-US" altLang="ja-JP" sz="2400" dirty="0"/>
                            <a:t>; </a:t>
                          </a:r>
                          <a:r>
                            <a:rPr kumimoji="1" lang="ja-JP" altLang="en-US" sz="2400" dirty="0"/>
                            <a:t>パラメータの初期値</a:t>
                          </a:r>
                          <a:r>
                            <a:rPr kumimoji="1" lang="en-US" altLang="ja-JP" sz="2400" dirty="0"/>
                            <a:t>(</a:t>
                          </a:r>
                          <a:r>
                            <a:rPr kumimoji="1" lang="ja-JP" altLang="en-US" sz="2400" dirty="0"/>
                            <a:t>乱数</a:t>
                          </a:r>
                          <a:r>
                            <a:rPr kumimoji="1" lang="en-US" altLang="ja-JP" sz="2400" dirty="0"/>
                            <a:t>)</a:t>
                          </a:r>
                          <a:r>
                            <a:rPr kumimoji="1" lang="ja-JP" altLang="en-US" sz="2400" dirty="0"/>
                            <a:t>，　　</a:t>
                          </a:r>
                          <a:endParaRPr kumimoji="1" lang="en-US" altLang="ja-JP" sz="2400" dirty="0"/>
                        </a:p>
                        <a:p>
                          <a:r>
                            <a:rPr kumimoji="1" lang="ja-JP" altLang="en-US" sz="2400" b="0" dirty="0"/>
                            <a:t>　　　　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oMath>
                          </a14:m>
                          <a:r>
                            <a:rPr kumimoji="1" lang="en-US" altLang="ja-JP" sz="2400" dirty="0"/>
                            <a:t>; </a:t>
                          </a:r>
                          <a:r>
                            <a:rPr kumimoji="1" lang="ja-JP" altLang="en-US" sz="2400" dirty="0"/>
                            <a:t>学習率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5989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400" dirty="0"/>
                            <a:t>For 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=0,1,…,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oMath>
                          </a14:m>
                          <a:r>
                            <a:rPr kumimoji="1" lang="en-US" altLang="ja-JP" sz="2400" dirty="0"/>
                            <a:t> Do</a:t>
                          </a:r>
                        </a:p>
                        <a:p>
                          <a:r>
                            <a:rPr kumimoji="1" lang="en-US" altLang="ja-JP" sz="2400" dirty="0"/>
                            <a:t>    </a:t>
                          </a:r>
                          <a:r>
                            <a:rPr kumimoji="1" lang="ja-JP" altLang="en-US" sz="2400" dirty="0">
                              <a:solidFill>
                                <a:srgbClr val="FF0000"/>
                              </a:solidFill>
                            </a:rPr>
                            <a:t>ミニバッチ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ℬ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ja-JP" altLang="en-US" sz="2400" dirty="0">
                              <a:solidFill>
                                <a:srgbClr val="FF0000"/>
                              </a:solidFill>
                            </a:rPr>
                            <a:t>をサンプリング</a:t>
                          </a:r>
                          <a:endParaRPr kumimoji="1" lang="en-US" altLang="ja-JP" sz="240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sz="2400" dirty="0"/>
                            <a:t>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ja-JP" sz="2400" b="0" i="0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kumimoji="1" lang="en-US" altLang="ja-JP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ℬ</m:t>
                                      </m:r>
                                    </m:e>
                                    <m:sub>
                                      <m:r>
                                        <a:rPr kumimoji="1" lang="en-US" altLang="ja-JP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kumimoji="1" lang="en-US" altLang="ja-JP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ja-JP" sz="2400" b="1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2400" b="1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𝐰</m:t>
                                      </m:r>
                                    </m:e>
                                    <m:sub>
                                      <m:r>
                                        <a:rPr kumimoji="1" lang="en-US" altLang="ja-JP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kumimoji="1" lang="ja-JP" altLang="en-US" sz="24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920196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400" b="1" dirty="0"/>
                            <a:t>Return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b>
                              </m:sSub>
                            </m:oMath>
                          </a14:m>
                          <a:endParaRPr kumimoji="1" lang="ja-JP" altLang="en-US" sz="24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01297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 4">
                <a:extLst>
                  <a:ext uri="{FF2B5EF4-FFF2-40B4-BE49-F238E27FC236}">
                    <a16:creationId xmlns:a16="http://schemas.microsoft.com/office/drawing/2014/main" id="{E0783008-A117-4EE4-F710-86F0AC2C45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3542176"/>
                  </p:ext>
                </p:extLst>
              </p:nvPr>
            </p:nvGraphicFramePr>
            <p:xfrm>
              <a:off x="125969" y="1834592"/>
              <a:ext cx="6587651" cy="2960307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587651">
                      <a:extLst>
                        <a:ext uri="{9D8B030D-6E8A-4147-A177-3AD203B41FA5}">
                          <a16:colId xmlns:a16="http://schemas.microsoft.com/office/drawing/2014/main" val="208667922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400" b="1" dirty="0"/>
                            <a:t>Algorithm</a:t>
                          </a:r>
                          <a:r>
                            <a:rPr kumimoji="1" lang="en-US" altLang="ja-JP" sz="2400" dirty="0"/>
                            <a:t> Stochastic Gradient Descent(SGD)</a:t>
                          </a:r>
                          <a:endParaRPr kumimoji="1" lang="ja-JP" altLang="en-US" sz="240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79654697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60294" r="-92" b="-2176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4598942"/>
                      </a:ext>
                    </a:extLst>
                  </a:tr>
                  <a:tr h="1222947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108458" r="-92" b="-472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201967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558667" r="-92" b="-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012971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9E6FB3F9-25A0-DC9C-1CDD-14D6E9FE7D91}"/>
              </a:ext>
            </a:extLst>
          </p:cNvPr>
          <p:cNvSpPr/>
          <p:nvPr/>
        </p:nvSpPr>
        <p:spPr>
          <a:xfrm>
            <a:off x="6106237" y="3023955"/>
            <a:ext cx="5970031" cy="33647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9261A6E1-9889-2087-3456-EAFE6BD3761D}"/>
              </a:ext>
            </a:extLst>
          </p:cNvPr>
          <p:cNvCxnSpPr>
            <a:cxnSpLocks/>
            <a:endCxn id="29" idx="2"/>
          </p:cNvCxnSpPr>
          <p:nvPr/>
        </p:nvCxnSpPr>
        <p:spPr>
          <a:xfrm flipV="1">
            <a:off x="6499058" y="3429000"/>
            <a:ext cx="0" cy="29483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775228AD-DC22-F643-7C41-2729DDA30F09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6096000" y="5915671"/>
            <a:ext cx="555895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16B28AB9-ABBC-33DA-F082-5B2E4B25C306}"/>
                  </a:ext>
                </a:extLst>
              </p:cNvPr>
              <p:cNvSpPr txBox="1"/>
              <p:nvPr/>
            </p:nvSpPr>
            <p:spPr>
              <a:xfrm>
                <a:off x="6096000" y="5915671"/>
                <a:ext cx="4191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ja-JP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ja-JP" altLang="en-US" i="1"/>
              </a:p>
            </p:txBody>
          </p:sp>
        </mc:Choice>
        <mc:Fallback xmlns="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16B28AB9-ABBC-33DA-F082-5B2E4B25C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915671"/>
                <a:ext cx="41910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B478DCD2-B04C-0BA9-11DD-41AFD270A32C}"/>
                  </a:ext>
                </a:extLst>
              </p:cNvPr>
              <p:cNvSpPr txBox="1"/>
              <p:nvPr/>
            </p:nvSpPr>
            <p:spPr>
              <a:xfrm>
                <a:off x="6013784" y="2967335"/>
                <a:ext cx="97054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ja-JP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sub>
                      </m:sSub>
                      <m:d>
                        <m:dPr>
                          <m:ctrlPr>
                            <a:rPr lang="en-US" altLang="ja-JP" sz="24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4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𝐰</m:t>
                          </m:r>
                        </m:e>
                      </m:d>
                    </m:oMath>
                  </m:oMathPara>
                </a14:m>
                <a:endParaRPr lang="ja-JP" altLang="en-US" i="1"/>
              </a:p>
            </p:txBody>
          </p:sp>
        </mc:Choice>
        <mc:Fallback xmlns="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B478DCD2-B04C-0BA9-11DD-41AFD270A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784" y="2967335"/>
                <a:ext cx="970547" cy="461665"/>
              </a:xfrm>
              <a:prstGeom prst="rect">
                <a:avLst/>
              </a:prstGeom>
              <a:blipFill>
                <a:blip r:embed="rId5"/>
                <a:stretch>
                  <a:fillRect l="-1282" b="-526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D740BD43-A921-E2E2-7F1D-14812F8ABCFC}"/>
                  </a:ext>
                </a:extLst>
              </p:cNvPr>
              <p:cNvSpPr txBox="1"/>
              <p:nvPr/>
            </p:nvSpPr>
            <p:spPr>
              <a:xfrm>
                <a:off x="11654953" y="5684838"/>
                <a:ext cx="41107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ja-JP" sz="24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𝐰</m:t>
                      </m:r>
                    </m:oMath>
                  </m:oMathPara>
                </a14:m>
                <a:endParaRPr lang="ja-JP" altLang="en-US" i="1"/>
              </a:p>
            </p:txBody>
          </p:sp>
        </mc:Choice>
        <mc:Fallback xmlns="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D740BD43-A921-E2E2-7F1D-14812F8AB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4953" y="5684838"/>
                <a:ext cx="411078" cy="461665"/>
              </a:xfrm>
              <a:prstGeom prst="rect">
                <a:avLst/>
              </a:prstGeom>
              <a:blipFill>
                <a:blip r:embed="rId6"/>
                <a:stretch>
                  <a:fillRect r="-30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フリーフォーム 30">
            <a:extLst>
              <a:ext uri="{FF2B5EF4-FFF2-40B4-BE49-F238E27FC236}">
                <a16:creationId xmlns:a16="http://schemas.microsoft.com/office/drawing/2014/main" id="{91DB65AA-6217-8FE5-3304-2B653DCECB43}"/>
              </a:ext>
            </a:extLst>
          </p:cNvPr>
          <p:cNvSpPr/>
          <p:nvPr/>
        </p:nvSpPr>
        <p:spPr>
          <a:xfrm>
            <a:off x="6192253" y="3626733"/>
            <a:ext cx="5181600" cy="2173521"/>
          </a:xfrm>
          <a:custGeom>
            <a:avLst/>
            <a:gdLst>
              <a:gd name="csX0" fmla="*/ 0 w 5181600"/>
              <a:gd name="csY0" fmla="*/ 1074822 h 2173521"/>
              <a:gd name="csX1" fmla="*/ 1243263 w 5181600"/>
              <a:gd name="csY1" fmla="*/ 2021306 h 2173521"/>
              <a:gd name="csX2" fmla="*/ 2045368 w 5181600"/>
              <a:gd name="csY2" fmla="*/ 2053390 h 2173521"/>
              <a:gd name="csX3" fmla="*/ 3986463 w 5181600"/>
              <a:gd name="csY3" fmla="*/ 858253 h 2173521"/>
              <a:gd name="csX4" fmla="*/ 5181600 w 5181600"/>
              <a:gd name="csY4" fmla="*/ 0 h 21735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181600" h="2173521">
                <a:moveTo>
                  <a:pt x="0" y="1074822"/>
                </a:moveTo>
                <a:cubicBezTo>
                  <a:pt x="451184" y="1466516"/>
                  <a:pt x="902368" y="1858211"/>
                  <a:pt x="1243263" y="2021306"/>
                </a:cubicBezTo>
                <a:cubicBezTo>
                  <a:pt x="1584158" y="2184401"/>
                  <a:pt x="1588168" y="2247232"/>
                  <a:pt x="2045368" y="2053390"/>
                </a:cubicBezTo>
                <a:cubicBezTo>
                  <a:pt x="2502568" y="1859548"/>
                  <a:pt x="3463758" y="1200485"/>
                  <a:pt x="3986463" y="858253"/>
                </a:cubicBezTo>
                <a:cubicBezTo>
                  <a:pt x="4509168" y="516021"/>
                  <a:pt x="4845384" y="258010"/>
                  <a:pt x="5181600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フリーフォーム 45">
            <a:extLst>
              <a:ext uri="{FF2B5EF4-FFF2-40B4-BE49-F238E27FC236}">
                <a16:creationId xmlns:a16="http://schemas.microsoft.com/office/drawing/2014/main" id="{439E1C45-417A-0335-EFEE-22D48F1D71D9}"/>
              </a:ext>
            </a:extLst>
          </p:cNvPr>
          <p:cNvSpPr/>
          <p:nvPr/>
        </p:nvSpPr>
        <p:spPr>
          <a:xfrm>
            <a:off x="6176211" y="3617495"/>
            <a:ext cx="3625515" cy="2125605"/>
          </a:xfrm>
          <a:custGeom>
            <a:avLst/>
            <a:gdLst>
              <a:gd name="csX0" fmla="*/ 0 w 3625515"/>
              <a:gd name="csY0" fmla="*/ 1307431 h 2125605"/>
              <a:gd name="csX1" fmla="*/ 1034715 w 3625515"/>
              <a:gd name="csY1" fmla="*/ 2125579 h 2125605"/>
              <a:gd name="csX2" fmla="*/ 2318084 w 3625515"/>
              <a:gd name="csY2" fmla="*/ 1331494 h 2125605"/>
              <a:gd name="csX3" fmla="*/ 3625515 w 3625515"/>
              <a:gd name="csY3" fmla="*/ 0 h 21256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25515" h="2125605">
                <a:moveTo>
                  <a:pt x="0" y="1307431"/>
                </a:moveTo>
                <a:cubicBezTo>
                  <a:pt x="324184" y="1714500"/>
                  <a:pt x="648368" y="2121569"/>
                  <a:pt x="1034715" y="2125579"/>
                </a:cubicBezTo>
                <a:cubicBezTo>
                  <a:pt x="1421062" y="2129589"/>
                  <a:pt x="1886284" y="1685757"/>
                  <a:pt x="2318084" y="1331494"/>
                </a:cubicBezTo>
                <a:cubicBezTo>
                  <a:pt x="2749884" y="977231"/>
                  <a:pt x="3187699" y="488615"/>
                  <a:pt x="3625515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フリーフォーム 46">
            <a:extLst>
              <a:ext uri="{FF2B5EF4-FFF2-40B4-BE49-F238E27FC236}">
                <a16:creationId xmlns:a16="http://schemas.microsoft.com/office/drawing/2014/main" id="{D874DE3F-2454-B66E-A6D2-964A6F91E113}"/>
              </a:ext>
            </a:extLst>
          </p:cNvPr>
          <p:cNvSpPr/>
          <p:nvPr/>
        </p:nvSpPr>
        <p:spPr>
          <a:xfrm>
            <a:off x="6216316" y="3705726"/>
            <a:ext cx="5390147" cy="1846672"/>
          </a:xfrm>
          <a:custGeom>
            <a:avLst/>
            <a:gdLst>
              <a:gd name="csX0" fmla="*/ 5390147 w 5390147"/>
              <a:gd name="csY0" fmla="*/ 0 h 1846672"/>
              <a:gd name="csX1" fmla="*/ 2518610 w 5390147"/>
              <a:gd name="csY1" fmla="*/ 1844842 h 1846672"/>
              <a:gd name="csX2" fmla="*/ 0 w 5390147"/>
              <a:gd name="csY2" fmla="*/ 272716 h 18466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390147" h="1846672">
                <a:moveTo>
                  <a:pt x="5390147" y="0"/>
                </a:moveTo>
                <a:cubicBezTo>
                  <a:pt x="4403557" y="899694"/>
                  <a:pt x="3416968" y="1799389"/>
                  <a:pt x="2518610" y="1844842"/>
                </a:cubicBezTo>
                <a:cubicBezTo>
                  <a:pt x="1620252" y="1890295"/>
                  <a:pt x="810126" y="1081505"/>
                  <a:pt x="0" y="272716"/>
                </a:cubicBezTo>
              </a:path>
            </a:pathLst>
          </a:cu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テキスト ボックス 48">
                <a:extLst>
                  <a:ext uri="{FF2B5EF4-FFF2-40B4-BE49-F238E27FC236}">
                    <a16:creationId xmlns:a16="http://schemas.microsoft.com/office/drawing/2014/main" id="{4F05074C-AA4C-5022-45BD-F397C689081F}"/>
                  </a:ext>
                </a:extLst>
              </p:cNvPr>
              <p:cNvSpPr txBox="1"/>
              <p:nvPr/>
            </p:nvSpPr>
            <p:spPr>
              <a:xfrm>
                <a:off x="9235344" y="3068249"/>
                <a:ext cx="1143001" cy="4962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ℬ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ja-JP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𝐰</m:t>
                          </m:r>
                        </m:e>
                      </m:d>
                    </m:oMath>
                  </m:oMathPara>
                </a14:m>
                <a:endParaRPr lang="ja-JP" altLang="en-US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9" name="テキスト ボックス 48">
                <a:extLst>
                  <a:ext uri="{FF2B5EF4-FFF2-40B4-BE49-F238E27FC236}">
                    <a16:creationId xmlns:a16="http://schemas.microsoft.com/office/drawing/2014/main" id="{4F05074C-AA4C-5022-45BD-F397C6890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5344" y="3068249"/>
                <a:ext cx="1143001" cy="496226"/>
              </a:xfrm>
              <a:prstGeom prst="rect">
                <a:avLst/>
              </a:prstGeom>
              <a:blipFill>
                <a:blip r:embed="rId7"/>
                <a:stretch>
                  <a:fillRect l="-1070" b="-122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テキスト ボックス 49">
                <a:extLst>
                  <a:ext uri="{FF2B5EF4-FFF2-40B4-BE49-F238E27FC236}">
                    <a16:creationId xmlns:a16="http://schemas.microsoft.com/office/drawing/2014/main" id="{9DA38BDF-E256-E62D-29E1-6ECA922E1800}"/>
                  </a:ext>
                </a:extLst>
              </p:cNvPr>
              <p:cNvSpPr txBox="1"/>
              <p:nvPr/>
            </p:nvSpPr>
            <p:spPr>
              <a:xfrm>
                <a:off x="11032137" y="3155495"/>
                <a:ext cx="1143001" cy="4934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ja-JP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ℬ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ja-JP" sz="2400" b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400" b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𝐰</m:t>
                          </m:r>
                        </m:e>
                      </m:d>
                    </m:oMath>
                  </m:oMathPara>
                </a14:m>
                <a:endParaRPr lang="ja-JP" altLang="en-US" i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0" name="テキスト ボックス 49">
                <a:extLst>
                  <a:ext uri="{FF2B5EF4-FFF2-40B4-BE49-F238E27FC236}">
                    <a16:creationId xmlns:a16="http://schemas.microsoft.com/office/drawing/2014/main" id="{9DA38BDF-E256-E62D-29E1-6ECA922E18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2137" y="3155495"/>
                <a:ext cx="1143001" cy="493405"/>
              </a:xfrm>
              <a:prstGeom prst="rect">
                <a:avLst/>
              </a:prstGeom>
              <a:blipFill>
                <a:blip r:embed="rId8"/>
                <a:stretch>
                  <a:fillRect l="-1070" b="-123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67D53EC-A90E-B113-B0C1-396C5DF31E11}"/>
              </a:ext>
            </a:extLst>
          </p:cNvPr>
          <p:cNvSpPr txBox="1"/>
          <p:nvPr/>
        </p:nvSpPr>
        <p:spPr>
          <a:xfrm>
            <a:off x="125969" y="6513147"/>
            <a:ext cx="1194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[1] Ian Goodfellow</a:t>
            </a:r>
            <a:r>
              <a:rPr lang="ja-JP" altLang="en-US" sz="12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，他，</a:t>
            </a:r>
            <a:r>
              <a:rPr lang="en-US" altLang="ja-JP" sz="12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“</a:t>
            </a:r>
            <a:r>
              <a:rPr lang="ja-JP" altLang="en-US" sz="12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深層学習，</a:t>
            </a:r>
            <a:r>
              <a:rPr lang="en-US" altLang="ja-JP" sz="12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”</a:t>
            </a:r>
            <a:r>
              <a:rPr lang="ja-JP" altLang="en-US" sz="12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 株式会社ドワンゴ，</a:t>
            </a:r>
            <a:r>
              <a:rPr lang="en-US" altLang="ja-JP" sz="12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March 2018</a:t>
            </a:r>
            <a:r>
              <a:rPr lang="ja-JP" altLang="en-US" sz="12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．</a:t>
            </a:r>
            <a:endParaRPr kumimoji="1" lang="en-US" altLang="ja-JP" sz="1200" dirty="0">
              <a:solidFill>
                <a:schemeClr val="bg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正方形/長方形 6">
                <a:extLst>
                  <a:ext uri="{FF2B5EF4-FFF2-40B4-BE49-F238E27FC236}">
                    <a16:creationId xmlns:a16="http://schemas.microsoft.com/office/drawing/2014/main" id="{9D054A88-5A51-1510-216B-921F80BF9C4C}"/>
                  </a:ext>
                </a:extLst>
              </p:cNvPr>
              <p:cNvSpPr/>
              <p:nvPr/>
            </p:nvSpPr>
            <p:spPr>
              <a:xfrm>
                <a:off x="7162831" y="1702961"/>
                <a:ext cx="4320000" cy="65442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90000" rIns="90000" bIns="90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𝒟</m:t>
                      </m:r>
                    </m:oMath>
                  </m:oMathPara>
                </a14:m>
                <a:endParaRPr kumimoji="1" lang="ja-JP" altLang="en-US" sz="2400" dirty="0">
                  <a:solidFill>
                    <a:schemeClr val="tx1"/>
                  </a:solidFill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7" name="正方形/長方形 6">
                <a:extLst>
                  <a:ext uri="{FF2B5EF4-FFF2-40B4-BE49-F238E27FC236}">
                    <a16:creationId xmlns:a16="http://schemas.microsoft.com/office/drawing/2014/main" id="{9D054A88-5A51-1510-216B-921F80BF9C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31" y="1702961"/>
                <a:ext cx="4320000" cy="65442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正方形/長方形 7">
                <a:extLst>
                  <a:ext uri="{FF2B5EF4-FFF2-40B4-BE49-F238E27FC236}">
                    <a16:creationId xmlns:a16="http://schemas.microsoft.com/office/drawing/2014/main" id="{B54E765D-DE00-F70F-BDAC-0BE7B2A1C186}"/>
                  </a:ext>
                </a:extLst>
              </p:cNvPr>
              <p:cNvSpPr/>
              <p:nvPr/>
            </p:nvSpPr>
            <p:spPr>
              <a:xfrm>
                <a:off x="7162831" y="2357384"/>
                <a:ext cx="1080000" cy="65442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90000" rIns="90000" bIns="90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ja-JP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ℬ</m:t>
                          </m:r>
                        </m:e>
                        <m:sub>
                          <m:r>
                            <a:rPr lang="en-US" altLang="ja-JP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>
                  <a:solidFill>
                    <a:schemeClr val="tx1"/>
                  </a:solidFill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8" name="正方形/長方形 7">
                <a:extLst>
                  <a:ext uri="{FF2B5EF4-FFF2-40B4-BE49-F238E27FC236}">
                    <a16:creationId xmlns:a16="http://schemas.microsoft.com/office/drawing/2014/main" id="{B54E765D-DE00-F70F-BDAC-0BE7B2A1C1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31" y="2357384"/>
                <a:ext cx="1080000" cy="65442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正方形/長方形 8">
                <a:extLst>
                  <a:ext uri="{FF2B5EF4-FFF2-40B4-BE49-F238E27FC236}">
                    <a16:creationId xmlns:a16="http://schemas.microsoft.com/office/drawing/2014/main" id="{E0BE9F48-FFA7-D387-D265-37BFD3E496AA}"/>
                  </a:ext>
                </a:extLst>
              </p:cNvPr>
              <p:cNvSpPr/>
              <p:nvPr/>
            </p:nvSpPr>
            <p:spPr>
              <a:xfrm>
                <a:off x="8242831" y="2357384"/>
                <a:ext cx="1080000" cy="65442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90000" rIns="90000" bIns="90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ja-JP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ℬ</m:t>
                          </m:r>
                        </m:e>
                        <m:sub>
                          <m:r>
                            <a:rPr lang="en-US" altLang="ja-JP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ja-JP" altLang="en-US" sz="2400" dirty="0">
                  <a:solidFill>
                    <a:schemeClr val="tx1"/>
                  </a:solidFill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9" name="正方形/長方形 8">
                <a:extLst>
                  <a:ext uri="{FF2B5EF4-FFF2-40B4-BE49-F238E27FC236}">
                    <a16:creationId xmlns:a16="http://schemas.microsoft.com/office/drawing/2014/main" id="{E0BE9F48-FFA7-D387-D265-37BFD3E496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2831" y="2357384"/>
                <a:ext cx="1080000" cy="65442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C80FFE1A-80C9-31B9-C7D6-46BBC80E8C63}"/>
                  </a:ext>
                </a:extLst>
              </p:cNvPr>
              <p:cNvSpPr/>
              <p:nvPr/>
            </p:nvSpPr>
            <p:spPr>
              <a:xfrm>
                <a:off x="9322831" y="2357384"/>
                <a:ext cx="1080000" cy="65442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90000" rIns="90000" bIns="90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ja-JP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ℬ</m:t>
                          </m:r>
                        </m:e>
                        <m:sub>
                          <m:r>
                            <a:rPr lang="en-US" altLang="ja-JP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ja-JP" altLang="en-US" sz="2400" dirty="0">
                  <a:solidFill>
                    <a:schemeClr val="tx1"/>
                  </a:solidFill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C80FFE1A-80C9-31B9-C7D6-46BBC80E8C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2831" y="2357384"/>
                <a:ext cx="1080000" cy="65442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E50D77B7-1515-3922-421F-3116FA8D7CA4}"/>
                  </a:ext>
                </a:extLst>
              </p:cNvPr>
              <p:cNvSpPr/>
              <p:nvPr/>
            </p:nvSpPr>
            <p:spPr>
              <a:xfrm>
                <a:off x="10402831" y="2357384"/>
                <a:ext cx="1080000" cy="65442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90000" rIns="90000" bIns="90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ja-JP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ℬ</m:t>
                          </m:r>
                        </m:e>
                        <m:sub>
                          <m:r>
                            <a:rPr lang="en-US" altLang="ja-JP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ja-JP" altLang="en-US" sz="2400" dirty="0">
                  <a:solidFill>
                    <a:schemeClr val="tx1"/>
                  </a:solidFill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E50D77B7-1515-3922-421F-3116FA8D7C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2831" y="2357384"/>
                <a:ext cx="1080000" cy="65442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9480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0C9B03-DB56-0A4F-A97C-9FAAE260D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SGD</a:t>
            </a:r>
            <a:r>
              <a:rPr kumimoji="1" lang="ja-JP" altLang="en-US"/>
              <a:t>の問題点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386BD137-29EB-F9E5-337C-8418291514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kumimoji="1" lang="ja-JP" altLang="en-US" dirty="0"/>
                  <a:t>ミニバッチで計算される誤差と</a:t>
                </a:r>
                <a:r>
                  <a:rPr lang="ja-JP" altLang="en-US" dirty="0"/>
                  <a:t>全データで計算される誤差に乖離がある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sub>
                      </m:sSub>
                      <m:d>
                        <m:dPr>
                          <m:ctrlPr>
                            <a:rPr lang="en-US" altLang="ja-JP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𝐰</m:t>
                          </m:r>
                        </m:e>
                      </m:d>
                      <m:r>
                        <a:rPr lang="en-US" altLang="ja-JP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ℬ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ja-JP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𝐰</m:t>
                          </m:r>
                        </m:e>
                      </m:d>
                    </m:oMath>
                  </m:oMathPara>
                </a14:m>
                <a:endParaRPr kumimoji="1" lang="en-US" altLang="ja-JP" dirty="0"/>
              </a:p>
              <a:p>
                <a:pPr marL="0" indent="0">
                  <a:buNone/>
                </a:pPr>
                <a:r>
                  <a:rPr kumimoji="1" lang="ja-JP" altLang="en-US" dirty="0"/>
                  <a:t>→</a:t>
                </a:r>
                <a:r>
                  <a:rPr kumimoji="1" lang="en-US" altLang="ja-JP" dirty="0"/>
                  <a:t> </a:t>
                </a:r>
                <a:r>
                  <a:rPr kumimoji="1" lang="ja-JP" altLang="en-US" dirty="0"/>
                  <a:t>ミニバッチ</a:t>
                </a:r>
                <a:r>
                  <a:rPr lang="ja-JP" altLang="en-US" dirty="0"/>
                  <a:t>で計算される誤差を最小化するパラメータが，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　 全データで計算される誤差を最小化するとは限らない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386BD137-29EB-F9E5-337C-8418291514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3" t="-109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7971F5B-8FDE-8DDF-30A2-CD3544490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6</a:t>
            </a:fld>
            <a:endParaRPr kumimoji="1" lang="ja-JP" altLang="en-US"/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68AD379C-B0F0-02FE-E8AC-5C64AF8D18F6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3511826" y="3417641"/>
            <a:ext cx="0" cy="29483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914A8EAE-9A5B-2FF2-ACFC-962155E3120E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3108768" y="5904312"/>
            <a:ext cx="555895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A422392D-A2D0-81FB-C16B-25831B4AAB38}"/>
                  </a:ext>
                </a:extLst>
              </p:cNvPr>
              <p:cNvSpPr txBox="1"/>
              <p:nvPr/>
            </p:nvSpPr>
            <p:spPr>
              <a:xfrm>
                <a:off x="3108768" y="5904312"/>
                <a:ext cx="4191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ja-JP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ja-JP" altLang="en-US" i="1"/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A422392D-A2D0-81FB-C16B-25831B4AAB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8768" y="5904312"/>
                <a:ext cx="41910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C9BB97A2-D1AA-A8F2-35C5-DCD7D9EB1F2B}"/>
                  </a:ext>
                </a:extLst>
              </p:cNvPr>
              <p:cNvSpPr txBox="1"/>
              <p:nvPr/>
            </p:nvSpPr>
            <p:spPr>
              <a:xfrm>
                <a:off x="3026552" y="2955976"/>
                <a:ext cx="97054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ja-JP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sub>
                      </m:sSub>
                      <m:d>
                        <m:dPr>
                          <m:ctrlPr>
                            <a:rPr lang="en-US" altLang="ja-JP" sz="24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4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𝐰</m:t>
                          </m:r>
                        </m:e>
                      </m:d>
                    </m:oMath>
                  </m:oMathPara>
                </a14:m>
                <a:endParaRPr lang="ja-JP" altLang="en-US" i="1"/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C9BB97A2-D1AA-A8F2-35C5-DCD7D9EB1F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6552" y="2955976"/>
                <a:ext cx="970547" cy="461665"/>
              </a:xfrm>
              <a:prstGeom prst="rect">
                <a:avLst/>
              </a:prstGeom>
              <a:blipFill>
                <a:blip r:embed="rId4"/>
                <a:stretch>
                  <a:fillRect l="-1299" b="-526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69D320AE-C89D-7E9F-A3AD-285929FD224A}"/>
                  </a:ext>
                </a:extLst>
              </p:cNvPr>
              <p:cNvSpPr txBox="1"/>
              <p:nvPr/>
            </p:nvSpPr>
            <p:spPr>
              <a:xfrm>
                <a:off x="8667721" y="5673479"/>
                <a:ext cx="41107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ja-JP" sz="24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𝐰</m:t>
                      </m:r>
                    </m:oMath>
                  </m:oMathPara>
                </a14:m>
                <a:endParaRPr lang="ja-JP" altLang="en-US" i="1"/>
              </a:p>
            </p:txBody>
          </p:sp>
        </mc:Choice>
        <mc:Fallback xmlns="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69D320AE-C89D-7E9F-A3AD-285929FD22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7721" y="5673479"/>
                <a:ext cx="411078" cy="461665"/>
              </a:xfrm>
              <a:prstGeom prst="rect">
                <a:avLst/>
              </a:prstGeom>
              <a:blipFill>
                <a:blip r:embed="rId5"/>
                <a:stretch>
                  <a:fillRect r="-30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フリーフォーム 19">
            <a:extLst>
              <a:ext uri="{FF2B5EF4-FFF2-40B4-BE49-F238E27FC236}">
                <a16:creationId xmlns:a16="http://schemas.microsoft.com/office/drawing/2014/main" id="{FD203269-5054-A893-5151-F3A4DE458BDA}"/>
              </a:ext>
            </a:extLst>
          </p:cNvPr>
          <p:cNvSpPr/>
          <p:nvPr/>
        </p:nvSpPr>
        <p:spPr>
          <a:xfrm>
            <a:off x="3205021" y="3615374"/>
            <a:ext cx="5181600" cy="2173521"/>
          </a:xfrm>
          <a:custGeom>
            <a:avLst/>
            <a:gdLst>
              <a:gd name="csX0" fmla="*/ 0 w 5181600"/>
              <a:gd name="csY0" fmla="*/ 1074822 h 2173521"/>
              <a:gd name="csX1" fmla="*/ 1243263 w 5181600"/>
              <a:gd name="csY1" fmla="*/ 2021306 h 2173521"/>
              <a:gd name="csX2" fmla="*/ 2045368 w 5181600"/>
              <a:gd name="csY2" fmla="*/ 2053390 h 2173521"/>
              <a:gd name="csX3" fmla="*/ 3986463 w 5181600"/>
              <a:gd name="csY3" fmla="*/ 858253 h 2173521"/>
              <a:gd name="csX4" fmla="*/ 5181600 w 5181600"/>
              <a:gd name="csY4" fmla="*/ 0 h 21735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181600" h="2173521">
                <a:moveTo>
                  <a:pt x="0" y="1074822"/>
                </a:moveTo>
                <a:cubicBezTo>
                  <a:pt x="451184" y="1466516"/>
                  <a:pt x="902368" y="1858211"/>
                  <a:pt x="1243263" y="2021306"/>
                </a:cubicBezTo>
                <a:cubicBezTo>
                  <a:pt x="1584158" y="2184401"/>
                  <a:pt x="1588168" y="2247232"/>
                  <a:pt x="2045368" y="2053390"/>
                </a:cubicBezTo>
                <a:cubicBezTo>
                  <a:pt x="2502568" y="1859548"/>
                  <a:pt x="3463758" y="1200485"/>
                  <a:pt x="3986463" y="858253"/>
                </a:cubicBezTo>
                <a:cubicBezTo>
                  <a:pt x="4509168" y="516021"/>
                  <a:pt x="4845384" y="258010"/>
                  <a:pt x="5181600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フリーフォーム 20">
            <a:extLst>
              <a:ext uri="{FF2B5EF4-FFF2-40B4-BE49-F238E27FC236}">
                <a16:creationId xmlns:a16="http://schemas.microsoft.com/office/drawing/2014/main" id="{717E7139-EF8F-C40F-13B0-1C38B13B1C81}"/>
              </a:ext>
            </a:extLst>
          </p:cNvPr>
          <p:cNvSpPr/>
          <p:nvPr/>
        </p:nvSpPr>
        <p:spPr>
          <a:xfrm>
            <a:off x="3188979" y="3606136"/>
            <a:ext cx="3625515" cy="2125605"/>
          </a:xfrm>
          <a:custGeom>
            <a:avLst/>
            <a:gdLst>
              <a:gd name="csX0" fmla="*/ 0 w 3625515"/>
              <a:gd name="csY0" fmla="*/ 1307431 h 2125605"/>
              <a:gd name="csX1" fmla="*/ 1034715 w 3625515"/>
              <a:gd name="csY1" fmla="*/ 2125579 h 2125605"/>
              <a:gd name="csX2" fmla="*/ 2318084 w 3625515"/>
              <a:gd name="csY2" fmla="*/ 1331494 h 2125605"/>
              <a:gd name="csX3" fmla="*/ 3625515 w 3625515"/>
              <a:gd name="csY3" fmla="*/ 0 h 21256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25515" h="2125605">
                <a:moveTo>
                  <a:pt x="0" y="1307431"/>
                </a:moveTo>
                <a:cubicBezTo>
                  <a:pt x="324184" y="1714500"/>
                  <a:pt x="648368" y="2121569"/>
                  <a:pt x="1034715" y="2125579"/>
                </a:cubicBezTo>
                <a:cubicBezTo>
                  <a:pt x="1421062" y="2129589"/>
                  <a:pt x="1886284" y="1685757"/>
                  <a:pt x="2318084" y="1331494"/>
                </a:cubicBezTo>
                <a:cubicBezTo>
                  <a:pt x="2749884" y="977231"/>
                  <a:pt x="3187699" y="488615"/>
                  <a:pt x="3625515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401BD8F9-855D-2A79-9E32-971BAD519CA8}"/>
                  </a:ext>
                </a:extLst>
              </p:cNvPr>
              <p:cNvSpPr txBox="1"/>
              <p:nvPr/>
            </p:nvSpPr>
            <p:spPr>
              <a:xfrm>
                <a:off x="6248112" y="3056890"/>
                <a:ext cx="1143001" cy="4934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ℬ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ja-JP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𝐰</m:t>
                          </m:r>
                        </m:e>
                      </m:d>
                    </m:oMath>
                  </m:oMathPara>
                </a14:m>
                <a:endParaRPr lang="ja-JP" altLang="en-US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401BD8F9-855D-2A79-9E32-971BAD519C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112" y="3056890"/>
                <a:ext cx="1143001" cy="493405"/>
              </a:xfrm>
              <a:prstGeom prst="rect">
                <a:avLst/>
              </a:prstGeom>
              <a:blipFill>
                <a:blip r:embed="rId6"/>
                <a:stretch>
                  <a:fillRect l="-1604" b="-617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0954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F16312-BD8C-3525-0588-C6B0CE56D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Polyak Ruppert Averaging[2]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A367FA-988B-B410-7AD9-0E9D78C88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/>
              <a:t>各反復のパラメータを平均した</a:t>
            </a:r>
            <a:r>
              <a:rPr kumimoji="1" lang="ja-JP" altLang="en-US">
                <a:solidFill>
                  <a:srgbClr val="FF0000"/>
                </a:solidFill>
              </a:rPr>
              <a:t>平均パラメータを導入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ja-JP" altLang="en-US"/>
              <a:t>各ミニバッチに最適なパラメータの平均が，全データに最適なパラメータと考えている</a:t>
            </a:r>
          </a:p>
          <a:p>
            <a:pPr marL="0" indent="0">
              <a:buNone/>
            </a:pPr>
            <a:endParaRPr kumimoji="1" lang="en-US" altLang="ja-JP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9AC66E1-A004-C948-DBDA-256FAC919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 4">
                <a:extLst>
                  <a:ext uri="{FF2B5EF4-FFF2-40B4-BE49-F238E27FC236}">
                    <a16:creationId xmlns:a16="http://schemas.microsoft.com/office/drawing/2014/main" id="{7101191D-853B-49C9-D0E1-AA4D6248E6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8483239"/>
                  </p:ext>
                </p:extLst>
              </p:nvPr>
            </p:nvGraphicFramePr>
            <p:xfrm>
              <a:off x="115732" y="2530152"/>
              <a:ext cx="6130452" cy="3852863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130452">
                      <a:extLst>
                        <a:ext uri="{9D8B030D-6E8A-4147-A177-3AD203B41FA5}">
                          <a16:colId xmlns:a16="http://schemas.microsoft.com/office/drawing/2014/main" val="208667922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400" b="1" dirty="0"/>
                            <a:t>Algorithm</a:t>
                          </a:r>
                          <a:r>
                            <a:rPr kumimoji="1" lang="en-US" altLang="ja-JP" sz="2400" dirty="0"/>
                            <a:t> Polyak Ruppert Averaging(PRA)</a:t>
                          </a:r>
                          <a:endParaRPr kumimoji="1" lang="ja-JP" altLang="en-US" sz="240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796546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400" b="1" dirty="0"/>
                            <a:t>Require</a:t>
                          </a:r>
                          <a:r>
                            <a:rPr kumimoji="1" lang="en-US" altLang="ja-JP" sz="240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en-US" altLang="ja-JP" sz="2400" dirty="0"/>
                            <a:t>; </a:t>
                          </a:r>
                          <a:r>
                            <a:rPr kumimoji="1" lang="ja-JP" altLang="en-US" sz="2400"/>
                            <a:t>パラメータの初期値</a:t>
                          </a:r>
                          <a:r>
                            <a:rPr kumimoji="1" lang="en-US" altLang="ja-JP" sz="2400" dirty="0"/>
                            <a:t>(</a:t>
                          </a:r>
                          <a:r>
                            <a:rPr kumimoji="1" lang="ja-JP" altLang="en-US" sz="2400"/>
                            <a:t>乱数</a:t>
                          </a:r>
                          <a:r>
                            <a:rPr kumimoji="1" lang="en-US" altLang="ja-JP" sz="2400" dirty="0"/>
                            <a:t>)</a:t>
                          </a:r>
                          <a:r>
                            <a:rPr kumimoji="1" lang="ja-JP" altLang="en-US" sz="2400"/>
                            <a:t>，</a:t>
                          </a:r>
                          <a:endParaRPr kumimoji="1" lang="en-US" altLang="ja-JP" sz="2400" dirty="0"/>
                        </a:p>
                        <a:p>
                          <a:r>
                            <a:rPr kumimoji="1" lang="ja-JP" altLang="en-US" sz="2400"/>
                            <a:t>　　　　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kumimoji="1" lang="en-US" altLang="ja-JP" sz="2400" b="1" i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sz="2400" b="1" i="0" smtClean="0">
                                          <a:latin typeface="Cambria Math" panose="02040503050406030204" pitchFamily="18" charset="0"/>
                                        </a:rPr>
                                        <m:t>𝐰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24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r>
                            <a:rPr kumimoji="1" lang="en-US" altLang="ja-JP" sz="2400" dirty="0"/>
                            <a:t>; </a:t>
                          </a:r>
                          <a:r>
                            <a:rPr kumimoji="1" lang="ja-JP" altLang="en-US" sz="2400"/>
                            <a:t>平均パラメータ，</a:t>
                          </a:r>
                          <a:endParaRPr kumimoji="1" lang="en-US" altLang="ja-JP" sz="2400" dirty="0"/>
                        </a:p>
                        <a:p>
                          <a:r>
                            <a:rPr kumimoji="1" lang="ja-JP" altLang="en-US" sz="2400" b="0"/>
                            <a:t>　　　　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oMath>
                          </a14:m>
                          <a:r>
                            <a:rPr kumimoji="1" lang="en-US" altLang="ja-JP" sz="2400" dirty="0"/>
                            <a:t>; </a:t>
                          </a:r>
                          <a:r>
                            <a:rPr kumimoji="1" lang="ja-JP" altLang="en-US" sz="2400"/>
                            <a:t>学習率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5989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400" dirty="0"/>
                            <a:t>For 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=0,1,…,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oMath>
                          </a14:m>
                          <a:r>
                            <a:rPr kumimoji="1" lang="en-US" altLang="ja-JP" sz="2400" dirty="0"/>
                            <a:t> Do</a:t>
                          </a:r>
                        </a:p>
                        <a:p>
                          <a:r>
                            <a:rPr kumimoji="1" lang="en-US" altLang="ja-JP" sz="2400" dirty="0"/>
                            <a:t>    </a:t>
                          </a:r>
                          <a:r>
                            <a:rPr kumimoji="1" lang="ja-JP" altLang="en-US" sz="2400" dirty="0"/>
                            <a:t>ミニバッチ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ℬ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ja-JP" altLang="en-US" sz="2400" dirty="0"/>
                            <a:t>をサンプリング</a:t>
                          </a:r>
                          <a:endParaRPr kumimoji="1" lang="en-US" altLang="ja-JP" sz="240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sz="2400" dirty="0"/>
                            <a:t>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ja-JP" sz="2400" b="0" i="0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kumimoji="1" lang="en-US" altLang="ja-JP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ℬ</m:t>
                                      </m:r>
                                    </m:e>
                                    <m:sub>
                                      <m:r>
                                        <a:rPr kumimoji="1" lang="en-US" altLang="ja-JP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kumimoji="1" lang="en-US" altLang="ja-JP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ja-JP" sz="2400" b="1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2400" b="1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𝐰</m:t>
                                      </m:r>
                                    </m:e>
                                    <m:sub>
                                      <m:r>
                                        <a:rPr kumimoji="1" lang="en-US" altLang="ja-JP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kumimoji="1" lang="en-US" altLang="ja-JP" sz="240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sz="2400" b="0" dirty="0"/>
                            <a:t>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kumimoji="1" lang="en-US" altLang="ja-JP" sz="2400" b="1" i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sz="2400" b="1" i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𝐰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kumimoji="1"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kumimoji="1"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num>
                                <m:den>
                                  <m:r>
                                    <a:rPr kumimoji="1"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kumimoji="1"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kumimoji="1" lang="en-US" altLang="ja-JP" sz="2400" b="1" i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sz="2400" b="1" i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𝐰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kumimoji="1"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kumimoji="1"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kumimoji="1" lang="en-US" altLang="ja-JP" sz="2400" b="1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1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kumimoji="1"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oMath>
                          </a14:m>
                          <a:endParaRPr kumimoji="1" lang="ja-JP" altLang="en-US" sz="24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920196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400" b="1" dirty="0"/>
                            <a:t>Return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kumimoji="1" lang="en-US" altLang="ja-JP" sz="2400" b="1" i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sz="2400" b="1" i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𝐰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b>
                              </m:sSub>
                            </m:oMath>
                          </a14:m>
                          <a:endParaRPr kumimoji="1" lang="ja-JP" altLang="en-US" sz="24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01297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 4">
                <a:extLst>
                  <a:ext uri="{FF2B5EF4-FFF2-40B4-BE49-F238E27FC236}">
                    <a16:creationId xmlns:a16="http://schemas.microsoft.com/office/drawing/2014/main" id="{7101191D-853B-49C9-D0E1-AA4D6248E6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8483239"/>
                  </p:ext>
                </p:extLst>
              </p:nvPr>
            </p:nvGraphicFramePr>
            <p:xfrm>
              <a:off x="115732" y="2530152"/>
              <a:ext cx="6130452" cy="3852863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130452">
                      <a:extLst>
                        <a:ext uri="{9D8B030D-6E8A-4147-A177-3AD203B41FA5}">
                          <a16:colId xmlns:a16="http://schemas.microsoft.com/office/drawing/2014/main" val="208667922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400" b="1" dirty="0"/>
                            <a:t>Algorithm</a:t>
                          </a:r>
                          <a:r>
                            <a:rPr kumimoji="1" lang="en-US" altLang="ja-JP" sz="2400" dirty="0"/>
                            <a:t> Polyak Ruppert Averaging(PRA)</a:t>
                          </a:r>
                          <a:endParaRPr kumimoji="1" lang="ja-JP" altLang="en-US" sz="240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79654697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42564" r="-99" b="-195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4598942"/>
                      </a:ext>
                    </a:extLst>
                  </a:tr>
                  <a:tr h="1749743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96528" r="-99" b="-32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201967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754667" r="-99" b="-25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012971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F44AC5B-3925-44CE-43E3-D5826B2D0380}"/>
              </a:ext>
            </a:extLst>
          </p:cNvPr>
          <p:cNvSpPr/>
          <p:nvPr/>
        </p:nvSpPr>
        <p:spPr>
          <a:xfrm>
            <a:off x="6106237" y="3023955"/>
            <a:ext cx="5970031" cy="33647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86CA198D-1155-BDA4-6CBA-A896F57420D4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6499058" y="3429000"/>
            <a:ext cx="0" cy="29483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0C69706B-A4F2-42F4-7448-4E4A7E4A4754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6096000" y="5915671"/>
            <a:ext cx="555895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4CACB817-FC8E-324E-34DB-D80D59B9DC8B}"/>
                  </a:ext>
                </a:extLst>
              </p:cNvPr>
              <p:cNvSpPr txBox="1"/>
              <p:nvPr/>
            </p:nvSpPr>
            <p:spPr>
              <a:xfrm>
                <a:off x="6096000" y="5915671"/>
                <a:ext cx="4191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ja-JP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ja-JP" altLang="en-US" i="1"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4CACB817-FC8E-324E-34DB-D80D59B9DC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915671"/>
                <a:ext cx="41910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E9DD21E0-F3FB-8A78-56E8-BFCE37E48843}"/>
                  </a:ext>
                </a:extLst>
              </p:cNvPr>
              <p:cNvSpPr txBox="1"/>
              <p:nvPr/>
            </p:nvSpPr>
            <p:spPr>
              <a:xfrm>
                <a:off x="6013784" y="2967335"/>
                <a:ext cx="97054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ja-JP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sub>
                      </m:sSub>
                      <m:d>
                        <m:dPr>
                          <m:ctrlPr>
                            <a:rPr lang="en-US" altLang="ja-JP" sz="24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4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𝐰</m:t>
                          </m:r>
                        </m:e>
                      </m:d>
                    </m:oMath>
                  </m:oMathPara>
                </a14:m>
                <a:endParaRPr lang="ja-JP" altLang="en-US" i="1"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E9DD21E0-F3FB-8A78-56E8-BFCE37E488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784" y="2967335"/>
                <a:ext cx="970547" cy="461665"/>
              </a:xfrm>
              <a:prstGeom prst="rect">
                <a:avLst/>
              </a:prstGeom>
              <a:blipFill>
                <a:blip r:embed="rId4"/>
                <a:stretch>
                  <a:fillRect l="-1282" b="-526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8A141E4F-C7DB-C7D0-FE54-3AD0F5053266}"/>
                  </a:ext>
                </a:extLst>
              </p:cNvPr>
              <p:cNvSpPr txBox="1"/>
              <p:nvPr/>
            </p:nvSpPr>
            <p:spPr>
              <a:xfrm>
                <a:off x="11654953" y="5684838"/>
                <a:ext cx="41107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ja-JP" sz="24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𝐰</m:t>
                      </m:r>
                    </m:oMath>
                  </m:oMathPara>
                </a14:m>
                <a:endParaRPr lang="ja-JP" altLang="en-US" i="1"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8A141E4F-C7DB-C7D0-FE54-3AD0F5053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4953" y="5684838"/>
                <a:ext cx="411078" cy="461665"/>
              </a:xfrm>
              <a:prstGeom prst="rect">
                <a:avLst/>
              </a:prstGeom>
              <a:blipFill>
                <a:blip r:embed="rId5"/>
                <a:stretch>
                  <a:fillRect r="-30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フリーフォーム 11">
            <a:extLst>
              <a:ext uri="{FF2B5EF4-FFF2-40B4-BE49-F238E27FC236}">
                <a16:creationId xmlns:a16="http://schemas.microsoft.com/office/drawing/2014/main" id="{A1A01090-B831-A101-4D6C-610819939685}"/>
              </a:ext>
            </a:extLst>
          </p:cNvPr>
          <p:cNvSpPr/>
          <p:nvPr/>
        </p:nvSpPr>
        <p:spPr>
          <a:xfrm>
            <a:off x="6192253" y="3626733"/>
            <a:ext cx="5181600" cy="2173521"/>
          </a:xfrm>
          <a:custGeom>
            <a:avLst/>
            <a:gdLst>
              <a:gd name="csX0" fmla="*/ 0 w 5181600"/>
              <a:gd name="csY0" fmla="*/ 1074822 h 2173521"/>
              <a:gd name="csX1" fmla="*/ 1243263 w 5181600"/>
              <a:gd name="csY1" fmla="*/ 2021306 h 2173521"/>
              <a:gd name="csX2" fmla="*/ 2045368 w 5181600"/>
              <a:gd name="csY2" fmla="*/ 2053390 h 2173521"/>
              <a:gd name="csX3" fmla="*/ 3986463 w 5181600"/>
              <a:gd name="csY3" fmla="*/ 858253 h 2173521"/>
              <a:gd name="csX4" fmla="*/ 5181600 w 5181600"/>
              <a:gd name="csY4" fmla="*/ 0 h 21735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181600" h="2173521">
                <a:moveTo>
                  <a:pt x="0" y="1074822"/>
                </a:moveTo>
                <a:cubicBezTo>
                  <a:pt x="451184" y="1466516"/>
                  <a:pt x="902368" y="1858211"/>
                  <a:pt x="1243263" y="2021306"/>
                </a:cubicBezTo>
                <a:cubicBezTo>
                  <a:pt x="1584158" y="2184401"/>
                  <a:pt x="1588168" y="2247232"/>
                  <a:pt x="2045368" y="2053390"/>
                </a:cubicBezTo>
                <a:cubicBezTo>
                  <a:pt x="2502568" y="1859548"/>
                  <a:pt x="3463758" y="1200485"/>
                  <a:pt x="3986463" y="858253"/>
                </a:cubicBezTo>
                <a:cubicBezTo>
                  <a:pt x="4509168" y="516021"/>
                  <a:pt x="4845384" y="258010"/>
                  <a:pt x="5181600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フリーフォーム 12">
            <a:extLst>
              <a:ext uri="{FF2B5EF4-FFF2-40B4-BE49-F238E27FC236}">
                <a16:creationId xmlns:a16="http://schemas.microsoft.com/office/drawing/2014/main" id="{67FC07AF-2779-DEDF-9155-04EA4A0797AA}"/>
              </a:ext>
            </a:extLst>
          </p:cNvPr>
          <p:cNvSpPr/>
          <p:nvPr/>
        </p:nvSpPr>
        <p:spPr>
          <a:xfrm>
            <a:off x="6176211" y="3617495"/>
            <a:ext cx="3625515" cy="2125605"/>
          </a:xfrm>
          <a:custGeom>
            <a:avLst/>
            <a:gdLst>
              <a:gd name="csX0" fmla="*/ 0 w 3625515"/>
              <a:gd name="csY0" fmla="*/ 1307431 h 2125605"/>
              <a:gd name="csX1" fmla="*/ 1034715 w 3625515"/>
              <a:gd name="csY1" fmla="*/ 2125579 h 2125605"/>
              <a:gd name="csX2" fmla="*/ 2318084 w 3625515"/>
              <a:gd name="csY2" fmla="*/ 1331494 h 2125605"/>
              <a:gd name="csX3" fmla="*/ 3625515 w 3625515"/>
              <a:gd name="csY3" fmla="*/ 0 h 21256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25515" h="2125605">
                <a:moveTo>
                  <a:pt x="0" y="1307431"/>
                </a:moveTo>
                <a:cubicBezTo>
                  <a:pt x="324184" y="1714500"/>
                  <a:pt x="648368" y="2121569"/>
                  <a:pt x="1034715" y="2125579"/>
                </a:cubicBezTo>
                <a:cubicBezTo>
                  <a:pt x="1421062" y="2129589"/>
                  <a:pt x="1886284" y="1685757"/>
                  <a:pt x="2318084" y="1331494"/>
                </a:cubicBezTo>
                <a:cubicBezTo>
                  <a:pt x="2749884" y="977231"/>
                  <a:pt x="3187699" y="488615"/>
                  <a:pt x="3625515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フリーフォーム 13">
            <a:extLst>
              <a:ext uri="{FF2B5EF4-FFF2-40B4-BE49-F238E27FC236}">
                <a16:creationId xmlns:a16="http://schemas.microsoft.com/office/drawing/2014/main" id="{59F7393D-0D8C-9FD7-C1B8-418F6BF672D9}"/>
              </a:ext>
            </a:extLst>
          </p:cNvPr>
          <p:cNvSpPr/>
          <p:nvPr/>
        </p:nvSpPr>
        <p:spPr>
          <a:xfrm>
            <a:off x="6216316" y="3705726"/>
            <a:ext cx="5390147" cy="1846672"/>
          </a:xfrm>
          <a:custGeom>
            <a:avLst/>
            <a:gdLst>
              <a:gd name="csX0" fmla="*/ 5390147 w 5390147"/>
              <a:gd name="csY0" fmla="*/ 0 h 1846672"/>
              <a:gd name="csX1" fmla="*/ 2518610 w 5390147"/>
              <a:gd name="csY1" fmla="*/ 1844842 h 1846672"/>
              <a:gd name="csX2" fmla="*/ 0 w 5390147"/>
              <a:gd name="csY2" fmla="*/ 272716 h 18466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390147" h="1846672">
                <a:moveTo>
                  <a:pt x="5390147" y="0"/>
                </a:moveTo>
                <a:cubicBezTo>
                  <a:pt x="4403557" y="899694"/>
                  <a:pt x="3416968" y="1799389"/>
                  <a:pt x="2518610" y="1844842"/>
                </a:cubicBezTo>
                <a:cubicBezTo>
                  <a:pt x="1620252" y="1890295"/>
                  <a:pt x="810126" y="1081505"/>
                  <a:pt x="0" y="272716"/>
                </a:cubicBezTo>
              </a:path>
            </a:pathLst>
          </a:cu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22D5BACF-A579-7D42-EB99-27501F8F8C30}"/>
                  </a:ext>
                </a:extLst>
              </p:cNvPr>
              <p:cNvSpPr txBox="1"/>
              <p:nvPr/>
            </p:nvSpPr>
            <p:spPr>
              <a:xfrm>
                <a:off x="9235344" y="3068249"/>
                <a:ext cx="1143001" cy="4934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ℬ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ja-JP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𝐰</m:t>
                          </m:r>
                        </m:e>
                      </m:d>
                    </m:oMath>
                  </m:oMathPara>
                </a14:m>
                <a:endParaRPr lang="ja-JP" altLang="en-US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22D5BACF-A579-7D42-EB99-27501F8F8C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5344" y="3068249"/>
                <a:ext cx="1143001" cy="493405"/>
              </a:xfrm>
              <a:prstGeom prst="rect">
                <a:avLst/>
              </a:prstGeom>
              <a:blipFill>
                <a:blip r:embed="rId6"/>
                <a:stretch>
                  <a:fillRect l="-1070" b="-24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3B27129A-7FB9-B4B5-A5ED-806E85FC775A}"/>
                  </a:ext>
                </a:extLst>
              </p:cNvPr>
              <p:cNvSpPr txBox="1"/>
              <p:nvPr/>
            </p:nvSpPr>
            <p:spPr>
              <a:xfrm>
                <a:off x="11032137" y="3155495"/>
                <a:ext cx="1143001" cy="4934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ja-JP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ℬ</m:t>
                              </m:r>
                            </m:e>
                            <m:sub>
                              <m:r>
                                <a:rPr lang="en-US" altLang="ja-JP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ja-JP" sz="2400" b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400" b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𝐰</m:t>
                          </m:r>
                        </m:e>
                      </m:d>
                    </m:oMath>
                  </m:oMathPara>
                </a14:m>
                <a:endParaRPr lang="ja-JP" altLang="en-US" i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3B27129A-7FB9-B4B5-A5ED-806E85FC7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2137" y="3155495"/>
                <a:ext cx="1143001" cy="493405"/>
              </a:xfrm>
              <a:prstGeom prst="rect">
                <a:avLst/>
              </a:prstGeom>
              <a:blipFill>
                <a:blip r:embed="rId7"/>
                <a:stretch>
                  <a:fillRect l="-1070" b="-123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円/楕円 16">
            <a:extLst>
              <a:ext uri="{FF2B5EF4-FFF2-40B4-BE49-F238E27FC236}">
                <a16:creationId xmlns:a16="http://schemas.microsoft.com/office/drawing/2014/main" id="{EB2F1984-96EE-FEA7-4C15-81E284B3C3BE}"/>
              </a:ext>
            </a:extLst>
          </p:cNvPr>
          <p:cNvSpPr/>
          <p:nvPr/>
        </p:nvSpPr>
        <p:spPr>
          <a:xfrm>
            <a:off x="7114674" y="5656831"/>
            <a:ext cx="154406" cy="154406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18" name="円/楕円 17">
            <a:extLst>
              <a:ext uri="{FF2B5EF4-FFF2-40B4-BE49-F238E27FC236}">
                <a16:creationId xmlns:a16="http://schemas.microsoft.com/office/drawing/2014/main" id="{447564B1-092B-A381-A086-922E904716FF}"/>
              </a:ext>
            </a:extLst>
          </p:cNvPr>
          <p:cNvSpPr/>
          <p:nvPr/>
        </p:nvSpPr>
        <p:spPr>
          <a:xfrm>
            <a:off x="8628647" y="5477058"/>
            <a:ext cx="154406" cy="154406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19" name="円/楕円 18">
            <a:extLst>
              <a:ext uri="{FF2B5EF4-FFF2-40B4-BE49-F238E27FC236}">
                <a16:creationId xmlns:a16="http://schemas.microsoft.com/office/drawing/2014/main" id="{4F9835D6-2BF4-D5AB-09D5-455E97F3E87E}"/>
              </a:ext>
            </a:extLst>
          </p:cNvPr>
          <p:cNvSpPr/>
          <p:nvPr/>
        </p:nvSpPr>
        <p:spPr>
          <a:xfrm>
            <a:off x="7789998" y="5722517"/>
            <a:ext cx="154406" cy="1544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A9F8B17-77E7-B140-F98A-87D29A62AA76}"/>
              </a:ext>
            </a:extLst>
          </p:cNvPr>
          <p:cNvSpPr txBox="1"/>
          <p:nvPr/>
        </p:nvSpPr>
        <p:spPr>
          <a:xfrm>
            <a:off x="125969" y="6513147"/>
            <a:ext cx="1194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[2] Polyak, B., “New stochastic approximation type procedures,” </a:t>
            </a:r>
            <a:r>
              <a:rPr lang="en-US" altLang="ja-JP" sz="1200" dirty="0" err="1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Avtomatica</a:t>
            </a:r>
            <a:r>
              <a:rPr lang="en-US" altLang="ja-JP" sz="12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 </a:t>
            </a:r>
            <a:r>
              <a:rPr lang="en-US" altLang="ja-JP" sz="1200" dirty="0" err="1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i</a:t>
            </a:r>
            <a:r>
              <a:rPr lang="en-US" altLang="ja-JP" sz="12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 </a:t>
            </a:r>
            <a:r>
              <a:rPr lang="en-US" altLang="ja-JP" sz="1200" dirty="0" err="1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Telemekhanika</a:t>
            </a:r>
            <a:r>
              <a:rPr lang="en-US" altLang="ja-JP" sz="12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, vol.7, pp.98–107, 1990.</a:t>
            </a:r>
            <a:endParaRPr kumimoji="1" lang="en-US" altLang="ja-JP" sz="1200" dirty="0">
              <a:solidFill>
                <a:schemeClr val="bg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23424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8EC04-56B3-CB77-CE28-EC91B6FDD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1E0417-8A8D-03EA-C049-C907EEF56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Primal Averaging[3]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E4CF551-7408-7416-67C7-3AFD3F8E5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dirty="0"/>
              <a:t>アルゴリズムの戻り値である平均パラメータで誤差を計算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解付近での探索により最終的な解の精度が向上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→</a:t>
            </a:r>
            <a:r>
              <a:rPr lang="en-US" altLang="ja-JP" dirty="0"/>
              <a:t> </a:t>
            </a:r>
            <a:r>
              <a:rPr lang="ja-JP" altLang="en-US" dirty="0"/>
              <a:t>初期値の影響により学習初期の更新が鈍足</a:t>
            </a: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65D5144-9B1F-EBC2-0AD1-432E69FF1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 4">
                <a:extLst>
                  <a:ext uri="{FF2B5EF4-FFF2-40B4-BE49-F238E27FC236}">
                    <a16:creationId xmlns:a16="http://schemas.microsoft.com/office/drawing/2014/main" id="{1081577B-320C-25A6-AF9D-CECF44FC4A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1634167"/>
                  </p:ext>
                </p:extLst>
              </p:nvPr>
            </p:nvGraphicFramePr>
            <p:xfrm>
              <a:off x="131165" y="1389675"/>
              <a:ext cx="6130452" cy="3852863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130452">
                      <a:extLst>
                        <a:ext uri="{9D8B030D-6E8A-4147-A177-3AD203B41FA5}">
                          <a16:colId xmlns:a16="http://schemas.microsoft.com/office/drawing/2014/main" val="208667922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400" b="1" dirty="0"/>
                            <a:t>Algorithm</a:t>
                          </a:r>
                          <a:r>
                            <a:rPr kumimoji="1" lang="en-US" altLang="ja-JP" sz="2400" dirty="0"/>
                            <a:t> Primal Averaging(PA)</a:t>
                          </a:r>
                          <a:endParaRPr kumimoji="1" lang="ja-JP" altLang="en-US" sz="240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796546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400" b="1" dirty="0"/>
                            <a:t>Require</a:t>
                          </a:r>
                          <a:r>
                            <a:rPr kumimoji="1" lang="en-US" altLang="ja-JP" sz="240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en-US" altLang="ja-JP" sz="2400" dirty="0"/>
                            <a:t>; </a:t>
                          </a:r>
                          <a:r>
                            <a:rPr kumimoji="1" lang="ja-JP" altLang="en-US" sz="2400" dirty="0"/>
                            <a:t>パラメータの初期値</a:t>
                          </a:r>
                          <a:r>
                            <a:rPr kumimoji="1" lang="en-US" altLang="ja-JP" sz="2400" dirty="0"/>
                            <a:t>(</a:t>
                          </a:r>
                          <a:r>
                            <a:rPr kumimoji="1" lang="ja-JP" altLang="en-US" sz="2400" dirty="0"/>
                            <a:t>乱数</a:t>
                          </a:r>
                          <a:r>
                            <a:rPr kumimoji="1" lang="en-US" altLang="ja-JP" sz="2400" dirty="0"/>
                            <a:t>)</a:t>
                          </a:r>
                          <a:r>
                            <a:rPr kumimoji="1" lang="ja-JP" altLang="en-US" sz="2400" dirty="0"/>
                            <a:t>，</a:t>
                          </a:r>
                          <a:endParaRPr kumimoji="1" lang="en-US" altLang="ja-JP" sz="2400" dirty="0"/>
                        </a:p>
                        <a:p>
                          <a:r>
                            <a:rPr kumimoji="1" lang="ja-JP" altLang="en-US" sz="2400" dirty="0"/>
                            <a:t>　　　　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kumimoji="1" lang="en-US" altLang="ja-JP" sz="2400" b="1" i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sz="2400" b="1" i="0" smtClean="0">
                                          <a:latin typeface="Cambria Math" panose="02040503050406030204" pitchFamily="18" charset="0"/>
                                        </a:rPr>
                                        <m:t>𝐰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en-US" altLang="ja-JP" sz="2400" dirty="0"/>
                            <a:t>; </a:t>
                          </a:r>
                          <a:r>
                            <a:rPr kumimoji="1" lang="ja-JP" altLang="en-US" sz="2400" dirty="0"/>
                            <a:t>平均パラメータ，</a:t>
                          </a:r>
                          <a:endParaRPr kumimoji="1" lang="en-US" altLang="ja-JP" sz="2400" dirty="0"/>
                        </a:p>
                        <a:p>
                          <a:r>
                            <a:rPr kumimoji="1" lang="ja-JP" altLang="en-US" sz="2400" b="0" dirty="0"/>
                            <a:t>　　　　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oMath>
                          </a14:m>
                          <a:r>
                            <a:rPr kumimoji="1" lang="en-US" altLang="ja-JP" sz="2400" dirty="0"/>
                            <a:t>; </a:t>
                          </a:r>
                          <a:r>
                            <a:rPr kumimoji="1" lang="ja-JP" altLang="en-US" sz="2400" dirty="0"/>
                            <a:t>学習率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5989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400" dirty="0"/>
                            <a:t>For 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=0,1,…,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oMath>
                          </a14:m>
                          <a:r>
                            <a:rPr kumimoji="1" lang="en-US" altLang="ja-JP" sz="2400" dirty="0"/>
                            <a:t> Do</a:t>
                          </a:r>
                        </a:p>
                        <a:p>
                          <a:r>
                            <a:rPr kumimoji="1" lang="en-US" altLang="ja-JP" sz="2400" dirty="0"/>
                            <a:t>    </a:t>
                          </a:r>
                          <a:r>
                            <a:rPr kumimoji="1" lang="ja-JP" altLang="en-US" sz="2400" dirty="0"/>
                            <a:t>ミニバッチ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ℬ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ja-JP" altLang="en-US" sz="2400" dirty="0"/>
                            <a:t>をサンプリング</a:t>
                          </a:r>
                          <a:endParaRPr kumimoji="1" lang="en-US" altLang="ja-JP" sz="240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sz="2400" dirty="0"/>
                            <a:t>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ja-JP" sz="2400" b="0" i="0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kumimoji="1" lang="en-US" altLang="ja-JP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ℬ</m:t>
                                      </m:r>
                                    </m:e>
                                    <m:sub>
                                      <m:r>
                                        <a:rPr kumimoji="1" lang="en-US" altLang="ja-JP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kumimoji="1"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ja-JP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kumimoji="1" lang="en-US" altLang="ja-JP" sz="2400" b="1" i="0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kumimoji="1" lang="en-US" altLang="ja-JP" sz="2400" b="1" i="0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𝐰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kumimoji="1" lang="en-US" altLang="ja-JP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kumimoji="1" lang="en-US" altLang="ja-JP" sz="240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sz="2400" b="0" dirty="0"/>
                            <a:t>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kumimoji="1" lang="en-US" altLang="ja-JP" sz="2400" b="1" i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sz="2400" b="1" i="0" smtClean="0">
                                          <a:latin typeface="Cambria Math" panose="02040503050406030204" pitchFamily="18" charset="0"/>
                                        </a:rPr>
                                        <m:t>𝐰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num>
                                <m:den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kumimoji="1" lang="en-US" altLang="ja-JP" sz="2400" b="1" i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sz="2400" b="1" i="0" smtClean="0">
                                          <a:latin typeface="Cambria Math" panose="02040503050406030204" pitchFamily="18" charset="0"/>
                                        </a:rPr>
                                        <m:t>𝐰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oMath>
                          </a14:m>
                          <a:endParaRPr kumimoji="1" lang="ja-JP" altLang="en-US" sz="24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920196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400" b="1" dirty="0"/>
                            <a:t>Return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kumimoji="1" lang="en-US" altLang="ja-JP" sz="2400" b="1" i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sz="2400" b="1" i="0" smtClean="0">
                                          <a:latin typeface="Cambria Math" panose="02040503050406030204" pitchFamily="18" charset="0"/>
                                        </a:rPr>
                                        <m:t>𝐰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b>
                              </m:sSub>
                            </m:oMath>
                          </a14:m>
                          <a:endParaRPr kumimoji="1" lang="ja-JP" altLang="en-US" sz="24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01297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 4">
                <a:extLst>
                  <a:ext uri="{FF2B5EF4-FFF2-40B4-BE49-F238E27FC236}">
                    <a16:creationId xmlns:a16="http://schemas.microsoft.com/office/drawing/2014/main" id="{1081577B-320C-25A6-AF9D-CECF44FC4A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1634167"/>
                  </p:ext>
                </p:extLst>
              </p:nvPr>
            </p:nvGraphicFramePr>
            <p:xfrm>
              <a:off x="131165" y="1389675"/>
              <a:ext cx="6130452" cy="3852863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130452">
                      <a:extLst>
                        <a:ext uri="{9D8B030D-6E8A-4147-A177-3AD203B41FA5}">
                          <a16:colId xmlns:a16="http://schemas.microsoft.com/office/drawing/2014/main" val="208667922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400" b="1" dirty="0"/>
                            <a:t>Algorithm</a:t>
                          </a:r>
                          <a:r>
                            <a:rPr kumimoji="1" lang="en-US" altLang="ja-JP" sz="2400" dirty="0"/>
                            <a:t> Primal Averaging(PA)</a:t>
                          </a:r>
                          <a:endParaRPr kumimoji="1" lang="ja-JP" altLang="en-US" sz="240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79654697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42051" r="-99" b="-1964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4598942"/>
                      </a:ext>
                    </a:extLst>
                  </a:tr>
                  <a:tr h="1749743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96181" r="-99" b="-329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201967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753333" r="-99" b="-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012971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47B5471-5848-4A3C-1673-68A421F659BE}"/>
              </a:ext>
            </a:extLst>
          </p:cNvPr>
          <p:cNvSpPr/>
          <p:nvPr/>
        </p:nvSpPr>
        <p:spPr>
          <a:xfrm>
            <a:off x="6101196" y="1887131"/>
            <a:ext cx="5970031" cy="33647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D88DF8A0-D5C5-0AE0-3634-DA45BA85036D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6494017" y="2292176"/>
            <a:ext cx="0" cy="29483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B4852D1C-94BA-6533-33E1-D9141173D159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6090959" y="4778847"/>
            <a:ext cx="555895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74F07009-D781-9230-BF79-44412FDEAE53}"/>
                  </a:ext>
                </a:extLst>
              </p:cNvPr>
              <p:cNvSpPr txBox="1"/>
              <p:nvPr/>
            </p:nvSpPr>
            <p:spPr>
              <a:xfrm>
                <a:off x="6090959" y="4778847"/>
                <a:ext cx="4191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ja-JP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ja-JP" altLang="en-US" i="1"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74F07009-D781-9230-BF79-44412FDEA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0959" y="4778847"/>
                <a:ext cx="41910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1B23075B-6046-0740-E35D-21B3F637FC6A}"/>
                  </a:ext>
                </a:extLst>
              </p:cNvPr>
              <p:cNvSpPr txBox="1"/>
              <p:nvPr/>
            </p:nvSpPr>
            <p:spPr>
              <a:xfrm>
                <a:off x="6008743" y="1830511"/>
                <a:ext cx="97054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ja-JP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sub>
                      </m:sSub>
                      <m:d>
                        <m:dPr>
                          <m:ctrlPr>
                            <a:rPr lang="en-US" altLang="ja-JP" sz="24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4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𝐰</m:t>
                          </m:r>
                        </m:e>
                      </m:d>
                    </m:oMath>
                  </m:oMathPara>
                </a14:m>
                <a:endParaRPr lang="ja-JP" altLang="en-US" i="1"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1B23075B-6046-0740-E35D-21B3F637F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8743" y="1830511"/>
                <a:ext cx="970547" cy="461665"/>
              </a:xfrm>
              <a:prstGeom prst="rect">
                <a:avLst/>
              </a:prstGeom>
              <a:blipFill>
                <a:blip r:embed="rId4"/>
                <a:stretch>
                  <a:fillRect l="-1299" b="-540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C0FFD69B-3E89-A439-8A27-0F7CBB5E1999}"/>
                  </a:ext>
                </a:extLst>
              </p:cNvPr>
              <p:cNvSpPr txBox="1"/>
              <p:nvPr/>
            </p:nvSpPr>
            <p:spPr>
              <a:xfrm>
                <a:off x="11649912" y="4548014"/>
                <a:ext cx="41107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ja-JP" sz="24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𝐰</m:t>
                      </m:r>
                    </m:oMath>
                  </m:oMathPara>
                </a14:m>
                <a:endParaRPr lang="ja-JP" altLang="en-US" i="1"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C0FFD69B-3E89-A439-8A27-0F7CBB5E19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9912" y="4548014"/>
                <a:ext cx="411078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フリーフォーム 11">
            <a:extLst>
              <a:ext uri="{FF2B5EF4-FFF2-40B4-BE49-F238E27FC236}">
                <a16:creationId xmlns:a16="http://schemas.microsoft.com/office/drawing/2014/main" id="{F49A11E7-E033-9067-E7C1-2B6A80B5D9E0}"/>
              </a:ext>
            </a:extLst>
          </p:cNvPr>
          <p:cNvSpPr/>
          <p:nvPr/>
        </p:nvSpPr>
        <p:spPr>
          <a:xfrm>
            <a:off x="6187212" y="2489909"/>
            <a:ext cx="5181600" cy="2173521"/>
          </a:xfrm>
          <a:custGeom>
            <a:avLst/>
            <a:gdLst>
              <a:gd name="csX0" fmla="*/ 0 w 5181600"/>
              <a:gd name="csY0" fmla="*/ 1074822 h 2173521"/>
              <a:gd name="csX1" fmla="*/ 1243263 w 5181600"/>
              <a:gd name="csY1" fmla="*/ 2021306 h 2173521"/>
              <a:gd name="csX2" fmla="*/ 2045368 w 5181600"/>
              <a:gd name="csY2" fmla="*/ 2053390 h 2173521"/>
              <a:gd name="csX3" fmla="*/ 3986463 w 5181600"/>
              <a:gd name="csY3" fmla="*/ 858253 h 2173521"/>
              <a:gd name="csX4" fmla="*/ 5181600 w 5181600"/>
              <a:gd name="csY4" fmla="*/ 0 h 21735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181600" h="2173521">
                <a:moveTo>
                  <a:pt x="0" y="1074822"/>
                </a:moveTo>
                <a:cubicBezTo>
                  <a:pt x="451184" y="1466516"/>
                  <a:pt x="902368" y="1858211"/>
                  <a:pt x="1243263" y="2021306"/>
                </a:cubicBezTo>
                <a:cubicBezTo>
                  <a:pt x="1584158" y="2184401"/>
                  <a:pt x="1588168" y="2247232"/>
                  <a:pt x="2045368" y="2053390"/>
                </a:cubicBezTo>
                <a:cubicBezTo>
                  <a:pt x="2502568" y="1859548"/>
                  <a:pt x="3463758" y="1200485"/>
                  <a:pt x="3986463" y="858253"/>
                </a:cubicBezTo>
                <a:cubicBezTo>
                  <a:pt x="4509168" y="516021"/>
                  <a:pt x="4845384" y="258010"/>
                  <a:pt x="5181600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フリーフォーム 12">
            <a:extLst>
              <a:ext uri="{FF2B5EF4-FFF2-40B4-BE49-F238E27FC236}">
                <a16:creationId xmlns:a16="http://schemas.microsoft.com/office/drawing/2014/main" id="{FEAB9DAA-2E86-8C20-9035-6780B1971D0B}"/>
              </a:ext>
            </a:extLst>
          </p:cNvPr>
          <p:cNvSpPr/>
          <p:nvPr/>
        </p:nvSpPr>
        <p:spPr>
          <a:xfrm>
            <a:off x="6171170" y="2480671"/>
            <a:ext cx="3625515" cy="2125605"/>
          </a:xfrm>
          <a:custGeom>
            <a:avLst/>
            <a:gdLst>
              <a:gd name="csX0" fmla="*/ 0 w 3625515"/>
              <a:gd name="csY0" fmla="*/ 1307431 h 2125605"/>
              <a:gd name="csX1" fmla="*/ 1034715 w 3625515"/>
              <a:gd name="csY1" fmla="*/ 2125579 h 2125605"/>
              <a:gd name="csX2" fmla="*/ 2318084 w 3625515"/>
              <a:gd name="csY2" fmla="*/ 1331494 h 2125605"/>
              <a:gd name="csX3" fmla="*/ 3625515 w 3625515"/>
              <a:gd name="csY3" fmla="*/ 0 h 21256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25515" h="2125605">
                <a:moveTo>
                  <a:pt x="0" y="1307431"/>
                </a:moveTo>
                <a:cubicBezTo>
                  <a:pt x="324184" y="1714500"/>
                  <a:pt x="648368" y="2121569"/>
                  <a:pt x="1034715" y="2125579"/>
                </a:cubicBezTo>
                <a:cubicBezTo>
                  <a:pt x="1421062" y="2129589"/>
                  <a:pt x="1886284" y="1685757"/>
                  <a:pt x="2318084" y="1331494"/>
                </a:cubicBezTo>
                <a:cubicBezTo>
                  <a:pt x="2749884" y="977231"/>
                  <a:pt x="3187699" y="488615"/>
                  <a:pt x="3625515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フリーフォーム 13">
            <a:extLst>
              <a:ext uri="{FF2B5EF4-FFF2-40B4-BE49-F238E27FC236}">
                <a16:creationId xmlns:a16="http://schemas.microsoft.com/office/drawing/2014/main" id="{3F8D704E-4A58-4088-51A7-7604D51BFB58}"/>
              </a:ext>
            </a:extLst>
          </p:cNvPr>
          <p:cNvSpPr/>
          <p:nvPr/>
        </p:nvSpPr>
        <p:spPr>
          <a:xfrm>
            <a:off x="6211275" y="2568902"/>
            <a:ext cx="5390147" cy="1846672"/>
          </a:xfrm>
          <a:custGeom>
            <a:avLst/>
            <a:gdLst>
              <a:gd name="csX0" fmla="*/ 5390147 w 5390147"/>
              <a:gd name="csY0" fmla="*/ 0 h 1846672"/>
              <a:gd name="csX1" fmla="*/ 2518610 w 5390147"/>
              <a:gd name="csY1" fmla="*/ 1844842 h 1846672"/>
              <a:gd name="csX2" fmla="*/ 0 w 5390147"/>
              <a:gd name="csY2" fmla="*/ 272716 h 18466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390147" h="1846672">
                <a:moveTo>
                  <a:pt x="5390147" y="0"/>
                </a:moveTo>
                <a:cubicBezTo>
                  <a:pt x="4403557" y="899694"/>
                  <a:pt x="3416968" y="1799389"/>
                  <a:pt x="2518610" y="1844842"/>
                </a:cubicBezTo>
                <a:cubicBezTo>
                  <a:pt x="1620252" y="1890295"/>
                  <a:pt x="810126" y="1081505"/>
                  <a:pt x="0" y="272716"/>
                </a:cubicBezTo>
              </a:path>
            </a:pathLst>
          </a:cu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F46EC5FB-9D89-AFA2-A189-D34618419AFC}"/>
                  </a:ext>
                </a:extLst>
              </p:cNvPr>
              <p:cNvSpPr txBox="1"/>
              <p:nvPr/>
            </p:nvSpPr>
            <p:spPr>
              <a:xfrm>
                <a:off x="9230303" y="1931425"/>
                <a:ext cx="1143001" cy="4934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ℬ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ja-JP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𝐰</m:t>
                          </m:r>
                        </m:e>
                      </m:d>
                    </m:oMath>
                  </m:oMathPara>
                </a14:m>
                <a:endParaRPr lang="ja-JP" altLang="en-US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F46EC5FB-9D89-AFA2-A189-D34618419A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0303" y="1931425"/>
                <a:ext cx="1143001" cy="493405"/>
              </a:xfrm>
              <a:prstGeom prst="rect">
                <a:avLst/>
              </a:prstGeom>
              <a:blipFill>
                <a:blip r:embed="rId6"/>
                <a:stretch>
                  <a:fillRect l="-532" b="-123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8C654D9D-99FA-6D91-E4B3-7502E1F0F46C}"/>
                  </a:ext>
                </a:extLst>
              </p:cNvPr>
              <p:cNvSpPr txBox="1"/>
              <p:nvPr/>
            </p:nvSpPr>
            <p:spPr>
              <a:xfrm>
                <a:off x="11027096" y="2018671"/>
                <a:ext cx="1143001" cy="4934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ja-JP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ℬ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ja-JP" sz="2400" b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400" b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𝐰</m:t>
                          </m:r>
                        </m:e>
                      </m:d>
                    </m:oMath>
                  </m:oMathPara>
                </a14:m>
                <a:endParaRPr lang="ja-JP" altLang="en-US" i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8C654D9D-99FA-6D91-E4B3-7502E1F0F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7096" y="2018671"/>
                <a:ext cx="1143001" cy="493405"/>
              </a:xfrm>
              <a:prstGeom prst="rect">
                <a:avLst/>
              </a:prstGeom>
              <a:blipFill>
                <a:blip r:embed="rId7"/>
                <a:stretch>
                  <a:fillRect l="-1070" b="-24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円/楕円 16">
            <a:extLst>
              <a:ext uri="{FF2B5EF4-FFF2-40B4-BE49-F238E27FC236}">
                <a16:creationId xmlns:a16="http://schemas.microsoft.com/office/drawing/2014/main" id="{E78E1847-9A3C-B6AC-F674-72F5510013C4}"/>
              </a:ext>
            </a:extLst>
          </p:cNvPr>
          <p:cNvSpPr/>
          <p:nvPr/>
        </p:nvSpPr>
        <p:spPr>
          <a:xfrm>
            <a:off x="7109633" y="4520007"/>
            <a:ext cx="154406" cy="154406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18" name="円/楕円 17">
            <a:extLst>
              <a:ext uri="{FF2B5EF4-FFF2-40B4-BE49-F238E27FC236}">
                <a16:creationId xmlns:a16="http://schemas.microsoft.com/office/drawing/2014/main" id="{B97B21ED-C839-CA7C-E0CC-0DF6F190BF73}"/>
              </a:ext>
            </a:extLst>
          </p:cNvPr>
          <p:cNvSpPr/>
          <p:nvPr/>
        </p:nvSpPr>
        <p:spPr>
          <a:xfrm>
            <a:off x="8623606" y="4340234"/>
            <a:ext cx="154406" cy="154406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19" name="円/楕円 18">
            <a:extLst>
              <a:ext uri="{FF2B5EF4-FFF2-40B4-BE49-F238E27FC236}">
                <a16:creationId xmlns:a16="http://schemas.microsoft.com/office/drawing/2014/main" id="{3235AC0E-F389-259D-3672-0DE791DFD004}"/>
              </a:ext>
            </a:extLst>
          </p:cNvPr>
          <p:cNvSpPr/>
          <p:nvPr/>
        </p:nvSpPr>
        <p:spPr>
          <a:xfrm>
            <a:off x="7784957" y="4585693"/>
            <a:ext cx="154406" cy="1544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A4C1A485-71D1-4EC1-14E1-979FBE3E2E42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7858951" y="2292269"/>
            <a:ext cx="0" cy="2493864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4FD1D6F8-93DD-A92B-3B00-33B22645C908}"/>
                  </a:ext>
                </a:extLst>
              </p:cNvPr>
              <p:cNvSpPr txBox="1"/>
              <p:nvPr/>
            </p:nvSpPr>
            <p:spPr>
              <a:xfrm>
                <a:off x="7580812" y="4786133"/>
                <a:ext cx="55627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ja-JP" sz="2400" b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400" b="1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</m:acc>
                        </m:e>
                        <m: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</m:oMath>
                  </m:oMathPara>
                </a14:m>
                <a:endParaRPr lang="ja-JP" altLang="en-US" i="1" dirty="0"/>
              </a:p>
            </p:txBody>
          </p:sp>
        </mc:Choice>
        <mc:Fallback xmlns="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4FD1D6F8-93DD-A92B-3B00-33B22645C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0812" y="4786133"/>
                <a:ext cx="556277" cy="461665"/>
              </a:xfrm>
              <a:prstGeom prst="rect">
                <a:avLst/>
              </a:prstGeom>
              <a:blipFill>
                <a:blip r:embed="rId8"/>
                <a:stretch>
                  <a:fillRect r="-1099" b="-526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80E77AD-1007-128F-835F-A309FDE473DB}"/>
              </a:ext>
            </a:extLst>
          </p:cNvPr>
          <p:cNvSpPr txBox="1"/>
          <p:nvPr/>
        </p:nvSpPr>
        <p:spPr>
          <a:xfrm>
            <a:off x="131165" y="6530578"/>
            <a:ext cx="1194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spc="-1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[3] Tao, W., et al., “Primal averaging: A new gradient evaluation step to attain the optimal individual </a:t>
            </a:r>
            <a:r>
              <a:rPr lang="en-US" altLang="ja-JP" sz="1200" spc="-100" dirty="0" err="1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convergence,”IEEE</a:t>
            </a:r>
            <a:r>
              <a:rPr lang="en-US" altLang="ja-JP" sz="1200" spc="-1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 Transactions on Cybernetics, pp:1–11, 2018.</a:t>
            </a:r>
            <a:endParaRPr kumimoji="1" lang="en-US" altLang="ja-JP" sz="1200" spc="-100" dirty="0">
              <a:solidFill>
                <a:schemeClr val="bg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27499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8D23EA-5AF0-E0DA-0A2D-D2458125A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Schedule Free SGD[4]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A52BFAD-4CE3-2230-CBC3-FA4D1FD81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spc="-100" dirty="0"/>
              <a:t>パラメータと平均パラメータを内分した</a:t>
            </a:r>
            <a:r>
              <a:rPr kumimoji="1" lang="ja-JP" altLang="en-US" spc="-100" dirty="0">
                <a:solidFill>
                  <a:srgbClr val="FF0000"/>
                </a:solidFill>
              </a:rPr>
              <a:t>内分パラメータを導入</a:t>
            </a:r>
            <a:endParaRPr kumimoji="1" lang="en-US" altLang="ja-JP" spc="-1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kumimoji="1" lang="ja-JP" altLang="en-US" spc="-100" dirty="0"/>
              <a:t>内分パラメータで勾配を計算することで，探索と安定の両立を実現している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977518-98B6-042E-CA2A-80EBC45BB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 4">
                <a:extLst>
                  <a:ext uri="{FF2B5EF4-FFF2-40B4-BE49-F238E27FC236}">
                    <a16:creationId xmlns:a16="http://schemas.microsoft.com/office/drawing/2014/main" id="{D2E9FE1B-9AD6-069E-D88A-6C60317DAFA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5888284"/>
                  </p:ext>
                </p:extLst>
              </p:nvPr>
            </p:nvGraphicFramePr>
            <p:xfrm>
              <a:off x="125969" y="2002203"/>
              <a:ext cx="9653463" cy="3852863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9653463">
                      <a:extLst>
                        <a:ext uri="{9D8B030D-6E8A-4147-A177-3AD203B41FA5}">
                          <a16:colId xmlns:a16="http://schemas.microsoft.com/office/drawing/2014/main" val="208667922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400" b="1" dirty="0"/>
                            <a:t>Algorithm</a:t>
                          </a:r>
                          <a:r>
                            <a:rPr kumimoji="1" lang="en-US" altLang="ja-JP" sz="2400" dirty="0"/>
                            <a:t> Schedule Free SGD</a:t>
                          </a:r>
                          <a:endParaRPr kumimoji="1" lang="ja-JP" altLang="en-US" sz="24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796546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400" b="1" dirty="0"/>
                            <a:t>Require</a:t>
                          </a:r>
                          <a:r>
                            <a:rPr kumimoji="1" lang="en-US" altLang="ja-JP" sz="240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en-US" altLang="ja-JP" sz="2400" dirty="0"/>
                            <a:t>; </a:t>
                          </a:r>
                          <a:r>
                            <a:rPr kumimoji="1" lang="ja-JP" altLang="en-US" sz="2400" dirty="0"/>
                            <a:t>パラメータの初期値</a:t>
                          </a:r>
                          <a:r>
                            <a:rPr kumimoji="1" lang="en-US" altLang="ja-JP" sz="2400" dirty="0"/>
                            <a:t>(</a:t>
                          </a:r>
                          <a:r>
                            <a:rPr kumimoji="1" lang="ja-JP" altLang="en-US" sz="2400" dirty="0"/>
                            <a:t>乱数</a:t>
                          </a:r>
                          <a:r>
                            <a:rPr kumimoji="1" lang="en-US" altLang="ja-JP" sz="2400" dirty="0"/>
                            <a:t>)</a:t>
                          </a:r>
                          <a:r>
                            <a:rPr kumimoji="1" lang="ja-JP" altLang="en-US" sz="2400" dirty="0"/>
                            <a:t>，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kumimoji="1" lang="en-US" altLang="ja-JP" sz="2400" b="1" i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sz="2400" b="1" i="0" smtClean="0">
                                          <a:latin typeface="Cambria Math" panose="02040503050406030204" pitchFamily="18" charset="0"/>
                                        </a:rPr>
                                        <m:t>𝐰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en-US" altLang="ja-JP" sz="2400" dirty="0"/>
                            <a:t>; </a:t>
                          </a:r>
                          <a:r>
                            <a:rPr kumimoji="1" lang="ja-JP" altLang="en-US" sz="2400" dirty="0"/>
                            <a:t>平均パラメータ，</a:t>
                          </a:r>
                          <a:endParaRPr kumimoji="1" lang="en-US" altLang="ja-JP" sz="2400" dirty="0"/>
                        </a:p>
                        <a:p>
                          <a:r>
                            <a:rPr kumimoji="1" lang="ja-JP" altLang="en-US" sz="2400" b="0" dirty="0"/>
                            <a:t>　　　　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oMath>
                          </a14:m>
                          <a:r>
                            <a:rPr kumimoji="1" lang="en-US" altLang="ja-JP" sz="2400" dirty="0"/>
                            <a:t>; </a:t>
                          </a:r>
                          <a:r>
                            <a:rPr kumimoji="1" lang="ja-JP" altLang="en-US" sz="2400" dirty="0"/>
                            <a:t>学習率，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oMath>
                          </a14:m>
                          <a:r>
                            <a:rPr kumimoji="1" lang="en-US" altLang="ja-JP" sz="2400" dirty="0"/>
                            <a:t>; </a:t>
                          </a:r>
                          <a:r>
                            <a:rPr kumimoji="1" lang="ja-JP" altLang="en-US" sz="2400" dirty="0"/>
                            <a:t>内分の割合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5989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400" dirty="0"/>
                            <a:t>For 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=0,1,…,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oMath>
                          </a14:m>
                          <a:r>
                            <a:rPr kumimoji="1" lang="en-US" altLang="ja-JP" sz="2400" dirty="0"/>
                            <a:t> Do</a:t>
                          </a:r>
                        </a:p>
                        <a:p>
                          <a:r>
                            <a:rPr kumimoji="1" lang="en-US" altLang="ja-JP" sz="2400" dirty="0"/>
                            <a:t>    </a:t>
                          </a:r>
                          <a:r>
                            <a:rPr kumimoji="1" lang="ja-JP" altLang="en-US" sz="2400" dirty="0"/>
                            <a:t>ミニバッチ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ℬ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ja-JP" altLang="en-US" sz="2400" dirty="0"/>
                            <a:t>をサンプリング</a:t>
                          </a:r>
                          <a:endParaRPr kumimoji="1" lang="en-US" altLang="ja-JP" sz="2400" dirty="0"/>
                        </a:p>
                        <a:p>
                          <a:r>
                            <a:rPr kumimoji="1" lang="en-US" altLang="ja-JP" sz="2400" b="0" dirty="0"/>
                            <a:t>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1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1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𝐲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kumimoji="1"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kumimoji="1"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kumimoji="1" lang="en-US" altLang="ja-JP" sz="2400" b="1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1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kumimoji="1"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kumimoji="1" lang="en-US" altLang="ja-JP" sz="2400" b="1" i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sz="2400" b="1" i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𝐰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en-US" altLang="ja-JP" sz="2400" dirty="0"/>
                            <a:t>; </a:t>
                          </a:r>
                          <a:r>
                            <a:rPr kumimoji="1" lang="ja-JP" altLang="en-US" sz="2400" dirty="0"/>
                            <a:t>内分パラメータ</a:t>
                          </a:r>
                          <a:endParaRPr kumimoji="1" lang="en-US" altLang="ja-JP" sz="240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sz="2400" dirty="0"/>
                            <a:t>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ja-JP" sz="2400" b="0" i="0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kumimoji="1" lang="en-US" altLang="ja-JP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ℬ</m:t>
                                      </m:r>
                                    </m:e>
                                    <m:sub>
                                      <m:r>
                                        <a:rPr kumimoji="1" lang="en-US" altLang="ja-JP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kumimoji="1" lang="en-US" altLang="ja-JP" sz="24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ja-JP" sz="2400" b="1" i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2400" b="1" i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𝐲</m:t>
                                      </m:r>
                                    </m:e>
                                    <m:sub>
                                      <m:r>
                                        <a:rPr kumimoji="1" lang="en-US" altLang="ja-JP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kumimoji="1" lang="en-US" altLang="ja-JP" sz="240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sz="2400" b="0" dirty="0"/>
                            <a:t>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kumimoji="1" lang="en-US" altLang="ja-JP" sz="2400" b="1" i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sz="2400" b="1" i="0" smtClean="0">
                                          <a:latin typeface="Cambria Math" panose="02040503050406030204" pitchFamily="18" charset="0"/>
                                        </a:rPr>
                                        <m:t>𝐰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num>
                                <m:den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kumimoji="1" lang="en-US" altLang="ja-JP" sz="2400" b="1" i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sz="2400" b="1" i="0" smtClean="0">
                                          <a:latin typeface="Cambria Math" panose="02040503050406030204" pitchFamily="18" charset="0"/>
                                        </a:rPr>
                                        <m:t>𝐰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oMath>
                          </a14:m>
                          <a:endParaRPr kumimoji="1" lang="ja-JP" altLang="en-US" sz="24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920196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400" b="1" dirty="0"/>
                            <a:t>Return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kumimoji="1" lang="en-US" altLang="ja-JP" sz="2400" b="1" i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sz="2400" b="1" i="0" smtClean="0">
                                          <a:latin typeface="Cambria Math" panose="02040503050406030204" pitchFamily="18" charset="0"/>
                                        </a:rPr>
                                        <m:t>𝐰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b>
                              </m:sSub>
                            </m:oMath>
                          </a14:m>
                          <a:endParaRPr kumimoji="1" lang="ja-JP" altLang="en-US" sz="24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01297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 4">
                <a:extLst>
                  <a:ext uri="{FF2B5EF4-FFF2-40B4-BE49-F238E27FC236}">
                    <a16:creationId xmlns:a16="http://schemas.microsoft.com/office/drawing/2014/main" id="{D2E9FE1B-9AD6-069E-D88A-6C60317DAFA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5888284"/>
                  </p:ext>
                </p:extLst>
              </p:nvPr>
            </p:nvGraphicFramePr>
            <p:xfrm>
              <a:off x="125969" y="2002203"/>
              <a:ext cx="9653463" cy="3852863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9653463">
                      <a:extLst>
                        <a:ext uri="{9D8B030D-6E8A-4147-A177-3AD203B41FA5}">
                          <a16:colId xmlns:a16="http://schemas.microsoft.com/office/drawing/2014/main" val="208667922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400" b="1" dirty="0"/>
                            <a:t>Algorithm</a:t>
                          </a:r>
                          <a:r>
                            <a:rPr kumimoji="1" lang="en-US" altLang="ja-JP" sz="2400" dirty="0"/>
                            <a:t> Schedule Free SGD</a:t>
                          </a:r>
                          <a:endParaRPr kumimoji="1" lang="ja-JP" altLang="en-US" sz="24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79654697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61481" r="-63" b="-3274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4598942"/>
                      </a:ext>
                    </a:extLst>
                  </a:tr>
                  <a:tr h="2115503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62644" r="-63" b="-270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201967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754667" r="-63" b="-25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012971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四角形吹き出し 5">
                <a:extLst>
                  <a:ext uri="{FF2B5EF4-FFF2-40B4-BE49-F238E27FC236}">
                    <a16:creationId xmlns:a16="http://schemas.microsoft.com/office/drawing/2014/main" id="{FE48E67C-0BD5-632A-61D2-50615D96E811}"/>
                  </a:ext>
                </a:extLst>
              </p:cNvPr>
              <p:cNvSpPr/>
              <p:nvPr/>
            </p:nvSpPr>
            <p:spPr>
              <a:xfrm>
                <a:off x="5329882" y="3236742"/>
                <a:ext cx="2075935" cy="780644"/>
              </a:xfrm>
              <a:prstGeom prst="wedgeRectCallout">
                <a:avLst>
                  <a:gd name="adj1" fmla="val -68750"/>
                  <a:gd name="adj2" fmla="val 33658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90000" rIns="90000" bIns="90000" rtlCol="0" anchor="ctr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ja-JP" alt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Gothic" panose="020B0400000000000000" pitchFamily="49" charset="-128"/>
                      </a:rPr>
                      <m:t>𝛾</m:t>
                    </m:r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Gothic" panose="020B0400000000000000" pitchFamily="49" charset="-128"/>
                      </a:rPr>
                      <m:t>=0</m:t>
                    </m:r>
                  </m:oMath>
                </a14:m>
                <a:r>
                  <a:rPr kumimoji="1" lang="ja-JP" altLang="en-US" sz="2400">
                    <a:solidFill>
                      <a:schemeClr val="tx1"/>
                    </a:solidFill>
                    <a:latin typeface="BIZ UDGothic" panose="020B0400000000000000" pitchFamily="49" charset="-128"/>
                    <a:ea typeface="BIZ UDGothic" panose="020B0400000000000000" pitchFamily="49" charset="-128"/>
                  </a:rPr>
                  <a:t>の時</a:t>
                </a:r>
                <a:r>
                  <a:rPr lang="en-US" altLang="ja-JP" sz="2400" dirty="0">
                    <a:solidFill>
                      <a:schemeClr val="tx1"/>
                    </a:solidFill>
                    <a:latin typeface="BIZ UDGothic" panose="020B0400000000000000" pitchFamily="49" charset="-128"/>
                    <a:ea typeface="BIZ UDGothic" panose="020B0400000000000000" pitchFamily="49" charset="-128"/>
                  </a:rPr>
                  <a:t>PRA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ja-JP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Gothic" panose="020B0400000000000000" pitchFamily="49" charset="-128"/>
                      </a:rPr>
                      <m:t>𝛾</m:t>
                    </m:r>
                    <m:r>
                      <a:rPr lang="en-US" altLang="ja-JP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Gothic" panose="020B0400000000000000" pitchFamily="49" charset="-128"/>
                      </a:rPr>
                      <m:t>=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Gothic" panose="020B0400000000000000" pitchFamily="49" charset="-128"/>
                      </a:rPr>
                      <m:t>1</m:t>
                    </m:r>
                  </m:oMath>
                </a14:m>
                <a:r>
                  <a:rPr lang="ja-JP" altLang="en-US" sz="2400">
                    <a:solidFill>
                      <a:schemeClr val="tx1"/>
                    </a:solidFill>
                    <a:latin typeface="BIZ UDGothic" panose="020B0400000000000000" pitchFamily="49" charset="-128"/>
                    <a:ea typeface="BIZ UDGothic" panose="020B0400000000000000" pitchFamily="49" charset="-128"/>
                  </a:rPr>
                  <a:t>の時</a:t>
                </a:r>
                <a:r>
                  <a:rPr lang="en-US" altLang="ja-JP" sz="2400" dirty="0">
                    <a:solidFill>
                      <a:schemeClr val="tx1"/>
                    </a:solidFill>
                    <a:latin typeface="BIZ UDGothic" panose="020B0400000000000000" pitchFamily="49" charset="-128"/>
                    <a:ea typeface="BIZ UDGothic" panose="020B0400000000000000" pitchFamily="49" charset="-128"/>
                  </a:rPr>
                  <a:t>PA</a:t>
                </a:r>
                <a:endParaRPr lang="ja-JP" altLang="en-US" sz="2400" dirty="0">
                  <a:solidFill>
                    <a:schemeClr val="tx1"/>
                  </a:solidFill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6" name="四角形吹き出し 5">
                <a:extLst>
                  <a:ext uri="{FF2B5EF4-FFF2-40B4-BE49-F238E27FC236}">
                    <a16:creationId xmlns:a16="http://schemas.microsoft.com/office/drawing/2014/main" id="{FE48E67C-0BD5-632A-61D2-50615D96E8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9882" y="3236742"/>
                <a:ext cx="2075935" cy="780644"/>
              </a:xfrm>
              <a:prstGeom prst="wedgeRectCallout">
                <a:avLst>
                  <a:gd name="adj1" fmla="val -68750"/>
                  <a:gd name="adj2" fmla="val 33658"/>
                </a:avLst>
              </a:prstGeom>
              <a:blipFill>
                <a:blip r:embed="rId3"/>
                <a:stretch>
                  <a:fillRect t="-10687" r="-1453" b="-1603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A0AD280-1459-24B6-AD9F-E8C4D33DE199}"/>
              </a:ext>
            </a:extLst>
          </p:cNvPr>
          <p:cNvSpPr txBox="1"/>
          <p:nvPr/>
        </p:nvSpPr>
        <p:spPr>
          <a:xfrm>
            <a:off x="125969" y="6527994"/>
            <a:ext cx="1194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[4] </a:t>
            </a:r>
            <a:r>
              <a:rPr lang="en-US" altLang="ja-JP" sz="1200" dirty="0" err="1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Defazio</a:t>
            </a:r>
            <a:r>
              <a:rPr lang="en-US" altLang="ja-JP" sz="12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, A., et al. "The road less scheduled." Advances in Neural Information Processing Systems 37, pp.9974-10007, 2024.</a:t>
            </a:r>
            <a:endParaRPr kumimoji="1" lang="en-US" altLang="ja-JP" sz="1200" dirty="0">
              <a:solidFill>
                <a:schemeClr val="bg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62923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A27EAE-1D15-2EBE-CDBD-F4E18FF89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Schedule</a:t>
            </a:r>
            <a:r>
              <a:rPr kumimoji="1" lang="ja-JP" altLang="en-US" dirty="0"/>
              <a:t> </a:t>
            </a:r>
            <a:r>
              <a:rPr kumimoji="1" lang="en-US" altLang="ja-JP" dirty="0"/>
              <a:t>Free</a:t>
            </a:r>
            <a:r>
              <a:rPr kumimoji="1" lang="ja-JP" altLang="en-US" dirty="0"/>
              <a:t> </a:t>
            </a:r>
            <a:r>
              <a:rPr kumimoji="1" lang="en-US" altLang="ja-JP" dirty="0"/>
              <a:t>SGD</a:t>
            </a:r>
            <a:r>
              <a:rPr kumimoji="1" lang="ja-JP" altLang="en-US" dirty="0"/>
              <a:t>の問題点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639FAFE-B272-F14F-0E8C-88F76F662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内分の割合がハイパーパラメータである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ja-JP" altLang="en-US"/>
              <a:t>内分パラメータで勾配を計算する技術的難易度が高い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38F88D0-3F4A-1A02-0C07-5E4C046A9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10</a:t>
            </a:fld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0D6828D-19CC-84DB-14BA-31919AE43E90}"/>
              </a:ext>
            </a:extLst>
          </p:cNvPr>
          <p:cNvSpPr/>
          <p:nvPr/>
        </p:nvSpPr>
        <p:spPr>
          <a:xfrm>
            <a:off x="399686" y="2476155"/>
            <a:ext cx="7937490" cy="44438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kumimoji="1"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内分パラメータを計算する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F5529E6-2572-6712-6893-B8F6CA04F13C}"/>
              </a:ext>
            </a:extLst>
          </p:cNvPr>
          <p:cNvSpPr/>
          <p:nvPr/>
        </p:nvSpPr>
        <p:spPr>
          <a:xfrm>
            <a:off x="399685" y="3133993"/>
            <a:ext cx="7937491" cy="44438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kumimoji="1"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モデルのパラメータを内分パラメータにセットする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0667621-9520-AAD7-02D8-FAE5B2087567}"/>
              </a:ext>
            </a:extLst>
          </p:cNvPr>
          <p:cNvSpPr/>
          <p:nvPr/>
        </p:nvSpPr>
        <p:spPr>
          <a:xfrm>
            <a:off x="399685" y="3791831"/>
            <a:ext cx="7937491" cy="4443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kumimoji="1"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誤差を計算する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0230476-D849-F758-1CF1-AAB52A28B551}"/>
              </a:ext>
            </a:extLst>
          </p:cNvPr>
          <p:cNvSpPr/>
          <p:nvPr/>
        </p:nvSpPr>
        <p:spPr>
          <a:xfrm>
            <a:off x="399685" y="4449669"/>
            <a:ext cx="7937491" cy="4443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kumimoji="1"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勾配を計算する</a:t>
            </a:r>
            <a:endParaRPr kumimoji="1" lang="en-US" altLang="ja-JP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305326D8-B1D3-62DE-D2FA-89F811E9F77D}"/>
                  </a:ext>
                </a:extLst>
              </p:cNvPr>
              <p:cNvSpPr/>
              <p:nvPr/>
            </p:nvSpPr>
            <p:spPr>
              <a:xfrm>
                <a:off x="399685" y="5107507"/>
                <a:ext cx="7937491" cy="44438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90000" rIns="90000" bIns="90000" rtlCol="0" anchor="ctr">
                <a:noAutofit/>
              </a:bodyPr>
              <a:lstStyle/>
              <a:p>
                <a:pPr algn="ctr"/>
                <a:r>
                  <a:rPr kumimoji="1" lang="ja-JP" altLang="en-US" sz="2400" dirty="0">
                    <a:solidFill>
                      <a:schemeClr val="tx1"/>
                    </a:solidFill>
                    <a:latin typeface="BIZ UDGothic" panose="020B0400000000000000" pitchFamily="49" charset="-128"/>
                    <a:ea typeface="BIZ UDGothic" panose="020B0400000000000000" pitchFamily="49" charset="-128"/>
                  </a:rPr>
                  <a:t>モデルのパラメータを真のパラメータ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BIZ UDGothic" panose="020B0400000000000000" pitchFamily="49" charset="-128"/>
                          </a:rPr>
                        </m:ctrlPr>
                      </m:sSubPr>
                      <m:e>
                        <m:r>
                          <a:rPr kumimoji="1" lang="en-US" altLang="ja-JP" sz="24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BIZ UDGothic" panose="020B0400000000000000" pitchFamily="49" charset="-128"/>
                          </a:rPr>
                          <m:t>𝐰</m:t>
                        </m:r>
                      </m:e>
                      <m:sub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BIZ UDGothic" panose="020B0400000000000000" pitchFamily="49" charset="-128"/>
                          </a:rPr>
                          <m:t>𝑘</m:t>
                        </m:r>
                      </m:sub>
                    </m:sSub>
                  </m:oMath>
                </a14:m>
                <a:r>
                  <a:rPr kumimoji="1" lang="ja-JP" altLang="en-US" sz="2400" dirty="0">
                    <a:solidFill>
                      <a:schemeClr val="tx1"/>
                    </a:solidFill>
                    <a:latin typeface="BIZ UDGothic" panose="020B0400000000000000" pitchFamily="49" charset="-128"/>
                    <a:ea typeface="BIZ UDGothic" panose="020B0400000000000000" pitchFamily="49" charset="-128"/>
                  </a:rPr>
                  <a:t>にセットする</a:t>
                </a:r>
                <a:endParaRPr kumimoji="1" lang="en-US" altLang="ja-JP" sz="2400" dirty="0">
                  <a:solidFill>
                    <a:schemeClr val="tx1"/>
                  </a:solidFill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305326D8-B1D3-62DE-D2FA-89F811E9F7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685" y="5107507"/>
                <a:ext cx="7937491" cy="444381"/>
              </a:xfrm>
              <a:prstGeom prst="rect">
                <a:avLst/>
              </a:prstGeom>
              <a:blipFill>
                <a:blip r:embed="rId2"/>
                <a:stretch>
                  <a:fillRect t="-14474" b="-25000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4C214DC-55E2-398E-7EB7-F7D32627C66D}"/>
              </a:ext>
            </a:extLst>
          </p:cNvPr>
          <p:cNvSpPr/>
          <p:nvPr/>
        </p:nvSpPr>
        <p:spPr>
          <a:xfrm>
            <a:off x="399685" y="5765345"/>
            <a:ext cx="7937491" cy="4443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kumimoji="1"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真のパラメータを更新する</a:t>
            </a:r>
            <a:endParaRPr kumimoji="1" lang="en-US" altLang="ja-JP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32C4B8F1-D728-B21D-EB2C-50BCCC57DD93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4368431" y="2920536"/>
            <a:ext cx="0" cy="2134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C2361A25-F8C0-7A07-FC31-3E1AE1CAD411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4368431" y="3578374"/>
            <a:ext cx="0" cy="2134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F79F7C63-BD66-2687-C34F-FD8642EA5A93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4368431" y="4236212"/>
            <a:ext cx="0" cy="2134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07910DFF-09CC-E3F3-0333-9D771E6B6C0D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4368431" y="4894050"/>
            <a:ext cx="0" cy="2134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232E5A9F-A20E-DF3C-0188-84E31B1EECDF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4368431" y="5551888"/>
            <a:ext cx="0" cy="2134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61256994-411D-F6F3-BE32-A4A68F1D857E}"/>
              </a:ext>
            </a:extLst>
          </p:cNvPr>
          <p:cNvCxnSpPr>
            <a:cxnSpLocks/>
            <a:stCxn id="11" idx="2"/>
            <a:endCxn id="5" idx="1"/>
          </p:cNvCxnSpPr>
          <p:nvPr/>
        </p:nvCxnSpPr>
        <p:spPr>
          <a:xfrm rot="5400000" flipH="1">
            <a:off x="628369" y="2469664"/>
            <a:ext cx="3511380" cy="3968745"/>
          </a:xfrm>
          <a:prstGeom prst="bentConnector4">
            <a:avLst>
              <a:gd name="adj1" fmla="val -3200"/>
              <a:gd name="adj2" fmla="val 10576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四角形吹き出し 29">
                <a:extLst>
                  <a:ext uri="{FF2B5EF4-FFF2-40B4-BE49-F238E27FC236}">
                    <a16:creationId xmlns:a16="http://schemas.microsoft.com/office/drawing/2014/main" id="{3AB8899C-3D05-658B-E5CE-90FD48045633}"/>
                  </a:ext>
                </a:extLst>
              </p:cNvPr>
              <p:cNvSpPr/>
              <p:nvPr/>
            </p:nvSpPr>
            <p:spPr>
              <a:xfrm>
                <a:off x="6792539" y="3848159"/>
                <a:ext cx="5060583" cy="776105"/>
              </a:xfrm>
              <a:prstGeom prst="wedgeRectCallout">
                <a:avLst>
                  <a:gd name="adj1" fmla="val -33389"/>
                  <a:gd name="adj2" fmla="val -69959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90000" rIns="90000" bIns="90000" rtlCol="0" anchor="ctr">
                <a:noAutofit/>
              </a:bodyPr>
              <a:lstStyle/>
              <a:p>
                <a:pPr algn="ctr"/>
                <a:r>
                  <a:rPr lang="ja-JP" altLang="en-US" sz="2400" dirty="0">
                    <a:solidFill>
                      <a:schemeClr val="tx1"/>
                    </a:solidFill>
                    <a:latin typeface="BIZ UDGothic" panose="020B0400000000000000" pitchFamily="49" charset="-128"/>
                    <a:ea typeface="BIZ UDGothic" panose="020B0400000000000000" pitchFamily="49" charset="-128"/>
                  </a:rPr>
                  <a:t>真のパラメータ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BIZ UDGothic" panose="020B0400000000000000" pitchFamily="49" charset="-128"/>
                          </a:rPr>
                        </m:ctrlPr>
                      </m:sSubPr>
                      <m:e>
                        <m:r>
                          <a:rPr lang="en-US" altLang="ja-JP" sz="24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BIZ UDGothic" panose="020B0400000000000000" pitchFamily="49" charset="-128"/>
                          </a:rPr>
                          <m:t>𝐰</m:t>
                        </m:r>
                      </m:e>
                      <m:sub>
                        <m: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BIZ UDGothic" panose="020B0400000000000000" pitchFamily="49" charset="-128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  <a:latin typeface="BIZ UDGothic" panose="020B0400000000000000" pitchFamily="49" charset="-128"/>
                    <a:ea typeface="BIZ UDGothic" panose="020B0400000000000000" pitchFamily="49" charset="-128"/>
                  </a:rPr>
                  <a:t>での勾配のみで表現できればプログラムが効率化</a:t>
                </a:r>
              </a:p>
            </p:txBody>
          </p:sp>
        </mc:Choice>
        <mc:Fallback xmlns="">
          <p:sp>
            <p:nvSpPr>
              <p:cNvPr id="30" name="四角形吹き出し 29">
                <a:extLst>
                  <a:ext uri="{FF2B5EF4-FFF2-40B4-BE49-F238E27FC236}">
                    <a16:creationId xmlns:a16="http://schemas.microsoft.com/office/drawing/2014/main" id="{3AB8899C-3D05-658B-E5CE-90FD480456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539" y="3848159"/>
                <a:ext cx="5060583" cy="776105"/>
              </a:xfrm>
              <a:prstGeom prst="wedgeRectCallout">
                <a:avLst>
                  <a:gd name="adj1" fmla="val -33389"/>
                  <a:gd name="adj2" fmla="val -69959"/>
                </a:avLst>
              </a:prstGeom>
              <a:blipFill>
                <a:blip r:embed="rId3"/>
                <a:stretch>
                  <a:fillRect b="-1528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9305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2FC44D-F633-1664-2F68-895014CA6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ADDF1780-A617-9A4D-808D-DA9455A09D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ja-JP" altLang="en-US" dirty="0"/>
                  <a:t>内分パラメータでの勾配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ja-JP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lang="en-US" altLang="ja-JP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ja-JP" altLang="en-US" dirty="0"/>
                  <a:t>を，パラメータでの勾配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ja-JP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altLang="ja-JP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ja-JP" altLang="en-US" dirty="0"/>
                  <a:t>で表現する</a:t>
                </a:r>
                <a:endParaRPr kumimoji="1" lang="en-US" altLang="ja-JP" dirty="0"/>
              </a:p>
              <a:p>
                <a:pPr marL="0" indent="0">
                  <a:buNone/>
                </a:pPr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ja-JP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</m:d>
                    <m:sSub>
                      <m:sSubPr>
                        <m:ctrlPr>
                          <a:rPr lang="en-US" altLang="ja-JP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ja-JP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ja-JP" b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acc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ja-JP" altLang="en-US" dirty="0"/>
                  <a:t>より，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ja-JP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b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ja-JP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b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ja-JP" b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b="1">
                                        <a:latin typeface="Cambria Math" panose="02040503050406030204" pitchFamily="18" charset="0"/>
                                      </a:rPr>
                                      <m:t>𝐰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b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b="1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①</a:t>
                </a:r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kumimoji="1" lang="en-US" altLang="ja-JP" dirty="0"/>
                  <a:t>①</a:t>
                </a:r>
                <a:r>
                  <a:rPr kumimoji="1" lang="ja-JP" altLang="en-US" dirty="0"/>
                  <a:t>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kumimoji="1" lang="ja-JP" altLang="en-US" dirty="0"/>
                  <a:t>の周りで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次の項まで</a:t>
                </a:r>
                <a:r>
                  <a:rPr kumimoji="1" lang="ja-JP" altLang="en-US" dirty="0"/>
                  <a:t>テーラー展開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ja-JP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b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sSup>
                      <m:sSup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b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ja-JP" b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b="1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b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en-US" altLang="ja-JP" dirty="0"/>
                  <a:t> ②</a:t>
                </a:r>
              </a:p>
              <a:p>
                <a:pPr marL="0" indent="0">
                  <a:buNone/>
                </a:pPr>
                <a:endParaRPr kumimoji="1" lang="ja-JP" altLang="en-US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ADDF1780-A617-9A4D-808D-DA9455A09D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3" t="-16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9918D32-9053-C209-095D-81DA9D372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9241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98D42E-AE12-EBC0-0D30-25FA707AB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C7FB14CE-A69E-013B-E9CD-19BA840571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mtClean="0"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ja-JP" b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b="1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ja-JP" altLang="en-US" dirty="0"/>
                  <a:t>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ja-JP" altLang="en-US" dirty="0"/>
                  <a:t>の周りで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次の項までテーラー展開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ja-JP" b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b="1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b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b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ja-JP" b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b="1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b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ja-JP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b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ja-JP" b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b="1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b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ja-JP" b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b="1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ja-JP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b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en-US" altLang="ja-JP" dirty="0"/>
                  <a:t> ③</a:t>
                </a:r>
              </a:p>
              <a:p>
                <a:pPr marL="0" indent="0">
                  <a:buNone/>
                </a:pPr>
                <a:endParaRPr kumimoji="1" lang="en-US" altLang="ja-JP" dirty="0"/>
              </a:p>
              <a:p>
                <a:pPr marL="0" indent="0">
                  <a:buNone/>
                </a:pPr>
                <a:r>
                  <a:rPr lang="en-US" altLang="ja-JP" dirty="0"/>
                  <a:t>③</a:t>
                </a:r>
                <a:r>
                  <a:rPr lang="ja-JP" altLang="en-US" dirty="0"/>
                  <a:t>を</a:t>
                </a:r>
                <a:r>
                  <a:rPr lang="en-US" altLang="ja-JP" dirty="0"/>
                  <a:t>②</a:t>
                </a:r>
                <a:r>
                  <a:rPr lang="ja-JP" altLang="en-US" dirty="0"/>
                  <a:t>に代入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ja-JP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b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d>
                      <m:dPr>
                        <m:begChr m:val="{"/>
                        <m:endChr m:val="}"/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∇</m:t>
                        </m:r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ℬ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ja-JP" b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b="1">
                                        <a:latin typeface="Cambria Math" panose="02040503050406030204" pitchFamily="18" charset="0"/>
                                      </a:rPr>
                                      <m:t>𝐰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lang="en-US" altLang="ja-JP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∇</m:t>
                        </m:r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ℬ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b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b="1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kumimoji="1" lang="en-US" altLang="ja-JP" dirty="0"/>
                  <a:t> </a:t>
                </a:r>
              </a:p>
              <a:p>
                <a:pPr marL="0" indent="0">
                  <a:buNone/>
                </a:pPr>
                <a:r>
                  <a:rPr lang="ja-JP" altLang="en-US" dirty="0"/>
                  <a:t>　　　　</a:t>
                </a:r>
                <a:r>
                  <a:rPr lang="en-US" altLang="ja-JP" sz="1400" dirty="0"/>
                  <a:t>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</m:d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b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ja-JP" b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b="1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en-US" altLang="ja-JP" dirty="0"/>
                  <a:t> ④</a:t>
                </a:r>
              </a:p>
              <a:p>
                <a:pPr marL="0" indent="0">
                  <a:buNone/>
                </a:pPr>
                <a:r>
                  <a:rPr kumimoji="1" lang="ja-JP" altLang="en-US" dirty="0"/>
                  <a:t>内分パラメータでの勾配は，</a:t>
                </a:r>
                <a:r>
                  <a:rPr kumimoji="1" lang="ja-JP" altLang="en-US" dirty="0">
                    <a:solidFill>
                      <a:srgbClr val="FF0000"/>
                    </a:solidFill>
                  </a:rPr>
                  <a:t>パラメータでの勾配と平均パラメータでの勾配の内分</a:t>
                </a:r>
                <a:r>
                  <a:rPr kumimoji="1" lang="ja-JP" altLang="en-US" dirty="0"/>
                  <a:t>で表せる</a:t>
                </a:r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C7FB14CE-A69E-013B-E9CD-19BA840571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4" t="-1591" r="-95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AB58584-25AA-9802-3534-F7E5F7A9A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5110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BD0BA1-02FE-C384-8C3B-11CEC5330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8C903B1F-C4A1-DC86-E5A7-4479B550B6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kumimoji="1" lang="ja-JP" altLang="en-US" dirty="0"/>
                  <a:t>ミニバッチで計算する勾配は全データで計算する勾配の不偏推定量と考える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ja-JP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ja-JP" altLang="en-US" i="1" smtClean="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ℬ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ja-JP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ja-JP">
                              <a:latin typeface="Cambria Math" panose="02040503050406030204" pitchFamily="18" charset="0"/>
                            </a:rPr>
                            <m:t>∇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ℬ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b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1"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ja-JP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𝒟</m:t>
                          </m:r>
                        </m:sub>
                      </m:sSub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1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1" lang="en-US" altLang="ja-JP" dirty="0"/>
              </a:p>
              <a:p>
                <a:pPr marL="0" indent="0">
                  <a:buNone/>
                </a:pPr>
                <a:endParaRPr kumimoji="1" lang="en-US" altLang="ja-JP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b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ja-JP" altLang="en-US" dirty="0"/>
                  <a:t>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ja-JP" b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acc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ja-JP" altLang="en-US" dirty="0"/>
                  <a:t>の周りで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次の項までテーラー展開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ja-JP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𝒟</m:t>
                          </m:r>
                        </m:sub>
                      </m:sSub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1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m:rPr>
                          <m:sty m:val="p"/>
                        </m:rPr>
                        <a:rPr lang="en-US" altLang="ja-JP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𝒟</m:t>
                          </m:r>
                        </m:sub>
                      </m:sSub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ja-JP" b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b="1"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ja-JP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ja-JP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𝒟</m:t>
                          </m:r>
                        </m:sub>
                      </m:sSub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ja-JP" b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b="1"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1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1" i="0" smtClean="0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ja-JP" b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b="1"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1"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よって，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sz="27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sz="27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1" lang="en-US" altLang="ja-JP" sz="27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  <m:nary>
                      <m:naryPr>
                        <m:chr m:val="∑"/>
                        <m:ctrlPr>
                          <a:rPr kumimoji="1" lang="en-US" altLang="ja-JP" sz="27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1" lang="en-US" altLang="ja-JP" sz="27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kumimoji="1" lang="en-US" altLang="ja-JP" sz="27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ja-JP" sz="2700">
                            <a:latin typeface="Cambria Math" panose="02040503050406030204" pitchFamily="18" charset="0"/>
                          </a:rPr>
                          <m:t>∇</m:t>
                        </m:r>
                        <m:sSub>
                          <m:sSubPr>
                            <m:ctrlPr>
                              <a:rPr lang="en-US" altLang="ja-JP" sz="2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7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ja-JP" sz="2700" i="1">
                                <a:latin typeface="Cambria Math" panose="02040503050406030204" pitchFamily="18" charset="0"/>
                              </a:rPr>
                              <m:t>𝒟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sz="27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sz="2700" b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700" b="1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altLang="ja-JP" sz="27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altLang="ja-JP" sz="2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US" altLang="ja-JP" sz="2700"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altLang="ja-JP" sz="2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7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ja-JP" sz="2700" i="1">
                            <a:latin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ctrlPr>
                          <a:rPr lang="en-US" altLang="ja-JP" sz="2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ja-JP" sz="2700" b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2700" b="1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ja-JP" sz="27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ja-JP" sz="27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7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ja-JP" sz="270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p>
                        <m:r>
                          <a:rPr lang="en-US" altLang="ja-JP" sz="27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altLang="ja-JP" sz="2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7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ja-JP" sz="2700" i="1">
                            <a:latin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ja-JP" sz="2400" b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2400" b="1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altLang="ja-JP" sz="2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ja-JP" sz="27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7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sz="27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ja-JP" sz="27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altLang="ja-JP" sz="27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ja-JP" sz="27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ja-JP" sz="27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altLang="ja-JP" sz="27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  <m:e>
                            <m:d>
                              <m:dPr>
                                <m:ctrlPr>
                                  <a:rPr lang="en-US" altLang="ja-JP" sz="27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sz="2700" b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2700" b="1">
                                        <a:latin typeface="Cambria Math" panose="02040503050406030204" pitchFamily="18" charset="0"/>
                                      </a:rPr>
                                      <m:t>𝐰</m:t>
                                    </m:r>
                                  </m:e>
                                  <m:sub>
                                    <m:r>
                                      <a:rPr lang="en-US" altLang="ja-JP" sz="27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sz="27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sz="2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ja-JP" sz="2700" b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sz="2700" b="1">
                                            <a:latin typeface="Cambria Math" panose="02040503050406030204" pitchFamily="18" charset="0"/>
                                          </a:rPr>
                                          <m:t>𝐰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ja-JP" sz="27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d>
                    <m:r>
                      <a:rPr lang="en-US" altLang="ja-JP" sz="2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ja-JP" sz="2700"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altLang="ja-JP" sz="2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7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ja-JP" sz="2700" i="1">
                            <a:latin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ctrlPr>
                          <a:rPr lang="en-US" altLang="ja-JP" sz="2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ja-JP" sz="2700" b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2700" b="1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ja-JP" sz="27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en-US" altLang="ja-JP" sz="2700" dirty="0"/>
                  <a:t> ⑤</a:t>
                </a:r>
              </a:p>
              <a:p>
                <a:pPr marL="0" indent="0">
                  <a:buNone/>
                </a:pPr>
                <a:r>
                  <a:rPr lang="ja-JP" altLang="en-US" dirty="0"/>
                  <a:t>期待値レベルの話では平均パラメータの勾配は勾配の平均で求められる</a:t>
                </a:r>
                <a:endParaRPr kumimoji="1" lang="en-US" altLang="ja-JP" dirty="0"/>
              </a:p>
              <a:p>
                <a:pPr marL="0" indent="0">
                  <a:buNone/>
                </a:pPr>
                <a:endParaRPr kumimoji="1" lang="ja-JP" altLang="en-US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8C903B1F-C4A1-DC86-E5A7-4479B550B6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3" t="-1095" r="-86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FA2971A-5CEB-3311-5B28-7EFDFA7CD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13</a:t>
            </a:fld>
            <a:endParaRPr kumimoji="1" lang="ja-JP" altLang="en-US"/>
          </a:p>
        </p:txBody>
      </p:sp>
      <p:sp>
        <p:nvSpPr>
          <p:cNvPr id="5" name="四角形吹き出し 4">
            <a:extLst>
              <a:ext uri="{FF2B5EF4-FFF2-40B4-BE49-F238E27FC236}">
                <a16:creationId xmlns:a16="http://schemas.microsoft.com/office/drawing/2014/main" id="{3D376ED2-A55A-4F68-5804-E6E9E703A0AC}"/>
              </a:ext>
            </a:extLst>
          </p:cNvPr>
          <p:cNvSpPr/>
          <p:nvPr/>
        </p:nvSpPr>
        <p:spPr>
          <a:xfrm>
            <a:off x="7201587" y="3945924"/>
            <a:ext cx="3616411" cy="428368"/>
          </a:xfrm>
          <a:prstGeom prst="wedgeRectCallout">
            <a:avLst>
              <a:gd name="adj1" fmla="val -33215"/>
              <a:gd name="adj2" fmla="val 6827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平均となり打ち消される</a:t>
            </a:r>
            <a:endParaRPr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8435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D75BB0-9200-229A-1AFC-7D7352134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DDDDDC96-DA7C-FBA6-D8F5-10DC9BC907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kumimoji="1" lang="en-US" altLang="ja-JP" dirty="0"/>
                  <a:t>⑤</a:t>
                </a:r>
                <a:r>
                  <a:rPr kumimoji="1" lang="ja-JP" altLang="en-US" dirty="0"/>
                  <a:t>を</a:t>
                </a:r>
                <a:r>
                  <a:rPr kumimoji="1" lang="en-US" altLang="ja-JP" dirty="0"/>
                  <a:t>④</a:t>
                </a:r>
                <a:r>
                  <a:rPr kumimoji="1" lang="ja-JP" altLang="en-US" dirty="0"/>
                  <a:t>に代入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∇</m:t>
                        </m:r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ℬ</m:t>
                                </m:r>
                              </m:e>
                              <m: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b="1" i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b="1" i="0" smtClean="0">
                                    <a:latin typeface="Cambria Math" panose="02040503050406030204" pitchFamily="18" charset="0"/>
                                  </a:rPr>
                                  <m:t>𝐲</m:t>
                                </m:r>
                              </m:e>
                              <m: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</m:d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∇</m:t>
                        </m:r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ℬ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b="1" i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∇</m:t>
                        </m:r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ℬ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ja-JP" b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b="1">
                                        <a:latin typeface="Cambria Math" panose="02040503050406030204" pitchFamily="18" charset="0"/>
                                      </a:rPr>
                                      <m:t>𝐰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kumimoji="1" lang="en-US" altLang="ja-JP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b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1"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</m:d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b="1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1" i="0" smtClean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d>
                      <m:dPr>
                        <m:begChr m:val="{"/>
                        <m:endChr m:val="}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ja-JP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 altLang="ja-JP">
                                <a:latin typeface="Cambria Math" panose="02040503050406030204" pitchFamily="18" charset="0"/>
                              </a:rPr>
                              <m:t>∇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𝒟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b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1">
                                        <a:latin typeface="Cambria Math" panose="02040503050406030204" pitchFamily="18" charset="0"/>
                                      </a:rPr>
                                      <m:t>𝐰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d>
                  </m:oMath>
                </a14:m>
                <a:r>
                  <a:rPr kumimoji="1" lang="en-US" altLang="ja-JP" dirty="0"/>
                  <a:t> </a:t>
                </a:r>
              </a:p>
              <a:p>
                <a:pPr marL="0" indent="0">
                  <a:buNone/>
                </a:pPr>
                <a:r>
                  <a:rPr kumimoji="1" lang="ja-JP" altLang="en-US" dirty="0"/>
                  <a:t>内分点での勾配をパラメータでの勾配で表せた</a:t>
                </a:r>
                <a:endParaRPr kumimoji="1" lang="en-US" altLang="ja-JP" dirty="0"/>
              </a:p>
              <a:p>
                <a:pPr marL="0" indent="0">
                  <a:buNone/>
                </a:pPr>
                <a:endParaRPr kumimoji="1" lang="ja-JP" altLang="en-US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DDDDDC96-DA7C-FBA6-D8F5-10DC9BC907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4" t="-9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8B9D491-4FD7-B24A-3CA8-DFC0419FD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1374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E5C6C-A3D5-C723-C62F-2AAAFB490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コンテンツ プレースホルダー 2">
                <a:extLst>
                  <a:ext uri="{FF2B5EF4-FFF2-40B4-BE49-F238E27FC236}">
                    <a16:creationId xmlns:a16="http://schemas.microsoft.com/office/drawing/2014/main" id="{AD859327-50E6-C7DD-551C-2A24BB4267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5968" y="813577"/>
                <a:ext cx="12066031" cy="556375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kumimoji="1" sz="2800" kern="1200">
                    <a:solidFill>
                      <a:schemeClr val="tx1"/>
                    </a:solidFill>
                    <a:latin typeface="BIZ UDGothic" panose="020B0400000000000000" pitchFamily="49" charset="-128"/>
                    <a:ea typeface="BIZ UDGothic" panose="020B0400000000000000" pitchFamily="49" charset="-128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BIZ UDGothic" panose="020B0400000000000000" pitchFamily="49" charset="-128"/>
                    <a:ea typeface="BIZ UDGothic" panose="020B0400000000000000" pitchFamily="49" charset="-128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BIZ UDGothic" panose="020B0400000000000000" pitchFamily="49" charset="-128"/>
                    <a:ea typeface="BIZ UDGothic" panose="020B0400000000000000" pitchFamily="49" charset="-128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BIZ UDGothic" panose="020B0400000000000000" pitchFamily="49" charset="-128"/>
                    <a:ea typeface="BIZ UDGothic" panose="020B0400000000000000" pitchFamily="49" charset="-128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BIZ UDGothic" panose="020B0400000000000000" pitchFamily="49" charset="-128"/>
                    <a:ea typeface="BIZ UDGothic" panose="020B0400000000000000" pitchFamily="49" charset="-128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ja-JP" altLang="en-US" dirty="0"/>
                  <a:t>各反復の勾配を平均した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平均勾配を導入</a:t>
                </a:r>
                <a:endParaRPr lang="en-US" altLang="ja-JP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ja-JP" altLang="en-US" dirty="0"/>
                  <a:t>真のパラメータ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ja-JP" altLang="en-US" dirty="0"/>
                  <a:t>での勾配と平均勾配で内分パラメータでの勾配を近似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6" name="コンテンツ プレースホルダー 2">
                <a:extLst>
                  <a:ext uri="{FF2B5EF4-FFF2-40B4-BE49-F238E27FC236}">
                    <a16:creationId xmlns:a16="http://schemas.microsoft.com/office/drawing/2014/main" id="{AD859327-50E6-C7DD-551C-2A24BB426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8" y="813577"/>
                <a:ext cx="12066031" cy="5563759"/>
              </a:xfrm>
              <a:prstGeom prst="rect">
                <a:avLst/>
              </a:prstGeom>
              <a:blipFill>
                <a:blip r:embed="rId2"/>
                <a:stretch>
                  <a:fillRect l="-1052" t="-9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タイトル 1">
            <a:extLst>
              <a:ext uri="{FF2B5EF4-FFF2-40B4-BE49-F238E27FC236}">
                <a16:creationId xmlns:a16="http://schemas.microsoft.com/office/drawing/2014/main" id="{093C1689-C779-13D0-20EE-708A97E6E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提案手法</a:t>
            </a:r>
            <a:r>
              <a:rPr kumimoji="1" lang="en-US" altLang="ja-JP" dirty="0"/>
              <a:t>; Interpolated Schedule Free SGD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90AEA4A-2574-C9F4-D289-C987365D1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dirty="0"/>
              <a:t> 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E2CD0AB-BB72-6333-5C18-70F3FFDD4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 4">
                <a:extLst>
                  <a:ext uri="{FF2B5EF4-FFF2-40B4-BE49-F238E27FC236}">
                    <a16:creationId xmlns:a16="http://schemas.microsoft.com/office/drawing/2014/main" id="{0C4A0FEE-3119-6E0D-C590-424E249E30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5995723"/>
                  </p:ext>
                </p:extLst>
              </p:nvPr>
            </p:nvGraphicFramePr>
            <p:xfrm>
              <a:off x="125967" y="2005251"/>
              <a:ext cx="9699956" cy="403917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9699956">
                      <a:extLst>
                        <a:ext uri="{9D8B030D-6E8A-4147-A177-3AD203B41FA5}">
                          <a16:colId xmlns:a16="http://schemas.microsoft.com/office/drawing/2014/main" val="208667922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400" b="1" dirty="0"/>
                            <a:t>Algorithm</a:t>
                          </a:r>
                          <a:r>
                            <a:rPr kumimoji="1" lang="en-US" altLang="ja-JP" sz="2400" dirty="0"/>
                            <a:t> Interpolated Schedule Free SGD</a:t>
                          </a:r>
                          <a:endParaRPr kumimoji="1" lang="ja-JP" altLang="en-US" sz="240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796546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400" b="1" dirty="0"/>
                            <a:t>Require</a:t>
                          </a:r>
                          <a:r>
                            <a:rPr kumimoji="1" lang="en-US" altLang="ja-JP" sz="240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en-US" altLang="ja-JP" sz="2400" dirty="0"/>
                            <a:t>; </a:t>
                          </a:r>
                          <a:r>
                            <a:rPr kumimoji="1" lang="ja-JP" altLang="en-US" sz="2400" dirty="0"/>
                            <a:t>パラメータの初期値</a:t>
                          </a:r>
                          <a:r>
                            <a:rPr kumimoji="1" lang="en-US" altLang="ja-JP" sz="2400" dirty="0"/>
                            <a:t>(</a:t>
                          </a:r>
                          <a:r>
                            <a:rPr kumimoji="1" lang="ja-JP" altLang="en-US" sz="2400" dirty="0"/>
                            <a:t>乱数</a:t>
                          </a:r>
                          <a:r>
                            <a:rPr kumimoji="1" lang="en-US" altLang="ja-JP" sz="2400" dirty="0"/>
                            <a:t>)</a:t>
                          </a:r>
                          <a:r>
                            <a:rPr kumimoji="1" lang="ja-JP" altLang="en-US" sz="2400" dirty="0"/>
                            <a:t>，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kumimoji="1" lang="en-US" altLang="ja-JP" sz="2400" b="1" i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sz="2400" b="1" i="0" smtClean="0">
                                          <a:latin typeface="Cambria Math" panose="02040503050406030204" pitchFamily="18" charset="0"/>
                                        </a:rPr>
                                        <m:t>𝐰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en-US" altLang="ja-JP" sz="2400" dirty="0"/>
                            <a:t>; </a:t>
                          </a:r>
                          <a:r>
                            <a:rPr kumimoji="1" lang="ja-JP" altLang="en-US" sz="2400" dirty="0"/>
                            <a:t>平均パラメータ，</a:t>
                          </a:r>
                          <a:endParaRPr kumimoji="1" lang="en-US" altLang="ja-JP" sz="2400" dirty="0"/>
                        </a:p>
                        <a:p>
                          <a:r>
                            <a:rPr kumimoji="1" lang="ja-JP" altLang="en-US" sz="2400" b="0" dirty="0"/>
                            <a:t>　　　　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kumimoji="1" lang="en-US" altLang="ja-JP" sz="2400" b="1" i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sz="2400" b="1" i="0" smtClean="0">
                                          <a:latin typeface="Cambria Math" panose="02040503050406030204" pitchFamily="18" charset="0"/>
                                        </a:rPr>
                                        <m:t>𝐠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24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r>
                            <a:rPr kumimoji="1" lang="en-US" altLang="ja-JP" sz="2400" dirty="0"/>
                            <a:t>; </a:t>
                          </a:r>
                          <a:r>
                            <a:rPr kumimoji="1" lang="ja-JP" altLang="en-US" sz="2400" dirty="0"/>
                            <a:t>平均勾配，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oMath>
                          </a14:m>
                          <a:r>
                            <a:rPr kumimoji="1" lang="en-US" altLang="ja-JP" sz="2400" dirty="0"/>
                            <a:t>; </a:t>
                          </a:r>
                          <a:r>
                            <a:rPr kumimoji="1" lang="ja-JP" altLang="en-US" sz="2400" dirty="0"/>
                            <a:t>学習率，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oMath>
                          </a14:m>
                          <a:r>
                            <a:rPr kumimoji="1" lang="en-US" altLang="ja-JP" sz="2400" dirty="0"/>
                            <a:t>; </a:t>
                          </a:r>
                          <a:r>
                            <a:rPr kumimoji="1" lang="ja-JP" altLang="en-US" sz="2400" dirty="0"/>
                            <a:t>内分の割合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5989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400" dirty="0"/>
                            <a:t>For 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=0,1,…,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oMath>
                          </a14:m>
                          <a:r>
                            <a:rPr kumimoji="1" lang="en-US" altLang="ja-JP" sz="2400" dirty="0"/>
                            <a:t> Do</a:t>
                          </a:r>
                        </a:p>
                        <a:p>
                          <a:r>
                            <a:rPr kumimoji="1" lang="en-US" altLang="ja-JP" sz="2400" dirty="0"/>
                            <a:t>    </a:t>
                          </a:r>
                          <a:r>
                            <a:rPr kumimoji="1" lang="ja-JP" altLang="en-US" sz="2400" dirty="0"/>
                            <a:t>ミニバッチ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ℬ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ja-JP" altLang="en-US" sz="2400" dirty="0"/>
                            <a:t>をサンプリング</a:t>
                          </a:r>
                          <a:endParaRPr kumimoji="1" lang="en-US" altLang="ja-JP" sz="2400" dirty="0"/>
                        </a:p>
                        <a:p>
                          <a:r>
                            <a:rPr kumimoji="1" lang="en-US" altLang="ja-JP" sz="2400" b="0" dirty="0"/>
                            <a:t>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kumimoji="1" lang="en-US" altLang="ja-JP" sz="2400" b="1" i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sz="2400" b="1" i="0" smtClean="0">
                                          <a:latin typeface="Cambria Math" panose="02040503050406030204" pitchFamily="18" charset="0"/>
                                        </a:rPr>
                                        <m:t>𝐠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num>
                                <m:den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kumimoji="1" lang="en-US" altLang="ja-JP" sz="2400" b="1" i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sz="2400" b="1" i="0" smtClean="0">
                                          <a:latin typeface="Cambria Math" panose="02040503050406030204" pitchFamily="18" charset="0"/>
                                        </a:rPr>
                                        <m:t>𝐠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kumimoji="1" lang="en-US" altLang="ja-JP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kumimoji="1" lang="en-US" altLang="ja-JP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ℬ</m:t>
                                      </m:r>
                                    </m:e>
                                    <m:sub>
                                      <m:r>
                                        <a:rPr kumimoji="1" lang="en-US" altLang="ja-JP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kumimoji="1" lang="en-US" altLang="ja-JP" sz="24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ja-JP" sz="2400" b="1" i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2400" b="1" i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𝐰</m:t>
                                      </m:r>
                                    </m:e>
                                    <m:sub>
                                      <m:r>
                                        <a:rPr kumimoji="1" lang="en-US" altLang="ja-JP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kumimoji="1" lang="en-US" altLang="ja-JP" sz="240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sz="2400" dirty="0"/>
                            <a:t>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kumimoji="1" lang="en-US" altLang="ja-JP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kumimoji="1" lang="en-US" altLang="ja-JP" sz="24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ja-JP" sz="24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kumimoji="1" lang="en-US" altLang="ja-JP" sz="24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kumimoji="1" lang="en-US" altLang="ja-JP" sz="24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∇</m:t>
                                  </m:r>
                                  <m:sSub>
                                    <m:sSubPr>
                                      <m:ctrlPr>
                                        <a:rPr kumimoji="1" lang="en-US" altLang="ja-JP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kumimoji="1" lang="en-US" altLang="ja-JP" sz="2400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ja-JP" sz="2400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ℬ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ja-JP" sz="2400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sub>
                                  </m:sSub>
                                  <m:d>
                                    <m:dPr>
                                      <m:ctrlPr>
                                        <a:rPr kumimoji="1" lang="en-US" altLang="ja-JP" sz="24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ja-JP" sz="2400" b="1" i="0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ja-JP" sz="2400" b="1" i="0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𝐰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ja-JP" sz="2400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kumimoji="1" lang="en-US" altLang="ja-JP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kumimoji="1" lang="en-US" altLang="ja-JP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  <m:sSub>
                                    <m:sSubPr>
                                      <m:ctrlPr>
                                        <a:rPr kumimoji="1" lang="en-US" altLang="ja-JP" sz="24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kumimoji="1" lang="en-US" altLang="ja-JP" sz="2400" b="1" i="0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kumimoji="1" lang="en-US" altLang="ja-JP" sz="2400" b="1" i="0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𝐠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kumimoji="1" lang="en-US" altLang="ja-JP" sz="24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kumimoji="1" lang="en-US" altLang="ja-JP" sz="24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kumimoji="1" lang="en-US" altLang="ja-JP" sz="240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sz="2400" b="0" dirty="0"/>
                            <a:t>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kumimoji="1" lang="en-US" altLang="ja-JP" sz="2400" b="1" i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sz="2400" b="1" i="0" smtClean="0">
                                          <a:latin typeface="Cambria Math" panose="02040503050406030204" pitchFamily="18" charset="0"/>
                                        </a:rPr>
                                        <m:t>𝐰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num>
                                <m:den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kumimoji="1" lang="en-US" altLang="ja-JP" sz="2400" b="1" i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sz="2400" b="1" i="0" smtClean="0">
                                          <a:latin typeface="Cambria Math" panose="02040503050406030204" pitchFamily="18" charset="0"/>
                                        </a:rPr>
                                        <m:t>𝐰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oMath>
                          </a14:m>
                          <a:endParaRPr kumimoji="1" lang="ja-JP" altLang="en-US" sz="24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920196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400" b="1" dirty="0"/>
                            <a:t>Return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kumimoji="1" lang="en-US" altLang="ja-JP" sz="2400" b="1" i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sz="2400" b="1" i="0" smtClean="0">
                                          <a:latin typeface="Cambria Math" panose="02040503050406030204" pitchFamily="18" charset="0"/>
                                        </a:rPr>
                                        <m:t>𝐰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b>
                              </m:sSub>
                            </m:oMath>
                          </a14:m>
                          <a:endParaRPr kumimoji="1" lang="ja-JP" altLang="en-US" sz="24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01297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 4">
                <a:extLst>
                  <a:ext uri="{FF2B5EF4-FFF2-40B4-BE49-F238E27FC236}">
                    <a16:creationId xmlns:a16="http://schemas.microsoft.com/office/drawing/2014/main" id="{0C4A0FEE-3119-6E0D-C590-424E249E30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5995723"/>
                  </p:ext>
                </p:extLst>
              </p:nvPr>
            </p:nvGraphicFramePr>
            <p:xfrm>
              <a:off x="125967" y="2005251"/>
              <a:ext cx="9699956" cy="403917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9699956">
                      <a:extLst>
                        <a:ext uri="{9D8B030D-6E8A-4147-A177-3AD203B41FA5}">
                          <a16:colId xmlns:a16="http://schemas.microsoft.com/office/drawing/2014/main" val="208667922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400" b="1" dirty="0"/>
                            <a:t>Algorithm</a:t>
                          </a:r>
                          <a:r>
                            <a:rPr kumimoji="1" lang="en-US" altLang="ja-JP" sz="2400" dirty="0"/>
                            <a:t> Interpolated Schedule Free SGD</a:t>
                          </a:r>
                          <a:endParaRPr kumimoji="1" lang="ja-JP" altLang="en-US" sz="240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79654697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60741" r="-63" b="-35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4598942"/>
                      </a:ext>
                    </a:extLst>
                  </a:tr>
                  <a:tr h="2301812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57256" r="-63" b="-250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201967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794667" r="-63" b="-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012971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四角形吹き出し 6">
            <a:extLst>
              <a:ext uri="{FF2B5EF4-FFF2-40B4-BE49-F238E27FC236}">
                <a16:creationId xmlns:a16="http://schemas.microsoft.com/office/drawing/2014/main" id="{F7785039-2F82-07EF-0692-C910EFA6522E}"/>
              </a:ext>
            </a:extLst>
          </p:cNvPr>
          <p:cNvSpPr/>
          <p:nvPr/>
        </p:nvSpPr>
        <p:spPr>
          <a:xfrm>
            <a:off x="4985607" y="4024837"/>
            <a:ext cx="4207818" cy="428368"/>
          </a:xfrm>
          <a:prstGeom prst="wedgeRectCallout">
            <a:avLst>
              <a:gd name="adj1" fmla="val -53967"/>
              <a:gd name="adj2" fmla="val 35581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勾配はパラメータでのみ計算</a:t>
            </a:r>
            <a:endParaRPr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64131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018536-8907-C618-8888-E6EEBE5BE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提案手法</a:t>
            </a:r>
            <a:r>
              <a:rPr lang="en-US" altLang="ja-JP" dirty="0"/>
              <a:t>; </a:t>
            </a:r>
            <a:r>
              <a:rPr lang="ja-JP" altLang="en-US" dirty="0"/>
              <a:t>内分の割合の自動調整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B9A90260-FE1F-83E0-AEE6-17B3420745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5968" y="813577"/>
                <a:ext cx="12066031" cy="556375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kumimoji="1" lang="ja-JP" altLang="en-US" dirty="0"/>
                  <a:t>テーラー展開の誤差が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ja-JP" b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b="1">
                                            <a:latin typeface="Cambria Math" panose="02040503050406030204" pitchFamily="18" charset="0"/>
                                          </a:rPr>
                                          <m:t>𝐰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1">
                                        <a:latin typeface="Cambria Math" panose="02040503050406030204" pitchFamily="18" charset="0"/>
                                      </a:rPr>
                                      <m:t>𝐰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kumimoji="1" lang="ja-JP" altLang="en-US" dirty="0"/>
                  <a:t>によって支配される</a:t>
                </a:r>
                <a:endParaRPr kumimoji="1"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→ パラメータと平均パラメータの乖離が大きい時に，内分の割合を</a:t>
                </a:r>
                <a:r>
                  <a:rPr lang="en-US" altLang="ja-JP" dirty="0"/>
                  <a:t>0</a:t>
                </a:r>
                <a:r>
                  <a:rPr lang="ja-JP" altLang="en-US" dirty="0"/>
                  <a:t>に近づければ良い</a:t>
                </a:r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ja-JP" b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b="1">
                                            <a:latin typeface="Cambria Math" panose="02040503050406030204" pitchFamily="18" charset="0"/>
                                          </a:rPr>
                                          <m:t>𝐰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1">
                                        <a:latin typeface="Cambria Math" panose="02040503050406030204" pitchFamily="18" charset="0"/>
                                      </a:rPr>
                                      <m:t>𝐰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b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1">
                                        <a:latin typeface="Cambria Math" panose="02040503050406030204" pitchFamily="18" charset="0"/>
                                      </a:rPr>
                                      <m:t>𝐰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den>
                    </m:f>
                  </m:oMath>
                </a14:m>
                <a:r>
                  <a:rPr lang="ja-JP" altLang="en-US" dirty="0"/>
                  <a:t> 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b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𝜂</m:t>
                    </m:r>
                    <m:d>
                      <m:dPr>
                        <m:begChr m:val="{"/>
                        <m:endChr m:val="}"/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en-US" altLang="ja-JP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  <m:sSub>
                          <m:sSub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ℬ</m:t>
                                </m:r>
                              </m:e>
                              <m:sub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ja-JP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ja-JP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 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en-US" altLang="ja-JP" dirty="0"/>
                  <a:t>Schedule Free SGD</a:t>
                </a:r>
                <a:r>
                  <a:rPr lang="ja-JP" altLang="en-US" dirty="0"/>
                  <a:t>のハイパーパラメータである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ja-JP" altLang="en-US" dirty="0"/>
                  <a:t>を自動調整</a:t>
                </a:r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B9A90260-FE1F-83E0-AEE6-17B3420745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5968" y="813577"/>
                <a:ext cx="12066031" cy="5563759"/>
              </a:xfrm>
              <a:blipFill>
                <a:blip r:embed="rId2"/>
                <a:stretch>
                  <a:fillRect l="-1061" t="-14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B43158-1CC4-A242-C976-80E24C246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16</a:t>
            </a:fld>
            <a:endParaRPr kumimoji="1" lang="ja-JP" altLang="en-US"/>
          </a:p>
        </p:txBody>
      </p:sp>
      <p:sp>
        <p:nvSpPr>
          <p:cNvPr id="5" name="四角形吹き出し 4">
            <a:extLst>
              <a:ext uri="{FF2B5EF4-FFF2-40B4-BE49-F238E27FC236}">
                <a16:creationId xmlns:a16="http://schemas.microsoft.com/office/drawing/2014/main" id="{CFA51C24-7A4C-7FC9-4869-A67ABD40C3FE}"/>
              </a:ext>
            </a:extLst>
          </p:cNvPr>
          <p:cNvSpPr/>
          <p:nvPr/>
        </p:nvSpPr>
        <p:spPr>
          <a:xfrm>
            <a:off x="4312729" y="2915436"/>
            <a:ext cx="3150220" cy="864704"/>
          </a:xfrm>
          <a:prstGeom prst="wedgeRectCallout">
            <a:avLst>
              <a:gd name="adj1" fmla="val -33311"/>
              <a:gd name="adj2" fmla="val 752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乖離が大きい時</a:t>
            </a:r>
            <a:r>
              <a:rPr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PRA</a:t>
            </a:r>
          </a:p>
          <a:p>
            <a:pPr algn="ctr"/>
            <a:r>
              <a:rPr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乖離が小さい時</a:t>
            </a:r>
            <a:r>
              <a:rPr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PA</a:t>
            </a:r>
            <a:endParaRPr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324338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15EEFC-90C3-DC34-856F-A2CEE5772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提案手法</a:t>
            </a:r>
            <a:r>
              <a:rPr kumimoji="1" lang="en-US" altLang="ja-JP" dirty="0"/>
              <a:t>; </a:t>
            </a:r>
            <a:r>
              <a:rPr lang="en" altLang="ja-JP" dirty="0"/>
              <a:t>Anchored Weight Decay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3F5CE997-6F67-5E9D-8CD2-3F6C458130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5968" y="813577"/>
                <a:ext cx="12066031" cy="556375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en-US"/>
                  <a:t>テーラー展開の誤差が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ja-JP" b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b="1">
                                            <a:latin typeface="Cambria Math" panose="02040503050406030204" pitchFamily="18" charset="0"/>
                                          </a:rPr>
                                          <m:t>𝐰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1">
                                        <a:latin typeface="Cambria Math" panose="02040503050406030204" pitchFamily="18" charset="0"/>
                                      </a:rPr>
                                      <m:t>𝐰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ja-JP" altLang="en-US"/>
                  <a:t>，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ja-JP" b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b="1">
                                            <a:latin typeface="Cambria Math" panose="02040503050406030204" pitchFamily="18" charset="0"/>
                                          </a:rPr>
                                          <m:t>𝐰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1">
                                        <a:latin typeface="Cambria Math" panose="02040503050406030204" pitchFamily="18" charset="0"/>
                                      </a:rPr>
                                      <m:t>𝐰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ja-JP" altLang="en-US"/>
                  <a:t>によって支配される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/>
                  <a:t>→ パラメータと平均パラメータの乖離が小さくなるよう，パラメータを平均パラメータに近づければ良い</a:t>
                </a:r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ja-JP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ja-JP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ja-JP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ja-JP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ja-JP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ℬ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en-US" altLang="ja-JP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b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ja-JP" b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b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𝐠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d>
                            <m:dPr>
                              <m:ctrlPr>
                                <a:rPr lang="en-US" altLang="ja-JP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ja-JP" b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b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𝐰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ja-JP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ja-JP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ja-JP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kumimoji="1" lang="en-US" altLang="ja-JP" dirty="0"/>
              </a:p>
              <a:p>
                <a:pPr marL="0" indent="0">
                  <a:buNone/>
                </a:pPr>
                <a:r>
                  <a:rPr lang="en-US" altLang="ja-JP" dirty="0"/>
                  <a:t>※ </a:t>
                </a:r>
                <a14:m>
                  <m:oMath xmlns:m="http://schemas.openxmlformats.org/officeDocument/2006/math">
                    <m:r>
                      <a:rPr lang="en-US" altLang="ja-JP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kumimoji="1" lang="en-US" altLang="ja-JP" dirty="0"/>
                  <a:t>; </a:t>
                </a:r>
                <a:r>
                  <a:rPr kumimoji="1" lang="ja-JP" altLang="en-US"/>
                  <a:t>正則化係数</a:t>
                </a:r>
                <a:endParaRPr kumimoji="1"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kumimoji="1" lang="ja-JP" altLang="en-US"/>
                  <a:t>パラメータを原点に近づける</a:t>
                </a:r>
                <a:r>
                  <a:rPr kumimoji="1" lang="en-US" altLang="ja-JP" dirty="0"/>
                  <a:t>Weight Decay</a:t>
                </a:r>
                <a:r>
                  <a:rPr kumimoji="1" lang="ja-JP" altLang="en-US"/>
                  <a:t>の亜種</a:t>
                </a:r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3F5CE997-6F67-5E9D-8CD2-3F6C458130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5968" y="813577"/>
                <a:ext cx="12066031" cy="5563759"/>
              </a:xfrm>
              <a:blipFill>
                <a:blip r:embed="rId2"/>
                <a:stretch>
                  <a:fillRect l="-1052" t="-1364" r="-94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7CBC9E4-9653-0637-227E-958D6D147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17</a:t>
            </a:fld>
            <a:endParaRPr kumimoji="1" lang="ja-JP" altLang="en-US"/>
          </a:p>
        </p:txBody>
      </p:sp>
      <p:sp>
        <p:nvSpPr>
          <p:cNvPr id="5" name="四角形吹き出し 4">
            <a:extLst>
              <a:ext uri="{FF2B5EF4-FFF2-40B4-BE49-F238E27FC236}">
                <a16:creationId xmlns:a16="http://schemas.microsoft.com/office/drawing/2014/main" id="{5A205B20-AEFE-BAFD-2A06-EC7AD3452267}"/>
              </a:ext>
            </a:extLst>
          </p:cNvPr>
          <p:cNvSpPr/>
          <p:nvPr/>
        </p:nvSpPr>
        <p:spPr>
          <a:xfrm>
            <a:off x="4594740" y="3496550"/>
            <a:ext cx="5711488" cy="864704"/>
          </a:xfrm>
          <a:prstGeom prst="wedgeRectCallout">
            <a:avLst>
              <a:gd name="adj1" fmla="val 33272"/>
              <a:gd name="adj2" fmla="val -65071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反復を繰り返すほど</a:t>
            </a:r>
            <a:endParaRPr lang="en-US" altLang="ja-JP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pPr algn="ctr"/>
            <a:r>
              <a:rPr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パラメータが平均パラメータに漸近する</a:t>
            </a:r>
            <a:endParaRPr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894205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62B347-1134-2E4F-AAE2-83B3CCD0A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提案手法</a:t>
            </a:r>
            <a:r>
              <a:rPr lang="en-US" altLang="ja-JP" dirty="0"/>
              <a:t>; Adaptive Interpolated Schedule Free SGDW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0A8CAB3-3F83-9C98-9DC7-12C84F7B0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 4">
                <a:extLst>
                  <a:ext uri="{FF2B5EF4-FFF2-40B4-BE49-F238E27FC236}">
                    <a16:creationId xmlns:a16="http://schemas.microsoft.com/office/drawing/2014/main" id="{97FEDA22-8C0A-2B7B-EB4F-64E5073649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6975808"/>
                  </p:ext>
                </p:extLst>
              </p:nvPr>
            </p:nvGraphicFramePr>
            <p:xfrm>
              <a:off x="125969" y="813576"/>
              <a:ext cx="9668960" cy="483914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9668960">
                      <a:extLst>
                        <a:ext uri="{9D8B030D-6E8A-4147-A177-3AD203B41FA5}">
                          <a16:colId xmlns:a16="http://schemas.microsoft.com/office/drawing/2014/main" val="208667922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400" b="1" dirty="0">
                              <a:solidFill>
                                <a:schemeClr val="tx1"/>
                              </a:solidFill>
                            </a:rPr>
                            <a:t>Algorithm</a:t>
                          </a:r>
                          <a:r>
                            <a:rPr kumimoji="1" lang="en-US" altLang="ja-JP" sz="2400" dirty="0">
                              <a:solidFill>
                                <a:schemeClr val="tx1"/>
                              </a:solidFill>
                            </a:rPr>
                            <a:t> Adaptive Interpolated Schedule Free SGDW</a:t>
                          </a:r>
                          <a:endParaRPr kumimoji="1" lang="ja-JP" altLang="en-US" sz="24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796546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400" b="1" dirty="0">
                              <a:solidFill>
                                <a:schemeClr val="tx1"/>
                              </a:solidFill>
                            </a:rPr>
                            <a:t>Require</a:t>
                          </a:r>
                          <a:r>
                            <a:rPr kumimoji="1" lang="en-US" altLang="ja-JP" sz="24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en-US" altLang="ja-JP" sz="2400" dirty="0">
                              <a:solidFill>
                                <a:schemeClr val="tx1"/>
                              </a:solidFill>
                            </a:rPr>
                            <a:t>; </a:t>
                          </a:r>
                          <a:r>
                            <a:rPr kumimoji="1" lang="ja-JP" altLang="en-US" sz="2400" dirty="0">
                              <a:solidFill>
                                <a:schemeClr val="tx1"/>
                              </a:solidFill>
                            </a:rPr>
                            <a:t>パラメータの初期値</a:t>
                          </a:r>
                          <a:r>
                            <a:rPr kumimoji="1" lang="en-US" altLang="ja-JP" sz="2400" dirty="0">
                              <a:solidFill>
                                <a:schemeClr val="tx1"/>
                              </a:solidFill>
                            </a:rPr>
                            <a:t>(</a:t>
                          </a:r>
                          <a:r>
                            <a:rPr kumimoji="1" lang="ja-JP" altLang="en-US" sz="2400" dirty="0">
                              <a:solidFill>
                                <a:schemeClr val="tx1"/>
                              </a:solidFill>
                            </a:rPr>
                            <a:t>乱数</a:t>
                          </a:r>
                          <a:r>
                            <a:rPr kumimoji="1" lang="en-US" altLang="ja-JP" sz="240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  <a:r>
                            <a:rPr kumimoji="1" lang="ja-JP" altLang="en-US" sz="2400" dirty="0">
                              <a:solidFill>
                                <a:schemeClr val="tx1"/>
                              </a:solidFill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kumimoji="1" lang="en-US" altLang="ja-JP" sz="2400" b="1" i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sz="2400" b="1" i="0" smtClean="0">
                                          <a:latin typeface="Cambria Math" panose="02040503050406030204" pitchFamily="18" charset="0"/>
                                        </a:rPr>
                                        <m:t>𝐰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1" i="0" smtClean="0"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en-US" altLang="ja-JP" sz="2400" dirty="0">
                              <a:solidFill>
                                <a:schemeClr val="tx1"/>
                              </a:solidFill>
                            </a:rPr>
                            <a:t>; </a:t>
                          </a:r>
                          <a:r>
                            <a:rPr kumimoji="1" lang="ja-JP" altLang="en-US" sz="2400" dirty="0">
                              <a:solidFill>
                                <a:schemeClr val="tx1"/>
                              </a:solidFill>
                            </a:rPr>
                            <a:t>平均パラメータ，</a:t>
                          </a:r>
                          <a:endParaRPr kumimoji="1" lang="en-US" altLang="ja-JP" sz="24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r>
                            <a:rPr kumimoji="1" lang="ja-JP" altLang="en-US" sz="2400" b="0" dirty="0">
                              <a:solidFill>
                                <a:schemeClr val="tx1"/>
                              </a:solidFill>
                            </a:rPr>
                            <a:t>　　　　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kumimoji="1" lang="en-US" altLang="ja-JP" sz="2400" b="1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sz="2400" b="1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𝐠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r>
                            <a:rPr kumimoji="1" lang="en-US" altLang="ja-JP" sz="2400" dirty="0">
                              <a:solidFill>
                                <a:schemeClr val="tx1"/>
                              </a:solidFill>
                            </a:rPr>
                            <a:t>; </a:t>
                          </a:r>
                          <a:r>
                            <a:rPr kumimoji="1" lang="ja-JP" altLang="en-US" sz="2400" dirty="0">
                              <a:solidFill>
                                <a:schemeClr val="tx1"/>
                              </a:solidFill>
                            </a:rPr>
                            <a:t>平均勾配，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oMath>
                          </a14:m>
                          <a:r>
                            <a:rPr kumimoji="1" lang="en-US" altLang="ja-JP" sz="2400" dirty="0">
                              <a:solidFill>
                                <a:schemeClr val="tx1"/>
                              </a:solidFill>
                            </a:rPr>
                            <a:t>; </a:t>
                          </a:r>
                          <a:r>
                            <a:rPr kumimoji="1" lang="ja-JP" altLang="en-US" sz="2400" dirty="0">
                              <a:solidFill>
                                <a:schemeClr val="tx1"/>
                              </a:solidFill>
                            </a:rPr>
                            <a:t>学習率，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oMath>
                          </a14:m>
                          <a:r>
                            <a:rPr kumimoji="1" lang="en-US" altLang="ja-JP" sz="2400" dirty="0">
                              <a:solidFill>
                                <a:schemeClr val="tx1"/>
                              </a:solidFill>
                            </a:rPr>
                            <a:t>; </a:t>
                          </a:r>
                          <a:r>
                            <a:rPr kumimoji="1" lang="ja-JP" altLang="en-US" sz="2400" dirty="0">
                              <a:solidFill>
                                <a:schemeClr val="tx1"/>
                              </a:solidFill>
                            </a:rPr>
                            <a:t>正則化係数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45989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400" dirty="0">
                              <a:solidFill>
                                <a:schemeClr val="tx1"/>
                              </a:solidFill>
                            </a:rPr>
                            <a:t>For 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=0,1,…,</m:t>
                              </m:r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oMath>
                          </a14:m>
                          <a:r>
                            <a:rPr kumimoji="1" lang="en-US" altLang="ja-JP" sz="2400" dirty="0">
                              <a:solidFill>
                                <a:schemeClr val="tx1"/>
                              </a:solidFill>
                            </a:rPr>
                            <a:t> Do</a:t>
                          </a:r>
                        </a:p>
                        <a:p>
                          <a:r>
                            <a:rPr kumimoji="1" lang="en-US" altLang="ja-JP" sz="2400" dirty="0">
                              <a:solidFill>
                                <a:schemeClr val="tx1"/>
                              </a:solidFill>
                            </a:rPr>
                            <a:t>    </a:t>
                          </a:r>
                          <a:r>
                            <a:rPr kumimoji="1" lang="ja-JP" altLang="en-US" sz="2400">
                              <a:solidFill>
                                <a:schemeClr val="tx1"/>
                              </a:solidFill>
                            </a:rPr>
                            <a:t>ミニバッチ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ℬ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ja-JP" altLang="en-US" sz="2400">
                              <a:solidFill>
                                <a:schemeClr val="tx1"/>
                              </a:solidFill>
                            </a:rPr>
                            <a:t>をサンプリング</a:t>
                          </a:r>
                          <a:endParaRPr kumimoji="1" lang="en-US" altLang="ja-JP" sz="24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r>
                            <a:rPr kumimoji="1" lang="en-US" altLang="ja-JP" sz="2400" b="0" dirty="0">
                              <a:solidFill>
                                <a:schemeClr val="tx1"/>
                              </a:solidFill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kumimoji="1" lang="en-US" altLang="ja-JP" sz="2400" b="1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sz="2400" b="1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𝐠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num>
                                <m:den>
                                  <m: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kumimoji="1" lang="en-US" altLang="ja-JP" sz="2400" b="1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sz="2400" b="1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𝐠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kumimoji="1" lang="en-US" altLang="ja-JP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kumimoji="1" lang="en-US" altLang="ja-JP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ℬ</m:t>
                                      </m:r>
                                    </m:e>
                                    <m:sub>
                                      <m:r>
                                        <a:rPr kumimoji="1" lang="en-US" altLang="ja-JP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kumimoji="1" lang="en-US" altLang="ja-JP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ja-JP" sz="2400" b="1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2400" b="1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𝐰</m:t>
                                      </m:r>
                                    </m:e>
                                    <m:sub>
                                      <m:r>
                                        <a:rPr kumimoji="1" lang="en-US" altLang="ja-JP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kumimoji="1" lang="en-US" altLang="ja-JP" sz="24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r>
                            <a:rPr lang="en-US" altLang="ja-JP" sz="2400" b="0" dirty="0">
                              <a:solidFill>
                                <a:schemeClr val="tx1"/>
                              </a:solidFill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1+</m:t>
                                  </m:r>
                                  <m:f>
                                    <m:fPr>
                                      <m:ctrlPr>
                                        <a:rPr lang="en-US" altLang="ja-JP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altLang="ja-JP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sz="2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altLang="ja-JP" sz="2400" b="1">
                                                      <a:solidFill>
                                                        <a:srgbClr val="FF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altLang="ja-JP" sz="2400" b="1">
                                                      <a:solidFill>
                                                        <a:srgbClr val="FF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𝐰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altLang="ja-JP" sz="2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ja-JP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ja-JP" sz="2400" b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sz="2400" b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𝐰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sz="2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num>
                                    <m:den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altLang="ja-JP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sz="2400" b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sz="2400" b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𝐰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sz="2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den>
                                  </m:f>
                                </m:den>
                              </m:f>
                            </m:oMath>
                          </a14:m>
                          <a:endParaRPr kumimoji="1" lang="en-US" altLang="ja-JP" sz="24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sz="2400" dirty="0">
                              <a:solidFill>
                                <a:schemeClr val="tx1"/>
                              </a:solidFill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kumimoji="1" lang="en-US" altLang="ja-JP" sz="24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kumimoji="1" lang="en-US" altLang="ja-JP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ja-JP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altLang="ja-JP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𝛾</m:t>
                                          </m:r>
                                        </m:e>
                                        <m:sub>
                                          <m:r>
                                            <a:rPr lang="en-US" altLang="ja-JP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kumimoji="1" lang="en-US" altLang="ja-JP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∇</m:t>
                                  </m:r>
                                  <m:sSub>
                                    <m:sSubPr>
                                      <m:ctrlPr>
                                        <a:rPr kumimoji="1" lang="en-US" altLang="ja-JP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kumimoji="1" lang="en-US" altLang="ja-JP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ja-JP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ℬ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ja-JP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sub>
                                  </m:sSub>
                                  <m:d>
                                    <m:dPr>
                                      <m:ctrlPr>
                                        <a:rPr kumimoji="1" lang="en-US" altLang="ja-JP" sz="24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ja-JP" sz="2400" b="1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ja-JP" sz="2400" b="1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𝐰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ja-JP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ja-JP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  <m:sub>
                                      <m:r>
                                        <a:rPr lang="en-US" altLang="ja-JP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kumimoji="1" lang="en-US" altLang="ja-JP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kumimoji="1" lang="en-US" altLang="ja-JP" sz="2400" b="1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kumimoji="1" lang="en-US" altLang="ja-JP" sz="2400" b="1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𝐠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kumimoji="1" lang="en-US" altLang="ja-JP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kumimoji="1" lang="en-US" altLang="ja-JP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ja-JP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  <m:d>
                                    <m:dPr>
                                      <m:ctrlPr>
                                        <a:rPr lang="en-US" altLang="ja-JP" sz="24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ja-JP" sz="2400" i="1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altLang="ja-JP" sz="2400" b="1">
                                                  <a:solidFill>
                                                    <a:srgbClr val="0070C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ja-JP" sz="2400" b="1">
                                                  <a:solidFill>
                                                    <a:srgbClr val="0070C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𝐰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altLang="ja-JP" sz="2400" i="1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r>
                                        <a:rPr lang="en-US" altLang="ja-JP" sz="24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ja-JP" sz="2400" b="1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sz="2400" b="1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𝐰</m:t>
                                          </m:r>
                                        </m:e>
                                        <m:sub>
                                          <m:r>
                                            <a:rPr lang="en-US" altLang="ja-JP" sz="2400" i="1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oMath>
                          </a14:m>
                          <a:endParaRPr kumimoji="1" lang="en-US" altLang="ja-JP" sz="24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sz="2400" b="0" dirty="0">
                              <a:solidFill>
                                <a:schemeClr val="tx1"/>
                              </a:solidFill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kumimoji="1" lang="en-US" altLang="ja-JP" sz="2400" b="1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sz="2400" b="1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𝐰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num>
                                <m:den>
                                  <m: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kumimoji="1" lang="en-US" altLang="ja-JP" sz="2400" b="1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sz="2400" b="1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𝐰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kumimoji="1" lang="en-US" altLang="ja-JP" sz="24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oMath>
                          </a14:m>
                          <a:endParaRPr kumimoji="1" lang="ja-JP" altLang="en-US" sz="24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920196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400" b="1" dirty="0">
                              <a:solidFill>
                                <a:schemeClr val="tx1"/>
                              </a:solidFill>
                            </a:rPr>
                            <a:t>Return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kumimoji="1" lang="en-US" altLang="ja-JP" sz="2400" b="1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sz="2400" b="1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𝐰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b>
                              </m:sSub>
                            </m:oMath>
                          </a14:m>
                          <a:endParaRPr kumimoji="1" lang="ja-JP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01297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 4">
                <a:extLst>
                  <a:ext uri="{FF2B5EF4-FFF2-40B4-BE49-F238E27FC236}">
                    <a16:creationId xmlns:a16="http://schemas.microsoft.com/office/drawing/2014/main" id="{97FEDA22-8C0A-2B7B-EB4F-64E5073649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6975808"/>
                  </p:ext>
                </p:extLst>
              </p:nvPr>
            </p:nvGraphicFramePr>
            <p:xfrm>
              <a:off x="125969" y="813576"/>
              <a:ext cx="9668960" cy="483914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9668960">
                      <a:extLst>
                        <a:ext uri="{9D8B030D-6E8A-4147-A177-3AD203B41FA5}">
                          <a16:colId xmlns:a16="http://schemas.microsoft.com/office/drawing/2014/main" val="208667922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2400" b="1" dirty="0">
                              <a:solidFill>
                                <a:schemeClr val="tx1"/>
                              </a:solidFill>
                            </a:rPr>
                            <a:t>Algorithm</a:t>
                          </a:r>
                          <a:r>
                            <a:rPr kumimoji="1" lang="en-US" altLang="ja-JP" sz="2400" dirty="0">
                              <a:solidFill>
                                <a:schemeClr val="tx1"/>
                              </a:solidFill>
                            </a:rPr>
                            <a:t> Adaptive Interpolated Schedule Free SGDW</a:t>
                          </a:r>
                          <a:endParaRPr kumimoji="1" lang="ja-JP" altLang="en-US" sz="24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79654697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61481" r="-63" b="-4474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4598942"/>
                      </a:ext>
                    </a:extLst>
                  </a:tr>
                  <a:tr h="3101785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42745" r="-63" b="-184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201967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970667" r="-63" b="-25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012971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810849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3E33DF-F72C-A2A6-0BAA-420C65E36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実験</a:t>
            </a:r>
            <a:r>
              <a:rPr lang="en-US" altLang="ja-JP" dirty="0"/>
              <a:t>1; Iris</a:t>
            </a:r>
            <a:r>
              <a:rPr lang="ja-JP" altLang="en-US" dirty="0"/>
              <a:t>データの分類問題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716EFA77-DF94-7878-E1B8-E82BA739E2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kumimoji="1" lang="en-US" altLang="ja-JP" dirty="0"/>
                  <a:t>Schedule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Free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SGD</a:t>
                </a:r>
                <a:r>
                  <a:rPr kumimoji="1" lang="ja-JP" altLang="en-US" dirty="0"/>
                  <a:t>と</a:t>
                </a:r>
                <a:r>
                  <a:rPr kumimoji="1" lang="en-US" altLang="ja-JP" dirty="0"/>
                  <a:t>Interpolated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Schedule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Free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SGD(ISF-SGD)</a:t>
                </a:r>
                <a:r>
                  <a:rPr kumimoji="1" lang="ja-JP" altLang="en-US" dirty="0"/>
                  <a:t>の学習曲線を比較</a:t>
                </a:r>
                <a:endParaRPr kumimoji="1"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kumimoji="1" lang="ja-JP" altLang="en-US" dirty="0"/>
                  <a:t>実験条件</a:t>
                </a:r>
                <a:endParaRPr kumimoji="1" lang="en-US" altLang="ja-JP" dirty="0"/>
              </a:p>
              <a:p>
                <a:pPr marL="457200" lvl="1" indent="0">
                  <a:buNone/>
                </a:pPr>
                <a:r>
                  <a:rPr kumimoji="1" lang="en-US" altLang="ja-JP" dirty="0"/>
                  <a:t>DATASET; IRIS</a:t>
                </a:r>
              </a:p>
              <a:p>
                <a:pPr marL="457200" lvl="1" indent="0">
                  <a:buNone/>
                </a:pPr>
                <a:r>
                  <a:rPr lang="en-US" altLang="ja-JP" dirty="0"/>
                  <a:t>MODEL; 4-3</a:t>
                </a:r>
                <a:endParaRPr kumimoji="1" lang="en-US" altLang="ja-JP" dirty="0"/>
              </a:p>
              <a:p>
                <a:pPr marL="457200" lvl="1" indent="0">
                  <a:buNone/>
                </a:pPr>
                <a:r>
                  <a:rPr kumimoji="1" lang="en-US" altLang="ja-JP" dirty="0"/>
                  <a:t>BATCH_SIZE; 16, </a:t>
                </a:r>
                <a:r>
                  <a:rPr kumimoji="1" lang="en-US" altLang="ja-JP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135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kumimoji="1" lang="en-US" altLang="ja-JP" dirty="0"/>
                  <a:t>(</a:t>
                </a:r>
                <a:r>
                  <a:rPr kumimoji="1" lang="ja-JP" altLang="en-US" dirty="0"/>
                  <a:t>学習率</a:t>
                </a:r>
                <a:r>
                  <a:rPr kumimoji="1" lang="en-US" altLang="ja-JP" dirty="0"/>
                  <a:t>); 0.1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kumimoji="1" lang="en-US" altLang="ja-JP" dirty="0"/>
                  <a:t>(</a:t>
                </a:r>
                <a:r>
                  <a:rPr kumimoji="1" lang="ja-JP" altLang="en-US" dirty="0"/>
                  <a:t>内分の割合</a:t>
                </a:r>
                <a:r>
                  <a:rPr kumimoji="1" lang="en-US" altLang="ja-JP" dirty="0"/>
                  <a:t>); 0.1</a:t>
                </a:r>
                <a:r>
                  <a:rPr kumimoji="1" lang="ja-JP" altLang="en-US" dirty="0"/>
                  <a:t>，</a:t>
                </a:r>
                <a:r>
                  <a:rPr kumimoji="1" lang="en-US" altLang="ja-JP" dirty="0"/>
                  <a:t>0.9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716EFA77-DF94-7878-E1B8-E82BA739E2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3" t="-1095" r="-86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ADAD5EA-38A9-5ED0-8575-DE283DA6C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19</a:t>
            </a:fld>
            <a:endParaRPr kumimoji="1" lang="ja-JP" altLang="en-US"/>
          </a:p>
        </p:txBody>
      </p:sp>
      <p:pic>
        <p:nvPicPr>
          <p:cNvPr id="1026" name="Picture 2" descr="Iris Dataset &quot;Analysis using Machine learning techniques">
            <a:extLst>
              <a:ext uri="{FF2B5EF4-FFF2-40B4-BE49-F238E27FC236}">
                <a16:creationId xmlns:a16="http://schemas.microsoft.com/office/drawing/2014/main" id="{A813B31D-3469-0B46-4190-232CA22BA8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43" t="10256" r="6202" b="8013"/>
          <a:stretch>
            <a:fillRect/>
          </a:stretch>
        </p:blipFill>
        <p:spPr bwMode="auto">
          <a:xfrm>
            <a:off x="5521796" y="2223856"/>
            <a:ext cx="6544235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83CC902-31C5-42EC-C66B-7DCE27043C2E}"/>
              </a:ext>
            </a:extLst>
          </p:cNvPr>
          <p:cNvSpPr txBox="1"/>
          <p:nvPr/>
        </p:nvSpPr>
        <p:spPr>
          <a:xfrm>
            <a:off x="6799266" y="4967056"/>
            <a:ext cx="39892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花弁とがくの幅と高さから花の種類を分類する問題</a:t>
            </a:r>
          </a:p>
        </p:txBody>
      </p:sp>
    </p:spTree>
    <p:extLst>
      <p:ext uri="{BB962C8B-B14F-4D97-AF65-F5344CB8AC3E}">
        <p14:creationId xmlns:p14="http://schemas.microsoft.com/office/powerpoint/2010/main" val="14590797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FEC703-C1A4-D444-E34C-2D9FB8A37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実験</a:t>
            </a:r>
            <a:r>
              <a:rPr lang="en-US" altLang="ja-JP" dirty="0"/>
              <a:t>1;</a:t>
            </a:r>
            <a:r>
              <a:rPr lang="ja-JP" altLang="en-US" dirty="0"/>
              <a:t> </a:t>
            </a:r>
            <a:r>
              <a:rPr lang="en-US" altLang="ja-JP" dirty="0"/>
              <a:t>BATCH_SIZE=16</a:t>
            </a:r>
            <a:r>
              <a:rPr lang="ja-JP" altLang="en-US" dirty="0"/>
              <a:t>の場合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3746AD3-328C-D98B-5EAF-ABCB6B1B2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20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28D0CB24-0A01-2378-8307-7D7B340C0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9" y="1286388"/>
            <a:ext cx="5445824" cy="55037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AEF7421A-29D7-5E37-702F-F078B2599B59}"/>
                  </a:ext>
                </a:extLst>
              </p:cNvPr>
              <p:cNvSpPr txBox="1"/>
              <p:nvPr/>
            </p:nvSpPr>
            <p:spPr>
              <a:xfrm>
                <a:off x="125970" y="824723"/>
                <a:ext cx="54458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altLang="ja-JP" sz="2400" dirty="0"/>
                  <a:t>; 0.1</a:t>
                </a:r>
                <a:r>
                  <a:rPr lang="ja-JP" altLang="en-US" sz="2400" dirty="0"/>
                  <a:t>，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ja-JP" sz="2400" dirty="0"/>
                  <a:t>; 0.1</a:t>
                </a:r>
                <a:endParaRPr lang="ja-JP" altLang="en-US" sz="2400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AEF7421A-29D7-5E37-702F-F078B2599B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70" y="824723"/>
                <a:ext cx="5445823" cy="461665"/>
              </a:xfrm>
              <a:prstGeom prst="rect">
                <a:avLst/>
              </a:prstGeom>
              <a:blipFill>
                <a:blip r:embed="rId3"/>
                <a:stretch>
                  <a:fillRect t="-14474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図 8">
            <a:extLst>
              <a:ext uri="{FF2B5EF4-FFF2-40B4-BE49-F238E27FC236}">
                <a16:creationId xmlns:a16="http://schemas.microsoft.com/office/drawing/2014/main" id="{989FC48B-7C59-C5C3-AF58-04B53F554F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07" y="1286388"/>
            <a:ext cx="5445824" cy="55037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A781006F-7BC8-7A26-F70F-88ECF0B9C023}"/>
                  </a:ext>
                </a:extLst>
              </p:cNvPr>
              <p:cNvSpPr txBox="1"/>
              <p:nvPr/>
            </p:nvSpPr>
            <p:spPr>
              <a:xfrm>
                <a:off x="6620207" y="824723"/>
                <a:ext cx="54458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altLang="ja-JP" sz="2400" dirty="0"/>
                  <a:t>; 0.1</a:t>
                </a:r>
                <a:r>
                  <a:rPr lang="ja-JP" altLang="en-US" sz="2400" dirty="0"/>
                  <a:t>，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ja-JP" sz="2400" dirty="0"/>
                  <a:t>; 0.9</a:t>
                </a:r>
                <a:endParaRPr lang="ja-JP" altLang="en-US" sz="2400" dirty="0"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A781006F-7BC8-7A26-F70F-88ECF0B9C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0207" y="824723"/>
                <a:ext cx="5445823" cy="461665"/>
              </a:xfrm>
              <a:prstGeom prst="rect">
                <a:avLst/>
              </a:prstGeom>
              <a:blipFill>
                <a:blip r:embed="rId5"/>
                <a:stretch>
                  <a:fillRect t="-14474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吹き出し: 四角形 10">
                <a:extLst>
                  <a:ext uri="{FF2B5EF4-FFF2-40B4-BE49-F238E27FC236}">
                    <a16:creationId xmlns:a16="http://schemas.microsoft.com/office/drawing/2014/main" id="{2AF948C5-1954-2023-A2AC-ED138562C9AC}"/>
                  </a:ext>
                </a:extLst>
              </p:cNvPr>
              <p:cNvSpPr/>
              <p:nvPr/>
            </p:nvSpPr>
            <p:spPr>
              <a:xfrm>
                <a:off x="3886426" y="2196353"/>
                <a:ext cx="3173506" cy="851647"/>
              </a:xfrm>
              <a:prstGeom prst="wedgeRectCallout">
                <a:avLst>
                  <a:gd name="adj1" fmla="val -33262"/>
                  <a:gd name="adj2" fmla="val -7750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90000" rIns="90000" bIns="90000" rtlCol="0" anchor="ctr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Gothic" panose="020B0400000000000000" pitchFamily="49" charset="-128"/>
                      </a:rPr>
                      <m:t>𝛾</m:t>
                    </m:r>
                  </m:oMath>
                </a14:m>
                <a:r>
                  <a:rPr kumimoji="1" lang="ja-JP" altLang="en-US" sz="2400" dirty="0">
                    <a:solidFill>
                      <a:schemeClr val="tx1"/>
                    </a:solidFill>
                    <a:latin typeface="BIZ UDGothic" panose="020B0400000000000000" pitchFamily="49" charset="-128"/>
                    <a:ea typeface="BIZ UDGothic" panose="020B0400000000000000" pitchFamily="49" charset="-128"/>
                  </a:rPr>
                  <a:t>が小さい場合</a:t>
                </a:r>
                <a:r>
                  <a:rPr kumimoji="1" lang="en-US" altLang="ja-JP" sz="2400" dirty="0">
                    <a:solidFill>
                      <a:schemeClr val="tx1"/>
                    </a:solidFill>
                    <a:latin typeface="BIZ UDGothic" panose="020B0400000000000000" pitchFamily="49" charset="-128"/>
                    <a:ea typeface="BIZ UDGothic" panose="020B0400000000000000" pitchFamily="49" charset="-128"/>
                  </a:rPr>
                  <a:t>SGD</a:t>
                </a:r>
                <a:r>
                  <a:rPr kumimoji="1" lang="ja-JP" altLang="en-US" sz="2400" dirty="0">
                    <a:solidFill>
                      <a:schemeClr val="tx1"/>
                    </a:solidFill>
                    <a:latin typeface="BIZ UDGothic" panose="020B0400000000000000" pitchFamily="49" charset="-128"/>
                    <a:ea typeface="BIZ UDGothic" panose="020B0400000000000000" pitchFamily="49" charset="-128"/>
                  </a:rPr>
                  <a:t>と同様の挙動</a:t>
                </a:r>
              </a:p>
            </p:txBody>
          </p:sp>
        </mc:Choice>
        <mc:Fallback xmlns="">
          <p:sp>
            <p:nvSpPr>
              <p:cNvPr id="11" name="吹き出し: 四角形 10">
                <a:extLst>
                  <a:ext uri="{FF2B5EF4-FFF2-40B4-BE49-F238E27FC236}">
                    <a16:creationId xmlns:a16="http://schemas.microsoft.com/office/drawing/2014/main" id="{2AF948C5-1954-2023-A2AC-ED138562C9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426" y="2196353"/>
                <a:ext cx="3173506" cy="851647"/>
              </a:xfrm>
              <a:prstGeom prst="wedgeRectCallout">
                <a:avLst>
                  <a:gd name="adj1" fmla="val -33262"/>
                  <a:gd name="adj2" fmla="val -77500"/>
                </a:avLst>
              </a:prstGeom>
              <a:blipFill>
                <a:blip r:embed="rId6"/>
                <a:stretch>
                  <a:fillRect b="-1038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吹き出し: 四角形 11">
            <a:extLst>
              <a:ext uri="{FF2B5EF4-FFF2-40B4-BE49-F238E27FC236}">
                <a16:creationId xmlns:a16="http://schemas.microsoft.com/office/drawing/2014/main" id="{31BA9B3D-81C6-0867-1B44-C82724C5B9B6}"/>
              </a:ext>
            </a:extLst>
          </p:cNvPr>
          <p:cNvSpPr/>
          <p:nvPr/>
        </p:nvSpPr>
        <p:spPr>
          <a:xfrm>
            <a:off x="3985041" y="5145788"/>
            <a:ext cx="2770558" cy="851647"/>
          </a:xfrm>
          <a:prstGeom prst="wedgeRectCallout">
            <a:avLst>
              <a:gd name="adj1" fmla="val -33262"/>
              <a:gd name="adj2" fmla="val -775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kumimoji="1"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反復ごとの精度のばらつきが小さい</a:t>
            </a:r>
          </a:p>
        </p:txBody>
      </p:sp>
      <p:sp>
        <p:nvSpPr>
          <p:cNvPr id="13" name="吹き出し: 四角形 12">
            <a:extLst>
              <a:ext uri="{FF2B5EF4-FFF2-40B4-BE49-F238E27FC236}">
                <a16:creationId xmlns:a16="http://schemas.microsoft.com/office/drawing/2014/main" id="{9B7CB54F-2818-0684-5D9F-1B8DA2F260C5}"/>
              </a:ext>
            </a:extLst>
          </p:cNvPr>
          <p:cNvSpPr/>
          <p:nvPr/>
        </p:nvSpPr>
        <p:spPr>
          <a:xfrm>
            <a:off x="8772194" y="5442859"/>
            <a:ext cx="3173506" cy="461665"/>
          </a:xfrm>
          <a:prstGeom prst="wedgeRectCallout">
            <a:avLst>
              <a:gd name="adj1" fmla="val -8403"/>
              <a:gd name="adj2" fmla="val -10080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SF</a:t>
            </a:r>
            <a:r>
              <a:rPr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と</a:t>
            </a:r>
            <a:r>
              <a:rPr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ISF</a:t>
            </a:r>
            <a:r>
              <a:rPr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が同様の挙動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404183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413A6-2325-59DD-0332-64B973456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972500-EB21-A07C-4F99-2B75D028E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実験</a:t>
            </a:r>
            <a:r>
              <a:rPr lang="en-US" altLang="ja-JP" dirty="0"/>
              <a:t>1;</a:t>
            </a:r>
            <a:r>
              <a:rPr lang="ja-JP" altLang="en-US" dirty="0"/>
              <a:t> </a:t>
            </a:r>
            <a:r>
              <a:rPr lang="en-US" altLang="ja-JP" dirty="0"/>
              <a:t>BATCH_SIZE=135</a:t>
            </a:r>
            <a:r>
              <a:rPr lang="ja-JP" altLang="en-US" dirty="0"/>
              <a:t>の場合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87A260F-C94E-90F7-24AB-F62259C74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21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2A6F66F9-6081-6AB5-F28B-8E6BBA835F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5969" y="1315355"/>
            <a:ext cx="5445824" cy="54458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39D9CE6B-8C92-22E0-F5F8-CFB3A647A326}"/>
                  </a:ext>
                </a:extLst>
              </p:cNvPr>
              <p:cNvSpPr txBox="1"/>
              <p:nvPr/>
            </p:nvSpPr>
            <p:spPr>
              <a:xfrm>
                <a:off x="125970" y="824723"/>
                <a:ext cx="54458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altLang="ja-JP" sz="2400" dirty="0"/>
                  <a:t>; 0.1</a:t>
                </a:r>
                <a:r>
                  <a:rPr lang="ja-JP" altLang="en-US" sz="2400" dirty="0"/>
                  <a:t>，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ja-JP" sz="2400" dirty="0"/>
                  <a:t>; 0.1</a:t>
                </a:r>
                <a:endParaRPr lang="ja-JP" altLang="en-US" sz="2400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39D9CE6B-8C92-22E0-F5F8-CFB3A647A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70" y="824723"/>
                <a:ext cx="5445823" cy="461665"/>
              </a:xfrm>
              <a:prstGeom prst="rect">
                <a:avLst/>
              </a:prstGeom>
              <a:blipFill>
                <a:blip r:embed="rId3"/>
                <a:stretch>
                  <a:fillRect t="-14474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図 8">
            <a:extLst>
              <a:ext uri="{FF2B5EF4-FFF2-40B4-BE49-F238E27FC236}">
                <a16:creationId xmlns:a16="http://schemas.microsoft.com/office/drawing/2014/main" id="{C094F4FB-FF32-D1AB-631A-B725A09FF2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20207" y="1315355"/>
            <a:ext cx="5445824" cy="54458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E0071DBF-66AE-EF68-C924-7BF4AE18A21F}"/>
                  </a:ext>
                </a:extLst>
              </p:cNvPr>
              <p:cNvSpPr txBox="1"/>
              <p:nvPr/>
            </p:nvSpPr>
            <p:spPr>
              <a:xfrm>
                <a:off x="6620207" y="824723"/>
                <a:ext cx="54458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altLang="ja-JP" sz="2400" dirty="0"/>
                  <a:t>; 0.1</a:t>
                </a:r>
                <a:r>
                  <a:rPr lang="ja-JP" altLang="en-US" sz="2400" dirty="0"/>
                  <a:t>，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ja-JP" sz="2400" dirty="0"/>
                  <a:t>; 0.9</a:t>
                </a:r>
                <a:endParaRPr lang="ja-JP" altLang="en-US" sz="2400" dirty="0"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E0071DBF-66AE-EF68-C924-7BF4AE18A2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0207" y="824723"/>
                <a:ext cx="5445823" cy="461665"/>
              </a:xfrm>
              <a:prstGeom prst="rect">
                <a:avLst/>
              </a:prstGeom>
              <a:blipFill>
                <a:blip r:embed="rId5"/>
                <a:stretch>
                  <a:fillRect t="-14474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30957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FD733-9DD6-1A4B-4FC1-3C84D36C8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5D7714-0D18-4430-47B6-AD1B5178E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実験</a:t>
            </a:r>
            <a:r>
              <a:rPr lang="en-US" altLang="ja-JP" dirty="0"/>
              <a:t>2;</a:t>
            </a:r>
            <a:r>
              <a:rPr lang="ja-JP" altLang="en-US" dirty="0"/>
              <a:t> 内分の割合の自動調整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035E899E-CEA5-43F6-E3B6-293B1E3804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kumimoji="1" lang="en-US" altLang="ja-JP" dirty="0"/>
                  <a:t>Adaptive Interpolated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Schedule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Free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SGD(AISF</a:t>
                </a:r>
                <a:r>
                  <a:rPr lang="en-US" altLang="ja-JP" dirty="0"/>
                  <a:t>-SGD</a:t>
                </a:r>
                <a:r>
                  <a:rPr kumimoji="1" lang="en-US" altLang="ja-JP" dirty="0"/>
                  <a:t>)</a:t>
                </a:r>
                <a:r>
                  <a:rPr kumimoji="1" lang="ja-JP" altLang="en-US" dirty="0"/>
                  <a:t>の</a:t>
                </a:r>
                <a:r>
                  <a:rPr lang="ja-JP" altLang="en-US" dirty="0"/>
                  <a:t>内分の割合の自動調整を確認</a:t>
                </a:r>
                <a:endParaRPr kumimoji="1"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kumimoji="1" lang="ja-JP" altLang="en-US" dirty="0"/>
                  <a:t>実験条件</a:t>
                </a:r>
                <a:endParaRPr kumimoji="1" lang="en-US" altLang="ja-JP" dirty="0"/>
              </a:p>
              <a:p>
                <a:pPr marL="457200" lvl="1" indent="0">
                  <a:buNone/>
                </a:pPr>
                <a:r>
                  <a:rPr lang="en-US" altLang="ja-JP" dirty="0"/>
                  <a:t>DATASET; IRIS</a:t>
                </a:r>
              </a:p>
              <a:p>
                <a:pPr marL="457200" lvl="1" indent="0">
                  <a:buNone/>
                </a:pPr>
                <a:r>
                  <a:rPr lang="en-US" altLang="ja-JP" dirty="0"/>
                  <a:t>MODEL; 4-3</a:t>
                </a:r>
              </a:p>
              <a:p>
                <a:pPr marL="457200" lvl="1" indent="0">
                  <a:buNone/>
                </a:pPr>
                <a:r>
                  <a:rPr lang="en-US" altLang="ja-JP" dirty="0"/>
                  <a:t>BATCH_SIZE; 16, </a:t>
                </a:r>
                <a:r>
                  <a:rPr lang="en-US" altLang="ja-JP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135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altLang="ja-JP" dirty="0"/>
                  <a:t>(</a:t>
                </a:r>
                <a:r>
                  <a:rPr lang="ja-JP" altLang="en-US" dirty="0"/>
                  <a:t>学習率</a:t>
                </a:r>
                <a:r>
                  <a:rPr lang="en-US" altLang="ja-JP" dirty="0"/>
                  <a:t>); 0.1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ja-JP" dirty="0"/>
                  <a:t>(</a:t>
                </a:r>
                <a:r>
                  <a:rPr lang="ja-JP" altLang="en-US" dirty="0"/>
                  <a:t>内分の割合</a:t>
                </a:r>
                <a:r>
                  <a:rPr lang="en-US" altLang="ja-JP" dirty="0"/>
                  <a:t>); 0.1</a:t>
                </a:r>
                <a:r>
                  <a:rPr lang="ja-JP" altLang="en-US" dirty="0"/>
                  <a:t>，</a:t>
                </a:r>
                <a:r>
                  <a:rPr lang="en-US" altLang="ja-JP" dirty="0"/>
                  <a:t>0.9</a:t>
                </a:r>
                <a:endParaRPr lang="ja-JP" altLang="en-US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035E899E-CEA5-43F6-E3B6-293B1E3804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3" t="-109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BCF3638-56BC-D55F-AFA7-21C2EB986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22</a:t>
            </a:fld>
            <a:endParaRPr kumimoji="1" lang="ja-JP" altLang="en-US"/>
          </a:p>
        </p:txBody>
      </p:sp>
      <p:pic>
        <p:nvPicPr>
          <p:cNvPr id="1026" name="Picture 2" descr="Iris Dataset &quot;Analysis using Machine learning techniques">
            <a:extLst>
              <a:ext uri="{FF2B5EF4-FFF2-40B4-BE49-F238E27FC236}">
                <a16:creationId xmlns:a16="http://schemas.microsoft.com/office/drawing/2014/main" id="{8DC69A36-C964-6E7B-FE08-DA6BFC18EF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43" t="10256" r="6202" b="8013"/>
          <a:stretch>
            <a:fillRect/>
          </a:stretch>
        </p:blipFill>
        <p:spPr bwMode="auto">
          <a:xfrm>
            <a:off x="5521796" y="2223856"/>
            <a:ext cx="6544235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FC51833-60E7-D826-635A-78A43A0FF724}"/>
              </a:ext>
            </a:extLst>
          </p:cNvPr>
          <p:cNvSpPr txBox="1"/>
          <p:nvPr/>
        </p:nvSpPr>
        <p:spPr>
          <a:xfrm>
            <a:off x="6799266" y="4967056"/>
            <a:ext cx="39892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花弁とがくの幅と高さから花の種類を分類する問題</a:t>
            </a:r>
          </a:p>
        </p:txBody>
      </p:sp>
    </p:spTree>
    <p:extLst>
      <p:ext uri="{BB962C8B-B14F-4D97-AF65-F5344CB8AC3E}">
        <p14:creationId xmlns:p14="http://schemas.microsoft.com/office/powerpoint/2010/main" val="32060366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94F70-BFB4-7076-62F5-E40CCE547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568847-499A-25E6-C673-FEAA010F3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/>
              <a:t>実験</a:t>
            </a:r>
            <a:r>
              <a:rPr lang="en-US" altLang="ja-JP" dirty="0"/>
              <a:t>2;</a:t>
            </a:r>
            <a:r>
              <a:rPr lang="ja-JP" altLang="en-US"/>
              <a:t> </a:t>
            </a:r>
            <a:r>
              <a:rPr lang="en-US" altLang="ja-JP" dirty="0"/>
              <a:t>BATCH_SIZE=16</a:t>
            </a:r>
            <a:r>
              <a:rPr lang="ja-JP" altLang="en-US" dirty="0"/>
              <a:t>の場合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89284BE-8AAC-2C7A-4716-31E5D8625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23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7514D7-B0E3-3520-B145-FB79331CE2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5969" y="1286388"/>
            <a:ext cx="5445823" cy="55037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5B552B1E-32D0-7261-E9E2-97F67B9BB2C6}"/>
                  </a:ext>
                </a:extLst>
              </p:cNvPr>
              <p:cNvSpPr txBox="1"/>
              <p:nvPr/>
            </p:nvSpPr>
            <p:spPr>
              <a:xfrm>
                <a:off x="125970" y="824723"/>
                <a:ext cx="54458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altLang="ja-JP" sz="2400" dirty="0"/>
                  <a:t>; 0.1</a:t>
                </a:r>
                <a:r>
                  <a:rPr lang="ja-JP" altLang="en-US" sz="2400" dirty="0"/>
                  <a:t>，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ja-JP" sz="2400" dirty="0"/>
                  <a:t>; 0.1</a:t>
                </a:r>
                <a:r>
                  <a:rPr lang="ja-JP" altLang="en-US" sz="2400" dirty="0"/>
                  <a:t>，</a:t>
                </a:r>
                <a:r>
                  <a:rPr lang="en-US" altLang="ja-JP" sz="2400" dirty="0"/>
                  <a:t>0.9</a:t>
                </a:r>
                <a:endParaRPr lang="ja-JP" altLang="en-US" sz="2400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5B552B1E-32D0-7261-E9E2-97F67B9BB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70" y="824723"/>
                <a:ext cx="5445823" cy="461665"/>
              </a:xfrm>
              <a:prstGeom prst="rect">
                <a:avLst/>
              </a:prstGeom>
              <a:blipFill>
                <a:blip r:embed="rId3"/>
                <a:stretch>
                  <a:fillRect t="-14474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図 8">
            <a:extLst>
              <a:ext uri="{FF2B5EF4-FFF2-40B4-BE49-F238E27FC236}">
                <a16:creationId xmlns:a16="http://schemas.microsoft.com/office/drawing/2014/main" id="{26845BA4-EA1D-0285-8956-8630B43886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20207" y="1426137"/>
            <a:ext cx="5445824" cy="52242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8131E106-8896-F504-FD77-50BA1B658740}"/>
                  </a:ext>
                </a:extLst>
              </p:cNvPr>
              <p:cNvSpPr txBox="1"/>
              <p:nvPr/>
            </p:nvSpPr>
            <p:spPr>
              <a:xfrm>
                <a:off x="6620207" y="824723"/>
                <a:ext cx="54458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ja-JP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ja-JP" altLang="en-US" sz="2400" dirty="0"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8131E106-8896-F504-FD77-50BA1B658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0207" y="824723"/>
                <a:ext cx="5445823" cy="461665"/>
              </a:xfrm>
              <a:prstGeom prst="rect">
                <a:avLst/>
              </a:prstGeom>
              <a:blipFill>
                <a:blip r:embed="rId5"/>
                <a:stretch>
                  <a:fillRect b="-1184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吹き出し: 四角形 2">
                <a:extLst>
                  <a:ext uri="{FF2B5EF4-FFF2-40B4-BE49-F238E27FC236}">
                    <a16:creationId xmlns:a16="http://schemas.microsoft.com/office/drawing/2014/main" id="{21722B7F-2567-E739-D4E8-68869DE6831F}"/>
                  </a:ext>
                </a:extLst>
              </p:cNvPr>
              <p:cNvSpPr/>
              <p:nvPr/>
            </p:nvSpPr>
            <p:spPr>
              <a:xfrm>
                <a:off x="3967110" y="4984422"/>
                <a:ext cx="3070183" cy="761953"/>
              </a:xfrm>
              <a:prstGeom prst="wedgeRectCallout">
                <a:avLst>
                  <a:gd name="adj1" fmla="val -33262"/>
                  <a:gd name="adj2" fmla="val -7750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90000" rIns="90000" bIns="90000" rtlCol="0" anchor="ctr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Gothic" panose="020B0400000000000000" pitchFamily="49" charset="-128"/>
                      </a:rPr>
                      <m:t>𝛾</m:t>
                    </m:r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Gothic" panose="020B0400000000000000" pitchFamily="49" charset="-128"/>
                      </a:rPr>
                      <m:t>=0.1</m:t>
                    </m:r>
                  </m:oMath>
                </a14:m>
                <a:r>
                  <a:rPr kumimoji="1" lang="ja-JP" altLang="en-US" sz="2400" dirty="0">
                    <a:solidFill>
                      <a:schemeClr val="tx1"/>
                    </a:solidFill>
                    <a:latin typeface="BIZ UDGothic" panose="020B0400000000000000" pitchFamily="49" charset="-128"/>
                    <a:ea typeface="BIZ UDGothic" panose="020B0400000000000000" pitchFamily="49" charset="-128"/>
                  </a:rPr>
                  <a:t>の</a:t>
                </a:r>
                <a:r>
                  <a:rPr kumimoji="1" lang="en-US" altLang="ja-JP" sz="2400" dirty="0">
                    <a:solidFill>
                      <a:schemeClr val="tx1"/>
                    </a:solidFill>
                    <a:latin typeface="BIZ UDGothic" panose="020B0400000000000000" pitchFamily="49" charset="-128"/>
                    <a:ea typeface="BIZ UDGothic" panose="020B0400000000000000" pitchFamily="49" charset="-128"/>
                  </a:rPr>
                  <a:t>ISF</a:t>
                </a:r>
                <a:r>
                  <a:rPr kumimoji="1" lang="ja-JP" altLang="en-US" sz="2400" dirty="0">
                    <a:solidFill>
                      <a:schemeClr val="tx1"/>
                    </a:solidFill>
                    <a:latin typeface="BIZ UDGothic" panose="020B0400000000000000" pitchFamily="49" charset="-128"/>
                    <a:ea typeface="BIZ UDGothic" panose="020B0400000000000000" pitchFamily="49" charset="-128"/>
                  </a:rPr>
                  <a:t>と比べ</a:t>
                </a:r>
                <a:r>
                  <a:rPr kumimoji="1" lang="en-US" altLang="ja-JP" sz="2400" dirty="0">
                    <a:solidFill>
                      <a:schemeClr val="tx1"/>
                    </a:solidFill>
                    <a:latin typeface="BIZ UDGothic" panose="020B0400000000000000" pitchFamily="49" charset="-128"/>
                    <a:ea typeface="BIZ UDGothic" panose="020B0400000000000000" pitchFamily="49" charset="-128"/>
                  </a:rPr>
                  <a:t>AISF</a:t>
                </a:r>
                <a:r>
                  <a:rPr kumimoji="1" lang="ja-JP" altLang="en-US" sz="2400" dirty="0">
                    <a:solidFill>
                      <a:schemeClr val="tx1"/>
                    </a:solidFill>
                    <a:latin typeface="BIZ UDGothic" panose="020B0400000000000000" pitchFamily="49" charset="-128"/>
                    <a:ea typeface="BIZ UDGothic" panose="020B0400000000000000" pitchFamily="49" charset="-128"/>
                  </a:rPr>
                  <a:t>が優れている</a:t>
                </a:r>
              </a:p>
            </p:txBody>
          </p:sp>
        </mc:Choice>
        <mc:Fallback xmlns="">
          <p:sp>
            <p:nvSpPr>
              <p:cNvPr id="3" name="吹き出し: 四角形 2">
                <a:extLst>
                  <a:ext uri="{FF2B5EF4-FFF2-40B4-BE49-F238E27FC236}">
                    <a16:creationId xmlns:a16="http://schemas.microsoft.com/office/drawing/2014/main" id="{21722B7F-2567-E739-D4E8-68869DE683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7110" y="4984422"/>
                <a:ext cx="3070183" cy="761953"/>
              </a:xfrm>
              <a:prstGeom prst="wedgeRectCallout">
                <a:avLst>
                  <a:gd name="adj1" fmla="val -33262"/>
                  <a:gd name="adj2" fmla="val -77500"/>
                </a:avLst>
              </a:prstGeom>
              <a:blipFill>
                <a:blip r:embed="rId6"/>
                <a:stretch>
                  <a:fillRect b="-1595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19580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A4487-E0D2-331A-D5DB-1F38921DF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DBC3A3-3327-F15C-69F3-0ECF8057C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/>
              <a:t>実験</a:t>
            </a:r>
            <a:r>
              <a:rPr lang="en-US" altLang="ja-JP" dirty="0"/>
              <a:t>2;</a:t>
            </a:r>
            <a:r>
              <a:rPr lang="ja-JP" altLang="en-US"/>
              <a:t> </a:t>
            </a:r>
            <a:r>
              <a:rPr lang="en-US" altLang="ja-JP" dirty="0"/>
              <a:t>BATCH_SIZE=135</a:t>
            </a:r>
            <a:r>
              <a:rPr lang="ja-JP" altLang="en-US" dirty="0"/>
              <a:t>の場合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423C262-5611-14EB-DC59-1EE9E6714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24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2FE9C027-3C85-8867-D4A6-83CE4F2372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5969" y="1315355"/>
            <a:ext cx="5445823" cy="54458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C967171D-FA29-82B0-4D23-0B492C4ABDEF}"/>
                  </a:ext>
                </a:extLst>
              </p:cNvPr>
              <p:cNvSpPr txBox="1"/>
              <p:nvPr/>
            </p:nvSpPr>
            <p:spPr>
              <a:xfrm>
                <a:off x="125970" y="824723"/>
                <a:ext cx="54458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altLang="ja-JP" sz="2400" dirty="0"/>
                  <a:t>; 0.1</a:t>
                </a:r>
                <a:r>
                  <a:rPr lang="ja-JP" altLang="en-US" sz="2400" dirty="0"/>
                  <a:t>，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ja-JP" sz="2400" dirty="0"/>
                  <a:t>; 0.1</a:t>
                </a:r>
                <a:r>
                  <a:rPr lang="ja-JP" altLang="en-US" sz="2400" dirty="0"/>
                  <a:t>，</a:t>
                </a:r>
                <a:r>
                  <a:rPr lang="en-US" altLang="ja-JP" sz="2400" dirty="0"/>
                  <a:t>0.9</a:t>
                </a:r>
                <a:endParaRPr lang="ja-JP" altLang="en-US" sz="2400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C967171D-FA29-82B0-4D23-0B492C4ABD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70" y="824723"/>
                <a:ext cx="5445823" cy="461665"/>
              </a:xfrm>
              <a:prstGeom prst="rect">
                <a:avLst/>
              </a:prstGeom>
              <a:blipFill>
                <a:blip r:embed="rId3"/>
                <a:stretch>
                  <a:fillRect t="-14474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図 8">
            <a:extLst>
              <a:ext uri="{FF2B5EF4-FFF2-40B4-BE49-F238E27FC236}">
                <a16:creationId xmlns:a16="http://schemas.microsoft.com/office/drawing/2014/main" id="{35D4E2AF-A23B-E357-9F7A-C0386700F8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20207" y="1426137"/>
            <a:ext cx="5445823" cy="52242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FE4B1271-8898-CD0A-1410-508C002F791C}"/>
                  </a:ext>
                </a:extLst>
              </p:cNvPr>
              <p:cNvSpPr txBox="1"/>
              <p:nvPr/>
            </p:nvSpPr>
            <p:spPr>
              <a:xfrm>
                <a:off x="6620207" y="824723"/>
                <a:ext cx="54458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ja-JP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ja-JP" altLang="en-US" sz="2400" dirty="0"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FE4B1271-8898-CD0A-1410-508C002F7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0207" y="824723"/>
                <a:ext cx="5445823" cy="461665"/>
              </a:xfrm>
              <a:prstGeom prst="rect">
                <a:avLst/>
              </a:prstGeom>
              <a:blipFill>
                <a:blip r:embed="rId5"/>
                <a:stretch>
                  <a:fillRect b="-1184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8033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ED135-4ABF-8436-BEDB-EF49ED58A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FC43D1-A26F-8CF4-8309-3DCD8106C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/>
              <a:t>実験</a:t>
            </a:r>
            <a:r>
              <a:rPr lang="en-US" altLang="ja-JP" dirty="0"/>
              <a:t>3;</a:t>
            </a:r>
            <a:r>
              <a:rPr lang="ja-JP" altLang="en-US"/>
              <a:t> </a:t>
            </a:r>
            <a:r>
              <a:rPr lang="en" altLang="ja-JP" dirty="0"/>
              <a:t>Anchored Weight Decay</a:t>
            </a:r>
            <a:r>
              <a:rPr lang="ja-JP" altLang="en-US"/>
              <a:t>の影響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CAFB49D2-FE1E-DC2E-4315-716E0C5CE1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kumimoji="1" lang="en-US" altLang="ja-JP" dirty="0"/>
                  <a:t>Interpolated</a:t>
                </a:r>
                <a:r>
                  <a:rPr kumimoji="1" lang="ja-JP" altLang="en-US"/>
                  <a:t> </a:t>
                </a:r>
                <a:r>
                  <a:rPr kumimoji="1" lang="en-US" altLang="ja-JP" dirty="0"/>
                  <a:t>Schedule</a:t>
                </a:r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Free</a:t>
                </a:r>
                <a:r>
                  <a:rPr kumimoji="1" lang="ja-JP" altLang="en-US"/>
                  <a:t> </a:t>
                </a:r>
                <a:r>
                  <a:rPr kumimoji="1" lang="en-US" altLang="ja-JP" dirty="0"/>
                  <a:t>SGDW(ISFW)</a:t>
                </a:r>
                <a:r>
                  <a:rPr kumimoji="1" lang="ja-JP" altLang="en-US"/>
                  <a:t>による勾配の近似誤差を抑制する効果の評価</a:t>
                </a:r>
                <a:endParaRPr kumimoji="1"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kumimoji="1" lang="ja-JP" altLang="en-US" dirty="0"/>
                  <a:t>実験条件</a:t>
                </a:r>
                <a:endParaRPr kumimoji="1" lang="en-US" altLang="ja-JP" dirty="0"/>
              </a:p>
              <a:p>
                <a:pPr marL="457200" lvl="1" indent="0">
                  <a:buNone/>
                </a:pPr>
                <a:r>
                  <a:rPr lang="en-US" altLang="ja-JP" dirty="0"/>
                  <a:t>DATASET; IRIS</a:t>
                </a:r>
              </a:p>
              <a:p>
                <a:pPr marL="457200" lvl="1" indent="0">
                  <a:buNone/>
                </a:pPr>
                <a:r>
                  <a:rPr lang="en-US" altLang="ja-JP" dirty="0"/>
                  <a:t>MODEL; 4-3</a:t>
                </a:r>
              </a:p>
              <a:p>
                <a:pPr marL="457200" lvl="1" indent="0">
                  <a:buNone/>
                </a:pPr>
                <a:r>
                  <a:rPr lang="en-US" altLang="ja-JP" dirty="0"/>
                  <a:t>BATCH_SIZE; 16, </a:t>
                </a:r>
                <a:r>
                  <a:rPr lang="en-US" altLang="ja-JP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135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altLang="ja-JP" dirty="0"/>
                  <a:t>(</a:t>
                </a:r>
                <a:r>
                  <a:rPr lang="ja-JP" altLang="en-US" dirty="0"/>
                  <a:t>学習率</a:t>
                </a:r>
                <a:r>
                  <a:rPr lang="en-US" altLang="ja-JP" dirty="0"/>
                  <a:t>); 0.1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ja-JP" dirty="0"/>
                  <a:t>(</a:t>
                </a:r>
                <a:r>
                  <a:rPr lang="ja-JP" altLang="en-US" dirty="0"/>
                  <a:t>内分の割合</a:t>
                </a:r>
                <a:r>
                  <a:rPr lang="en-US" altLang="ja-JP" dirty="0"/>
                  <a:t>); 0.1</a:t>
                </a:r>
                <a:r>
                  <a:rPr lang="ja-JP" altLang="en-US" dirty="0"/>
                  <a:t>，</a:t>
                </a:r>
                <a:r>
                  <a:rPr lang="en-US" altLang="ja-JP" dirty="0"/>
                  <a:t>0.9</a:t>
                </a:r>
                <a:endParaRPr lang="ja-JP" altLang="en-US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CAFB49D2-FE1E-DC2E-4315-716E0C5CE1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4" t="-9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6D616A2-6C59-EC0E-EB00-940E78257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25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コンテンツ プレースホルダー 2">
                <a:extLst>
                  <a:ext uri="{FF2B5EF4-FFF2-40B4-BE49-F238E27FC236}">
                    <a16:creationId xmlns:a16="http://schemas.microsoft.com/office/drawing/2014/main" id="{2A27DC12-B65F-9BA9-9034-5AE4EB5D0B9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1582917"/>
                <a:ext cx="6019881" cy="479441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kumimoji="1" sz="2800" kern="1200">
                    <a:solidFill>
                      <a:schemeClr val="tx1"/>
                    </a:solidFill>
                    <a:latin typeface="BIZ UDGothic" panose="020B0400000000000000" pitchFamily="49" charset="-128"/>
                    <a:ea typeface="BIZ UDGothic" panose="020B0400000000000000" pitchFamily="49" charset="-128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BIZ UDGothic" panose="020B0400000000000000" pitchFamily="49" charset="-128"/>
                    <a:ea typeface="BIZ UDGothic" panose="020B0400000000000000" pitchFamily="49" charset="-128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BIZ UDGothic" panose="020B0400000000000000" pitchFamily="49" charset="-128"/>
                    <a:ea typeface="BIZ UDGothic" panose="020B0400000000000000" pitchFamily="49" charset="-128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BIZ UDGothic" panose="020B0400000000000000" pitchFamily="49" charset="-128"/>
                    <a:ea typeface="BIZ UDGothic" panose="020B0400000000000000" pitchFamily="49" charset="-128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BIZ UDGothic" panose="020B0400000000000000" pitchFamily="49" charset="-128"/>
                    <a:ea typeface="BIZ UDGothic" panose="020B0400000000000000" pitchFamily="49" charset="-128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ja-JP" altLang="en-US" sz="2400"/>
                  <a:t>内分パラメータで計算した真の勾配</a:t>
                </a:r>
                <a:endParaRPr lang="en-US" altLang="ja-JP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b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1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</m:d>
                    <m:sSub>
                      <m:sSubPr>
                        <m:ctrlPr>
                          <a:rPr lang="en-US" altLang="ja-JP" sz="2400" b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ja-JP" sz="2400" b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sz="2400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acc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ja-JP" sz="2400" dirty="0"/>
                  <a:t>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b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1" smtClean="0">
                            <a:latin typeface="Cambria Math" panose="02040503050406030204" pitchFamily="18" charset="0"/>
                          </a:rPr>
                          <m:t>𝐠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ja-JP" sz="2400"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ja-JP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ja-JP" sz="2400" dirty="0"/>
                  <a:t>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altLang="ja-JP" sz="12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ja-JP" altLang="en-US" sz="2400"/>
                  <a:t>近似した勾配</a:t>
                </a:r>
                <a:endParaRPr lang="en-US" altLang="ja-JP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ja-JP" sz="2400" b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sz="2400" b="1">
                                <a:latin typeface="Cambria Math" panose="02040503050406030204" pitchFamily="18" charset="0"/>
                              </a:rPr>
                              <m:t>𝐠</m:t>
                            </m:r>
                          </m:e>
                        </m:acc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ja-JP" sz="2400" b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sz="2400" b="1">
                                <a:latin typeface="Cambria Math" panose="02040503050406030204" pitchFamily="18" charset="0"/>
                              </a:rPr>
                              <m:t>𝐠</m:t>
                            </m:r>
                          </m:e>
                        </m:acc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  <m:r>
                      <m:rPr>
                        <m:sty m:val="p"/>
                      </m:rPr>
                      <a:rPr lang="en-US" altLang="ja-JP" sz="2400"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ja-JP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ja-JP" sz="2400" dirty="0"/>
                  <a:t>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ja-JP" sz="2400" b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sz="2400" b="1" smtClean="0">
                                <a:latin typeface="Cambria Math" panose="02040503050406030204" pitchFamily="18" charset="0"/>
                              </a:rPr>
                              <m:t>𝐠</m:t>
                            </m:r>
                          </m:e>
                        </m:acc>
                      </m:e>
                      <m:sub>
                        <m:r>
                          <a:rPr lang="en-US" altLang="ja-JP" sz="240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d>
                    <m:r>
                      <m:rPr>
                        <m:sty m:val="p"/>
                      </m:rPr>
                      <a:rPr lang="en-US" altLang="ja-JP" sz="2400"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ja-JP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ja-JP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ja-JP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ja-JP" sz="2400" b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sz="2400" b="1">
                                <a:latin typeface="Cambria Math" panose="02040503050406030204" pitchFamily="18" charset="0"/>
                              </a:rPr>
                              <m:t>𝐠</m:t>
                            </m:r>
                          </m:e>
                        </m:acc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ja-JP" sz="2400" dirty="0"/>
                  <a:t>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altLang="ja-JP" sz="12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ja-JP" altLang="en-US" sz="2400"/>
                  <a:t>真の勾配と近似勾配の差のノルム</a:t>
                </a:r>
                <a:endParaRPr lang="en-US" altLang="ja-JP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ja-JP" sz="240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sz="2400" b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400" b="1"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altLang="ja-JP" sz="2400" b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sz="2400" b="1">
                                        <a:latin typeface="Cambria Math" panose="02040503050406030204" pitchFamily="18" charset="0"/>
                                      </a:rPr>
                                      <m:t>𝐠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ja-JP" sz="24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sz="2400" b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400" b="1"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ja-JP" sz="2400" dirty="0"/>
                  <a:t> </a:t>
                </a:r>
              </a:p>
            </p:txBody>
          </p:sp>
        </mc:Choice>
        <mc:Fallback xmlns="">
          <p:sp>
            <p:nvSpPr>
              <p:cNvPr id="6" name="コンテンツ プレースホルダー 2">
                <a:extLst>
                  <a:ext uri="{FF2B5EF4-FFF2-40B4-BE49-F238E27FC236}">
                    <a16:creationId xmlns:a16="http://schemas.microsoft.com/office/drawing/2014/main" id="{2A27DC12-B65F-9BA9-9034-5AE4EB5D0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582917"/>
                <a:ext cx="6019881" cy="4794419"/>
              </a:xfrm>
              <a:prstGeom prst="rect">
                <a:avLst/>
              </a:prstGeom>
              <a:blipFill>
                <a:blip r:embed="rId3"/>
                <a:stretch>
                  <a:fillRect l="-1684" t="-1055" b="-105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93287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3974C-26A9-420F-8DE5-6F0A87507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B4F398-EC48-910A-BAFC-D88E02134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/>
              <a:t>実験</a:t>
            </a:r>
            <a:r>
              <a:rPr lang="en-US" altLang="ja-JP" dirty="0"/>
              <a:t>3;</a:t>
            </a:r>
            <a:r>
              <a:rPr lang="ja-JP" altLang="en-US"/>
              <a:t> </a:t>
            </a:r>
            <a:r>
              <a:rPr lang="en-US" altLang="ja-JP" dirty="0"/>
              <a:t>BATCH_SIZE=16</a:t>
            </a:r>
            <a:r>
              <a:rPr lang="ja-JP" altLang="en-US" dirty="0"/>
              <a:t>の場合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4E29689-9B63-2264-62AB-8BE3E77B5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26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97E8496-E1AE-A20B-1F58-68AB9B17F7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5969" y="1374807"/>
            <a:ext cx="5445823" cy="53269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8EAC71F1-1F4E-F22C-9DFA-61206EC093D8}"/>
                  </a:ext>
                </a:extLst>
              </p:cNvPr>
              <p:cNvSpPr txBox="1"/>
              <p:nvPr/>
            </p:nvSpPr>
            <p:spPr>
              <a:xfrm>
                <a:off x="125970" y="824723"/>
                <a:ext cx="54458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altLang="ja-JP" sz="2400" dirty="0"/>
                  <a:t>; 0.1</a:t>
                </a:r>
                <a:r>
                  <a:rPr lang="ja-JP" altLang="en-US" sz="2400" dirty="0"/>
                  <a:t>，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ja-JP" sz="2400" dirty="0"/>
                  <a:t>; 0.1</a:t>
                </a:r>
                <a:endParaRPr lang="ja-JP" altLang="en-US" sz="2400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AEF7421A-29D7-5E37-702F-F078B2599B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70" y="824723"/>
                <a:ext cx="5445823" cy="461665"/>
              </a:xfrm>
              <a:prstGeom prst="rect">
                <a:avLst/>
              </a:prstGeom>
              <a:blipFill>
                <a:blip r:embed="rId3"/>
                <a:stretch>
                  <a:fillRect t="-14474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図 8">
            <a:extLst>
              <a:ext uri="{FF2B5EF4-FFF2-40B4-BE49-F238E27FC236}">
                <a16:creationId xmlns:a16="http://schemas.microsoft.com/office/drawing/2014/main" id="{8B566B74-383F-A1E7-9BC9-7F1DFF506BC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43988" y="1374807"/>
            <a:ext cx="5398261" cy="53269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094D3590-A379-AE8D-CD72-FB6ABF9742E7}"/>
                  </a:ext>
                </a:extLst>
              </p:cNvPr>
              <p:cNvSpPr txBox="1"/>
              <p:nvPr/>
            </p:nvSpPr>
            <p:spPr>
              <a:xfrm>
                <a:off x="6620207" y="824723"/>
                <a:ext cx="54458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altLang="ja-JP" sz="2400" dirty="0"/>
                  <a:t>; 0.1</a:t>
                </a:r>
                <a:r>
                  <a:rPr lang="ja-JP" altLang="en-US" sz="2400" dirty="0"/>
                  <a:t>，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ja-JP" sz="2400" dirty="0"/>
                  <a:t>; 0.9</a:t>
                </a:r>
                <a:endParaRPr lang="ja-JP" altLang="en-US" sz="2400" dirty="0"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A781006F-7BC8-7A26-F70F-88ECF0B9C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0207" y="824723"/>
                <a:ext cx="5445823" cy="461665"/>
              </a:xfrm>
              <a:prstGeom prst="rect">
                <a:avLst/>
              </a:prstGeom>
              <a:blipFill>
                <a:blip r:embed="rId5"/>
                <a:stretch>
                  <a:fillRect t="-14474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79090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0CA774-78D9-EAC2-DFD1-F240B20E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まとめ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221204F-0FE3-8663-0F7F-642DBA447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968" y="813577"/>
            <a:ext cx="12066031" cy="5563759"/>
          </a:xfrm>
        </p:spPr>
        <p:txBody>
          <a:bodyPr/>
          <a:lstStyle/>
          <a:p>
            <a:r>
              <a:rPr kumimoji="1" lang="en-US" altLang="ja-JP" dirty="0"/>
              <a:t>Schedule Free SGD</a:t>
            </a:r>
            <a:r>
              <a:rPr kumimoji="1" lang="ja-JP" altLang="en-US" dirty="0"/>
              <a:t>を再解釈した</a:t>
            </a:r>
            <a:r>
              <a:rPr kumimoji="1" lang="en-US" altLang="ja-JP" dirty="0"/>
              <a:t>Interpolated Schedule Free SGD</a:t>
            </a:r>
            <a:r>
              <a:rPr kumimoji="1" lang="ja-JP" altLang="en-US" dirty="0"/>
              <a:t>を提案</a:t>
            </a:r>
            <a:endParaRPr kumimoji="1" lang="en-US" altLang="ja-JP" dirty="0"/>
          </a:p>
          <a:p>
            <a:r>
              <a:rPr kumimoji="1" lang="ja-JP" altLang="en-US" dirty="0"/>
              <a:t>内分パラメータでの勾配との近似誤差</a:t>
            </a:r>
            <a:r>
              <a:rPr lang="ja-JP" altLang="en-US" dirty="0"/>
              <a:t>に応じ内分の割合を</a:t>
            </a:r>
            <a:r>
              <a:rPr kumimoji="1" lang="ja-JP" altLang="en-US" dirty="0"/>
              <a:t>自動調整</a:t>
            </a:r>
            <a:endParaRPr kumimoji="1" lang="en-US" altLang="ja-JP" dirty="0"/>
          </a:p>
          <a:p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今後</a:t>
            </a:r>
            <a:endParaRPr kumimoji="1" lang="en-US" altLang="ja-JP" dirty="0"/>
          </a:p>
          <a:p>
            <a:r>
              <a:rPr lang="ja-JP" altLang="en-US" dirty="0"/>
              <a:t>広範な数値実験</a:t>
            </a:r>
            <a:endParaRPr lang="en-US" altLang="ja-JP" dirty="0"/>
          </a:p>
          <a:p>
            <a:pPr marL="457200" lvl="1" indent="0">
              <a:buNone/>
            </a:pPr>
            <a:r>
              <a:rPr kumimoji="1" lang="en-US" altLang="ja-JP" dirty="0"/>
              <a:t>CIFAR10-AlexNet; </a:t>
            </a:r>
            <a:r>
              <a:rPr kumimoji="1" lang="ja-JP" altLang="en-US" dirty="0"/>
              <a:t>画像分類問題</a:t>
            </a:r>
            <a:endParaRPr kumimoji="1" lang="en-US" altLang="ja-JP" dirty="0"/>
          </a:p>
          <a:p>
            <a:pPr marL="457200" lvl="1" indent="0">
              <a:buNone/>
            </a:pPr>
            <a:r>
              <a:rPr kumimoji="1" lang="en-US" altLang="ja-JP" dirty="0"/>
              <a:t>ImageNet-Vision Transformer; </a:t>
            </a:r>
            <a:r>
              <a:rPr kumimoji="1" lang="ja-JP" altLang="en-US" dirty="0"/>
              <a:t>画像分類問題</a:t>
            </a:r>
            <a:endParaRPr kumimoji="1" lang="en-US" altLang="ja-JP" dirty="0"/>
          </a:p>
          <a:p>
            <a:pPr marL="457200" lvl="1" indent="0">
              <a:buNone/>
            </a:pPr>
            <a:r>
              <a:rPr lang="en" altLang="ja-JP" dirty="0"/>
              <a:t>IWSLT14-GPT2; </a:t>
            </a:r>
            <a:r>
              <a:rPr lang="ja-JP" altLang="en-US" dirty="0"/>
              <a:t>文章翻訳問題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6B771BD-20C9-8C0B-48D0-9B7DA5CAE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27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4202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006FB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IZ UDゴシック">
      <a:majorFont>
        <a:latin typeface="BIZ UDゴシック"/>
        <a:ea typeface="BIZ UDゴシック"/>
        <a:cs typeface=""/>
      </a:majorFont>
      <a:minorFont>
        <a:latin typeface="BIZ UDゴシック"/>
        <a:ea typeface="BIZ UD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lIns="90000" tIns="90000" rIns="90000" bIns="90000" rtlCol="0" anchor="ctr">
        <a:noAutofit/>
      </a:bodyPr>
      <a:lstStyle>
        <a:defPPr algn="ctr">
          <a:defRPr kumimoji="1" sz="2400" dirty="0" smtClean="0">
            <a:solidFill>
              <a:schemeClr val="tx1"/>
            </a:solidFill>
            <a:latin typeface="BIZ UDGothic" panose="020B0400000000000000" pitchFamily="49" charset="-128"/>
            <a:ea typeface="BIZ UDGothic" panose="020B0400000000000000" pitchFamily="49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triangl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>
        <a:spAutoFit/>
      </a:bodyPr>
      <a:lstStyle>
        <a:defPPr algn="ctr">
          <a:defRPr sz="2400" smtClean="0">
            <a:latin typeface="BIZ UDGothic" panose="020B0400000000000000" pitchFamily="49" charset="-128"/>
            <a:ea typeface="BIZ UDGothic" panose="020B0400000000000000" pitchFamily="49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13130</TotalTime>
  <Words>2052</Words>
  <Application>Microsoft Macintosh PowerPoint</Application>
  <PresentationFormat>ワイド画面</PresentationFormat>
  <Paragraphs>329</Paragraphs>
  <Slides>27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27</vt:i4>
      </vt:variant>
    </vt:vector>
  </HeadingPairs>
  <TitlesOfParts>
    <vt:vector size="32" baseType="lpstr">
      <vt:lpstr>BIZ UDGothic</vt:lpstr>
      <vt:lpstr>游ゴシック</vt:lpstr>
      <vt:lpstr>Arial</vt:lpstr>
      <vt:lpstr>Cambria Math</vt:lpstr>
      <vt:lpstr>Office テーマ</vt:lpstr>
      <vt:lpstr>Interpolated Schedule Free SGD</vt:lpstr>
      <vt:lpstr>はじめに</vt:lpstr>
      <vt:lpstr>問題設定</vt:lpstr>
      <vt:lpstr>勾配降下法</vt:lpstr>
      <vt:lpstr>確率的勾配降下法[1]</vt:lpstr>
      <vt:lpstr>SGDの問題点</vt:lpstr>
      <vt:lpstr>Polyak Ruppert Averaging[2]</vt:lpstr>
      <vt:lpstr>Primal Averaging[3]</vt:lpstr>
      <vt:lpstr>Schedule Free SGD[4]</vt:lpstr>
      <vt:lpstr>Schedule Free SGDの問題点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提案手法; Interpolated Schedule Free SGD</vt:lpstr>
      <vt:lpstr>提案手法; 内分の割合の自動調整</vt:lpstr>
      <vt:lpstr>提案手法; Anchored Weight Decay</vt:lpstr>
      <vt:lpstr>提案手法; Adaptive Interpolated Schedule Free SGDW</vt:lpstr>
      <vt:lpstr>実験1; Irisデータの分類問題</vt:lpstr>
      <vt:lpstr>実験1; BATCH_SIZE=16の場合</vt:lpstr>
      <vt:lpstr>実験1; BATCH_SIZE=135の場合</vt:lpstr>
      <vt:lpstr>実験2; 内分の割合の自動調整</vt:lpstr>
      <vt:lpstr>実験2; BATCH_SIZE=16の場合</vt:lpstr>
      <vt:lpstr>実験2; BATCH_SIZE=135の場合</vt:lpstr>
      <vt:lpstr>実験3; Anchored Weight Decayの影響</vt:lpstr>
      <vt:lpstr>実験3; BATCH_SIZE=16の場合</vt:lpstr>
      <vt:lpstr>まとめ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山富龍</dc:creator>
  <cp:lastModifiedBy>山富龍</cp:lastModifiedBy>
  <cp:revision>144</cp:revision>
  <cp:lastPrinted>2026-04-20T06:36:29Z</cp:lastPrinted>
  <dcterms:created xsi:type="dcterms:W3CDTF">2024-10-01T23:47:44Z</dcterms:created>
  <dcterms:modified xsi:type="dcterms:W3CDTF">2026-08-24T03:31:27Z</dcterms:modified>
</cp:coreProperties>
</file>