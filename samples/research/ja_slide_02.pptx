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handoutMasterIdLst>
    <p:handoutMasterId r:id="rId35"/>
  </p:handoutMasterIdLst>
  <p:sldIdLst>
    <p:sldId id="261" r:id="rId2"/>
    <p:sldId id="262" r:id="rId3"/>
    <p:sldId id="263" r:id="rId4"/>
    <p:sldId id="264" r:id="rId5"/>
    <p:sldId id="265" r:id="rId6"/>
    <p:sldId id="268" r:id="rId7"/>
    <p:sldId id="266" r:id="rId8"/>
    <p:sldId id="270" r:id="rId9"/>
    <p:sldId id="267" r:id="rId10"/>
    <p:sldId id="271" r:id="rId11"/>
    <p:sldId id="269" r:id="rId12"/>
    <p:sldId id="461" r:id="rId13"/>
    <p:sldId id="462" r:id="rId14"/>
    <p:sldId id="273" r:id="rId15"/>
    <p:sldId id="464" r:id="rId16"/>
    <p:sldId id="465" r:id="rId17"/>
    <p:sldId id="466" r:id="rId18"/>
    <p:sldId id="467" r:id="rId19"/>
    <p:sldId id="468" r:id="rId20"/>
    <p:sldId id="470" r:id="rId21"/>
    <p:sldId id="471" r:id="rId22"/>
    <p:sldId id="472" r:id="rId23"/>
    <p:sldId id="476" r:id="rId24"/>
    <p:sldId id="477" r:id="rId25"/>
    <p:sldId id="480" r:id="rId26"/>
    <p:sldId id="878" r:id="rId27"/>
    <p:sldId id="879" r:id="rId28"/>
    <p:sldId id="473" r:id="rId29"/>
    <p:sldId id="475" r:id="rId30"/>
    <p:sldId id="481" r:id="rId31"/>
    <p:sldId id="297" r:id="rId32"/>
    <p:sldId id="479" r:id="rId3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C126"/>
    <a:srgbClr val="EE73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03" autoAdjust="0"/>
    <p:restoredTop sz="97173"/>
  </p:normalViewPr>
  <p:slideViewPr>
    <p:cSldViewPr snapToGrid="0" showGuides="1">
      <p:cViewPr varScale="1">
        <p:scale>
          <a:sx n="123" d="100"/>
          <a:sy n="123" d="100"/>
        </p:scale>
        <p:origin x="888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127" d="100"/>
          <a:sy n="127" d="100"/>
        </p:scale>
        <p:origin x="4472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C25AD575-7CC8-6AC7-FE6A-DFDD27A8CA7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0F27B0E-A93B-2F38-E0FC-31F597E5E21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5D4A56-4347-7E47-805C-A4CC550EB7FE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E0BCC8F-962C-B670-E032-0E7AD40CE6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585014A-F3B1-11F7-8AE0-A98B75A68B6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DD713F-9469-214B-ACCC-5A39EEDA848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347468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171477-B974-724E-B5A2-6B597495C72D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546392-E619-9147-B7CA-0C7C9A3ADD4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0577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FAB798-492E-22C6-68CE-0FBA475D2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D0FF2-8DB4-A340-91B5-0FC7B27917C5}" type="datetime1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7115F2-D155-73B0-C019-2BAC5210E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8BF458-E430-27DE-37E5-3E1C0FBAB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28E8B333-7560-E390-D814-F6BEF1BF4D17}"/>
              </a:ext>
            </a:extLst>
          </p:cNvPr>
          <p:cNvSpPr/>
          <p:nvPr userDrawn="1"/>
        </p:nvSpPr>
        <p:spPr>
          <a:xfrm>
            <a:off x="0" y="0"/>
            <a:ext cx="12192000" cy="410977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D85CBEE-6029-4F7A-A802-D89A4604B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7569" y="772319"/>
            <a:ext cx="9144000" cy="2656681"/>
          </a:xfrm>
        </p:spPr>
        <p:txBody>
          <a:bodyPr anchor="ctr" anchorCtr="0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5C98D89-2B71-F08E-900C-FBD12F49A2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39531"/>
            <a:ext cx="9144000" cy="1210860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pic>
        <p:nvPicPr>
          <p:cNvPr id="8" name="Picture 2" descr="湘南工科大学">
            <a:extLst>
              <a:ext uri="{FF2B5EF4-FFF2-40B4-BE49-F238E27FC236}">
                <a16:creationId xmlns:a16="http://schemas.microsoft.com/office/drawing/2014/main" id="{F03C5772-EB15-2D75-0B66-C9A0CD990F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0096" y="5731133"/>
            <a:ext cx="2124100" cy="6186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図 8" descr="テキスト が含まれている画像&#10;&#10;自動的に生成された説明">
            <a:extLst>
              <a:ext uri="{FF2B5EF4-FFF2-40B4-BE49-F238E27FC236}">
                <a16:creationId xmlns:a16="http://schemas.microsoft.com/office/drawing/2014/main" id="{111DEA92-C74A-8552-E6EA-B0CDBEF8394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8325" y="5731133"/>
            <a:ext cx="2636507" cy="62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90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2CA17C-0301-F865-6498-A23748583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6070556-C1B8-17F2-5E6D-E9BE9C3CD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3D077A-EEA2-D6D0-BB2A-2060171A6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D38D8-431E-2148-A67E-C99D9FDB14AB}" type="datetime1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6576F80-2940-EA1C-33F0-C4F03AC30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812638-AAE1-136E-81F2-778F23402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8812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21BE25-8097-E1B2-F1F1-4F9F443CE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927930-B44A-5F80-BF0B-ECC9747D94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5969" y="813576"/>
            <a:ext cx="5893831" cy="556375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FA00B66-3C0D-487C-8999-2BBE7A5DD8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813576"/>
            <a:ext cx="5893831" cy="556375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70C5A16-605B-678E-7E15-FE95593A5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0C9B8-7821-394F-9014-0DAE5FBA846C}" type="datetime1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8443E2A-7AA8-41BD-0C20-3B2E08961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4085C57-3338-2D92-76F8-7418B0047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6369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36C7B59-9C0A-A8AF-CF51-2063AD5A1677}"/>
              </a:ext>
            </a:extLst>
          </p:cNvPr>
          <p:cNvSpPr/>
          <p:nvPr userDrawn="1"/>
        </p:nvSpPr>
        <p:spPr>
          <a:xfrm>
            <a:off x="0" y="6445188"/>
            <a:ext cx="12192000" cy="41281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bg1"/>
              </a:solidFill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3A1BB62-5804-22AC-B506-505B96B77B5B}"/>
              </a:ext>
            </a:extLst>
          </p:cNvPr>
          <p:cNvSpPr/>
          <p:nvPr userDrawn="1"/>
        </p:nvSpPr>
        <p:spPr>
          <a:xfrm>
            <a:off x="0" y="1"/>
            <a:ext cx="12192000" cy="73684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C86A81B-5CD1-B0C3-31EB-59E19BFD9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69" y="76732"/>
            <a:ext cx="11940062" cy="571337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066C32B-C8AA-5B42-740A-64859E5EC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969" y="813577"/>
            <a:ext cx="11940062" cy="5563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B6919BA-5EC6-6F21-A52B-1C6DA85935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5969" y="6542843"/>
            <a:ext cx="2743200" cy="2473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defRPr>
            </a:lvl1pPr>
          </a:lstStyle>
          <a:p>
            <a:fld id="{C8DD7B46-612B-4747-AC0E-56DE60A5EB0D}" type="datetime1">
              <a:rPr lang="ja-JP" altLang="en-US" smtClean="0"/>
              <a:t>2026/8/24</a:t>
            </a:fld>
            <a:endParaRPr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D700D3-7F2D-6840-2666-703A5F65F0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42843"/>
            <a:ext cx="4114800" cy="2473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BF3CFF-1290-6EDC-C4B9-F4FB9C913D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22831" y="6542843"/>
            <a:ext cx="2743200" cy="2473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BIZ UDGothic" panose="020B0400000000000000" pitchFamily="49" charset="-128"/>
                <a:ea typeface="BIZ UDGothic" panose="020B0400000000000000" pitchFamily="49" charset="-128"/>
              </a:defRPr>
            </a:lvl1pPr>
          </a:lstStyle>
          <a:p>
            <a:fld id="{9C0FEE9A-3EB6-844C-8184-5D808DF0141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010469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000" kern="1200">
          <a:solidFill>
            <a:schemeClr val="bg1"/>
          </a:solidFill>
          <a:latin typeface="BIZ UDGothic" panose="020B0400000000000000" pitchFamily="49" charset="-128"/>
          <a:ea typeface="BIZ UDGothic" panose="020B0400000000000000" pitchFamily="49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BIZ UDGothic" panose="020B0400000000000000" pitchFamily="49" charset="-128"/>
          <a:ea typeface="BIZ UDGothic" panose="020B0400000000000000" pitchFamily="49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2.png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18" Type="http://schemas.openxmlformats.org/officeDocument/2006/relationships/image" Target="../media/image66.png"/><Relationship Id="rId3" Type="http://schemas.openxmlformats.org/officeDocument/2006/relationships/image" Target="../media/image46.png"/><Relationship Id="rId7" Type="http://schemas.openxmlformats.org/officeDocument/2006/relationships/image" Target="../media/image49.png"/><Relationship Id="rId12" Type="http://schemas.openxmlformats.org/officeDocument/2006/relationships/image" Target="../media/image60.png"/><Relationship Id="rId17" Type="http://schemas.openxmlformats.org/officeDocument/2006/relationships/image" Target="../media/image65.png"/><Relationship Id="rId2" Type="http://schemas.openxmlformats.org/officeDocument/2006/relationships/image" Target="../media/image54.png"/><Relationship Id="rId16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59.png"/><Relationship Id="rId5" Type="http://schemas.openxmlformats.org/officeDocument/2006/relationships/image" Target="../media/image48.png"/><Relationship Id="rId15" Type="http://schemas.openxmlformats.org/officeDocument/2006/relationships/image" Target="../media/image63.png"/><Relationship Id="rId10" Type="http://schemas.openxmlformats.org/officeDocument/2006/relationships/image" Target="../media/image58.png"/><Relationship Id="rId4" Type="http://schemas.openxmlformats.org/officeDocument/2006/relationships/image" Target="../media/image47.png"/><Relationship Id="rId9" Type="http://schemas.openxmlformats.org/officeDocument/2006/relationships/image" Target="../media/image57.png"/><Relationship Id="rId14" Type="http://schemas.openxmlformats.org/officeDocument/2006/relationships/image" Target="../media/image6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258E456A-A7AB-1C1B-45E8-652629165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</a:t>
            </a:fld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7EC0B609-E426-518F-DD92-521D4980ED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645" y="772319"/>
            <a:ext cx="11859491" cy="2656681"/>
          </a:xfrm>
        </p:spPr>
        <p:txBody>
          <a:bodyPr/>
          <a:lstStyle/>
          <a:p>
            <a:r>
              <a:rPr kumimoji="1" lang="en-US" altLang="ja-JP" dirty="0"/>
              <a:t>Warai Transformer:</a:t>
            </a:r>
            <a:br>
              <a:rPr kumimoji="1" lang="en-US" altLang="ja-JP" dirty="0"/>
            </a:br>
            <a:r>
              <a:rPr kumimoji="1" lang="en-US" altLang="ja-JP" dirty="0"/>
              <a:t>Transformer</a:t>
            </a:r>
            <a:r>
              <a:rPr kumimoji="1" lang="ja-JP" altLang="en-US"/>
              <a:t>を用いた大喜利生成</a:t>
            </a:r>
            <a:r>
              <a:rPr kumimoji="1" lang="en-US" altLang="ja-JP" dirty="0"/>
              <a:t>AI</a:t>
            </a:r>
            <a:endParaRPr kumimoji="1" lang="ja-JP" altLang="en-US"/>
          </a:p>
        </p:txBody>
      </p:sp>
      <p:sp>
        <p:nvSpPr>
          <p:cNvPr id="4" name="字幕 3">
            <a:extLst>
              <a:ext uri="{FF2B5EF4-FFF2-40B4-BE49-F238E27FC236}">
                <a16:creationId xmlns:a16="http://schemas.microsoft.com/office/drawing/2014/main" id="{5C8109D2-3662-CAD0-009C-A93BCAC1A1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/>
              <a:t>湘南工科大学</a:t>
            </a:r>
            <a:endParaRPr kumimoji="1" lang="en-US" altLang="ja-JP" dirty="0"/>
          </a:p>
          <a:p>
            <a:r>
              <a:rPr lang="ja-JP" altLang="en-US"/>
              <a:t>山富 龍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5469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7FC0EA-D556-8E2A-7D9D-798D6C59D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研究目的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7367776-7A7B-93E0-CD83-A6528ECA0D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/>
              <a:t>画像を入力すると，面白文章</a:t>
            </a:r>
            <a:r>
              <a:rPr kumimoji="1" lang="en-US" altLang="ja-JP" dirty="0"/>
              <a:t>(</a:t>
            </a:r>
            <a:r>
              <a:rPr kumimoji="1" lang="ja-JP" altLang="en-US"/>
              <a:t>大喜利</a:t>
            </a:r>
            <a:r>
              <a:rPr kumimoji="1" lang="en-US" altLang="ja-JP" dirty="0"/>
              <a:t>)</a:t>
            </a:r>
            <a:r>
              <a:rPr kumimoji="1" lang="ja-JP" altLang="en-US"/>
              <a:t>を生成する</a:t>
            </a:r>
            <a:r>
              <a:rPr kumimoji="1" lang="en-US" altLang="ja-JP" dirty="0"/>
              <a:t>AI</a:t>
            </a:r>
            <a:r>
              <a:rPr kumimoji="1" lang="ja-JP" altLang="en-US"/>
              <a:t>の実現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EE3C0D6-9A3C-BD21-A899-F0A3AABF5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2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8B0C966-1798-44BC-381B-A4E6FAAE46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90234" l="4102" r="90137">
                        <a14:foregroundMark x1="8496" y1="19010" x2="8301" y2="21680"/>
                        <a14:foregroundMark x1="6934" y1="70573" x2="4102" y2="70573"/>
                        <a14:foregroundMark x1="87598" y1="68294" x2="90137" y2="68880"/>
                        <a14:foregroundMark x1="42480" y1="89648" x2="40918" y2="89583"/>
                        <a14:foregroundMark x1="40430" y1="90234" x2="38770" y2="90169"/>
                        <a14:backgroundMark x1="65918" y1="86719" x2="60059" y2="8639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08024" y="1453332"/>
            <a:ext cx="3282669" cy="492400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8B20B3CA-B0C0-F876-0EB7-5C90283465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9" y="2840554"/>
            <a:ext cx="3224339" cy="2149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右矢印 5">
            <a:extLst>
              <a:ext uri="{FF2B5EF4-FFF2-40B4-BE49-F238E27FC236}">
                <a16:creationId xmlns:a16="http://schemas.microsoft.com/office/drawing/2014/main" id="{C52F01FE-9755-E390-7994-BF5C9B8A6997}"/>
              </a:ext>
            </a:extLst>
          </p:cNvPr>
          <p:cNvSpPr/>
          <p:nvPr/>
        </p:nvSpPr>
        <p:spPr>
          <a:xfrm>
            <a:off x="3624861" y="3473305"/>
            <a:ext cx="1108609" cy="884055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お題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F321DBC-E347-B29F-474B-1B7AD4DCF4A1}"/>
              </a:ext>
            </a:extLst>
          </p:cNvPr>
          <p:cNvSpPr txBox="1"/>
          <p:nvPr/>
        </p:nvSpPr>
        <p:spPr>
          <a:xfrm>
            <a:off x="5585255" y="5915671"/>
            <a:ext cx="2128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atin typeface="BIZ UDGothic" panose="020B0400000000000000" pitchFamily="49" charset="-128"/>
                <a:ea typeface="BIZ UDGothic" panose="020B0400000000000000" pitchFamily="49" charset="-128"/>
              </a:rPr>
              <a:t>大喜利生成</a:t>
            </a:r>
            <a:r>
              <a:rPr kumimoji="1" lang="en-US" altLang="ja-JP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AI</a:t>
            </a:r>
            <a:endParaRPr kumimoji="1" lang="ja-JP" altLang="en-US" sz="240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8" name="角丸四角形吹き出し 7">
            <a:extLst>
              <a:ext uri="{FF2B5EF4-FFF2-40B4-BE49-F238E27FC236}">
                <a16:creationId xmlns:a16="http://schemas.microsoft.com/office/drawing/2014/main" id="{3BC3407F-29EB-405D-A322-69CFB6F1604A}"/>
              </a:ext>
            </a:extLst>
          </p:cNvPr>
          <p:cNvSpPr/>
          <p:nvPr/>
        </p:nvSpPr>
        <p:spPr>
          <a:xfrm>
            <a:off x="8200801" y="1820707"/>
            <a:ext cx="3355432" cy="1124793"/>
          </a:xfrm>
          <a:prstGeom prst="wedgeRoundRectCallout">
            <a:avLst>
              <a:gd name="adj1" fmla="val -47843"/>
              <a:gd name="adj2" fmla="val 69694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猫だって言い出せない</a:t>
            </a:r>
          </a:p>
        </p:txBody>
      </p:sp>
    </p:spTree>
    <p:extLst>
      <p:ext uri="{BB962C8B-B14F-4D97-AF65-F5344CB8AC3E}">
        <p14:creationId xmlns:p14="http://schemas.microsoft.com/office/powerpoint/2010/main" val="1385369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DB9DF2-41B4-9D36-5C2B-D6D9CFFA3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従来手法</a:t>
            </a:r>
            <a:r>
              <a:rPr kumimoji="1" lang="en-US" altLang="ja-JP" dirty="0"/>
              <a:t>: Neural Joking Machine(NJM)[1]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0219225-A72F-7F41-3F55-C56BB08B6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/>
              <a:t>ボケて</a:t>
            </a:r>
            <a:r>
              <a:rPr lang="en-US" altLang="ja-JP" dirty="0"/>
              <a:t>[2]</a:t>
            </a:r>
            <a:r>
              <a:rPr lang="ja-JP" altLang="en-US"/>
              <a:t>をスクレイピングして画像</a:t>
            </a:r>
            <a:r>
              <a:rPr lang="en-US" altLang="ja-JP" dirty="0"/>
              <a:t>-</a:t>
            </a:r>
            <a:r>
              <a:rPr lang="ja-JP" altLang="en-US"/>
              <a:t>大喜利データセットを作成</a:t>
            </a:r>
            <a:endParaRPr lang="en-US" altLang="ja-JP" dirty="0"/>
          </a:p>
          <a:p>
            <a:r>
              <a:rPr lang="en-US" altLang="ja-JP" dirty="0"/>
              <a:t>Image2Text</a:t>
            </a:r>
            <a:r>
              <a:rPr lang="ja-JP" altLang="en-US"/>
              <a:t>モデル</a:t>
            </a:r>
            <a:r>
              <a:rPr lang="en-US" altLang="ja-JP" dirty="0"/>
              <a:t>[3]</a:t>
            </a:r>
            <a:r>
              <a:rPr lang="ja-JP" altLang="en-US"/>
              <a:t>でデータセットを学習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EE58C2E-128E-1B73-943A-A39806A60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5" name="角丸四角形 4">
            <a:extLst>
              <a:ext uri="{FF2B5EF4-FFF2-40B4-BE49-F238E27FC236}">
                <a16:creationId xmlns:a16="http://schemas.microsoft.com/office/drawing/2014/main" id="{CC191287-D99E-D05C-16EA-FD60C9A361DA}"/>
              </a:ext>
            </a:extLst>
          </p:cNvPr>
          <p:cNvSpPr/>
          <p:nvPr/>
        </p:nvSpPr>
        <p:spPr>
          <a:xfrm>
            <a:off x="6220078" y="1921751"/>
            <a:ext cx="5845953" cy="4006697"/>
          </a:xfrm>
          <a:prstGeom prst="roundRect">
            <a:avLst>
              <a:gd name="adj" fmla="val 3136"/>
            </a:avLst>
          </a:prstGeom>
          <a:solidFill>
            <a:schemeClr val="bg1"/>
          </a:solidFill>
          <a:ln>
            <a:solidFill>
              <a:srgbClr val="ECC12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24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D3637BC-C8D4-DF48-FB91-D2C6614FF5F9}"/>
              </a:ext>
            </a:extLst>
          </p:cNvPr>
          <p:cNvSpPr txBox="1"/>
          <p:nvPr/>
        </p:nvSpPr>
        <p:spPr>
          <a:xfrm>
            <a:off x="7253157" y="1697398"/>
            <a:ext cx="377979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atin typeface="BIZ UDGothic" panose="020B0400000000000000" pitchFamily="49" charset="-128"/>
                <a:ea typeface="BIZ UDGothic" panose="020B0400000000000000" pitchFamily="49" charset="-128"/>
              </a:rPr>
              <a:t>画像</a:t>
            </a:r>
            <a:r>
              <a:rPr kumimoji="1" lang="en-US" altLang="ja-JP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-</a:t>
            </a:r>
            <a:r>
              <a:rPr kumimoji="1" lang="ja-JP" altLang="en-US" sz="2400">
                <a:latin typeface="BIZ UDGothic" panose="020B0400000000000000" pitchFamily="49" charset="-128"/>
                <a:ea typeface="BIZ UDGothic" panose="020B0400000000000000" pitchFamily="49" charset="-128"/>
              </a:rPr>
              <a:t>大喜利データセット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892AB888-1744-B06C-554D-372A418CB1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288" t="38179" r="53574" b="19341"/>
          <a:stretch>
            <a:fillRect/>
          </a:stretch>
        </p:blipFill>
        <p:spPr>
          <a:xfrm>
            <a:off x="6293418" y="2152582"/>
            <a:ext cx="1064015" cy="1819047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15FE23D5-0328-3B38-E976-90C943F884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263" t="34126" r="49121" b="24129"/>
          <a:stretch>
            <a:fillRect/>
          </a:stretch>
        </p:blipFill>
        <p:spPr>
          <a:xfrm>
            <a:off x="7668421" y="2153134"/>
            <a:ext cx="1516511" cy="1817939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CBF33A92-5ACB-E75D-EB83-D5CADA8C14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987" t="19712" r="48640" b="48426"/>
          <a:stretch>
            <a:fillRect/>
          </a:stretch>
        </p:blipFill>
        <p:spPr>
          <a:xfrm>
            <a:off x="6293418" y="3971160"/>
            <a:ext cx="2054859" cy="1819152"/>
          </a:xfrm>
          <a:prstGeom prst="rect">
            <a:avLst/>
          </a:prstGeom>
        </p:spPr>
      </p:pic>
      <p:pic>
        <p:nvPicPr>
          <p:cNvPr id="2050" name="Picture 2" descr="ボケて">
            <a:extLst>
              <a:ext uri="{FF2B5EF4-FFF2-40B4-BE49-F238E27FC236}">
                <a16:creationId xmlns:a16="http://schemas.microsoft.com/office/drawing/2014/main" id="{7856241F-A3EE-D41F-C6CE-09E1CAC621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582119">
            <a:off x="6099028" y="1919182"/>
            <a:ext cx="1246388" cy="332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242F0FB8-A3DE-6B2F-8A25-372F7C1FDF3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772" t="60208" r="46790" b="10112"/>
          <a:stretch>
            <a:fillRect/>
          </a:stretch>
        </p:blipFill>
        <p:spPr>
          <a:xfrm>
            <a:off x="9495921" y="2151903"/>
            <a:ext cx="2496769" cy="1820403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1E2273D-5E4F-7D33-E409-ACBB167F64E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155" t="29033" r="48820" b="32661"/>
          <a:stretch>
            <a:fillRect/>
          </a:stretch>
        </p:blipFill>
        <p:spPr>
          <a:xfrm>
            <a:off x="8659265" y="3972373"/>
            <a:ext cx="1682586" cy="1817939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1619CF4D-D393-E56E-ED6E-0F4F2B1BFDF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1035" t="23382" r="51596" b="35261"/>
          <a:stretch>
            <a:fillRect/>
          </a:stretch>
        </p:blipFill>
        <p:spPr>
          <a:xfrm>
            <a:off x="10652839" y="3971073"/>
            <a:ext cx="1177252" cy="1820403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874C8A70-BA91-E655-B6AC-FA85450060C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6863" t="52553" r="36756" b="17475"/>
          <a:stretch>
            <a:fillRect/>
          </a:stretch>
        </p:blipFill>
        <p:spPr>
          <a:xfrm>
            <a:off x="278714" y="1921751"/>
            <a:ext cx="5523036" cy="1906796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71B6E44C-A7F3-CB11-64BB-A331E1E3366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6667" t="28977" r="50395" b="47205"/>
          <a:stretch>
            <a:fillRect/>
          </a:stretch>
        </p:blipFill>
        <p:spPr>
          <a:xfrm>
            <a:off x="278713" y="3828547"/>
            <a:ext cx="5523035" cy="1989617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F5AFBD1-DC56-BD59-5796-0B501CDB9DAB}"/>
              </a:ext>
            </a:extLst>
          </p:cNvPr>
          <p:cNvSpPr txBox="1"/>
          <p:nvPr/>
        </p:nvSpPr>
        <p:spPr>
          <a:xfrm>
            <a:off x="125969" y="5946449"/>
            <a:ext cx="119400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[1]</a:t>
            </a:r>
            <a:r>
              <a:rPr lang="ja-JP" altLang="en-US" sz="1100">
                <a:latin typeface="BIZ UDGothic" panose="020B0400000000000000" pitchFamily="49" charset="-128"/>
                <a:ea typeface="BIZ UDGothic" panose="020B0400000000000000" pitchFamily="49" charset="-128"/>
              </a:rPr>
              <a:t>美濃口宗尊，他，</a:t>
            </a:r>
            <a:r>
              <a:rPr lang="en-US" altLang="ja-JP" sz="11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"Neural Joking Machine</a:t>
            </a:r>
            <a:r>
              <a:rPr lang="ja-JP" altLang="en-US" sz="1100">
                <a:latin typeface="BIZ UDGothic" panose="020B0400000000000000" pitchFamily="49" charset="-128"/>
                <a:ea typeface="BIZ UDGothic" panose="020B0400000000000000" pitchFamily="49" charset="-128"/>
              </a:rPr>
              <a:t>，</a:t>
            </a:r>
            <a:r>
              <a:rPr lang="en-US" altLang="ja-JP" sz="11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" </a:t>
            </a:r>
            <a:r>
              <a:rPr lang="ja-JP" altLang="en-US" sz="1100">
                <a:latin typeface="BIZ UDGothic" panose="020B0400000000000000" pitchFamily="49" charset="-128"/>
                <a:ea typeface="BIZ UDGothic" panose="020B0400000000000000" pitchFamily="49" charset="-128"/>
              </a:rPr>
              <a:t>精密工学会誌，</a:t>
            </a:r>
            <a:r>
              <a:rPr lang="en-US" altLang="ja-JP" sz="11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vol.85</a:t>
            </a:r>
            <a:r>
              <a:rPr lang="ja-JP" altLang="en-US" sz="1100">
                <a:latin typeface="BIZ UDGothic" panose="020B0400000000000000" pitchFamily="49" charset="-128"/>
                <a:ea typeface="BIZ UDGothic" panose="020B0400000000000000" pitchFamily="49" charset="-128"/>
              </a:rPr>
              <a:t>，</a:t>
            </a:r>
            <a:r>
              <a:rPr lang="en-US" altLang="ja-JP" sz="11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no.12</a:t>
            </a:r>
            <a:r>
              <a:rPr lang="ja-JP" altLang="en-US" sz="1100">
                <a:latin typeface="BIZ UDGothic" panose="020B0400000000000000" pitchFamily="49" charset="-128"/>
                <a:ea typeface="BIZ UDGothic" panose="020B0400000000000000" pitchFamily="49" charset="-128"/>
              </a:rPr>
              <a:t>，</a:t>
            </a:r>
            <a:r>
              <a:rPr lang="en-US" altLang="ja-JP" sz="11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pp.1151-1156</a:t>
            </a:r>
            <a:r>
              <a:rPr lang="ja-JP" altLang="en-US" sz="1100">
                <a:latin typeface="BIZ UDGothic" panose="020B0400000000000000" pitchFamily="49" charset="-128"/>
                <a:ea typeface="BIZ UDGothic" panose="020B0400000000000000" pitchFamily="49" charset="-128"/>
              </a:rPr>
              <a:t>，</a:t>
            </a:r>
            <a:r>
              <a:rPr lang="en-US" altLang="ja-JP" sz="11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November 2019.</a:t>
            </a:r>
            <a:endParaRPr kumimoji="1" lang="en-US" altLang="ja-JP" sz="1100" dirty="0"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r>
              <a:rPr lang="en-US" altLang="ja-JP" sz="11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[2]</a:t>
            </a:r>
            <a:r>
              <a:rPr lang="ja-JP" altLang="en-US" sz="1100">
                <a:latin typeface="BIZ UDGothic" panose="020B0400000000000000" pitchFamily="49" charset="-128"/>
                <a:ea typeface="BIZ UDGothic" panose="020B0400000000000000" pitchFamily="49" charset="-128"/>
              </a:rPr>
              <a:t> 株式会社オモロキ，ボケて，</a:t>
            </a:r>
            <a:r>
              <a:rPr lang="en-US" altLang="ja-JP" sz="11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https://</a:t>
            </a:r>
            <a:r>
              <a:rPr lang="en-US" altLang="ja-JP" sz="1100" dirty="0" err="1">
                <a:latin typeface="BIZ UDGothic" panose="020B0400000000000000" pitchFamily="49" charset="-128"/>
                <a:ea typeface="BIZ UDGothic" panose="020B0400000000000000" pitchFamily="49" charset="-128"/>
              </a:rPr>
              <a:t>bokete.jp</a:t>
            </a:r>
            <a:r>
              <a:rPr lang="en-US" altLang="ja-JP" sz="11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/</a:t>
            </a:r>
            <a:r>
              <a:rPr lang="ja-JP" altLang="en-US" sz="1100">
                <a:latin typeface="BIZ UDGothic" panose="020B0400000000000000" pitchFamily="49" charset="-128"/>
                <a:ea typeface="BIZ UDGothic" panose="020B0400000000000000" pitchFamily="49" charset="-128"/>
              </a:rPr>
              <a:t>，参照 </a:t>
            </a:r>
            <a:r>
              <a:rPr lang="en-US" altLang="ja-JP" sz="11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June 3, 2025</a:t>
            </a:r>
            <a:r>
              <a:rPr lang="ja-JP" altLang="en-US" sz="1100">
                <a:latin typeface="BIZ UDGothic" panose="020B0400000000000000" pitchFamily="49" charset="-128"/>
                <a:ea typeface="BIZ UDGothic" panose="020B0400000000000000" pitchFamily="49" charset="-128"/>
              </a:rPr>
              <a:t>．</a:t>
            </a:r>
            <a:endParaRPr kumimoji="1" lang="ja-JP" altLang="en-US" sz="110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86426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25DF8E-B862-D59E-F459-C0C2C33F8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FD93201-3733-04A6-E84D-431EED0C3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従来手法</a:t>
            </a:r>
            <a:r>
              <a:rPr kumimoji="1" lang="en-US" altLang="ja-JP" dirty="0"/>
              <a:t>: Neural Joking Machine(NJM)[1]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9846F82-E822-CEB4-F1CE-ABDC7CFD1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/>
              <a:t>ボケて</a:t>
            </a:r>
            <a:r>
              <a:rPr kumimoji="1" lang="en-US" altLang="ja-JP" dirty="0"/>
              <a:t>[2]</a:t>
            </a:r>
            <a:r>
              <a:rPr kumimoji="1" lang="ja-JP" altLang="en-US"/>
              <a:t>をスクレイピングして画像</a:t>
            </a:r>
            <a:r>
              <a:rPr kumimoji="1" lang="en-US" altLang="ja-JP" dirty="0"/>
              <a:t>-</a:t>
            </a:r>
            <a:r>
              <a:rPr kumimoji="1" lang="ja-JP" altLang="en-US"/>
              <a:t>大喜利データセットを作成</a:t>
            </a:r>
            <a:endParaRPr kumimoji="1" lang="en-US" altLang="ja-JP" dirty="0"/>
          </a:p>
          <a:p>
            <a:r>
              <a:rPr lang="en-US" altLang="ja-JP" dirty="0"/>
              <a:t>Image2Text</a:t>
            </a:r>
            <a:r>
              <a:rPr lang="ja-JP" altLang="en-US"/>
              <a:t>モデル</a:t>
            </a:r>
            <a:r>
              <a:rPr lang="en-US" altLang="ja-JP" dirty="0"/>
              <a:t>[3]</a:t>
            </a:r>
            <a:r>
              <a:rPr lang="ja-JP" altLang="en-US"/>
              <a:t>でデータセットを学習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FFF6192-502B-9B7A-C876-B733A6277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82DD38D-4BEA-0F17-C512-A956D9A2BD52}"/>
              </a:ext>
            </a:extLst>
          </p:cNvPr>
          <p:cNvSpPr txBox="1"/>
          <p:nvPr/>
        </p:nvSpPr>
        <p:spPr>
          <a:xfrm>
            <a:off x="125969" y="5946449"/>
            <a:ext cx="119400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[3] </a:t>
            </a:r>
            <a:r>
              <a:rPr lang="en-US" altLang="ja-JP" sz="11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O. </a:t>
            </a:r>
            <a:r>
              <a:rPr lang="en-US" altLang="ja-JP" sz="1100" dirty="0" err="1">
                <a:latin typeface="BIZ UDGothic" panose="020B0400000000000000" pitchFamily="49" charset="-128"/>
                <a:ea typeface="BIZ UDGothic" panose="020B0400000000000000" pitchFamily="49" charset="-128"/>
              </a:rPr>
              <a:t>Vinyals</a:t>
            </a:r>
            <a:r>
              <a:rPr lang="en-US" altLang="ja-JP" sz="11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, et al., "Show and Tell: A Neural Image Caption Generator," Proc. the IEEE Conference on Computer Vision and Pattern Recognition, pp.3156-3164, June 2015.</a:t>
            </a:r>
          </a:p>
          <a:p>
            <a:r>
              <a:rPr lang="en-US" altLang="ja-JP" sz="11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[4] K. He, et al., "Deep Residual Learning for Image Recognition," Proc. the IEEE Conference on Computer Vision and Pattern Recognition, pp.770-778, June 2016.</a:t>
            </a:r>
            <a:endParaRPr lang="ja-JP" altLang="en-US" sz="1100" dirty="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8" name="フローチャート: 手作業 7">
            <a:extLst>
              <a:ext uri="{FF2B5EF4-FFF2-40B4-BE49-F238E27FC236}">
                <a16:creationId xmlns:a16="http://schemas.microsoft.com/office/drawing/2014/main" id="{99371A29-9A3E-7824-E4FE-C8343A38B73A}"/>
              </a:ext>
            </a:extLst>
          </p:cNvPr>
          <p:cNvSpPr/>
          <p:nvPr/>
        </p:nvSpPr>
        <p:spPr>
          <a:xfrm rot="16200000">
            <a:off x="4156365" y="2460566"/>
            <a:ext cx="1338348" cy="1338348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Image</a:t>
            </a:r>
          </a:p>
          <a:p>
            <a:pPr algn="ctr"/>
            <a:r>
              <a:rPr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Encoder</a:t>
            </a:r>
            <a:endParaRPr kumimoji="1" lang="ja-JP" altLang="en-US" sz="24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18" name="フローチャート: 手作業 17">
            <a:extLst>
              <a:ext uri="{FF2B5EF4-FFF2-40B4-BE49-F238E27FC236}">
                <a16:creationId xmlns:a16="http://schemas.microsoft.com/office/drawing/2014/main" id="{17BA4F97-C9AE-3ABD-7A10-D4D4F3FCB5AD}"/>
              </a:ext>
            </a:extLst>
          </p:cNvPr>
          <p:cNvSpPr/>
          <p:nvPr/>
        </p:nvSpPr>
        <p:spPr>
          <a:xfrm rot="16200000">
            <a:off x="4156365" y="3964422"/>
            <a:ext cx="1338348" cy="1338348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Sentence</a:t>
            </a:r>
          </a:p>
          <a:p>
            <a:pPr algn="ctr"/>
            <a:r>
              <a:rPr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Encoder</a:t>
            </a:r>
            <a:endParaRPr kumimoji="1" lang="ja-JP" altLang="en-US" sz="24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C0CC0882-9DC9-48A1-B827-6A6251951A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973759" y="2023677"/>
            <a:ext cx="1525603" cy="221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B20F14A-DA00-5000-ACEF-7BD1EAAE6C2E}"/>
              </a:ext>
            </a:extLst>
          </p:cNvPr>
          <p:cNvSpPr txBox="1"/>
          <p:nvPr/>
        </p:nvSpPr>
        <p:spPr>
          <a:xfrm>
            <a:off x="672458" y="4398101"/>
            <a:ext cx="2128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[</a:t>
            </a:r>
            <a:r>
              <a:rPr lang="ja-JP" altLang="en-US" sz="2400">
                <a:latin typeface="BIZ UDGothic" panose="020B0400000000000000" pitchFamily="49" charset="-128"/>
                <a:ea typeface="BIZ UDGothic" panose="020B0400000000000000" pitchFamily="49" charset="-128"/>
              </a:rPr>
              <a:t>無人島，の</a:t>
            </a:r>
            <a:r>
              <a:rPr lang="en-US" altLang="ja-JP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]</a:t>
            </a:r>
            <a:endParaRPr kumimoji="1" lang="ja-JP" altLang="en-US" sz="240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2C0B9B4D-6D86-C8A7-109C-13D1864838EC}"/>
              </a:ext>
            </a:extLst>
          </p:cNvPr>
          <p:cNvSpPr/>
          <p:nvPr/>
        </p:nvSpPr>
        <p:spPr>
          <a:xfrm>
            <a:off x="6702830" y="3553691"/>
            <a:ext cx="1668087" cy="673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Dense</a:t>
            </a:r>
            <a:endParaRPr kumimoji="1" lang="ja-JP" altLang="en-US" sz="24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88F2B5B3-3D18-A4F6-C58E-312129F9DBE5}"/>
              </a:ext>
            </a:extLst>
          </p:cNvPr>
          <p:cNvCxnSpPr>
            <a:stCxn id="19" idx="3"/>
            <a:endCxn id="8" idx="0"/>
          </p:cNvCxnSpPr>
          <p:nvPr/>
        </p:nvCxnSpPr>
        <p:spPr>
          <a:xfrm>
            <a:off x="2499362" y="3129740"/>
            <a:ext cx="165700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B3986CDF-7752-BAD1-4E4B-1997D54D6872}"/>
              </a:ext>
            </a:extLst>
          </p:cNvPr>
          <p:cNvCxnSpPr>
            <a:cxnSpLocks/>
            <a:stCxn id="20" idx="3"/>
            <a:endCxn id="18" idx="0"/>
          </p:cNvCxnSpPr>
          <p:nvPr/>
        </p:nvCxnSpPr>
        <p:spPr>
          <a:xfrm>
            <a:off x="2800664" y="4628934"/>
            <a:ext cx="1355701" cy="46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5F1FB6BE-EB7F-7668-B2EC-9340CFC1A99C}"/>
              </a:ext>
            </a:extLst>
          </p:cNvPr>
          <p:cNvCxnSpPr>
            <a:cxnSpLocks/>
            <a:stCxn id="18" idx="2"/>
            <a:endCxn id="21" idx="1"/>
          </p:cNvCxnSpPr>
          <p:nvPr/>
        </p:nvCxnSpPr>
        <p:spPr>
          <a:xfrm flipV="1">
            <a:off x="5494713" y="3890357"/>
            <a:ext cx="1208117" cy="74323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矢印コネクタ 26">
            <a:extLst>
              <a:ext uri="{FF2B5EF4-FFF2-40B4-BE49-F238E27FC236}">
                <a16:creationId xmlns:a16="http://schemas.microsoft.com/office/drawing/2014/main" id="{F8FA4D7D-197A-1405-CDFB-DC337CF40BDF}"/>
              </a:ext>
            </a:extLst>
          </p:cNvPr>
          <p:cNvCxnSpPr>
            <a:cxnSpLocks/>
            <a:stCxn id="8" idx="2"/>
            <a:endCxn id="21" idx="1"/>
          </p:cNvCxnSpPr>
          <p:nvPr/>
        </p:nvCxnSpPr>
        <p:spPr>
          <a:xfrm>
            <a:off x="5494713" y="3129740"/>
            <a:ext cx="1208117" cy="76061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D5DF4B5A-6A79-015A-BBF6-81B363C1A5CE}"/>
              </a:ext>
            </a:extLst>
          </p:cNvPr>
          <p:cNvSpPr txBox="1"/>
          <p:nvPr/>
        </p:nvSpPr>
        <p:spPr>
          <a:xfrm>
            <a:off x="9579034" y="3659524"/>
            <a:ext cx="2128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>
                <a:latin typeface="BIZ UDGothic" panose="020B0400000000000000" pitchFamily="49" charset="-128"/>
                <a:ea typeface="BIZ UDGothic" panose="020B0400000000000000" pitchFamily="49" charset="-128"/>
              </a:rPr>
              <a:t>皆さん</a:t>
            </a:r>
            <a:endParaRPr kumimoji="1" lang="ja-JP" altLang="en-US" sz="240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cxnSp>
        <p:nvCxnSpPr>
          <p:cNvPr id="34" name="直線矢印コネクタ 33">
            <a:extLst>
              <a:ext uri="{FF2B5EF4-FFF2-40B4-BE49-F238E27FC236}">
                <a16:creationId xmlns:a16="http://schemas.microsoft.com/office/drawing/2014/main" id="{E3C9C82F-5D36-1F02-9A75-7D9365BDBB66}"/>
              </a:ext>
            </a:extLst>
          </p:cNvPr>
          <p:cNvCxnSpPr>
            <a:cxnSpLocks/>
            <a:stCxn id="21" idx="3"/>
            <a:endCxn id="33" idx="1"/>
          </p:cNvCxnSpPr>
          <p:nvPr/>
        </p:nvCxnSpPr>
        <p:spPr>
          <a:xfrm>
            <a:off x="8370917" y="3890357"/>
            <a:ext cx="12081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角丸四角形吹き出し 37">
            <a:extLst>
              <a:ext uri="{FF2B5EF4-FFF2-40B4-BE49-F238E27FC236}">
                <a16:creationId xmlns:a16="http://schemas.microsoft.com/office/drawing/2014/main" id="{0A83E343-1421-F75C-B639-40D1B7044615}"/>
              </a:ext>
            </a:extLst>
          </p:cNvPr>
          <p:cNvSpPr/>
          <p:nvPr/>
        </p:nvSpPr>
        <p:spPr>
          <a:xfrm>
            <a:off x="5785656" y="1839438"/>
            <a:ext cx="2819557" cy="1124793"/>
          </a:xfrm>
          <a:prstGeom prst="wedgeRoundRectCallout">
            <a:avLst>
              <a:gd name="adj1" fmla="val -64058"/>
              <a:gd name="adj2" fmla="val 34959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ImageNet</a:t>
            </a:r>
            <a:r>
              <a:rPr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学習済み</a:t>
            </a:r>
            <a:endParaRPr lang="en-US" altLang="ja-JP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ResNet152[4]</a:t>
            </a:r>
            <a:endParaRPr kumimoji="1" lang="ja-JP" altLang="en-US" sz="24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39" name="角丸四角形吹き出し 38">
            <a:extLst>
              <a:ext uri="{FF2B5EF4-FFF2-40B4-BE49-F238E27FC236}">
                <a16:creationId xmlns:a16="http://schemas.microsoft.com/office/drawing/2014/main" id="{DA32C26F-866E-9E7D-2985-6376543BFBB5}"/>
              </a:ext>
            </a:extLst>
          </p:cNvPr>
          <p:cNvSpPr/>
          <p:nvPr/>
        </p:nvSpPr>
        <p:spPr>
          <a:xfrm>
            <a:off x="5785656" y="4848226"/>
            <a:ext cx="1368831" cy="731329"/>
          </a:xfrm>
          <a:prstGeom prst="wedgeRoundRectCallout">
            <a:avLst>
              <a:gd name="adj1" fmla="val -77418"/>
              <a:gd name="adj2" fmla="val -33241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LSTM</a:t>
            </a:r>
            <a:endParaRPr kumimoji="1" lang="ja-JP" altLang="en-US" sz="24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49762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6E151C-6017-86A6-7CD5-56D485342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Image2Text</a:t>
            </a:r>
            <a:r>
              <a:rPr kumimoji="1" lang="ja-JP" altLang="en-US"/>
              <a:t>モデルの学習</a:t>
            </a:r>
            <a:r>
              <a:rPr lang="en-US" altLang="ja-JP" dirty="0"/>
              <a:t>Ⅰ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59ADFD-FF2D-0DFE-D051-FF46B9F62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ja-JP" dirty="0"/>
              <a:t>1. </a:t>
            </a:r>
            <a:r>
              <a:rPr kumimoji="1" lang="ja-JP" altLang="en-US"/>
              <a:t>画像</a:t>
            </a:r>
            <a:r>
              <a:rPr kumimoji="1" lang="en-US" altLang="ja-JP" dirty="0"/>
              <a:t>-</a:t>
            </a:r>
            <a:r>
              <a:rPr kumimoji="1" lang="ja-JP" altLang="en-US"/>
              <a:t>文章ペアの取得</a:t>
            </a:r>
            <a:endParaRPr kumimoji="1"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9E162E9-FF3C-344B-11F5-6FAA6FDEF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5</a:t>
            </a:fld>
            <a:endParaRPr kumimoji="1"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538FFEAA-241D-7C8E-BFDD-A2DC0ECFDB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412580"/>
              </p:ext>
            </p:extLst>
          </p:nvPr>
        </p:nvGraphicFramePr>
        <p:xfrm>
          <a:off x="2032000" y="1301553"/>
          <a:ext cx="8128000" cy="50134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50109600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993947687"/>
                    </a:ext>
                  </a:extLst>
                </a:gridCol>
              </a:tblGrid>
              <a:tr h="419179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画像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文章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9475603"/>
                  </a:ext>
                </a:extLst>
              </a:tr>
              <a:tr h="1518761">
                <a:tc>
                  <a:txBody>
                    <a:bodyPr/>
                    <a:lstStyle/>
                    <a:p>
                      <a:pPr algn="ctr"/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無人島の皆さん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6928040"/>
                  </a:ext>
                </a:extLst>
              </a:tr>
              <a:tr h="1518761">
                <a:tc>
                  <a:txBody>
                    <a:bodyPr/>
                    <a:lstStyle/>
                    <a:p>
                      <a:pPr algn="ctr"/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はい，アーンして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3965931"/>
                  </a:ext>
                </a:extLst>
              </a:tr>
              <a:tr h="1518761">
                <a:tc>
                  <a:txBody>
                    <a:bodyPr/>
                    <a:lstStyle/>
                    <a:p>
                      <a:pPr algn="ctr"/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うどん</a:t>
                      </a:r>
                      <a:r>
                        <a:rPr kumimoji="1" lang="en-US" altLang="ja-JP" sz="24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/</a:t>
                      </a:r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きしめん変換器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5036661"/>
                  </a:ext>
                </a:extLst>
              </a:tr>
            </a:tbl>
          </a:graphicData>
        </a:graphic>
      </p:graphicFrame>
      <p:pic>
        <p:nvPicPr>
          <p:cNvPr id="6" name="図 5">
            <a:extLst>
              <a:ext uri="{FF2B5EF4-FFF2-40B4-BE49-F238E27FC236}">
                <a16:creationId xmlns:a16="http://schemas.microsoft.com/office/drawing/2014/main" id="{757233D6-F598-6383-FB37-1CE9B662CC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288" t="38179" r="53574" b="26043"/>
          <a:stretch>
            <a:fillRect/>
          </a:stretch>
        </p:blipFill>
        <p:spPr>
          <a:xfrm>
            <a:off x="3541905" y="1795546"/>
            <a:ext cx="1013199" cy="145888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DEB74415-FF2B-1C9D-323D-24D64D9D1F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263" t="34126" r="49121" b="30694"/>
          <a:stretch>
            <a:fillRect/>
          </a:stretch>
        </p:blipFill>
        <p:spPr>
          <a:xfrm>
            <a:off x="3326462" y="3295911"/>
            <a:ext cx="1444084" cy="1458884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14E24631-0B28-A5E1-E80F-E0BFA69E9C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987" t="19712" r="48640" b="54736"/>
          <a:stretch>
            <a:fillRect/>
          </a:stretch>
        </p:blipFill>
        <p:spPr>
          <a:xfrm>
            <a:off x="3021074" y="4827005"/>
            <a:ext cx="2054859" cy="1458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770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1DA89-CBF0-5A68-F7E5-B72BD96C0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20426F-DF13-17A5-6D50-E60231F89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Image2Text</a:t>
            </a:r>
            <a:r>
              <a:rPr lang="ja-JP" altLang="en-US"/>
              <a:t>モデルの学習</a:t>
            </a:r>
            <a:r>
              <a:rPr lang="en-US" altLang="ja-JP" dirty="0"/>
              <a:t>Ⅱ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9DC085-9118-2D45-D1C1-2A4F7FEB1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kumimoji="1" lang="en-US" altLang="ja-JP" dirty="0"/>
              <a:t>2. </a:t>
            </a:r>
            <a:r>
              <a:rPr kumimoji="1" lang="ja-JP" altLang="en-US"/>
              <a:t>文章の分ち書き</a:t>
            </a:r>
            <a:endParaRPr kumimoji="1" lang="en-US" altLang="ja-JP" dirty="0"/>
          </a:p>
          <a:p>
            <a:pPr marL="0" indent="0" algn="ctr">
              <a:buNone/>
            </a:pPr>
            <a:r>
              <a:rPr lang="ja-JP" altLang="en-US"/>
              <a:t>無人島の皆さん →</a:t>
            </a:r>
            <a:r>
              <a:rPr lang="en-US" altLang="ja-JP" dirty="0"/>
              <a:t> </a:t>
            </a:r>
            <a:r>
              <a:rPr lang="ja-JP" altLang="en-US"/>
              <a:t>無人島</a:t>
            </a:r>
            <a:r>
              <a:rPr lang="en-US" altLang="ja-JP" dirty="0"/>
              <a:t> / </a:t>
            </a:r>
            <a:r>
              <a:rPr lang="ja-JP" altLang="en-US"/>
              <a:t>の</a:t>
            </a:r>
            <a:r>
              <a:rPr lang="en-US" altLang="ja-JP" dirty="0"/>
              <a:t> / </a:t>
            </a:r>
            <a:r>
              <a:rPr lang="ja-JP" altLang="en-US"/>
              <a:t>皆さん</a:t>
            </a:r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r>
              <a:rPr lang="en-US" altLang="ja-JP" dirty="0"/>
              <a:t>3. </a:t>
            </a:r>
            <a:r>
              <a:rPr lang="ja-JP" altLang="en-US"/>
              <a:t>単語に対し，一意の</a:t>
            </a:r>
            <a:r>
              <a:rPr lang="en-US" altLang="ja-JP" dirty="0"/>
              <a:t>ID</a:t>
            </a:r>
            <a:r>
              <a:rPr lang="ja-JP" altLang="en-US"/>
              <a:t>を割り当て</a:t>
            </a: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r>
              <a:rPr kumimoji="1" lang="en-US" altLang="ja-JP" dirty="0"/>
              <a:t>4. </a:t>
            </a:r>
            <a:r>
              <a:rPr kumimoji="1" lang="ja-JP" altLang="en-US"/>
              <a:t>割り当てた</a:t>
            </a:r>
            <a:r>
              <a:rPr kumimoji="1" lang="en-US" altLang="ja-JP" dirty="0"/>
              <a:t>ID</a:t>
            </a:r>
            <a:r>
              <a:rPr kumimoji="1" lang="ja-JP" altLang="en-US"/>
              <a:t>に基づき文章を数値化</a:t>
            </a:r>
            <a:r>
              <a:rPr kumimoji="1" lang="en-US" altLang="ja-JP" dirty="0"/>
              <a:t>(</a:t>
            </a:r>
            <a:r>
              <a:rPr kumimoji="1" lang="ja-JP" altLang="en-US"/>
              <a:t>トークン化</a:t>
            </a:r>
            <a:r>
              <a:rPr kumimoji="1" lang="en-US" altLang="ja-JP" dirty="0"/>
              <a:t>)</a:t>
            </a:r>
          </a:p>
          <a:p>
            <a:pPr marL="0" indent="0" algn="ctr">
              <a:buNone/>
            </a:pPr>
            <a:r>
              <a:rPr lang="ja-JP" altLang="en-US"/>
              <a:t>無人島</a:t>
            </a:r>
            <a:r>
              <a:rPr lang="en-US" altLang="ja-JP" dirty="0"/>
              <a:t> / </a:t>
            </a:r>
            <a:r>
              <a:rPr lang="ja-JP" altLang="en-US"/>
              <a:t>の</a:t>
            </a:r>
            <a:r>
              <a:rPr lang="en-US" altLang="ja-JP" dirty="0"/>
              <a:t> / </a:t>
            </a:r>
            <a:r>
              <a:rPr lang="ja-JP" altLang="en-US"/>
              <a:t>皆さん</a:t>
            </a:r>
            <a:r>
              <a:rPr lang="en-US" altLang="ja-JP" dirty="0"/>
              <a:t> </a:t>
            </a:r>
            <a:r>
              <a:rPr lang="ja-JP" altLang="en-US"/>
              <a:t>→</a:t>
            </a:r>
            <a:r>
              <a:rPr lang="en-US" altLang="ja-JP" dirty="0"/>
              <a:t> 1 / 2 / 3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BF11325-B872-E69C-E6F6-6E8CB12F4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6</a:t>
            </a:fld>
            <a:endParaRPr kumimoji="1" lang="ja-JP" altLang="en-US"/>
          </a:p>
        </p:txBody>
      </p:sp>
      <p:graphicFrame>
        <p:nvGraphicFramePr>
          <p:cNvPr id="9" name="表 8">
            <a:extLst>
              <a:ext uri="{FF2B5EF4-FFF2-40B4-BE49-F238E27FC236}">
                <a16:creationId xmlns:a16="http://schemas.microsoft.com/office/drawing/2014/main" id="{C64D6404-BB5D-E70E-26FC-875C9058A9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460345"/>
              </p:ext>
            </p:extLst>
          </p:nvPr>
        </p:nvGraphicFramePr>
        <p:xfrm>
          <a:off x="2032000" y="2755808"/>
          <a:ext cx="8128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18646815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8154554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単語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ID</a:t>
                      </a:r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79759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無人島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1</a:t>
                      </a:r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1801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2</a:t>
                      </a:r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6064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皆さん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3</a:t>
                      </a:r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871187"/>
                  </a:ext>
                </a:extLst>
              </a:tr>
            </a:tbl>
          </a:graphicData>
        </a:graphic>
      </p:graphicFrame>
      <p:sp>
        <p:nvSpPr>
          <p:cNvPr id="10" name="角丸四角形吹き出し 9">
            <a:extLst>
              <a:ext uri="{FF2B5EF4-FFF2-40B4-BE49-F238E27FC236}">
                <a16:creationId xmlns:a16="http://schemas.microsoft.com/office/drawing/2014/main" id="{B6E31A92-E8B5-9AC7-C540-4A3225193E9C}"/>
              </a:ext>
            </a:extLst>
          </p:cNvPr>
          <p:cNvSpPr/>
          <p:nvPr/>
        </p:nvSpPr>
        <p:spPr>
          <a:xfrm>
            <a:off x="8946503" y="1744609"/>
            <a:ext cx="2939953" cy="956660"/>
          </a:xfrm>
          <a:prstGeom prst="wedgeRoundRectCallout">
            <a:avLst>
              <a:gd name="adj1" fmla="val -33125"/>
              <a:gd name="adj2" fmla="val 73108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データセット全体で</a:t>
            </a:r>
            <a:endParaRPr kumimoji="1" lang="en-US" altLang="ja-JP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pPr algn="ctr"/>
            <a:r>
              <a:rPr kumimoji="1"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一意に定まる</a:t>
            </a:r>
          </a:p>
        </p:txBody>
      </p:sp>
      <p:sp>
        <p:nvSpPr>
          <p:cNvPr id="11" name="右中かっこ 10">
            <a:extLst>
              <a:ext uri="{FF2B5EF4-FFF2-40B4-BE49-F238E27FC236}">
                <a16:creationId xmlns:a16="http://schemas.microsoft.com/office/drawing/2014/main" id="{7912BDE4-BB04-8DF8-0513-F54AD9FFB3AB}"/>
              </a:ext>
            </a:extLst>
          </p:cNvPr>
          <p:cNvSpPr/>
          <p:nvPr/>
        </p:nvSpPr>
        <p:spPr>
          <a:xfrm>
            <a:off x="10272464" y="3259024"/>
            <a:ext cx="288032" cy="1296144"/>
          </a:xfrm>
          <a:prstGeom prst="rightBrac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949DB5DB-2993-D155-EF20-6AD49328B119}"/>
                  </a:ext>
                </a:extLst>
              </p:cNvPr>
              <p:cNvSpPr txBox="1"/>
              <p:nvPr/>
            </p:nvSpPr>
            <p:spPr>
              <a:xfrm>
                <a:off x="10560496" y="3497488"/>
                <a:ext cx="1146744" cy="838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2400">
                    <a:latin typeface="BIZ UDGothic" panose="020B0400000000000000" pitchFamily="49" charset="-128"/>
                    <a:ea typeface="BIZ UDGothic" panose="020B0400000000000000" pitchFamily="49" charset="-128"/>
                  </a:rPr>
                  <a:t>語彙数</a:t>
                </a:r>
                <a:endParaRPr lang="en-US" altLang="ja-JP" sz="2400" dirty="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𝑉</m:t>
                      </m:r>
                    </m:oMath>
                  </m:oMathPara>
                </a14:m>
                <a:endParaRPr kumimoji="1" lang="ja-JP" altLang="en-US" sz="240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949DB5DB-2993-D155-EF20-6AD49328B1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60496" y="3497488"/>
                <a:ext cx="1146744" cy="838243"/>
              </a:xfrm>
              <a:prstGeom prst="rect">
                <a:avLst/>
              </a:prstGeom>
              <a:blipFill>
                <a:blip r:embed="rId2"/>
                <a:stretch>
                  <a:fillRect l="-5495" t="-5970" r="-659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8752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344B47-E513-A570-4D24-908D7FB96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Image2Text</a:t>
            </a:r>
            <a:r>
              <a:rPr lang="ja-JP" altLang="en-US"/>
              <a:t>モデルの学習</a:t>
            </a:r>
            <a:r>
              <a:rPr lang="en-US" altLang="ja-JP" dirty="0"/>
              <a:t>Ⅲ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CBC8B04C-54BF-75F7-00C4-BC1C716517D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ja-JP" dirty="0"/>
                  <a:t>5. </a:t>
                </a:r>
                <a:r>
                  <a:rPr lang="ja-JP" altLang="en-US"/>
                  <a:t>画像と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kumimoji="1" lang="ja-JP" altLang="en-US"/>
                  <a:t>より前の単語の</a:t>
                </a:r>
                <a:r>
                  <a:rPr kumimoji="1" lang="en-US" altLang="ja-JP" dirty="0"/>
                  <a:t>ID</a:t>
                </a:r>
                <a:r>
                  <a:rPr kumimoji="1" lang="ja-JP" altLang="en-US"/>
                  <a:t>を入力，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kumimoji="1" lang="ja-JP" altLang="en-US"/>
                  <a:t>番目の単語の</a:t>
                </a:r>
                <a:r>
                  <a:rPr kumimoji="1" lang="en-US" altLang="ja-JP" dirty="0"/>
                  <a:t>ID</a:t>
                </a:r>
                <a:r>
                  <a:rPr kumimoji="1" lang="ja-JP" altLang="en-US"/>
                  <a:t>を教師信号</a:t>
                </a:r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CBC8B04C-54BF-75F7-00C4-BC1C716517D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4" t="-25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7E8D9ED-0A3F-7999-EA44-FA86A421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7</a:t>
            </a:fld>
            <a:endParaRPr kumimoji="1"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00DE97B3-476F-B622-791F-3A33D385CD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465132"/>
              </p:ext>
            </p:extLst>
          </p:nvPr>
        </p:nvGraphicFramePr>
        <p:xfrm>
          <a:off x="2616200" y="1682733"/>
          <a:ext cx="6959600" cy="2389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800">
                  <a:extLst>
                    <a:ext uri="{9D8B030D-6E8A-4147-A177-3AD203B41FA5}">
                      <a16:colId xmlns:a16="http://schemas.microsoft.com/office/drawing/2014/main" val="3501096006"/>
                    </a:ext>
                  </a:extLst>
                </a:gridCol>
                <a:gridCol w="3479800">
                  <a:extLst>
                    <a:ext uri="{9D8B030D-6E8A-4147-A177-3AD203B41FA5}">
                      <a16:colId xmlns:a16="http://schemas.microsoft.com/office/drawing/2014/main" val="993947687"/>
                    </a:ext>
                  </a:extLst>
                </a:gridCol>
              </a:tblGrid>
              <a:tr h="46755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入力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教師信号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9475603"/>
                  </a:ext>
                </a:extLst>
              </a:tr>
              <a:tr h="6408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[   ]</a:t>
                      </a:r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1</a:t>
                      </a:r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6928040"/>
                  </a:ext>
                </a:extLst>
              </a:tr>
              <a:tr h="6408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[   </a:t>
                      </a:r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，</a:t>
                      </a:r>
                      <a:r>
                        <a:rPr kumimoji="1" lang="en-US" altLang="ja-JP" sz="24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1]</a:t>
                      </a:r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2</a:t>
                      </a:r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3965931"/>
                  </a:ext>
                </a:extLst>
              </a:tr>
              <a:tr h="64080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[   </a:t>
                      </a:r>
                      <a:r>
                        <a:rPr kumimoji="1" lang="ja-JP" altLang="en-US" sz="2400" b="0" i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，</a:t>
                      </a:r>
                      <a:r>
                        <a:rPr kumimoji="1" lang="en-US" altLang="ja-JP" sz="24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1, 2]</a:t>
                      </a:r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3</a:t>
                      </a:r>
                      <a:endParaRPr kumimoji="1" lang="ja-JP" altLang="en-US" sz="24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5036661"/>
                  </a:ext>
                </a:extLst>
              </a:tr>
            </a:tbl>
          </a:graphicData>
        </a:graphic>
      </p:graphicFrame>
      <p:pic>
        <p:nvPicPr>
          <p:cNvPr id="6" name="図 5">
            <a:extLst>
              <a:ext uri="{FF2B5EF4-FFF2-40B4-BE49-F238E27FC236}">
                <a16:creationId xmlns:a16="http://schemas.microsoft.com/office/drawing/2014/main" id="{B8111DA2-F453-FC65-D453-48C29EF1E6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288" t="38179" r="53574" b="26043"/>
          <a:stretch>
            <a:fillRect/>
          </a:stretch>
        </p:blipFill>
        <p:spPr>
          <a:xfrm>
            <a:off x="4130877" y="2164713"/>
            <a:ext cx="445037" cy="640800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753C36AF-A30A-581D-6363-A370A1ACBE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288" t="38179" r="53574" b="26043"/>
          <a:stretch>
            <a:fillRect/>
          </a:stretch>
        </p:blipFill>
        <p:spPr>
          <a:xfrm>
            <a:off x="3909772" y="2801353"/>
            <a:ext cx="443623" cy="638764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8CB68818-CCA7-69AE-0C66-7AF286A07B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288" t="38179" r="53574" b="26043"/>
          <a:stretch>
            <a:fillRect/>
          </a:stretch>
        </p:blipFill>
        <p:spPr>
          <a:xfrm>
            <a:off x="3687253" y="3440117"/>
            <a:ext cx="443623" cy="638764"/>
          </a:xfrm>
          <a:prstGeom prst="rect">
            <a:avLst/>
          </a:prstGeom>
        </p:spPr>
      </p:pic>
      <p:sp>
        <p:nvSpPr>
          <p:cNvPr id="14" name="右中かっこ 13">
            <a:extLst>
              <a:ext uri="{FF2B5EF4-FFF2-40B4-BE49-F238E27FC236}">
                <a16:creationId xmlns:a16="http://schemas.microsoft.com/office/drawing/2014/main" id="{B3BAD4B0-ABB7-135C-CCD0-5C8BAF2B49A9}"/>
              </a:ext>
            </a:extLst>
          </p:cNvPr>
          <p:cNvSpPr/>
          <p:nvPr/>
        </p:nvSpPr>
        <p:spPr>
          <a:xfrm>
            <a:off x="9652896" y="3424613"/>
            <a:ext cx="288032" cy="648072"/>
          </a:xfrm>
          <a:prstGeom prst="rightBrac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F473B8A-13EC-AC20-A4F4-46E96C9BD791}"/>
              </a:ext>
            </a:extLst>
          </p:cNvPr>
          <p:cNvSpPr txBox="1"/>
          <p:nvPr/>
        </p:nvSpPr>
        <p:spPr>
          <a:xfrm>
            <a:off x="9997160" y="3528666"/>
            <a:ext cx="11467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>
                <a:latin typeface="BIZ UDGothic" panose="020B0400000000000000" pitchFamily="49" charset="-128"/>
                <a:ea typeface="BIZ UDGothic" panose="020B0400000000000000" pitchFamily="49" charset="-128"/>
              </a:rPr>
              <a:t>データ</a:t>
            </a:r>
            <a:endParaRPr kumimoji="1" lang="ja-JP" altLang="en-US" sz="240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16" name="右中かっこ 15">
            <a:extLst>
              <a:ext uri="{FF2B5EF4-FFF2-40B4-BE49-F238E27FC236}">
                <a16:creationId xmlns:a16="http://schemas.microsoft.com/office/drawing/2014/main" id="{DE48FC2C-8265-0736-6138-882EF0D14759}"/>
              </a:ext>
            </a:extLst>
          </p:cNvPr>
          <p:cNvSpPr/>
          <p:nvPr/>
        </p:nvSpPr>
        <p:spPr>
          <a:xfrm flipH="1">
            <a:off x="2251072" y="2164713"/>
            <a:ext cx="288032" cy="1899808"/>
          </a:xfrm>
          <a:prstGeom prst="rightBrac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0FBDBB6-36E3-818C-116B-4372B6DB7003}"/>
              </a:ext>
            </a:extLst>
          </p:cNvPr>
          <p:cNvSpPr txBox="1"/>
          <p:nvPr/>
        </p:nvSpPr>
        <p:spPr>
          <a:xfrm>
            <a:off x="176826" y="2877709"/>
            <a:ext cx="2023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>
                <a:latin typeface="BIZ UDGothic" panose="020B0400000000000000" pitchFamily="49" charset="-128"/>
                <a:ea typeface="BIZ UDGothic" panose="020B0400000000000000" pitchFamily="49" charset="-128"/>
              </a:rPr>
              <a:t>データセット</a:t>
            </a:r>
            <a:endParaRPr kumimoji="1" lang="ja-JP" altLang="en-US" sz="240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444338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63196A-CE03-8A93-496E-B6BDE8D31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Image2Text</a:t>
            </a:r>
            <a:r>
              <a:rPr lang="ja-JP" altLang="en-US"/>
              <a:t>モデルの学習</a:t>
            </a:r>
            <a:r>
              <a:rPr lang="en-US" altLang="ja-JP" dirty="0"/>
              <a:t>Ⅳ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DC2DF7C1-8E11-4D61-3778-5E27055DCD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kumimoji="1" lang="ja-JP" altLang="en-US"/>
                  <a:t>モデルの定義</a:t>
                </a:r>
                <a:endParaRPr kumimoji="1" lang="en-US" altLang="ja-JP" dirty="0"/>
              </a:p>
              <a:p>
                <a:pPr marL="457200" lvl="1" indent="0">
                  <a:buNone/>
                </a:pPr>
                <a:r>
                  <a:rPr lang="ja-JP" altLang="en-US"/>
                  <a:t>画像と途中文が入力で，各単語に対する予測確率が出力の関数</a:t>
                </a:r>
                <a:endParaRPr lang="en-US" altLang="ja-JP" dirty="0"/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ja-JP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𝛉</m:t>
                        </m:r>
                      </m:sub>
                    </m:sSub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ja-JP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ja-JP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ja-JP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sup>
                    </m:sSup>
                  </m:oMath>
                </a14:m>
                <a:r>
                  <a:rPr lang="ja-JP" altLang="en-US" dirty="0"/>
                  <a:t> </a:t>
                </a: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DC2DF7C1-8E11-4D61-3778-5E27055DCD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4" t="-204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EC96A5C-1EBF-E566-4A63-476491520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8</a:t>
            </a:fld>
            <a:endParaRPr kumimoji="1" lang="ja-JP" altLang="en-US"/>
          </a:p>
        </p:txBody>
      </p:sp>
      <p:sp>
        <p:nvSpPr>
          <p:cNvPr id="14" name="フローチャート: 手作業 13">
            <a:extLst>
              <a:ext uri="{FF2B5EF4-FFF2-40B4-BE49-F238E27FC236}">
                <a16:creationId xmlns:a16="http://schemas.microsoft.com/office/drawing/2014/main" id="{6C7E4864-AC0C-F90D-04CE-326E1EAA2C3B}"/>
              </a:ext>
            </a:extLst>
          </p:cNvPr>
          <p:cNvSpPr/>
          <p:nvPr/>
        </p:nvSpPr>
        <p:spPr>
          <a:xfrm rot="16200000">
            <a:off x="3446671" y="2768605"/>
            <a:ext cx="1338348" cy="1338348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Image</a:t>
            </a:r>
          </a:p>
          <a:p>
            <a:pPr algn="ctr"/>
            <a:r>
              <a:rPr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Encoder</a:t>
            </a:r>
            <a:endParaRPr kumimoji="1" lang="ja-JP" altLang="en-US" sz="24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15" name="フローチャート: 手作業 14">
            <a:extLst>
              <a:ext uri="{FF2B5EF4-FFF2-40B4-BE49-F238E27FC236}">
                <a16:creationId xmlns:a16="http://schemas.microsoft.com/office/drawing/2014/main" id="{D767228C-BA04-9786-DF49-81BCD1FDF131}"/>
              </a:ext>
            </a:extLst>
          </p:cNvPr>
          <p:cNvSpPr/>
          <p:nvPr/>
        </p:nvSpPr>
        <p:spPr>
          <a:xfrm rot="16200000">
            <a:off x="3446671" y="4272461"/>
            <a:ext cx="1338348" cy="1338348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Sentence</a:t>
            </a:r>
          </a:p>
          <a:p>
            <a:pPr algn="ctr"/>
            <a:r>
              <a:rPr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Encoder</a:t>
            </a:r>
            <a:endParaRPr kumimoji="1" lang="ja-JP" altLang="en-US" sz="24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99AA021A-D4D7-4D91-C456-A0AF3EABA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973759" y="2322937"/>
            <a:ext cx="1525603" cy="221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B2520CF0-379D-BAA1-DACD-35870E69C04D}"/>
                  </a:ext>
                </a:extLst>
              </p:cNvPr>
              <p:cNvSpPr txBox="1"/>
              <p:nvPr/>
            </p:nvSpPr>
            <p:spPr>
              <a:xfrm>
                <a:off x="409863" y="4700570"/>
                <a:ext cx="2653393" cy="4701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𝑝𝑎𝑑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(無人島,の,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𝐾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)</m:t>
                      </m:r>
                    </m:oMath>
                  </m:oMathPara>
                </a14:m>
                <a:endParaRPr kumimoji="1" lang="ja-JP" altLang="en-US" sz="240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B2520CF0-379D-BAA1-DACD-35870E69C0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863" y="4700570"/>
                <a:ext cx="2653393" cy="470129"/>
              </a:xfrm>
              <a:prstGeom prst="rect">
                <a:avLst/>
              </a:prstGeom>
              <a:blipFill>
                <a:blip r:embed="rId4"/>
                <a:stretch>
                  <a:fillRect l="-4286" b="-15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3B527C9-6533-0286-74CA-5E97B84ABB68}"/>
              </a:ext>
            </a:extLst>
          </p:cNvPr>
          <p:cNvSpPr/>
          <p:nvPr/>
        </p:nvSpPr>
        <p:spPr>
          <a:xfrm>
            <a:off x="5261956" y="3861730"/>
            <a:ext cx="1668087" cy="673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Dense</a:t>
            </a:r>
            <a:endParaRPr kumimoji="1" lang="ja-JP" altLang="en-US" sz="24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24A612C2-4DB0-8723-E043-9E70999CEFAA}"/>
              </a:ext>
            </a:extLst>
          </p:cNvPr>
          <p:cNvCxnSpPr>
            <a:stCxn id="16" idx="3"/>
            <a:endCxn id="14" idx="0"/>
          </p:cNvCxnSpPr>
          <p:nvPr/>
        </p:nvCxnSpPr>
        <p:spPr>
          <a:xfrm>
            <a:off x="2499362" y="3429000"/>
            <a:ext cx="947309" cy="87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2B7455D8-9E29-48C3-40CE-172660C7BE0D}"/>
              </a:ext>
            </a:extLst>
          </p:cNvPr>
          <p:cNvCxnSpPr>
            <a:cxnSpLocks/>
            <a:stCxn id="17" idx="3"/>
            <a:endCxn id="15" idx="0"/>
          </p:cNvCxnSpPr>
          <p:nvPr/>
        </p:nvCxnSpPr>
        <p:spPr>
          <a:xfrm>
            <a:off x="3063256" y="4935635"/>
            <a:ext cx="383415" cy="6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6">
            <a:extLst>
              <a:ext uri="{FF2B5EF4-FFF2-40B4-BE49-F238E27FC236}">
                <a16:creationId xmlns:a16="http://schemas.microsoft.com/office/drawing/2014/main" id="{4009A9AE-4D21-73CE-ED39-4567EB3A34A1}"/>
              </a:ext>
            </a:extLst>
          </p:cNvPr>
          <p:cNvCxnSpPr>
            <a:cxnSpLocks/>
            <a:stCxn id="15" idx="2"/>
            <a:endCxn id="18" idx="1"/>
          </p:cNvCxnSpPr>
          <p:nvPr/>
        </p:nvCxnSpPr>
        <p:spPr>
          <a:xfrm flipV="1">
            <a:off x="4785019" y="4198396"/>
            <a:ext cx="476937" cy="74323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6">
            <a:extLst>
              <a:ext uri="{FF2B5EF4-FFF2-40B4-BE49-F238E27FC236}">
                <a16:creationId xmlns:a16="http://schemas.microsoft.com/office/drawing/2014/main" id="{35C76477-962C-17C0-2A54-5A2DA2019550}"/>
              </a:ext>
            </a:extLst>
          </p:cNvPr>
          <p:cNvCxnSpPr>
            <a:cxnSpLocks/>
            <a:stCxn id="14" idx="2"/>
            <a:endCxn id="18" idx="1"/>
          </p:cNvCxnSpPr>
          <p:nvPr/>
        </p:nvCxnSpPr>
        <p:spPr>
          <a:xfrm>
            <a:off x="4785019" y="3437779"/>
            <a:ext cx="476937" cy="76061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0C2A84D5-8ED8-AA6B-4812-63CD95D4236B}"/>
              </a:ext>
            </a:extLst>
          </p:cNvPr>
          <p:cNvCxnSpPr>
            <a:cxnSpLocks/>
            <a:stCxn id="18" idx="3"/>
            <a:endCxn id="41" idx="2"/>
          </p:cNvCxnSpPr>
          <p:nvPr/>
        </p:nvCxnSpPr>
        <p:spPr>
          <a:xfrm>
            <a:off x="6930043" y="4198396"/>
            <a:ext cx="84502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7F80448D-2F5C-7DE5-48B2-8FE773E4C21C}"/>
                  </a:ext>
                </a:extLst>
              </p:cNvPr>
              <p:cNvSpPr txBox="1"/>
              <p:nvPr/>
            </p:nvSpPr>
            <p:spPr>
              <a:xfrm>
                <a:off x="1223231" y="3228431"/>
                <a:ext cx="1026659" cy="40113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ja-JP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ja-JP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altLang="ja-JP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ja-JP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  <m:r>
                            <a:rPr lang="en-US" altLang="ja-JP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ja-JP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</m:oMath>
                  </m:oMathPara>
                </a14:m>
                <a:endParaRPr lang="ja-JP" altLang="en-US" sz="2000"/>
              </a:p>
            </p:txBody>
          </p:sp>
        </mc:Choice>
        <mc:Fallback xmlns="">
          <p:sp>
            <p:nvSpPr>
              <p:cNvPr id="26" name="テキスト ボックス 25">
                <a:extLst>
                  <a:ext uri="{FF2B5EF4-FFF2-40B4-BE49-F238E27FC236}">
                    <a16:creationId xmlns:a16="http://schemas.microsoft.com/office/drawing/2014/main" id="{7F80448D-2F5C-7DE5-48B2-8FE773E4C2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3231" y="3228431"/>
                <a:ext cx="1026659" cy="401135"/>
              </a:xfrm>
              <a:prstGeom prst="rect">
                <a:avLst/>
              </a:prstGeom>
              <a:blipFill>
                <a:blip r:embed="rId5"/>
                <a:stretch>
                  <a:fillRect r="-243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813C1EE0-A232-C04B-1DEA-C801AE6AFC74}"/>
                  </a:ext>
                </a:extLst>
              </p:cNvPr>
              <p:cNvSpPr txBox="1"/>
              <p:nvPr/>
            </p:nvSpPr>
            <p:spPr>
              <a:xfrm>
                <a:off x="1481399" y="5173852"/>
                <a:ext cx="510319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altLang="ja-JP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ℕ</m:t>
                          </m:r>
                        </m:e>
                        <m:sup>
                          <m:r>
                            <a:rPr lang="en-US" altLang="ja-JP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𝐾</m:t>
                          </m:r>
                        </m:sup>
                      </m:sSup>
                    </m:oMath>
                  </m:oMathPara>
                </a14:m>
                <a:endParaRPr lang="ja-JP" altLang="en-US" sz="2000"/>
              </a:p>
            </p:txBody>
          </p:sp>
        </mc:Choice>
        <mc:Fallback xmlns="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813C1EE0-A232-C04B-1DEA-C801AE6AFC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1399" y="5173852"/>
                <a:ext cx="510319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円/楕円 40">
            <a:extLst>
              <a:ext uri="{FF2B5EF4-FFF2-40B4-BE49-F238E27FC236}">
                <a16:creationId xmlns:a16="http://schemas.microsoft.com/office/drawing/2014/main" id="{6043F981-4FD1-B0C8-1291-D14B41754D6E}"/>
              </a:ext>
            </a:extLst>
          </p:cNvPr>
          <p:cNvSpPr/>
          <p:nvPr/>
        </p:nvSpPr>
        <p:spPr>
          <a:xfrm>
            <a:off x="7775067" y="3867742"/>
            <a:ext cx="661307" cy="66130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0.1</a:t>
            </a:r>
            <a:endParaRPr kumimoji="1" lang="ja-JP" altLang="en-US" sz="24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44" name="円/楕円 43">
            <a:extLst>
              <a:ext uri="{FF2B5EF4-FFF2-40B4-BE49-F238E27FC236}">
                <a16:creationId xmlns:a16="http://schemas.microsoft.com/office/drawing/2014/main" id="{5BD9B3E9-4763-2A72-5E10-239EF3C4B826}"/>
              </a:ext>
            </a:extLst>
          </p:cNvPr>
          <p:cNvSpPr/>
          <p:nvPr/>
        </p:nvSpPr>
        <p:spPr>
          <a:xfrm>
            <a:off x="7775067" y="2767691"/>
            <a:ext cx="661307" cy="66130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0.2</a:t>
            </a:r>
            <a:endParaRPr kumimoji="1" lang="ja-JP" altLang="en-US" sz="24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45" name="円/楕円 44">
            <a:extLst>
              <a:ext uri="{FF2B5EF4-FFF2-40B4-BE49-F238E27FC236}">
                <a16:creationId xmlns:a16="http://schemas.microsoft.com/office/drawing/2014/main" id="{3C15ECAD-996A-F661-2CAB-F0EC853AD3A6}"/>
              </a:ext>
            </a:extLst>
          </p:cNvPr>
          <p:cNvSpPr/>
          <p:nvPr/>
        </p:nvSpPr>
        <p:spPr>
          <a:xfrm>
            <a:off x="7775066" y="4967793"/>
            <a:ext cx="661307" cy="66130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0.7</a:t>
            </a:r>
            <a:endParaRPr kumimoji="1" lang="ja-JP" altLang="en-US" sz="24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7B750CF0-AD48-09FE-98BF-C71630077C0A}"/>
              </a:ext>
            </a:extLst>
          </p:cNvPr>
          <p:cNvCxnSpPr>
            <a:cxnSpLocks/>
            <a:stCxn id="18" idx="3"/>
            <a:endCxn id="45" idx="2"/>
          </p:cNvCxnSpPr>
          <p:nvPr/>
        </p:nvCxnSpPr>
        <p:spPr>
          <a:xfrm>
            <a:off x="6930043" y="4198396"/>
            <a:ext cx="845023" cy="11000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5ABD4212-BE54-750F-F7F4-873412CA9A59}"/>
              </a:ext>
            </a:extLst>
          </p:cNvPr>
          <p:cNvCxnSpPr>
            <a:cxnSpLocks/>
            <a:stCxn id="18" idx="3"/>
            <a:endCxn id="44" idx="2"/>
          </p:cNvCxnSpPr>
          <p:nvPr/>
        </p:nvCxnSpPr>
        <p:spPr>
          <a:xfrm flipV="1">
            <a:off x="6930043" y="3098345"/>
            <a:ext cx="845024" cy="11000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右中かっこ 52">
            <a:extLst>
              <a:ext uri="{FF2B5EF4-FFF2-40B4-BE49-F238E27FC236}">
                <a16:creationId xmlns:a16="http://schemas.microsoft.com/office/drawing/2014/main" id="{C0763A0A-4304-9866-7AFC-A9CD5FCD976E}"/>
              </a:ext>
            </a:extLst>
          </p:cNvPr>
          <p:cNvSpPr/>
          <p:nvPr/>
        </p:nvSpPr>
        <p:spPr>
          <a:xfrm flipH="1">
            <a:off x="7426432" y="2767691"/>
            <a:ext cx="288032" cy="2861404"/>
          </a:xfrm>
          <a:prstGeom prst="rightBrace">
            <a:avLst>
              <a:gd name="adj1" fmla="val 8333"/>
              <a:gd name="adj2" fmla="val 7772"/>
            </a:avLst>
          </a:prstGeom>
          <a:ln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テキスト ボックス 53">
                <a:extLst>
                  <a:ext uri="{FF2B5EF4-FFF2-40B4-BE49-F238E27FC236}">
                    <a16:creationId xmlns:a16="http://schemas.microsoft.com/office/drawing/2014/main" id="{97A6EC72-9015-351D-403C-313299C97BAA}"/>
                  </a:ext>
                </a:extLst>
              </p:cNvPr>
              <p:cNvSpPr txBox="1"/>
              <p:nvPr/>
            </p:nvSpPr>
            <p:spPr>
              <a:xfrm>
                <a:off x="6257551" y="2591371"/>
                <a:ext cx="1146744" cy="8382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ja-JP" altLang="en-US" sz="2400">
                    <a:solidFill>
                      <a:srgbClr val="0070C0"/>
                    </a:solidFill>
                    <a:latin typeface="BIZ UDGothic" panose="020B0400000000000000" pitchFamily="49" charset="-128"/>
                    <a:ea typeface="BIZ UDGothic" panose="020B0400000000000000" pitchFamily="49" charset="-128"/>
                  </a:rPr>
                  <a:t>語彙数</a:t>
                </a:r>
                <a:endParaRPr lang="en-US" altLang="ja-JP" sz="2400" dirty="0">
                  <a:solidFill>
                    <a:srgbClr val="0070C0"/>
                  </a:solidFill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𝑉</m:t>
                      </m:r>
                    </m:oMath>
                  </m:oMathPara>
                </a14:m>
                <a:endParaRPr kumimoji="1" lang="ja-JP" altLang="en-US" sz="2400">
                  <a:solidFill>
                    <a:srgbClr val="0070C0"/>
                  </a:solidFill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54" name="テキスト ボックス 53">
                <a:extLst>
                  <a:ext uri="{FF2B5EF4-FFF2-40B4-BE49-F238E27FC236}">
                    <a16:creationId xmlns:a16="http://schemas.microsoft.com/office/drawing/2014/main" id="{97A6EC72-9015-351D-403C-313299C97B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7551" y="2591371"/>
                <a:ext cx="1146744" cy="838243"/>
              </a:xfrm>
              <a:prstGeom prst="rect">
                <a:avLst/>
              </a:prstGeom>
              <a:blipFill>
                <a:blip r:embed="rId7"/>
                <a:stretch>
                  <a:fillRect l="-5435" t="-5970" r="-543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0BD62D5E-026F-278C-AC89-2271B02F5BD7}"/>
              </a:ext>
            </a:extLst>
          </p:cNvPr>
          <p:cNvSpPr/>
          <p:nvPr/>
        </p:nvSpPr>
        <p:spPr>
          <a:xfrm>
            <a:off x="7677283" y="2644743"/>
            <a:ext cx="865925" cy="3107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24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角丸四角形吹き出し 55">
                <a:extLst>
                  <a:ext uri="{FF2B5EF4-FFF2-40B4-BE49-F238E27FC236}">
                    <a16:creationId xmlns:a16="http://schemas.microsoft.com/office/drawing/2014/main" id="{C95500BE-1391-E993-8970-F6242EDB0F4C}"/>
                  </a:ext>
                </a:extLst>
              </p:cNvPr>
              <p:cNvSpPr/>
              <p:nvPr/>
            </p:nvSpPr>
            <p:spPr>
              <a:xfrm>
                <a:off x="8436373" y="1681965"/>
                <a:ext cx="3425040" cy="1002972"/>
              </a:xfrm>
              <a:prstGeom prst="wedgeRoundRectCallout">
                <a:avLst>
                  <a:gd name="adj1" fmla="val -49706"/>
                  <a:gd name="adj2" fmla="val 68829"/>
                  <a:gd name="adj3" fmla="val 16667"/>
                </a:avLst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𝑠𝑜𝑓𝑡𝑚𝑎𝑥</m:t>
                      </m:r>
                      <m:sSub>
                        <m:sSubPr>
                          <m:ctrlPr>
                            <a:rPr kumimoji="1" lang="en-US" altLang="ja-JP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BIZ UDGothic" panose="020B0400000000000000" pitchFamily="49" charset="-128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kumimoji="1" lang="en-US" altLang="ja-JP" sz="24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BIZ UDGothic" panose="020B0400000000000000" pitchFamily="49" charset="-128"/>
                                </a:rPr>
                              </m:ctrlPr>
                            </m:dPr>
                            <m:e>
                              <m:r>
                                <a:rPr kumimoji="1" lang="en-US" altLang="ja-JP" sz="24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BIZ UDGothic" panose="020B0400000000000000" pitchFamily="49" charset="-128"/>
                                </a:rPr>
                                <m:t>𝐱</m:t>
                              </m:r>
                            </m:e>
                          </m:d>
                        </m:e>
                        <m:sub>
                          <m:r>
                            <a:rPr kumimoji="1" lang="en-US" altLang="ja-JP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BIZ UDGothic" panose="020B0400000000000000" pitchFamily="49" charset="-128"/>
                            </a:rPr>
                            <m:t>𝑖</m:t>
                          </m:r>
                        </m:sub>
                      </m:sSub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=</m:t>
                      </m:r>
                      <m:f>
                        <m:fPr>
                          <m:ctrlPr>
                            <a:rPr kumimoji="1" lang="en-US" altLang="ja-JP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BIZ UDGothic" panose="020B0400000000000000" pitchFamily="49" charset="-128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BIZ UDGothic" panose="020B0400000000000000" pitchFamily="49" charset="-128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BIZ UDGothic" panose="020B0400000000000000" pitchFamily="49" charset="-128"/>
                                </a:rPr>
                                <m:t>𝑒</m:t>
                              </m:r>
                            </m:e>
                            <m:sup>
                              <m:sSub>
                                <m:sSubPr>
                                  <m:ctrlP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BIZ UDGothic" panose="020B0400000000000000" pitchFamily="49" charset="-128"/>
                                    </a:rPr>
                                  </m:ctrlPr>
                                </m:sSubPr>
                                <m:e>
                                  <m: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BIZ UDGothic" panose="020B0400000000000000" pitchFamily="49" charset="-128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1"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BIZ UDGothic" panose="020B0400000000000000" pitchFamily="49" charset="-128"/>
                                    </a:rPr>
                                    <m:t>𝑖</m:t>
                                  </m:r>
                                </m:sub>
                              </m:sSub>
                            </m:sup>
                          </m:sSup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ctrlP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BIZ UDGothic" panose="020B0400000000000000" pitchFamily="49" charset="-128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5"/>
                                </m:rP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BIZ UDGothic" panose="020B0400000000000000" pitchFamily="49" charset="-128"/>
                                </a:rPr>
                                <m:t>𝑗</m:t>
                              </m:r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BIZ UDGothic" panose="020B0400000000000000" pitchFamily="49" charset="-128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BIZ UDGothic" panose="020B0400000000000000" pitchFamily="49" charset="-128"/>
                                </a:rPr>
                                <m:t>|</m:t>
                              </m:r>
                              <m:r>
                                <a:rPr kumimoji="1" lang="en-US" altLang="ja-JP" sz="2400" b="1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BIZ UDGothic" panose="020B0400000000000000" pitchFamily="49" charset="-128"/>
                                </a:rPr>
                                <m:t>𝐱</m:t>
                              </m:r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BIZ UDGothic" panose="020B0400000000000000" pitchFamily="49" charset="-128"/>
                                </a:rPr>
                                <m:t>|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ja-JP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BIZ UDGothic" panose="020B0400000000000000" pitchFamily="49" charset="-128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ja-JP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BIZ UDGothic" panose="020B0400000000000000" pitchFamily="49" charset="-128"/>
                                    </a:rPr>
                                    <m:t>𝑒</m:t>
                                  </m:r>
                                </m:e>
                                <m:sup>
                                  <m:sSub>
                                    <m:sSubPr>
                                      <m:ctrlPr>
                                        <a:rPr lang="en-US" altLang="ja-JP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BIZ UDGothic" panose="020B0400000000000000" pitchFamily="49" charset="-128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ja-JP" sz="24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BIZ UDGothic" panose="020B0400000000000000" pitchFamily="49" charset="-128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ja-JP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BIZ UDGothic" panose="020B0400000000000000" pitchFamily="49" charset="-128"/>
                                        </a:rPr>
                                        <m:t>𝑗</m:t>
                                      </m:r>
                                    </m:sub>
                                  </m:sSub>
                                </m:sup>
                              </m:sSup>
                            </m:e>
                          </m:nary>
                        </m:den>
                      </m:f>
                    </m:oMath>
                  </m:oMathPara>
                </a14:m>
                <a:endParaRPr kumimoji="1" lang="ja-JP" altLang="en-US" sz="2400">
                  <a:solidFill>
                    <a:schemeClr val="tx1"/>
                  </a:solidFill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56" name="角丸四角形吹き出し 55">
                <a:extLst>
                  <a:ext uri="{FF2B5EF4-FFF2-40B4-BE49-F238E27FC236}">
                    <a16:creationId xmlns:a16="http://schemas.microsoft.com/office/drawing/2014/main" id="{C95500BE-1391-E993-8970-F6242EDB0F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6373" y="1681965"/>
                <a:ext cx="3425040" cy="1002972"/>
              </a:xfrm>
              <a:prstGeom prst="wedgeRoundRectCallout">
                <a:avLst>
                  <a:gd name="adj1" fmla="val -49706"/>
                  <a:gd name="adj2" fmla="val 68829"/>
                  <a:gd name="adj3" fmla="val 16667"/>
                </a:avLst>
              </a:prstGeom>
              <a:blipFill>
                <a:blip r:embed="rId8"/>
                <a:stretch>
                  <a:fillRect l="-1083" t="-10309" b="-50515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E7DED85C-470B-7180-C6A5-52EFD59745B9}"/>
              </a:ext>
            </a:extLst>
          </p:cNvPr>
          <p:cNvSpPr txBox="1"/>
          <p:nvPr/>
        </p:nvSpPr>
        <p:spPr>
          <a:xfrm>
            <a:off x="8794059" y="5067613"/>
            <a:ext cx="1272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>
                <a:latin typeface="BIZ UDGothic" panose="020B0400000000000000" pitchFamily="49" charset="-128"/>
                <a:ea typeface="BIZ UDGothic" panose="020B0400000000000000" pitchFamily="49" charset="-128"/>
              </a:rPr>
              <a:t>皆さん</a:t>
            </a:r>
            <a:endParaRPr kumimoji="1" lang="ja-JP" altLang="en-US" sz="240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FCE87553-9E45-669E-E3AC-C7F159D98603}"/>
              </a:ext>
            </a:extLst>
          </p:cNvPr>
          <p:cNvSpPr txBox="1"/>
          <p:nvPr/>
        </p:nvSpPr>
        <p:spPr>
          <a:xfrm>
            <a:off x="8794059" y="3967560"/>
            <a:ext cx="1272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atin typeface="BIZ UDGothic" panose="020B0400000000000000" pitchFamily="49" charset="-128"/>
                <a:ea typeface="BIZ UDGothic" panose="020B0400000000000000" pitchFamily="49" charset="-128"/>
              </a:rPr>
              <a:t>の</a:t>
            </a: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33F92BF7-4FB8-9BEB-EC59-CCFEF8405F39}"/>
              </a:ext>
            </a:extLst>
          </p:cNvPr>
          <p:cNvSpPr txBox="1"/>
          <p:nvPr/>
        </p:nvSpPr>
        <p:spPr>
          <a:xfrm>
            <a:off x="8794058" y="2864583"/>
            <a:ext cx="1272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>
                <a:latin typeface="BIZ UDGothic" panose="020B0400000000000000" pitchFamily="49" charset="-128"/>
                <a:ea typeface="BIZ UDGothic" panose="020B0400000000000000" pitchFamily="49" charset="-128"/>
              </a:rPr>
              <a:t>無人島</a:t>
            </a:r>
            <a:endParaRPr kumimoji="1" lang="ja-JP" altLang="en-US" sz="240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60" name="角丸四角形 59">
            <a:extLst>
              <a:ext uri="{FF2B5EF4-FFF2-40B4-BE49-F238E27FC236}">
                <a16:creationId xmlns:a16="http://schemas.microsoft.com/office/drawing/2014/main" id="{0446018E-EA51-8517-97B4-A18D7F845231}"/>
              </a:ext>
            </a:extLst>
          </p:cNvPr>
          <p:cNvSpPr/>
          <p:nvPr/>
        </p:nvSpPr>
        <p:spPr>
          <a:xfrm>
            <a:off x="3629092" y="3095415"/>
            <a:ext cx="3108009" cy="2203030"/>
          </a:xfrm>
          <a:prstGeom prst="roundRect">
            <a:avLst/>
          </a:prstGeom>
          <a:solidFill>
            <a:schemeClr val="bg1">
              <a:alpha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任意の構造</a:t>
            </a:r>
            <a:endParaRPr kumimoji="1" lang="ja-JP" altLang="en-US" sz="24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61" name="角丸四角形吹き出し 60">
            <a:extLst>
              <a:ext uri="{FF2B5EF4-FFF2-40B4-BE49-F238E27FC236}">
                <a16:creationId xmlns:a16="http://schemas.microsoft.com/office/drawing/2014/main" id="{32D5FE5A-E67A-ED0D-6A9C-D4403D4AD9CC}"/>
              </a:ext>
            </a:extLst>
          </p:cNvPr>
          <p:cNvSpPr/>
          <p:nvPr/>
        </p:nvSpPr>
        <p:spPr>
          <a:xfrm>
            <a:off x="7965212" y="5872932"/>
            <a:ext cx="2930195" cy="862841"/>
          </a:xfrm>
          <a:prstGeom prst="wedgeRoundRectCallout">
            <a:avLst>
              <a:gd name="adj1" fmla="val -33258"/>
              <a:gd name="adj2" fmla="val -81862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ニューロンと単語を</a:t>
            </a:r>
            <a:endParaRPr kumimoji="1" lang="en-US" altLang="ja-JP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pPr algn="ctr"/>
            <a:r>
              <a:rPr kumimoji="1"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一意に対応させる</a:t>
            </a:r>
          </a:p>
        </p:txBody>
      </p:sp>
    </p:spTree>
    <p:extLst>
      <p:ext uri="{BB962C8B-B14F-4D97-AF65-F5344CB8AC3E}">
        <p14:creationId xmlns:p14="http://schemas.microsoft.com/office/powerpoint/2010/main" val="1200016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C64C22-D79A-76E3-46D6-D4CD81CF3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Image2Text</a:t>
            </a:r>
            <a:r>
              <a:rPr lang="ja-JP" altLang="en-US"/>
              <a:t>モデルの学習</a:t>
            </a:r>
            <a:r>
              <a:rPr lang="en-US" altLang="ja-JP" dirty="0"/>
              <a:t>Ⅴ</a:t>
            </a:r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1802C04-2A2F-A900-14CC-49E9328CE3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ja-JP" sz="2400" dirty="0"/>
                  <a:t>6</a:t>
                </a:r>
                <a:r>
                  <a:rPr kumimoji="1" lang="en-US" altLang="ja-JP" sz="2400" dirty="0"/>
                  <a:t>. </a:t>
                </a:r>
                <a:r>
                  <a:rPr kumimoji="1" lang="ja-JP" altLang="en-US" sz="2400"/>
                  <a:t>モデルの学習</a:t>
                </a:r>
                <a:endParaRPr kumimoji="1" lang="en-US" altLang="ja-JP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" altLang="ja-JP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en-US" altLang="ja-JP" sz="2400" b="0" i="0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ja-JP" sz="2400" b="0" i="0" smtClean="0">
                                  <a:latin typeface="Cambria Math" panose="02040503050406030204" pitchFamily="18" charset="0"/>
                                </a:rPr>
                                <m:t>arg</m:t>
                              </m:r>
                              <m:r>
                                <a:rPr kumimoji="1" lang="en-US" altLang="ja-JP" sz="24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kumimoji="1" lang="en" altLang="ja-JP" sz="240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a:rPr lang="en-US" altLang="ja-JP" sz="2400" b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𝛉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chr m:val="∑"/>
                              <m:ctrl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en-US" altLang="ja-JP" sz="24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=2</m:t>
                                  </m:r>
                                </m:sub>
                                <m:sup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p>
                                <m:e>
                                  <m:r>
                                    <a:rPr kumimoji="1" lang="en-US" altLang="ja-JP" sz="2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unc>
                                    <m:funcPr>
                                      <m:ctrlPr>
                                        <a:rPr kumimoji="1" lang="en-US" altLang="ja-JP" sz="2400" b="0" i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kumimoji="1" lang="en-US" altLang="ja-JP" sz="2400" b="0" i="0" smtClean="0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sSub>
                                        <m:sSubPr>
                                          <m:ctrlPr>
                                            <a:rPr kumimoji="1" lang="en-US" altLang="ja-JP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sSub>
                                            <m:sSubPr>
                                              <m:ctrlPr>
                                                <a:rPr kumimoji="1" lang="en-US" altLang="ja-JP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US" altLang="ja-JP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𝑓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en-US" altLang="ja-JP" sz="2400" b="1" i="0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𝛉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ja-JP" sz="2400" b="1" i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sz="2400" b="1" i="0">
                                                  <a:latin typeface="Cambria Math" panose="02040503050406030204" pitchFamily="18" charset="0"/>
                                                </a:rPr>
                                                <m:t>𝐈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sz="2400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altLang="ja-JP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𝑝𝑎𝑑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altLang="ja-JP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ja-JP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ja-JP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𝑤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ja-JP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𝑛</m:t>
                                                  </m:r>
                                                  <m:r>
                                                    <a:rPr lang="en-US" altLang="ja-JP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,1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ja-JP" sz="2400" i="1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ja-JP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ja-JP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𝑤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ja-JP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𝑛</m:t>
                                                  </m:r>
                                                  <m:r>
                                                    <a:rPr lang="en-US" altLang="ja-JP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,2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ja-JP" sz="2400" i="1">
                                                  <a:latin typeface="Cambria Math" panose="02040503050406030204" pitchFamily="18" charset="0"/>
                                                </a:rPr>
                                                <m:t>,…,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ja-JP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ja-JP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𝑤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ja-JP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𝑛</m:t>
                                                  </m:r>
                                                  <m:r>
                                                    <a:rPr lang="en-US" altLang="ja-JP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,</m:t>
                                                  </m:r>
                                                  <m:r>
                                                    <a:rPr lang="en-US" altLang="ja-JP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  <m:r>
                                                    <a:rPr lang="en-US" altLang="ja-JP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−1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ja-JP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altLang="ja-JP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𝐾</m:t>
                                              </m:r>
                                            </m:e>
                                          </m:d>
                                          <m:r>
                                            <a:rPr lang="en-US" altLang="ja-JP" sz="2400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  <m:sub>
                                          <m:sSub>
                                            <m:sSubPr>
                                              <m:ctrlPr>
                                                <a:rPr kumimoji="1" lang="en-US" altLang="ja-JP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1" lang="en-US" altLang="ja-JP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𝑤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1" lang="en-US" altLang="ja-JP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kumimoji="1" lang="en-US" altLang="ja-JP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kumimoji="1" lang="en-US" altLang="ja-JP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</m:sSub>
                                        </m:sub>
                                      </m:sSub>
                                    </m:e>
                                  </m:func>
                                </m:e>
                              </m:nary>
                            </m:e>
                          </m:nary>
                        </m:e>
                      </m:func>
                    </m:oMath>
                  </m:oMathPara>
                </a14:m>
                <a:endParaRPr kumimoji="1" lang="en-US" altLang="ja-JP" sz="2400" dirty="0"/>
              </a:p>
              <a:p>
                <a:pPr marL="0" indent="0">
                  <a:buNone/>
                </a:pPr>
                <a:r>
                  <a:rPr lang="en-US" altLang="ja-JP" sz="2400" dirty="0"/>
                  <a:t>※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ja-JP" sz="24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𝛉</m:t>
                        </m:r>
                      </m:sub>
                    </m:sSub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ℕ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sup>
                    </m:sSup>
                  </m:oMath>
                </a14:m>
                <a:r>
                  <a:rPr kumimoji="1" lang="en-US" altLang="ja-JP" sz="2400" dirty="0"/>
                  <a:t>: 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kumimoji="1" lang="ja-JP" altLang="en-US" sz="2400"/>
                  <a:t>を入力した際のモデルの各単語に対する予測確率，</a:t>
                </a:r>
                <a:endParaRPr kumimoji="1" lang="en-US" altLang="ja-JP" sz="2400" dirty="0"/>
              </a:p>
              <a:p>
                <a:pPr marL="0" indent="0">
                  <a:buNone/>
                </a:pPr>
                <a:r>
                  <a:rPr lang="ja-JP" altLang="en-US" sz="2400" b="1">
                    <a:ea typeface="Cambria Math" panose="02040503050406030204" pitchFamily="18" charset="0"/>
                  </a:rPr>
                  <a:t>　 </a:t>
                </a:r>
                <a14:m>
                  <m:oMath xmlns:m="http://schemas.openxmlformats.org/officeDocument/2006/math">
                    <m:r>
                      <a:rPr lang="en-US" altLang="ja-JP" sz="24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𝛉</m:t>
                    </m:r>
                  </m:oMath>
                </a14:m>
                <a:r>
                  <a:rPr kumimoji="1" lang="en-US" altLang="ja-JP" sz="2400" dirty="0"/>
                  <a:t>: </a:t>
                </a:r>
                <a:r>
                  <a:rPr kumimoji="1" lang="ja-JP" altLang="en-US" sz="2400"/>
                  <a:t>モデルのパラメータ，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kumimoji="1" lang="en-US" altLang="ja-JP" sz="2400" dirty="0"/>
                  <a:t>: </a:t>
                </a:r>
                <a:r>
                  <a:rPr kumimoji="1" lang="ja-JP" altLang="en-US" sz="2400"/>
                  <a:t>全データ数，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kumimoji="1" lang="en-US" altLang="ja-JP" sz="2400" dirty="0"/>
                  <a:t>: </a:t>
                </a:r>
                <a:r>
                  <a:rPr kumimoji="1" lang="ja-JP" altLang="en-US" sz="2400"/>
                  <a:t>文章長，</a:t>
                </a:r>
                <a:endParaRPr kumimoji="1" lang="en-US" altLang="ja-JP" sz="2400" dirty="0"/>
              </a:p>
              <a:p>
                <a:pPr marL="0" indent="0">
                  <a:buNone/>
                </a:pPr>
                <a:r>
                  <a:rPr lang="ja-JP" altLang="en-US" sz="2400"/>
                  <a:t>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b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1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1" lang="en-US" altLang="ja-JP" sz="2400" dirty="0"/>
                  <a:t>: 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sz="2400"/>
                  <a:t>番目の画像，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kumimoji="1" lang="en-US" altLang="ja-JP" sz="2400" dirty="0"/>
                  <a:t>: 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sz="2400"/>
                  <a:t>番目の画像に対応する文章の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ja-JP" altLang="en-US" sz="2400"/>
                  <a:t>番目の単語，</a:t>
                </a:r>
                <a:endParaRPr lang="en-US" altLang="ja-JP" sz="2400" dirty="0"/>
              </a:p>
              <a:p>
                <a:pPr marL="0" indent="0">
                  <a:buNone/>
                </a:pPr>
                <a:r>
                  <a:rPr lang="ja-JP" altLang="en-US" sz="2400"/>
                  <a:t>　 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𝑝𝑎𝑑</m:t>
                    </m:r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</m:oMath>
                </a14:m>
                <a:r>
                  <a:rPr lang="en-US" altLang="ja-JP" sz="2400" dirty="0"/>
                  <a:t>: 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</m:oMath>
                </a14:m>
                <a:r>
                  <a:rPr lang="ja-JP" altLang="en-US" sz="2400"/>
                  <a:t>を長さが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ja-JP" altLang="en-US" sz="2400" dirty="0"/>
                  <a:t>になる</a:t>
                </a:r>
                <a:r>
                  <a:rPr lang="ja-JP" altLang="en-US" sz="2400"/>
                  <a:t>ようにパディング</a:t>
                </a:r>
                <a:endParaRPr lang="en-US" altLang="ja-JP" sz="2400" dirty="0"/>
              </a:p>
              <a:p>
                <a:pPr marL="0" indent="0">
                  <a:buNone/>
                </a:pPr>
                <a:r>
                  <a:rPr lang="ja-JP" altLang="en-US" sz="2400">
                    <a:solidFill>
                      <a:srgbClr val="FF0000"/>
                    </a:solidFill>
                  </a:rPr>
                  <a:t>画像と途中文</a:t>
                </a:r>
                <a:r>
                  <a:rPr lang="ja-JP" altLang="en-US" sz="2400"/>
                  <a:t>を入力し，</a:t>
                </a:r>
                <a:r>
                  <a:rPr lang="ja-JP" altLang="en-US" sz="2400">
                    <a:solidFill>
                      <a:srgbClr val="0070C0"/>
                    </a:solidFill>
                  </a:rPr>
                  <a:t>途中文に続く単語の予測確率</a:t>
                </a:r>
                <a:r>
                  <a:rPr lang="ja-JP" altLang="en-US" sz="2400"/>
                  <a:t>を最大化する問題</a:t>
                </a:r>
                <a:endParaRPr lang="en-US" altLang="ja-JP" sz="2400" dirty="0"/>
              </a:p>
              <a:p>
                <a:pPr marL="0" indent="0">
                  <a:buNone/>
                </a:pPr>
                <a:endParaRPr lang="en-US" altLang="ja-JP" sz="2400" dirty="0"/>
              </a:p>
              <a:p>
                <a:pPr marL="0" indent="0">
                  <a:buNone/>
                </a:pPr>
                <a:endParaRPr lang="en-US" altLang="ja-JP" sz="2400" dirty="0"/>
              </a:p>
              <a:p>
                <a:pPr marL="0" indent="0">
                  <a:buNone/>
                </a:pPr>
                <a:r>
                  <a:rPr lang="en-US" altLang="ja-JP" sz="2400" dirty="0"/>
                  <a:t>ex)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altLang="ja-JP" sz="240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ja-JP" sz="24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sSub>
                                <m:sSubPr>
                                  <m:ctrlP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b>
                                  <m:r>
                                    <a:rPr lang="en-US" altLang="ja-JP" sz="2400" b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𝛉</m:t>
                                  </m:r>
                                </m:sub>
                              </m:sSub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        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𝑝𝑎𝑑</m:t>
                              </m:r>
                              <m:d>
                                <m:dPr>
                                  <m:ctrlPr>
                                    <a:rPr lang="ja-JP" altLang="en-US" sz="24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ja-JP" altLang="en-US" sz="240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無人島</m:t>
                                  </m:r>
                                  <m:r>
                                    <a:rPr lang="en-US" altLang="ja-JP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ja-JP" alt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の</m:t>
                                  </m:r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ja-JP" sz="2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</m:d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b>
                              <m:r>
                                <a:rPr lang="ja-JP" altLang="en-US" sz="24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皆さん</m:t>
                              </m:r>
                            </m:sub>
                          </m:sSub>
                        </m:e>
                      </m:func>
                    </m:oMath>
                  </m:oMathPara>
                </a14:m>
                <a:endParaRPr lang="en-US" altLang="ja-JP" sz="2400" dirty="0"/>
              </a:p>
              <a:p>
                <a:pPr marL="0" indent="0">
                  <a:buNone/>
                </a:pPr>
                <a:endParaRPr lang="ja-JP" altLang="en-US" sz="240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1802C04-2A2F-A900-14CC-49E9328CE3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1" t="-16136" b="-45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AEE5CD8-0E10-A319-0C42-1EC1394CD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9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4A72D87-449C-5F3E-2623-5F9239CD7B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288" t="38179" r="53574" b="26043"/>
          <a:stretch>
            <a:fillRect/>
          </a:stretch>
        </p:blipFill>
        <p:spPr>
          <a:xfrm>
            <a:off x="4528178" y="5573634"/>
            <a:ext cx="558173" cy="803702"/>
          </a:xfrm>
          <a:prstGeom prst="rect">
            <a:avLst/>
          </a:prstGeom>
        </p:spPr>
      </p:pic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67ED318-48A7-B1D6-387A-E01CA53DEEFD}"/>
              </a:ext>
            </a:extLst>
          </p:cNvPr>
          <p:cNvSpPr/>
          <p:nvPr/>
        </p:nvSpPr>
        <p:spPr>
          <a:xfrm>
            <a:off x="5306787" y="1461407"/>
            <a:ext cx="4082142" cy="3918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24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8628534-178F-8CA0-FC2D-C3F820FE09B5}"/>
              </a:ext>
            </a:extLst>
          </p:cNvPr>
          <p:cNvSpPr/>
          <p:nvPr/>
        </p:nvSpPr>
        <p:spPr>
          <a:xfrm>
            <a:off x="4895851" y="1379764"/>
            <a:ext cx="5129891" cy="553871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24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8" name="角丸四角形吹き出し 7">
            <a:extLst>
              <a:ext uri="{FF2B5EF4-FFF2-40B4-BE49-F238E27FC236}">
                <a16:creationId xmlns:a16="http://schemas.microsoft.com/office/drawing/2014/main" id="{ADACE327-95E3-4086-2BAD-A952C046643B}"/>
              </a:ext>
            </a:extLst>
          </p:cNvPr>
          <p:cNvSpPr/>
          <p:nvPr/>
        </p:nvSpPr>
        <p:spPr>
          <a:xfrm>
            <a:off x="5910903" y="4710793"/>
            <a:ext cx="6155128" cy="862841"/>
          </a:xfrm>
          <a:prstGeom prst="wedgeRoundRectCallout">
            <a:avLst>
              <a:gd name="adj1" fmla="val -33258"/>
              <a:gd name="adj2" fmla="val 76155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データセットのパターンから，</a:t>
            </a:r>
            <a:endParaRPr kumimoji="1" lang="en-US" altLang="ja-JP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pPr algn="ctr"/>
            <a:r>
              <a:rPr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[</a:t>
            </a:r>
            <a:r>
              <a:rPr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無人島，の</a:t>
            </a:r>
            <a:r>
              <a:rPr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]</a:t>
            </a:r>
            <a:r>
              <a:rPr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に続くべきなのは「皆さん」</a:t>
            </a:r>
            <a:endParaRPr kumimoji="1" lang="ja-JP" altLang="en-US" sz="24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2046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9352D-F38E-F77A-FAB0-82FCDB830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885520A-7510-F595-3448-6234C330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Image2Text</a:t>
            </a:r>
            <a:r>
              <a:rPr lang="ja-JP" altLang="en-US"/>
              <a:t>モデルの推論</a:t>
            </a:r>
            <a:r>
              <a:rPr lang="en-US" altLang="ja-JP" dirty="0"/>
              <a:t>Ⅰ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D13AB8A-2A36-D159-9519-BFEFA765E6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/>
              <a:t>モデルが出力する確率分布から単語を選択する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252CF7F-F185-723B-A603-904A33439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10</a:t>
            </a:fld>
            <a:endParaRPr kumimoji="1" lang="ja-JP" altLang="en-US"/>
          </a:p>
        </p:txBody>
      </p:sp>
      <p:sp>
        <p:nvSpPr>
          <p:cNvPr id="14" name="フローチャート: 手作業 13">
            <a:extLst>
              <a:ext uri="{FF2B5EF4-FFF2-40B4-BE49-F238E27FC236}">
                <a16:creationId xmlns:a16="http://schemas.microsoft.com/office/drawing/2014/main" id="{D2F06AC1-A01F-A0E8-184D-6C0C5E65AE21}"/>
              </a:ext>
            </a:extLst>
          </p:cNvPr>
          <p:cNvSpPr/>
          <p:nvPr/>
        </p:nvSpPr>
        <p:spPr>
          <a:xfrm rot="16200000">
            <a:off x="3446671" y="1715413"/>
            <a:ext cx="1338348" cy="1338348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Image</a:t>
            </a:r>
          </a:p>
          <a:p>
            <a:pPr algn="ctr"/>
            <a:r>
              <a:rPr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Encoder</a:t>
            </a:r>
            <a:endParaRPr kumimoji="1" lang="ja-JP" altLang="en-US" sz="24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15" name="フローチャート: 手作業 14">
            <a:extLst>
              <a:ext uri="{FF2B5EF4-FFF2-40B4-BE49-F238E27FC236}">
                <a16:creationId xmlns:a16="http://schemas.microsoft.com/office/drawing/2014/main" id="{9A050F0A-AAE7-91F8-91E5-4A4C4159D6D3}"/>
              </a:ext>
            </a:extLst>
          </p:cNvPr>
          <p:cNvSpPr/>
          <p:nvPr/>
        </p:nvSpPr>
        <p:spPr>
          <a:xfrm rot="16200000">
            <a:off x="3446671" y="3219269"/>
            <a:ext cx="1338348" cy="1338348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Sentence</a:t>
            </a:r>
          </a:p>
          <a:p>
            <a:pPr algn="ctr"/>
            <a:r>
              <a:rPr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Encoder</a:t>
            </a:r>
            <a:endParaRPr kumimoji="1" lang="ja-JP" altLang="en-US" sz="24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pic>
        <p:nvPicPr>
          <p:cNvPr id="16" name="Picture 2">
            <a:extLst>
              <a:ext uri="{FF2B5EF4-FFF2-40B4-BE49-F238E27FC236}">
                <a16:creationId xmlns:a16="http://schemas.microsoft.com/office/drawing/2014/main" id="{12E55C53-B943-79F5-7079-4907A883E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973759" y="1269745"/>
            <a:ext cx="1525603" cy="221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F74B038E-BA12-651F-129B-168D0BF14DBC}"/>
                  </a:ext>
                </a:extLst>
              </p:cNvPr>
              <p:cNvSpPr txBox="1"/>
              <p:nvPr/>
            </p:nvSpPr>
            <p:spPr>
              <a:xfrm>
                <a:off x="409863" y="3647378"/>
                <a:ext cx="2653393" cy="4701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𝑝𝑎𝑑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(無人島,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𝐾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)</m:t>
                      </m:r>
                    </m:oMath>
                  </m:oMathPara>
                </a14:m>
                <a:endParaRPr kumimoji="1" lang="ja-JP" altLang="en-US" sz="240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F74B038E-BA12-651F-129B-168D0BF14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863" y="3647378"/>
                <a:ext cx="2653393" cy="470129"/>
              </a:xfrm>
              <a:prstGeom prst="rect">
                <a:avLst/>
              </a:prstGeom>
              <a:blipFill>
                <a:blip r:embed="rId3"/>
                <a:stretch>
                  <a:fillRect b="-2162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E1B894E5-3268-1C6D-8952-FFF70D49B391}"/>
              </a:ext>
            </a:extLst>
          </p:cNvPr>
          <p:cNvSpPr/>
          <p:nvPr/>
        </p:nvSpPr>
        <p:spPr>
          <a:xfrm>
            <a:off x="5261956" y="2808538"/>
            <a:ext cx="1668087" cy="673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Dense</a:t>
            </a:r>
            <a:endParaRPr kumimoji="1" lang="ja-JP" altLang="en-US" sz="24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30B70190-6D18-1FD5-395F-732F9BFC74C8}"/>
              </a:ext>
            </a:extLst>
          </p:cNvPr>
          <p:cNvCxnSpPr>
            <a:stCxn id="16" idx="3"/>
            <a:endCxn id="14" idx="0"/>
          </p:cNvCxnSpPr>
          <p:nvPr/>
        </p:nvCxnSpPr>
        <p:spPr>
          <a:xfrm>
            <a:off x="2499362" y="2375808"/>
            <a:ext cx="947309" cy="87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3AE9B396-7E72-1C69-DDCA-F1A87C0FA319}"/>
              </a:ext>
            </a:extLst>
          </p:cNvPr>
          <p:cNvCxnSpPr>
            <a:cxnSpLocks/>
            <a:stCxn id="17" idx="3"/>
            <a:endCxn id="15" idx="0"/>
          </p:cNvCxnSpPr>
          <p:nvPr/>
        </p:nvCxnSpPr>
        <p:spPr>
          <a:xfrm>
            <a:off x="3063256" y="3882443"/>
            <a:ext cx="383415" cy="60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6">
            <a:extLst>
              <a:ext uri="{FF2B5EF4-FFF2-40B4-BE49-F238E27FC236}">
                <a16:creationId xmlns:a16="http://schemas.microsoft.com/office/drawing/2014/main" id="{0C83FE9B-C9BF-699B-60F6-16719A933E84}"/>
              </a:ext>
            </a:extLst>
          </p:cNvPr>
          <p:cNvCxnSpPr>
            <a:cxnSpLocks/>
            <a:stCxn id="15" idx="2"/>
            <a:endCxn id="18" idx="1"/>
          </p:cNvCxnSpPr>
          <p:nvPr/>
        </p:nvCxnSpPr>
        <p:spPr>
          <a:xfrm flipV="1">
            <a:off x="4785019" y="3145204"/>
            <a:ext cx="476937" cy="74323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6">
            <a:extLst>
              <a:ext uri="{FF2B5EF4-FFF2-40B4-BE49-F238E27FC236}">
                <a16:creationId xmlns:a16="http://schemas.microsoft.com/office/drawing/2014/main" id="{3B4A02DC-C14D-4B51-6762-BEC88EE9D603}"/>
              </a:ext>
            </a:extLst>
          </p:cNvPr>
          <p:cNvCxnSpPr>
            <a:cxnSpLocks/>
            <a:stCxn id="14" idx="2"/>
            <a:endCxn id="18" idx="1"/>
          </p:cNvCxnSpPr>
          <p:nvPr/>
        </p:nvCxnSpPr>
        <p:spPr>
          <a:xfrm>
            <a:off x="4785019" y="2384587"/>
            <a:ext cx="476937" cy="76061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BD6EF00E-2994-9A6F-CE49-E45AD840915C}"/>
              </a:ext>
            </a:extLst>
          </p:cNvPr>
          <p:cNvCxnSpPr>
            <a:cxnSpLocks/>
            <a:stCxn id="18" idx="3"/>
            <a:endCxn id="41" idx="2"/>
          </p:cNvCxnSpPr>
          <p:nvPr/>
        </p:nvCxnSpPr>
        <p:spPr>
          <a:xfrm>
            <a:off x="6930043" y="3145204"/>
            <a:ext cx="84502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円/楕円 40">
            <a:extLst>
              <a:ext uri="{FF2B5EF4-FFF2-40B4-BE49-F238E27FC236}">
                <a16:creationId xmlns:a16="http://schemas.microsoft.com/office/drawing/2014/main" id="{08577D81-DFBD-A42C-40B5-948BD1DD0720}"/>
              </a:ext>
            </a:extLst>
          </p:cNvPr>
          <p:cNvSpPr/>
          <p:nvPr/>
        </p:nvSpPr>
        <p:spPr>
          <a:xfrm>
            <a:off x="7775067" y="2814550"/>
            <a:ext cx="661307" cy="66130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0.8</a:t>
            </a:r>
            <a:endParaRPr kumimoji="1" lang="ja-JP" altLang="en-US" sz="24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44" name="円/楕円 43">
            <a:extLst>
              <a:ext uri="{FF2B5EF4-FFF2-40B4-BE49-F238E27FC236}">
                <a16:creationId xmlns:a16="http://schemas.microsoft.com/office/drawing/2014/main" id="{5B67E0EE-C56F-D4BC-8F79-524B75A4828F}"/>
              </a:ext>
            </a:extLst>
          </p:cNvPr>
          <p:cNvSpPr/>
          <p:nvPr/>
        </p:nvSpPr>
        <p:spPr>
          <a:xfrm>
            <a:off x="7775067" y="1714499"/>
            <a:ext cx="661307" cy="66130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0.1</a:t>
            </a:r>
            <a:endParaRPr kumimoji="1" lang="ja-JP" altLang="en-US" sz="24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45" name="円/楕円 44">
            <a:extLst>
              <a:ext uri="{FF2B5EF4-FFF2-40B4-BE49-F238E27FC236}">
                <a16:creationId xmlns:a16="http://schemas.microsoft.com/office/drawing/2014/main" id="{97E94B5C-FC35-CBC0-65E9-9FDB558D33E8}"/>
              </a:ext>
            </a:extLst>
          </p:cNvPr>
          <p:cNvSpPr/>
          <p:nvPr/>
        </p:nvSpPr>
        <p:spPr>
          <a:xfrm>
            <a:off x="7775066" y="3914601"/>
            <a:ext cx="661307" cy="661307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0.1</a:t>
            </a:r>
            <a:endParaRPr kumimoji="1" lang="ja-JP" altLang="en-US" sz="24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099B50E6-ADF6-A1AD-CDF7-57E52BAF695F}"/>
              </a:ext>
            </a:extLst>
          </p:cNvPr>
          <p:cNvCxnSpPr>
            <a:cxnSpLocks/>
            <a:stCxn id="18" idx="3"/>
            <a:endCxn id="45" idx="2"/>
          </p:cNvCxnSpPr>
          <p:nvPr/>
        </p:nvCxnSpPr>
        <p:spPr>
          <a:xfrm>
            <a:off x="6930043" y="3145204"/>
            <a:ext cx="845023" cy="11000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E9FF28DB-EBC3-A0B9-6DF3-CC908186B1C9}"/>
              </a:ext>
            </a:extLst>
          </p:cNvPr>
          <p:cNvCxnSpPr>
            <a:cxnSpLocks/>
            <a:stCxn id="18" idx="3"/>
            <a:endCxn id="44" idx="2"/>
          </p:cNvCxnSpPr>
          <p:nvPr/>
        </p:nvCxnSpPr>
        <p:spPr>
          <a:xfrm flipV="1">
            <a:off x="6930043" y="2045153"/>
            <a:ext cx="845024" cy="11000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6B73618C-9B56-E0D7-2C3F-39E673A00726}"/>
              </a:ext>
            </a:extLst>
          </p:cNvPr>
          <p:cNvSpPr txBox="1"/>
          <p:nvPr/>
        </p:nvSpPr>
        <p:spPr>
          <a:xfrm>
            <a:off x="8794059" y="4014421"/>
            <a:ext cx="1272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>
                <a:latin typeface="BIZ UDGothic" panose="020B0400000000000000" pitchFamily="49" charset="-128"/>
                <a:ea typeface="BIZ UDGothic" panose="020B0400000000000000" pitchFamily="49" charset="-128"/>
              </a:rPr>
              <a:t>皆さん</a:t>
            </a:r>
            <a:endParaRPr kumimoji="1" lang="ja-JP" altLang="en-US" sz="240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BEC8688B-7AD8-B0AB-EF50-A152B8A44549}"/>
              </a:ext>
            </a:extLst>
          </p:cNvPr>
          <p:cNvSpPr txBox="1"/>
          <p:nvPr/>
        </p:nvSpPr>
        <p:spPr>
          <a:xfrm>
            <a:off x="8794059" y="2914368"/>
            <a:ext cx="1272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atin typeface="BIZ UDGothic" panose="020B0400000000000000" pitchFamily="49" charset="-128"/>
                <a:ea typeface="BIZ UDGothic" panose="020B0400000000000000" pitchFamily="49" charset="-128"/>
              </a:rPr>
              <a:t>の</a:t>
            </a:r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CDDFE717-9121-0AB6-6E73-9A940973863C}"/>
              </a:ext>
            </a:extLst>
          </p:cNvPr>
          <p:cNvSpPr txBox="1"/>
          <p:nvPr/>
        </p:nvSpPr>
        <p:spPr>
          <a:xfrm>
            <a:off x="8794058" y="1811391"/>
            <a:ext cx="1272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>
                <a:latin typeface="BIZ UDGothic" panose="020B0400000000000000" pitchFamily="49" charset="-128"/>
                <a:ea typeface="BIZ UDGothic" panose="020B0400000000000000" pitchFamily="49" charset="-128"/>
              </a:rPr>
              <a:t>無人島</a:t>
            </a:r>
            <a:endParaRPr kumimoji="1" lang="ja-JP" altLang="en-US" sz="240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60" name="角丸四角形 59">
            <a:extLst>
              <a:ext uri="{FF2B5EF4-FFF2-40B4-BE49-F238E27FC236}">
                <a16:creationId xmlns:a16="http://schemas.microsoft.com/office/drawing/2014/main" id="{311D42BD-9C58-2616-70AE-AB289188DAC9}"/>
              </a:ext>
            </a:extLst>
          </p:cNvPr>
          <p:cNvSpPr/>
          <p:nvPr/>
        </p:nvSpPr>
        <p:spPr>
          <a:xfrm>
            <a:off x="3629092" y="2042223"/>
            <a:ext cx="3108009" cy="2203030"/>
          </a:xfrm>
          <a:prstGeom prst="roundRect">
            <a:avLst/>
          </a:prstGeom>
          <a:solidFill>
            <a:schemeClr val="bg1">
              <a:alpha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任意の構造</a:t>
            </a:r>
            <a:endParaRPr kumimoji="1" lang="ja-JP" altLang="en-US" sz="24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5" name="コンテンツ プレースホルダー 2">
            <a:extLst>
              <a:ext uri="{FF2B5EF4-FFF2-40B4-BE49-F238E27FC236}">
                <a16:creationId xmlns:a16="http://schemas.microsoft.com/office/drawing/2014/main" id="{5978429B-498B-E1CE-3CF5-F8A117332215}"/>
              </a:ext>
            </a:extLst>
          </p:cNvPr>
          <p:cNvSpPr txBox="1">
            <a:spLocks/>
          </p:cNvSpPr>
          <p:nvPr/>
        </p:nvSpPr>
        <p:spPr>
          <a:xfrm>
            <a:off x="125969" y="4643060"/>
            <a:ext cx="5893831" cy="173427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>
                <a:solidFill>
                  <a:srgbClr val="FF0000"/>
                </a:solidFill>
              </a:rPr>
              <a:t>Greedy</a:t>
            </a:r>
            <a:r>
              <a:rPr lang="ja-JP" altLang="en-US">
                <a:solidFill>
                  <a:srgbClr val="FF0000"/>
                </a:solidFill>
              </a:rPr>
              <a:t>な選択</a:t>
            </a:r>
            <a:endParaRPr lang="en-US" altLang="ja-JP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ja-JP" altLang="en-US"/>
              <a:t>最大値を示す単語を選択</a:t>
            </a:r>
            <a:endParaRPr lang="en-US" altLang="ja-JP" dirty="0"/>
          </a:p>
          <a:p>
            <a:pPr marL="457200" lvl="1" indent="0">
              <a:buNone/>
            </a:pPr>
            <a:r>
              <a:rPr lang="ja-JP" altLang="en-US"/>
              <a:t>☺️適切な文になりやすい</a:t>
            </a:r>
            <a:endParaRPr lang="en-US" altLang="ja-JP" dirty="0"/>
          </a:p>
          <a:p>
            <a:pPr marL="457200" lvl="1" indent="0">
              <a:buNone/>
            </a:pPr>
            <a:r>
              <a:rPr lang="ja-JP" altLang="en-US"/>
              <a:t>😭必ず同じ文章になる</a:t>
            </a:r>
          </a:p>
        </p:txBody>
      </p:sp>
      <p:sp>
        <p:nvSpPr>
          <p:cNvPr id="6" name="コンテンツ プレースホルダー 3">
            <a:extLst>
              <a:ext uri="{FF2B5EF4-FFF2-40B4-BE49-F238E27FC236}">
                <a16:creationId xmlns:a16="http://schemas.microsoft.com/office/drawing/2014/main" id="{3948B841-4CD5-95C5-6750-ECCD91271F87}"/>
              </a:ext>
            </a:extLst>
          </p:cNvPr>
          <p:cNvSpPr txBox="1">
            <a:spLocks/>
          </p:cNvSpPr>
          <p:nvPr/>
        </p:nvSpPr>
        <p:spPr>
          <a:xfrm>
            <a:off x="6172199" y="4641593"/>
            <a:ext cx="5893831" cy="173574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ja-JP" altLang="en-US">
                <a:solidFill>
                  <a:srgbClr val="0070C0"/>
                </a:solidFill>
              </a:rPr>
              <a:t>ルーレット選択</a:t>
            </a:r>
            <a:endParaRPr lang="en-US" altLang="ja-JP" dirty="0">
              <a:solidFill>
                <a:srgbClr val="0070C0"/>
              </a:solidFill>
            </a:endParaRPr>
          </a:p>
          <a:p>
            <a:pPr marL="457200" lvl="1" indent="0">
              <a:buNone/>
            </a:pPr>
            <a:r>
              <a:rPr lang="ja-JP" altLang="en-US"/>
              <a:t>確率分布に基づきランダムに選択</a:t>
            </a:r>
            <a:endParaRPr lang="en-US" altLang="ja-JP" dirty="0"/>
          </a:p>
          <a:p>
            <a:pPr marL="457200" lvl="1" indent="0">
              <a:buNone/>
            </a:pPr>
            <a:r>
              <a:rPr lang="ja-JP" altLang="en-US"/>
              <a:t>☺️多様な文章が生成される</a:t>
            </a:r>
            <a:endParaRPr lang="en-US" altLang="ja-JP" dirty="0"/>
          </a:p>
          <a:p>
            <a:pPr marL="457200" lvl="1" indent="0">
              <a:buNone/>
            </a:pPr>
            <a:r>
              <a:rPr lang="ja-JP" altLang="en-US"/>
              <a:t>😭不適切な文章になりやすい</a:t>
            </a: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E4314AD-DFA8-25F1-9B7D-B77E9F289F95}"/>
              </a:ext>
            </a:extLst>
          </p:cNvPr>
          <p:cNvSpPr/>
          <p:nvPr/>
        </p:nvSpPr>
        <p:spPr>
          <a:xfrm>
            <a:off x="7658100" y="2740035"/>
            <a:ext cx="2408463" cy="8103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24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8CE174FF-9E35-43AE-9843-CF28FD668C48}"/>
              </a:ext>
            </a:extLst>
          </p:cNvPr>
          <p:cNvSpPr/>
          <p:nvPr/>
        </p:nvSpPr>
        <p:spPr>
          <a:xfrm>
            <a:off x="7658100" y="3845058"/>
            <a:ext cx="2408463" cy="810333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24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44987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391F9F-CD06-5F00-2820-2E81BEDFE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Image2Text</a:t>
            </a:r>
            <a:r>
              <a:rPr lang="ja-JP" altLang="en-US"/>
              <a:t>モデルの推論</a:t>
            </a:r>
            <a:r>
              <a:rPr lang="en-US" altLang="ja-JP" dirty="0"/>
              <a:t>Ⅱ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826C724-680E-57ED-0683-7C35976F1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/>
              <a:t>選択された単語を途中分の末尾に追加し，再度入力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0F92293-28DB-AC21-BC55-81C645D0F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11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C34DE12-8124-E908-330D-5E8D9CC501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288" t="38179" r="53574" b="26043"/>
          <a:stretch>
            <a:fillRect/>
          </a:stretch>
        </p:blipFill>
        <p:spPr>
          <a:xfrm>
            <a:off x="1468906" y="1383589"/>
            <a:ext cx="804935" cy="1159010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C0CD5E82-1B1D-0B60-2628-BA337207DF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61" b="90234" l="4102" r="90137">
                        <a14:foregroundMark x1="8496" y1="19010" x2="8301" y2="21680"/>
                        <a14:foregroundMark x1="6934" y1="70573" x2="4102" y2="70573"/>
                        <a14:foregroundMark x1="87598" y1="68294" x2="90137" y2="68880"/>
                        <a14:foregroundMark x1="42480" y1="89648" x2="40918" y2="89583"/>
                        <a14:foregroundMark x1="40430" y1="90234" x2="38770" y2="90169"/>
                        <a14:backgroundMark x1="65918" y1="86719" x2="60059" y2="8639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21607" y="1383589"/>
            <a:ext cx="1148786" cy="1723179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A7CD5A5-14AE-CD4F-6105-8DC698A8FB6B}"/>
              </a:ext>
            </a:extLst>
          </p:cNvPr>
          <p:cNvSpPr txBox="1"/>
          <p:nvPr/>
        </p:nvSpPr>
        <p:spPr>
          <a:xfrm>
            <a:off x="1007712" y="2573986"/>
            <a:ext cx="1727324" cy="465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atin typeface="BIZ UDGothic" panose="020B0400000000000000" pitchFamily="49" charset="-128"/>
                <a:ea typeface="BIZ UDGothic" panose="020B0400000000000000" pitchFamily="49" charset="-128"/>
              </a:rPr>
              <a:t>無人島</a:t>
            </a:r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CD2DAE34-C291-7372-A4D3-08CD3F5E41A8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2273841" y="1963094"/>
            <a:ext cx="3247766" cy="28208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2">
            <a:extLst>
              <a:ext uri="{FF2B5EF4-FFF2-40B4-BE49-F238E27FC236}">
                <a16:creationId xmlns:a16="http://schemas.microsoft.com/office/drawing/2014/main" id="{FEE7263A-480C-8D38-D2E7-39C469FB2D16}"/>
              </a:ext>
            </a:extLst>
          </p:cNvPr>
          <p:cNvCxnSpPr>
            <a:cxnSpLocks/>
            <a:stCxn id="7" idx="3"/>
            <a:endCxn id="6" idx="1"/>
          </p:cNvCxnSpPr>
          <p:nvPr/>
        </p:nvCxnSpPr>
        <p:spPr>
          <a:xfrm flipV="1">
            <a:off x="2735036" y="2245179"/>
            <a:ext cx="2786571" cy="561489"/>
          </a:xfrm>
          <a:prstGeom prst="bentConnector3">
            <a:avLst>
              <a:gd name="adj1" fmla="val 4179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図 27">
            <a:extLst>
              <a:ext uri="{FF2B5EF4-FFF2-40B4-BE49-F238E27FC236}">
                <a16:creationId xmlns:a16="http://schemas.microsoft.com/office/drawing/2014/main" id="{BB67146E-C9BE-1755-0FDB-3CD159C91E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288" t="38179" r="53574" b="26043"/>
          <a:stretch>
            <a:fillRect/>
          </a:stretch>
        </p:blipFill>
        <p:spPr>
          <a:xfrm>
            <a:off x="1468906" y="3429000"/>
            <a:ext cx="804935" cy="1159010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102AAAE6-D4C2-E5DF-D88A-EDF52AD65C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61" b="90234" l="4102" r="90137">
                        <a14:foregroundMark x1="8496" y1="19010" x2="8301" y2="21680"/>
                        <a14:foregroundMark x1="6934" y1="70573" x2="4102" y2="70573"/>
                        <a14:foregroundMark x1="87598" y1="68294" x2="90137" y2="68880"/>
                        <a14:foregroundMark x1="42480" y1="89648" x2="40918" y2="89583"/>
                        <a14:foregroundMark x1="40430" y1="90234" x2="38770" y2="90169"/>
                        <a14:backgroundMark x1="65918" y1="86719" x2="60059" y2="8639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21607" y="3429000"/>
            <a:ext cx="1148786" cy="1723179"/>
          </a:xfrm>
          <a:prstGeom prst="rect">
            <a:avLst/>
          </a:prstGeom>
        </p:spPr>
      </p:pic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D8E8ED6-9BDD-5082-8BA5-E8C7F3426758}"/>
              </a:ext>
            </a:extLst>
          </p:cNvPr>
          <p:cNvSpPr txBox="1"/>
          <p:nvPr/>
        </p:nvSpPr>
        <p:spPr>
          <a:xfrm>
            <a:off x="897493" y="4588010"/>
            <a:ext cx="1947760" cy="465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atin typeface="BIZ UDGothic" panose="020B0400000000000000" pitchFamily="49" charset="-128"/>
                <a:ea typeface="BIZ UDGothic" panose="020B0400000000000000" pitchFamily="49" charset="-128"/>
              </a:rPr>
              <a:t>無人島，</a:t>
            </a:r>
            <a:r>
              <a:rPr kumimoji="1" lang="ja-JP" altLang="en-US" sz="2400">
                <a:solidFill>
                  <a:srgbClr val="FF0000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の</a:t>
            </a:r>
          </a:p>
        </p:txBody>
      </p:sp>
      <p:cxnSp>
        <p:nvCxnSpPr>
          <p:cNvPr id="31" name="直線矢印コネクタ 22">
            <a:extLst>
              <a:ext uri="{FF2B5EF4-FFF2-40B4-BE49-F238E27FC236}">
                <a16:creationId xmlns:a16="http://schemas.microsoft.com/office/drawing/2014/main" id="{A6F6F620-C9F6-922C-EF81-C97932F73DB4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>
            <a:off x="2273841" y="4008505"/>
            <a:ext cx="3247766" cy="28208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矢印コネクタ 22">
            <a:extLst>
              <a:ext uri="{FF2B5EF4-FFF2-40B4-BE49-F238E27FC236}">
                <a16:creationId xmlns:a16="http://schemas.microsoft.com/office/drawing/2014/main" id="{563DEC33-4B6E-7209-06E5-919D8B3A4609}"/>
              </a:ext>
            </a:extLst>
          </p:cNvPr>
          <p:cNvCxnSpPr>
            <a:cxnSpLocks/>
            <a:stCxn id="30" idx="3"/>
            <a:endCxn id="29" idx="1"/>
          </p:cNvCxnSpPr>
          <p:nvPr/>
        </p:nvCxnSpPr>
        <p:spPr>
          <a:xfrm flipV="1">
            <a:off x="2845253" y="4290590"/>
            <a:ext cx="2676354" cy="530102"/>
          </a:xfrm>
          <a:prstGeom prst="bentConnector3">
            <a:avLst>
              <a:gd name="adj1" fmla="val 3932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C47D957E-BEFC-88B6-CC37-3489CBCF3D51}"/>
              </a:ext>
            </a:extLst>
          </p:cNvPr>
          <p:cNvSpPr txBox="1"/>
          <p:nvPr/>
        </p:nvSpPr>
        <p:spPr>
          <a:xfrm>
            <a:off x="8504550" y="2012496"/>
            <a:ext cx="1727324" cy="465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atin typeface="BIZ UDGothic" panose="020B0400000000000000" pitchFamily="49" charset="-128"/>
                <a:ea typeface="BIZ UDGothic" panose="020B0400000000000000" pitchFamily="49" charset="-128"/>
              </a:rPr>
              <a:t>の</a:t>
            </a:r>
          </a:p>
        </p:txBody>
      </p:sp>
      <p:cxnSp>
        <p:nvCxnSpPr>
          <p:cNvPr id="39" name="直線矢印コネクタ 22">
            <a:extLst>
              <a:ext uri="{FF2B5EF4-FFF2-40B4-BE49-F238E27FC236}">
                <a16:creationId xmlns:a16="http://schemas.microsoft.com/office/drawing/2014/main" id="{4B3419D7-0E75-3D10-7E2D-3002B42E566A}"/>
              </a:ext>
            </a:extLst>
          </p:cNvPr>
          <p:cNvCxnSpPr>
            <a:cxnSpLocks/>
            <a:stCxn id="6" idx="3"/>
            <a:endCxn id="38" idx="1"/>
          </p:cNvCxnSpPr>
          <p:nvPr/>
        </p:nvCxnSpPr>
        <p:spPr>
          <a:xfrm flipV="1">
            <a:off x="6670393" y="2245178"/>
            <a:ext cx="1834157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970D9CDB-01A1-1699-DDBA-EB874CEC8F54}"/>
              </a:ext>
            </a:extLst>
          </p:cNvPr>
          <p:cNvSpPr txBox="1"/>
          <p:nvPr/>
        </p:nvSpPr>
        <p:spPr>
          <a:xfrm>
            <a:off x="8483085" y="4057907"/>
            <a:ext cx="1727324" cy="4653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atin typeface="BIZ UDGothic" panose="020B0400000000000000" pitchFamily="49" charset="-128"/>
                <a:ea typeface="BIZ UDGothic" panose="020B0400000000000000" pitchFamily="49" charset="-128"/>
              </a:rPr>
              <a:t>皆さん</a:t>
            </a:r>
          </a:p>
        </p:txBody>
      </p:sp>
      <p:cxnSp>
        <p:nvCxnSpPr>
          <p:cNvPr id="43" name="直線矢印コネクタ 22">
            <a:extLst>
              <a:ext uri="{FF2B5EF4-FFF2-40B4-BE49-F238E27FC236}">
                <a16:creationId xmlns:a16="http://schemas.microsoft.com/office/drawing/2014/main" id="{A2B43F02-CE0D-68CD-11B6-A81BEBC34D69}"/>
              </a:ext>
            </a:extLst>
          </p:cNvPr>
          <p:cNvCxnSpPr>
            <a:cxnSpLocks/>
            <a:stCxn id="29" idx="3"/>
            <a:endCxn id="42" idx="1"/>
          </p:cNvCxnSpPr>
          <p:nvPr/>
        </p:nvCxnSpPr>
        <p:spPr>
          <a:xfrm flipV="1">
            <a:off x="6670393" y="4290589"/>
            <a:ext cx="181269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22">
            <a:extLst>
              <a:ext uri="{FF2B5EF4-FFF2-40B4-BE49-F238E27FC236}">
                <a16:creationId xmlns:a16="http://schemas.microsoft.com/office/drawing/2014/main" id="{1F3FF4B2-6B51-9D56-C971-6E1F6EDB5E7F}"/>
              </a:ext>
            </a:extLst>
          </p:cNvPr>
          <p:cNvCxnSpPr>
            <a:cxnSpLocks/>
            <a:stCxn id="38" idx="2"/>
            <a:endCxn id="30" idx="1"/>
          </p:cNvCxnSpPr>
          <p:nvPr/>
        </p:nvCxnSpPr>
        <p:spPr>
          <a:xfrm rot="5400000">
            <a:off x="3961437" y="-586083"/>
            <a:ext cx="2342832" cy="8470719"/>
          </a:xfrm>
          <a:prstGeom prst="bentConnector4">
            <a:avLst>
              <a:gd name="adj1" fmla="val 31443"/>
              <a:gd name="adj2" fmla="val 102699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" name="図 49">
            <a:extLst>
              <a:ext uri="{FF2B5EF4-FFF2-40B4-BE49-F238E27FC236}">
                <a16:creationId xmlns:a16="http://schemas.microsoft.com/office/drawing/2014/main" id="{BB2BB36C-110D-D706-AAEA-AD5E46940E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288" t="38179" r="53574" b="26043"/>
          <a:stretch>
            <a:fillRect/>
          </a:stretch>
        </p:blipFill>
        <p:spPr>
          <a:xfrm>
            <a:off x="1468906" y="5210343"/>
            <a:ext cx="804935" cy="1159010"/>
          </a:xfrm>
          <a:prstGeom prst="rect">
            <a:avLst/>
          </a:prstGeom>
        </p:spPr>
      </p:pic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E955191D-15CC-0152-BB54-D4820707232C}"/>
              </a:ext>
            </a:extLst>
          </p:cNvPr>
          <p:cNvSpPr txBox="1"/>
          <p:nvPr/>
        </p:nvSpPr>
        <p:spPr>
          <a:xfrm>
            <a:off x="344362" y="6369352"/>
            <a:ext cx="3054021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atin typeface="BIZ UDGothic" panose="020B0400000000000000" pitchFamily="49" charset="-128"/>
                <a:ea typeface="BIZ UDGothic" panose="020B0400000000000000" pitchFamily="49" charset="-128"/>
              </a:rPr>
              <a:t>無人島，の，</a:t>
            </a:r>
            <a:r>
              <a:rPr kumimoji="1" lang="ja-JP" altLang="en-US" sz="2400">
                <a:solidFill>
                  <a:srgbClr val="FF0000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皆さん</a:t>
            </a:r>
          </a:p>
        </p:txBody>
      </p:sp>
      <p:cxnSp>
        <p:nvCxnSpPr>
          <p:cNvPr id="52" name="直線矢印コネクタ 22">
            <a:extLst>
              <a:ext uri="{FF2B5EF4-FFF2-40B4-BE49-F238E27FC236}">
                <a16:creationId xmlns:a16="http://schemas.microsoft.com/office/drawing/2014/main" id="{A4DD1EE9-D9DF-D4EA-3531-906F84F6CF7F}"/>
              </a:ext>
            </a:extLst>
          </p:cNvPr>
          <p:cNvCxnSpPr>
            <a:cxnSpLocks/>
            <a:stCxn id="42" idx="2"/>
            <a:endCxn id="51" idx="1"/>
          </p:cNvCxnSpPr>
          <p:nvPr/>
        </p:nvCxnSpPr>
        <p:spPr>
          <a:xfrm rot="5400000">
            <a:off x="3807098" y="1060536"/>
            <a:ext cx="2076914" cy="9002385"/>
          </a:xfrm>
          <a:prstGeom prst="bentConnector4">
            <a:avLst>
              <a:gd name="adj1" fmla="val 29112"/>
              <a:gd name="adj2" fmla="val 101451"/>
            </a:avLst>
          </a:prstGeom>
          <a:ln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角丸四角形吹き出し 56">
            <a:extLst>
              <a:ext uri="{FF2B5EF4-FFF2-40B4-BE49-F238E27FC236}">
                <a16:creationId xmlns:a16="http://schemas.microsoft.com/office/drawing/2014/main" id="{7360FFC2-F5DB-91D4-912B-E4E135046159}"/>
              </a:ext>
            </a:extLst>
          </p:cNvPr>
          <p:cNvSpPr/>
          <p:nvPr/>
        </p:nvSpPr>
        <p:spPr>
          <a:xfrm>
            <a:off x="2856732" y="5296181"/>
            <a:ext cx="2939953" cy="956660"/>
          </a:xfrm>
          <a:prstGeom prst="wedgeRoundRectCallout">
            <a:avLst>
              <a:gd name="adj1" fmla="val -33125"/>
              <a:gd name="adj2" fmla="val 73108"/>
              <a:gd name="adj3" fmla="val 166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完全文が得られた</a:t>
            </a:r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806531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3B7C89-A7EC-0475-4758-959533BC9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従来の大喜利生成</a:t>
            </a:r>
            <a:r>
              <a:rPr kumimoji="1" lang="en-US" altLang="ja-JP" dirty="0"/>
              <a:t>AI</a:t>
            </a:r>
            <a:r>
              <a:rPr kumimoji="1" lang="ja-JP" altLang="en-US" dirty="0"/>
              <a:t>の問題点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859D175-C2B9-900D-6CBB-B18A35E05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b="1" dirty="0"/>
              <a:t>LSTM</a:t>
            </a:r>
            <a:r>
              <a:rPr kumimoji="1" lang="ja-JP" altLang="en-US" b="1"/>
              <a:t>は長期の時系列データに対する性能が低い</a:t>
            </a:r>
            <a:endParaRPr kumimoji="1" lang="en-US" altLang="ja-JP" b="1" dirty="0"/>
          </a:p>
          <a:p>
            <a:r>
              <a:rPr lang="ja-JP" altLang="en-US"/>
              <a:t>画像の特徴抽出と文章の特徴抽出が独立している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C020372-19A4-6FEB-5914-5AAAAD345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12</a:t>
            </a:fld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000FD92-8B34-6265-AAE3-0C862AA26A9F}"/>
              </a:ext>
            </a:extLst>
          </p:cNvPr>
          <p:cNvSpPr/>
          <p:nvPr/>
        </p:nvSpPr>
        <p:spPr>
          <a:xfrm>
            <a:off x="392669" y="3852631"/>
            <a:ext cx="184785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LSTM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69FBDD5-57B4-3A98-092F-296160767880}"/>
              </a:ext>
            </a:extLst>
          </p:cNvPr>
          <p:cNvSpPr/>
          <p:nvPr/>
        </p:nvSpPr>
        <p:spPr>
          <a:xfrm>
            <a:off x="2783444" y="3851220"/>
            <a:ext cx="184785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LSTM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84F44C66-C3A6-FEBA-5B1B-59D70140FD4A}"/>
              </a:ext>
            </a:extLst>
          </p:cNvPr>
          <p:cNvSpPr/>
          <p:nvPr/>
        </p:nvSpPr>
        <p:spPr>
          <a:xfrm>
            <a:off x="5174219" y="3851220"/>
            <a:ext cx="184785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LSTM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79EF81F-2C8D-B0C6-C993-91FC9974C950}"/>
              </a:ext>
            </a:extLst>
          </p:cNvPr>
          <p:cNvSpPr/>
          <p:nvPr/>
        </p:nvSpPr>
        <p:spPr>
          <a:xfrm>
            <a:off x="8593694" y="3857923"/>
            <a:ext cx="1847850" cy="609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LSTM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E736B08-28E0-6387-9434-9042D35A4851}"/>
              </a:ext>
            </a:extLst>
          </p:cNvPr>
          <p:cNvSpPr txBox="1"/>
          <p:nvPr/>
        </p:nvSpPr>
        <p:spPr>
          <a:xfrm>
            <a:off x="1008820" y="6008004"/>
            <a:ext cx="61555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ja-JP" altLang="en-US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米国</a:t>
            </a:r>
          </a:p>
        </p:txBody>
      </p: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B154760A-F6D0-A446-EB34-EA971EEDB991}"/>
              </a:ext>
            </a:extLst>
          </p:cNvPr>
          <p:cNvCxnSpPr>
            <a:stCxn id="10" idx="0"/>
            <a:endCxn id="5" idx="2"/>
          </p:cNvCxnSpPr>
          <p:nvPr/>
        </p:nvCxnSpPr>
        <p:spPr>
          <a:xfrm flipH="1" flipV="1">
            <a:off x="1316594" y="4462231"/>
            <a:ext cx="3" cy="15457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21">
            <a:extLst>
              <a:ext uri="{FF2B5EF4-FFF2-40B4-BE49-F238E27FC236}">
                <a16:creationId xmlns:a16="http://schemas.microsoft.com/office/drawing/2014/main" id="{064704CA-1C9B-B51A-FA13-5E0A2B94DD6D}"/>
              </a:ext>
            </a:extLst>
          </p:cNvPr>
          <p:cNvCxnSpPr>
            <a:cxnSpLocks/>
            <a:stCxn id="5" idx="0"/>
            <a:endCxn id="6" idx="1"/>
          </p:cNvCxnSpPr>
          <p:nvPr/>
        </p:nvCxnSpPr>
        <p:spPr>
          <a:xfrm rot="16200000" flipH="1">
            <a:off x="1898324" y="3270900"/>
            <a:ext cx="303389" cy="1466850"/>
          </a:xfrm>
          <a:prstGeom prst="bentConnector4">
            <a:avLst>
              <a:gd name="adj1" fmla="val -75349"/>
              <a:gd name="adj2" fmla="val 8149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654BB064-19D0-C0FC-021A-FFA4FC9D1D39}"/>
                  </a:ext>
                </a:extLst>
              </p:cNvPr>
              <p:cNvSpPr txBox="1"/>
              <p:nvPr/>
            </p:nvSpPr>
            <p:spPr>
              <a:xfrm>
                <a:off x="3473299" y="6008004"/>
                <a:ext cx="46814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ja-JP" altLang="en-US" sz="2400" i="1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の</m:t>
                      </m:r>
                    </m:oMath>
                  </m:oMathPara>
                </a14:m>
                <a:endParaRPr kumimoji="1" lang="ja-JP" altLang="en-US" sz="2400" dirty="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654BB064-19D0-C0FC-021A-FFA4FC9D1D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3299" y="6008004"/>
                <a:ext cx="468140" cy="369332"/>
              </a:xfrm>
              <a:prstGeom prst="rect">
                <a:avLst/>
              </a:prstGeom>
              <a:blipFill>
                <a:blip r:embed="rId2"/>
                <a:stretch>
                  <a:fillRect l="-25974" b="-18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A6522D99-359B-4731-9C3A-14CB50B7A726}"/>
              </a:ext>
            </a:extLst>
          </p:cNvPr>
          <p:cNvCxnSpPr>
            <a:cxnSpLocks/>
            <a:stCxn id="15" idx="0"/>
            <a:endCxn id="6" idx="2"/>
          </p:cNvCxnSpPr>
          <p:nvPr/>
        </p:nvCxnSpPr>
        <p:spPr>
          <a:xfrm flipV="1">
            <a:off x="3707369" y="4460820"/>
            <a:ext cx="0" cy="15471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21">
            <a:extLst>
              <a:ext uri="{FF2B5EF4-FFF2-40B4-BE49-F238E27FC236}">
                <a16:creationId xmlns:a16="http://schemas.microsoft.com/office/drawing/2014/main" id="{68D76F57-C3D0-B438-D988-B5B11DBBB87A}"/>
              </a:ext>
            </a:extLst>
          </p:cNvPr>
          <p:cNvCxnSpPr>
            <a:cxnSpLocks/>
            <a:stCxn id="6" idx="0"/>
            <a:endCxn id="7" idx="1"/>
          </p:cNvCxnSpPr>
          <p:nvPr/>
        </p:nvCxnSpPr>
        <p:spPr>
          <a:xfrm rot="16200000" flipH="1">
            <a:off x="4288394" y="3270195"/>
            <a:ext cx="304800" cy="1466850"/>
          </a:xfrm>
          <a:prstGeom prst="bentConnector4">
            <a:avLst>
              <a:gd name="adj1" fmla="val -75000"/>
              <a:gd name="adj2" fmla="val 8149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DC77A830-4B3D-9BEF-002F-DA90F8AFF755}"/>
                  </a:ext>
                </a:extLst>
              </p:cNvPr>
              <p:cNvSpPr txBox="1"/>
              <p:nvPr/>
            </p:nvSpPr>
            <p:spPr>
              <a:xfrm>
                <a:off x="5403504" y="6008004"/>
                <a:ext cx="1384995" cy="3821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ja-JP" altLang="en-US" sz="2400" i="1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三途の川</m:t>
                      </m:r>
                    </m:oMath>
                  </m:oMathPara>
                </a14:m>
                <a:endParaRPr kumimoji="1" lang="ja-JP" altLang="en-US" sz="2400" dirty="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DC77A830-4B3D-9BEF-002F-DA90F8AFF7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3504" y="6008004"/>
                <a:ext cx="1384995" cy="3821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75D92B03-6AAC-BC46-0362-73ACF4BAA36C}"/>
                  </a:ext>
                </a:extLst>
              </p:cNvPr>
              <p:cNvSpPr txBox="1"/>
              <p:nvPr/>
            </p:nvSpPr>
            <p:spPr>
              <a:xfrm>
                <a:off x="9286786" y="6008004"/>
                <a:ext cx="461665" cy="37600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ja-JP" altLang="en-US" sz="2400" i="1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が</m:t>
                      </m:r>
                    </m:oMath>
                  </m:oMathPara>
                </a14:m>
                <a:endParaRPr kumimoji="1" lang="ja-JP" altLang="en-US" sz="2400" dirty="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75D92B03-6AAC-BC46-0362-73ACF4BAA3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6786" y="6008004"/>
                <a:ext cx="461665" cy="3760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47DD4305-5F07-185E-B42A-1DFAD2BA5C2D}"/>
              </a:ext>
            </a:extLst>
          </p:cNvPr>
          <p:cNvCxnSpPr>
            <a:cxnSpLocks/>
            <a:stCxn id="20" idx="0"/>
            <a:endCxn id="7" idx="2"/>
          </p:cNvCxnSpPr>
          <p:nvPr/>
        </p:nvCxnSpPr>
        <p:spPr>
          <a:xfrm flipV="1">
            <a:off x="6096002" y="4460820"/>
            <a:ext cx="2142" cy="15471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5CF81E94-EF18-CF55-DAAB-F43ADC6181FB}"/>
              </a:ext>
            </a:extLst>
          </p:cNvPr>
          <p:cNvCxnSpPr>
            <a:cxnSpLocks/>
            <a:stCxn id="21" idx="0"/>
            <a:endCxn id="8" idx="2"/>
          </p:cNvCxnSpPr>
          <p:nvPr/>
        </p:nvCxnSpPr>
        <p:spPr>
          <a:xfrm flipV="1">
            <a:off x="9517619" y="4467523"/>
            <a:ext cx="0" cy="154048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028D8753-DBCA-E172-2879-39D659B42FE4}"/>
              </a:ext>
            </a:extLst>
          </p:cNvPr>
          <p:cNvSpPr txBox="1"/>
          <p:nvPr/>
        </p:nvSpPr>
        <p:spPr>
          <a:xfrm>
            <a:off x="9209842" y="1934704"/>
            <a:ext cx="61555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ja-JP" altLang="en-US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陽気</a:t>
            </a:r>
          </a:p>
        </p:txBody>
      </p:sp>
      <p:cxnSp>
        <p:nvCxnSpPr>
          <p:cNvPr id="30" name="直線矢印コネクタ 29">
            <a:extLst>
              <a:ext uri="{FF2B5EF4-FFF2-40B4-BE49-F238E27FC236}">
                <a16:creationId xmlns:a16="http://schemas.microsoft.com/office/drawing/2014/main" id="{BC5EA4EA-3546-8D6A-741C-80FCD851005D}"/>
              </a:ext>
            </a:extLst>
          </p:cNvPr>
          <p:cNvCxnSpPr>
            <a:cxnSpLocks/>
            <a:stCxn id="8" idx="0"/>
            <a:endCxn id="27" idx="2"/>
          </p:cNvCxnSpPr>
          <p:nvPr/>
        </p:nvCxnSpPr>
        <p:spPr>
          <a:xfrm flipV="1">
            <a:off x="9517619" y="2304036"/>
            <a:ext cx="0" cy="15538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矢印コネクタ 21">
            <a:extLst>
              <a:ext uri="{FF2B5EF4-FFF2-40B4-BE49-F238E27FC236}">
                <a16:creationId xmlns:a16="http://schemas.microsoft.com/office/drawing/2014/main" id="{310F0E36-97EC-0B1D-BB4D-7F6F348A76EE}"/>
              </a:ext>
            </a:extLst>
          </p:cNvPr>
          <p:cNvCxnSpPr>
            <a:cxnSpLocks/>
            <a:stCxn id="7" idx="0"/>
            <a:endCxn id="8" idx="1"/>
          </p:cNvCxnSpPr>
          <p:nvPr/>
        </p:nvCxnSpPr>
        <p:spPr>
          <a:xfrm rot="16200000" flipH="1">
            <a:off x="7190167" y="2759196"/>
            <a:ext cx="311503" cy="2495550"/>
          </a:xfrm>
          <a:prstGeom prst="bentConnector4">
            <a:avLst>
              <a:gd name="adj1" fmla="val -73386"/>
              <a:gd name="adj2" fmla="val 6851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吹き出し: 四角形 33">
            <a:extLst>
              <a:ext uri="{FF2B5EF4-FFF2-40B4-BE49-F238E27FC236}">
                <a16:creationId xmlns:a16="http://schemas.microsoft.com/office/drawing/2014/main" id="{D42B1131-5028-106C-AD8E-12C5EE446146}"/>
              </a:ext>
            </a:extLst>
          </p:cNvPr>
          <p:cNvSpPr/>
          <p:nvPr/>
        </p:nvSpPr>
        <p:spPr>
          <a:xfrm>
            <a:off x="1316593" y="2480685"/>
            <a:ext cx="1145826" cy="814381"/>
          </a:xfrm>
          <a:prstGeom prst="wedgeRectCallout">
            <a:avLst>
              <a:gd name="adj1" fmla="val -48792"/>
              <a:gd name="adj2" fmla="val 81616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[</a:t>
            </a:r>
            <a:r>
              <a:rPr kumimoji="1"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米国</a:t>
            </a:r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]</a:t>
            </a:r>
          </a:p>
          <a:p>
            <a:pPr algn="ctr"/>
            <a:r>
              <a:rPr kumimoji="1"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の情報</a:t>
            </a:r>
          </a:p>
        </p:txBody>
      </p:sp>
      <p:sp>
        <p:nvSpPr>
          <p:cNvPr id="35" name="吹き出し: 四角形 34">
            <a:extLst>
              <a:ext uri="{FF2B5EF4-FFF2-40B4-BE49-F238E27FC236}">
                <a16:creationId xmlns:a16="http://schemas.microsoft.com/office/drawing/2014/main" id="{90D6CCDC-4ED9-0C2F-4BA8-32ECD38DA7D6}"/>
              </a:ext>
            </a:extLst>
          </p:cNvPr>
          <p:cNvSpPr/>
          <p:nvPr/>
        </p:nvSpPr>
        <p:spPr>
          <a:xfrm>
            <a:off x="3706645" y="2477247"/>
            <a:ext cx="1679953" cy="814381"/>
          </a:xfrm>
          <a:prstGeom prst="wedgeRectCallout">
            <a:avLst>
              <a:gd name="adj1" fmla="val -48792"/>
              <a:gd name="adj2" fmla="val 81616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[</a:t>
            </a:r>
            <a:r>
              <a:rPr kumimoji="1" lang="ja-JP" altLang="en-US" sz="2400" dirty="0">
                <a:solidFill>
                  <a:schemeClr val="bg1">
                    <a:lumMod val="50000"/>
                  </a:schemeClr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米国</a:t>
            </a:r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,</a:t>
            </a:r>
            <a:r>
              <a:rPr kumimoji="1"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の</a:t>
            </a:r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]</a:t>
            </a:r>
          </a:p>
          <a:p>
            <a:pPr algn="ctr"/>
            <a:r>
              <a:rPr kumimoji="1"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の情報</a:t>
            </a:r>
          </a:p>
        </p:txBody>
      </p:sp>
      <p:sp>
        <p:nvSpPr>
          <p:cNvPr id="36" name="吹き出し: 四角形 35">
            <a:extLst>
              <a:ext uri="{FF2B5EF4-FFF2-40B4-BE49-F238E27FC236}">
                <a16:creationId xmlns:a16="http://schemas.microsoft.com/office/drawing/2014/main" id="{D2CE6359-655A-472F-6BDD-0145D51E0920}"/>
              </a:ext>
            </a:extLst>
          </p:cNvPr>
          <p:cNvSpPr/>
          <p:nvPr/>
        </p:nvSpPr>
        <p:spPr>
          <a:xfrm>
            <a:off x="6096000" y="2477247"/>
            <a:ext cx="2871273" cy="814381"/>
          </a:xfrm>
          <a:prstGeom prst="wedgeRectCallout">
            <a:avLst>
              <a:gd name="adj1" fmla="val -48792"/>
              <a:gd name="adj2" fmla="val 81616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[</a:t>
            </a:r>
            <a:r>
              <a:rPr kumimoji="1" lang="ja-JP" altLang="en-US" sz="2400" dirty="0">
                <a:solidFill>
                  <a:schemeClr val="bg1">
                    <a:lumMod val="85000"/>
                  </a:schemeClr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米国</a:t>
            </a:r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,</a:t>
            </a:r>
            <a:r>
              <a:rPr kumimoji="1" lang="ja-JP" altLang="en-US" sz="2400" dirty="0">
                <a:solidFill>
                  <a:schemeClr val="bg1">
                    <a:lumMod val="50000"/>
                  </a:schemeClr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の</a:t>
            </a:r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,</a:t>
            </a:r>
            <a:r>
              <a:rPr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三途の川</a:t>
            </a:r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]</a:t>
            </a:r>
          </a:p>
          <a:p>
            <a:pPr algn="ctr"/>
            <a:r>
              <a:rPr kumimoji="1"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の情報</a:t>
            </a:r>
          </a:p>
        </p:txBody>
      </p:sp>
    </p:spTree>
    <p:extLst>
      <p:ext uri="{BB962C8B-B14F-4D97-AF65-F5344CB8AC3E}">
        <p14:creationId xmlns:p14="http://schemas.microsoft.com/office/powerpoint/2010/main" val="4004276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D032075-8486-67C9-C28D-2DBCE3297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従来の大喜利生成</a:t>
            </a:r>
            <a:r>
              <a:rPr kumimoji="1" lang="en-US" altLang="ja-JP" dirty="0"/>
              <a:t>AI</a:t>
            </a:r>
            <a:r>
              <a:rPr kumimoji="1" lang="ja-JP" altLang="en-US" dirty="0"/>
              <a:t>の問題点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90B527D-1D74-A83E-42A2-0354C79F22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/>
              <a:t>LSTM</a:t>
            </a:r>
            <a:r>
              <a:rPr kumimoji="1" lang="ja-JP" altLang="en-US"/>
              <a:t>は長期の時系列データに対する性能が低い</a:t>
            </a:r>
            <a:endParaRPr kumimoji="1" lang="en-US" altLang="ja-JP" dirty="0"/>
          </a:p>
          <a:p>
            <a:r>
              <a:rPr lang="ja-JP" altLang="en-US" b="1"/>
              <a:t>画像の特徴抽出と文章の特徴抽出が独立している</a:t>
            </a:r>
            <a:endParaRPr kumimoji="1" lang="ja-JP" altLang="en-US" b="1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90C2CAE0-DF30-3901-55CE-4D1090A09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13</a:t>
            </a:fld>
            <a:endParaRPr kumimoji="1" lang="ja-JP" altLang="en-US"/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39E63D4D-C30E-0093-E618-479BC84B57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91" r="5691"/>
          <a:stretch/>
        </p:blipFill>
        <p:spPr>
          <a:xfrm>
            <a:off x="835646" y="2711117"/>
            <a:ext cx="2132444" cy="1435765"/>
          </a:xfrm>
          <a:prstGeom prst="rect">
            <a:avLst/>
          </a:prstGeom>
        </p:spPr>
      </p:pic>
      <p:sp>
        <p:nvSpPr>
          <p:cNvPr id="18" name="吹き出し: 四角形 17">
            <a:extLst>
              <a:ext uri="{FF2B5EF4-FFF2-40B4-BE49-F238E27FC236}">
                <a16:creationId xmlns:a16="http://schemas.microsoft.com/office/drawing/2014/main" id="{508194BE-7F50-58DB-D63B-D254BCD3BE7D}"/>
              </a:ext>
            </a:extLst>
          </p:cNvPr>
          <p:cNvSpPr/>
          <p:nvPr/>
        </p:nvSpPr>
        <p:spPr>
          <a:xfrm>
            <a:off x="5647838" y="2259215"/>
            <a:ext cx="2088356" cy="814381"/>
          </a:xfrm>
          <a:prstGeom prst="wedgeRectCallout">
            <a:avLst>
              <a:gd name="adj1" fmla="val -49138"/>
              <a:gd name="adj2" fmla="val 115534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独立している</a:t>
            </a:r>
          </a:p>
        </p:txBody>
      </p:sp>
      <p:sp>
        <p:nvSpPr>
          <p:cNvPr id="19" name="吹き出し: 四角形 18">
            <a:extLst>
              <a:ext uri="{FF2B5EF4-FFF2-40B4-BE49-F238E27FC236}">
                <a16:creationId xmlns:a16="http://schemas.microsoft.com/office/drawing/2014/main" id="{B1F15B8F-DD40-A45D-4110-846E4721CEB3}"/>
              </a:ext>
            </a:extLst>
          </p:cNvPr>
          <p:cNvSpPr/>
          <p:nvPr/>
        </p:nvSpPr>
        <p:spPr>
          <a:xfrm>
            <a:off x="978694" y="5727033"/>
            <a:ext cx="4398168" cy="814381"/>
          </a:xfrm>
          <a:prstGeom prst="wedgeRectCallout">
            <a:avLst>
              <a:gd name="adj1" fmla="val -33351"/>
              <a:gd name="adj2" fmla="val -121895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Apple</a:t>
            </a:r>
            <a:r>
              <a:rPr kumimoji="1"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にはリンゴと企業の</a:t>
            </a:r>
            <a:endParaRPr kumimoji="1" lang="en-US" altLang="ja-JP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2</a:t>
            </a:r>
            <a:r>
              <a:rPr kumimoji="1"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つの意味がある</a:t>
            </a:r>
          </a:p>
        </p:txBody>
      </p:sp>
      <p:sp>
        <p:nvSpPr>
          <p:cNvPr id="31" name="フローチャート: 手作業 30">
            <a:extLst>
              <a:ext uri="{FF2B5EF4-FFF2-40B4-BE49-F238E27FC236}">
                <a16:creationId xmlns:a16="http://schemas.microsoft.com/office/drawing/2014/main" id="{7913F9C7-2800-11FB-3E31-02B0F08412E4}"/>
              </a:ext>
            </a:extLst>
          </p:cNvPr>
          <p:cNvSpPr/>
          <p:nvPr/>
        </p:nvSpPr>
        <p:spPr>
          <a:xfrm rot="16200000">
            <a:off x="4156365" y="2767970"/>
            <a:ext cx="1338348" cy="1338348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CNN</a:t>
            </a:r>
            <a:endParaRPr kumimoji="1" lang="ja-JP" altLang="en-US" sz="24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32" name="フローチャート: 手作業 31">
            <a:extLst>
              <a:ext uri="{FF2B5EF4-FFF2-40B4-BE49-F238E27FC236}">
                <a16:creationId xmlns:a16="http://schemas.microsoft.com/office/drawing/2014/main" id="{267BF246-E259-3C0E-8086-C7922CEDC847}"/>
              </a:ext>
            </a:extLst>
          </p:cNvPr>
          <p:cNvSpPr/>
          <p:nvPr/>
        </p:nvSpPr>
        <p:spPr>
          <a:xfrm rot="16200000">
            <a:off x="4156365" y="4271826"/>
            <a:ext cx="1338348" cy="1338348"/>
          </a:xfrm>
          <a:prstGeom prst="flowChartManualOperation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LSTM</a:t>
            </a:r>
            <a:endParaRPr kumimoji="1" lang="ja-JP" altLang="en-US" sz="24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AD3EB484-33EF-1A2E-D71E-BABB68D7D309}"/>
              </a:ext>
            </a:extLst>
          </p:cNvPr>
          <p:cNvSpPr txBox="1"/>
          <p:nvPr/>
        </p:nvSpPr>
        <p:spPr>
          <a:xfrm>
            <a:off x="386360" y="4705505"/>
            <a:ext cx="3031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[</a:t>
            </a:r>
            <a:r>
              <a:rPr lang="ja-JP" altLang="en-US" sz="2400">
                <a:latin typeface="BIZ UDGothic" panose="020B0400000000000000" pitchFamily="49" charset="-128"/>
                <a:ea typeface="BIZ UDGothic" panose="020B0400000000000000" pitchFamily="49" charset="-128"/>
              </a:rPr>
              <a:t>最近</a:t>
            </a:r>
            <a:r>
              <a:rPr lang="en-US" altLang="ja-JP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,</a:t>
            </a:r>
            <a:r>
              <a:rPr lang="ja-JP" altLang="en-US" sz="2400">
                <a:latin typeface="BIZ UDGothic" panose="020B0400000000000000" pitchFamily="49" charset="-128"/>
                <a:ea typeface="BIZ UDGothic" panose="020B0400000000000000" pitchFamily="49" charset="-128"/>
              </a:rPr>
              <a:t>の</a:t>
            </a:r>
            <a:r>
              <a:rPr lang="en-US" altLang="ja-JP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,</a:t>
            </a:r>
            <a:r>
              <a:rPr lang="en-US" altLang="ja-JP" sz="2400" dirty="0">
                <a:solidFill>
                  <a:srgbClr val="FF0000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Apple</a:t>
            </a:r>
            <a:r>
              <a:rPr lang="en-US" altLang="ja-JP" sz="24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,</a:t>
            </a:r>
            <a:r>
              <a:rPr lang="ja-JP" altLang="en-US" sz="2400">
                <a:latin typeface="BIZ UDGothic" panose="020B0400000000000000" pitchFamily="49" charset="-128"/>
                <a:ea typeface="BIZ UDGothic" panose="020B0400000000000000" pitchFamily="49" charset="-128"/>
              </a:rPr>
              <a:t>は</a:t>
            </a:r>
            <a:r>
              <a:rPr lang="en-US" altLang="ja-JP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]</a:t>
            </a:r>
            <a:endParaRPr lang="ja-JP" altLang="en-US" sz="24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7E6633F5-4C16-1A36-1D93-5E89D3DE4D63}"/>
              </a:ext>
            </a:extLst>
          </p:cNvPr>
          <p:cNvSpPr/>
          <p:nvPr/>
        </p:nvSpPr>
        <p:spPr>
          <a:xfrm>
            <a:off x="6702830" y="3861095"/>
            <a:ext cx="1668087" cy="673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Dense</a:t>
            </a:r>
            <a:endParaRPr kumimoji="1" lang="ja-JP" altLang="en-US" sz="24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74FB97EA-FE4A-266C-5089-F20444FBBC68}"/>
              </a:ext>
            </a:extLst>
          </p:cNvPr>
          <p:cNvCxnSpPr>
            <a:cxnSpLocks/>
            <a:stCxn id="17" idx="3"/>
            <a:endCxn id="31" idx="0"/>
          </p:cNvCxnSpPr>
          <p:nvPr/>
        </p:nvCxnSpPr>
        <p:spPr>
          <a:xfrm>
            <a:off x="2968090" y="3429000"/>
            <a:ext cx="1188275" cy="814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25845549-EF78-47EC-A741-19DAA15AF3F8}"/>
              </a:ext>
            </a:extLst>
          </p:cNvPr>
          <p:cNvCxnSpPr>
            <a:cxnSpLocks/>
            <a:stCxn id="34" idx="3"/>
            <a:endCxn id="32" idx="0"/>
          </p:cNvCxnSpPr>
          <p:nvPr/>
        </p:nvCxnSpPr>
        <p:spPr>
          <a:xfrm>
            <a:off x="3417376" y="4936338"/>
            <a:ext cx="738989" cy="46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矢印コネクタ 26">
            <a:extLst>
              <a:ext uri="{FF2B5EF4-FFF2-40B4-BE49-F238E27FC236}">
                <a16:creationId xmlns:a16="http://schemas.microsoft.com/office/drawing/2014/main" id="{15715E45-E8FC-83CF-810C-14E0C619B5DB}"/>
              </a:ext>
            </a:extLst>
          </p:cNvPr>
          <p:cNvCxnSpPr>
            <a:cxnSpLocks/>
            <a:stCxn id="32" idx="2"/>
            <a:endCxn id="35" idx="1"/>
          </p:cNvCxnSpPr>
          <p:nvPr/>
        </p:nvCxnSpPr>
        <p:spPr>
          <a:xfrm flipV="1">
            <a:off x="5494713" y="4197761"/>
            <a:ext cx="1208117" cy="74323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矢印コネクタ 26">
            <a:extLst>
              <a:ext uri="{FF2B5EF4-FFF2-40B4-BE49-F238E27FC236}">
                <a16:creationId xmlns:a16="http://schemas.microsoft.com/office/drawing/2014/main" id="{D0B95630-A7B8-52F0-0E4C-1DC4DE5987FE}"/>
              </a:ext>
            </a:extLst>
          </p:cNvPr>
          <p:cNvCxnSpPr>
            <a:cxnSpLocks/>
            <a:stCxn id="31" idx="2"/>
            <a:endCxn id="35" idx="1"/>
          </p:cNvCxnSpPr>
          <p:nvPr/>
        </p:nvCxnSpPr>
        <p:spPr>
          <a:xfrm>
            <a:off x="5494713" y="3437144"/>
            <a:ext cx="1208117" cy="76061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39848877-94A3-C2B9-B493-6F407B0E3A5F}"/>
              </a:ext>
            </a:extLst>
          </p:cNvPr>
          <p:cNvSpPr txBox="1"/>
          <p:nvPr/>
        </p:nvSpPr>
        <p:spPr>
          <a:xfrm>
            <a:off x="9579034" y="3966928"/>
            <a:ext cx="21282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>
                <a:latin typeface="BIZ UDGothic" panose="020B0400000000000000" pitchFamily="49" charset="-128"/>
                <a:ea typeface="BIZ UDGothic" panose="020B0400000000000000" pitchFamily="49" charset="-128"/>
              </a:rPr>
              <a:t>高性能</a:t>
            </a:r>
            <a:endParaRPr lang="ja-JP" altLang="en-US" sz="2400" dirty="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276F4E22-F1E8-F8DB-6746-3F26D4303AAD}"/>
              </a:ext>
            </a:extLst>
          </p:cNvPr>
          <p:cNvCxnSpPr>
            <a:cxnSpLocks/>
            <a:stCxn id="35" idx="3"/>
            <a:endCxn id="40" idx="1"/>
          </p:cNvCxnSpPr>
          <p:nvPr/>
        </p:nvCxnSpPr>
        <p:spPr>
          <a:xfrm>
            <a:off x="8370917" y="4197761"/>
            <a:ext cx="12081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33241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436FE05-BEFD-CC68-3711-CF5CF46C5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ja-JP" altLang="en-US"/>
              <a:t>画像と文章の特徴抽出器として</a:t>
            </a:r>
            <a:r>
              <a:rPr lang="en-US" altLang="ja-JP" b="1" dirty="0"/>
              <a:t>Transformer[5]</a:t>
            </a:r>
            <a:r>
              <a:rPr lang="ja-JP" altLang="en-US"/>
              <a:t>を用いる</a:t>
            </a:r>
            <a:endParaRPr lang="en-US" altLang="ja-JP" dirty="0"/>
          </a:p>
          <a:p>
            <a:r>
              <a:rPr lang="ja-JP" altLang="en-US"/>
              <a:t>文章は</a:t>
            </a:r>
            <a:r>
              <a:rPr lang="en-US" altLang="ja-JP" dirty="0">
                <a:solidFill>
                  <a:srgbClr val="FF0000"/>
                </a:solidFill>
              </a:rPr>
              <a:t>Self-Attention</a:t>
            </a:r>
            <a:r>
              <a:rPr lang="ja-JP" altLang="en-US"/>
              <a:t>により，時系列長に関わらず特徴抽出</a:t>
            </a:r>
            <a:endParaRPr lang="en-US" altLang="ja-JP" dirty="0"/>
          </a:p>
          <a:p>
            <a:r>
              <a:rPr lang="ja-JP" altLang="en-US"/>
              <a:t>文章と画像を</a:t>
            </a:r>
            <a:r>
              <a:rPr lang="en-US" altLang="ja-JP" dirty="0">
                <a:solidFill>
                  <a:srgbClr val="0070C0"/>
                </a:solidFill>
              </a:rPr>
              <a:t>Cross-Attention</a:t>
            </a:r>
            <a:r>
              <a:rPr lang="ja-JP" altLang="en-US"/>
              <a:t>により，互いに考慮して特徴抽出</a:t>
            </a:r>
            <a:endParaRPr lang="ja-JP" altLang="en-US" dirty="0"/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D17F6356-27DC-9B39-1C23-2BC2B5519F0B}"/>
              </a:ext>
            </a:extLst>
          </p:cNvPr>
          <p:cNvSpPr/>
          <p:nvPr/>
        </p:nvSpPr>
        <p:spPr>
          <a:xfrm>
            <a:off x="3580108" y="4618495"/>
            <a:ext cx="5013702" cy="12356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24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1519987C-71CB-AB03-F404-B8ABB4140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提案手法</a:t>
            </a:r>
            <a:r>
              <a:rPr lang="en-US" altLang="ja-JP" dirty="0"/>
              <a:t>: Warai Transformer(</a:t>
            </a:r>
            <a:r>
              <a:rPr lang="en-US" altLang="ja-JP" dirty="0" err="1"/>
              <a:t>WiT</a:t>
            </a:r>
            <a:r>
              <a:rPr lang="en-US" altLang="ja-JP" dirty="0"/>
              <a:t>)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FEE5CA6-376E-720D-E949-CFC09BCAC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14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B99B8ED-73C2-FEE8-3D59-CDE71A2045FD}"/>
              </a:ext>
            </a:extLst>
          </p:cNvPr>
          <p:cNvSpPr txBox="1"/>
          <p:nvPr/>
        </p:nvSpPr>
        <p:spPr>
          <a:xfrm>
            <a:off x="125969" y="5941865"/>
            <a:ext cx="119400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[5] </a:t>
            </a:r>
            <a:r>
              <a:rPr lang="en-US" altLang="ja-JP" sz="11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A. Vaswani, et al., "Attention is All you Need," Proc. </a:t>
            </a:r>
            <a:r>
              <a:rPr lang="en-US" altLang="ja-JP" sz="1100" dirty="0" err="1">
                <a:latin typeface="BIZ UDGothic" panose="020B0400000000000000" pitchFamily="49" charset="-128"/>
                <a:ea typeface="BIZ UDGothic" panose="020B0400000000000000" pitchFamily="49" charset="-128"/>
              </a:rPr>
              <a:t>NeurIPS</a:t>
            </a:r>
            <a:r>
              <a:rPr lang="en-US" altLang="ja-JP" sz="11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, vol.30, December. 2017.</a:t>
            </a:r>
          </a:p>
          <a:p>
            <a:r>
              <a:rPr lang="en-US" altLang="ja-JP" sz="11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[6] A. </a:t>
            </a:r>
            <a:r>
              <a:rPr lang="en-US" altLang="ja-JP" sz="1100" dirty="0" err="1">
                <a:latin typeface="BIZ UDGothic" panose="020B0400000000000000" pitchFamily="49" charset="-128"/>
                <a:ea typeface="BIZ UDGothic" panose="020B0400000000000000" pitchFamily="49" charset="-128"/>
              </a:rPr>
              <a:t>Dosovitskiy</a:t>
            </a:r>
            <a:r>
              <a:rPr lang="en-US" altLang="ja-JP" sz="11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, et al., "An Image is Worth 16x16 Words: Transformers for Image Recognition at Scale," arXiv:2010.11929, October. 2020.</a:t>
            </a:r>
            <a:endParaRPr kumimoji="1" lang="en-US" altLang="ja-JP" sz="1100" dirty="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6" name="フローチャート: 手作業 5">
            <a:extLst>
              <a:ext uri="{FF2B5EF4-FFF2-40B4-BE49-F238E27FC236}">
                <a16:creationId xmlns:a16="http://schemas.microsoft.com/office/drawing/2014/main" id="{0165A65A-9425-C950-686D-289DD365F5DE}"/>
              </a:ext>
            </a:extLst>
          </p:cNvPr>
          <p:cNvSpPr/>
          <p:nvPr/>
        </p:nvSpPr>
        <p:spPr>
          <a:xfrm rot="16200000">
            <a:off x="3609260" y="2575740"/>
            <a:ext cx="2000727" cy="1784222"/>
          </a:xfrm>
          <a:prstGeom prst="flowChartManualOperation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lIns="0" tIns="0" rIns="0" bIns="0" rtlCol="0" anchor="ctr"/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Vision</a:t>
            </a:r>
            <a:endParaRPr lang="en-US" altLang="ja-JP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Transformer</a:t>
            </a:r>
          </a:p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[6]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7A8E9A5-6AD5-3241-1222-5EE11BC664B4}"/>
              </a:ext>
            </a:extLst>
          </p:cNvPr>
          <p:cNvSpPr/>
          <p:nvPr/>
        </p:nvSpPr>
        <p:spPr>
          <a:xfrm>
            <a:off x="3713679" y="4751206"/>
            <a:ext cx="1912807" cy="93740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Self-Attention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61B05E28-DBFD-ED21-602F-7D504BC27594}"/>
              </a:ext>
            </a:extLst>
          </p:cNvPr>
          <p:cNvSpPr/>
          <p:nvPr/>
        </p:nvSpPr>
        <p:spPr>
          <a:xfrm>
            <a:off x="9079242" y="4863705"/>
            <a:ext cx="1438275" cy="70485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Dense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2CF1D91-60B7-2C63-DB7F-873C8DE6257E}"/>
              </a:ext>
            </a:extLst>
          </p:cNvPr>
          <p:cNvSpPr txBox="1"/>
          <p:nvPr/>
        </p:nvSpPr>
        <p:spPr>
          <a:xfrm>
            <a:off x="11349169" y="5077630"/>
            <a:ext cx="716863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ja-JP" altLang="en-US" dirty="0">
                <a:latin typeface="BIZ UDGothic" panose="020B0400000000000000" pitchFamily="49" charset="-128"/>
                <a:ea typeface="BIZ UDGothic" panose="020B0400000000000000" pitchFamily="49" charset="-128"/>
              </a:rPr>
              <a:t>陽気</a:t>
            </a: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32757245-07BA-2DF2-7B7B-571CE251C023}"/>
              </a:ext>
            </a:extLst>
          </p:cNvPr>
          <p:cNvCxnSpPr>
            <a:cxnSpLocks/>
            <a:stCxn id="18" idx="3"/>
            <a:endCxn id="6" idx="0"/>
          </p:cNvCxnSpPr>
          <p:nvPr/>
        </p:nvCxnSpPr>
        <p:spPr>
          <a:xfrm>
            <a:off x="2521339" y="3465385"/>
            <a:ext cx="1196174" cy="246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矢印コネクタ 11">
            <a:extLst>
              <a:ext uri="{FF2B5EF4-FFF2-40B4-BE49-F238E27FC236}">
                <a16:creationId xmlns:a16="http://schemas.microsoft.com/office/drawing/2014/main" id="{1786CDF3-442C-B336-7933-159E9C211046}"/>
              </a:ext>
            </a:extLst>
          </p:cNvPr>
          <p:cNvCxnSpPr>
            <a:cxnSpLocks/>
            <a:stCxn id="17" idx="3"/>
            <a:endCxn id="8" idx="1"/>
          </p:cNvCxnSpPr>
          <p:nvPr/>
        </p:nvCxnSpPr>
        <p:spPr>
          <a:xfrm>
            <a:off x="2779195" y="5219907"/>
            <a:ext cx="93448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8">
            <a:extLst>
              <a:ext uri="{FF2B5EF4-FFF2-40B4-BE49-F238E27FC236}">
                <a16:creationId xmlns:a16="http://schemas.microsoft.com/office/drawing/2014/main" id="{7DD9A35A-98D1-342D-C099-1D43DED75071}"/>
              </a:ext>
            </a:extLst>
          </p:cNvPr>
          <p:cNvCxnSpPr>
            <a:cxnSpLocks/>
            <a:stCxn id="8" idx="3"/>
            <a:endCxn id="19" idx="1"/>
          </p:cNvCxnSpPr>
          <p:nvPr/>
        </p:nvCxnSpPr>
        <p:spPr>
          <a:xfrm>
            <a:off x="5626486" y="5219907"/>
            <a:ext cx="93448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8">
            <a:extLst>
              <a:ext uri="{FF2B5EF4-FFF2-40B4-BE49-F238E27FC236}">
                <a16:creationId xmlns:a16="http://schemas.microsoft.com/office/drawing/2014/main" id="{09819F72-E263-33F5-1D62-EECA5F2DD915}"/>
              </a:ext>
            </a:extLst>
          </p:cNvPr>
          <p:cNvCxnSpPr>
            <a:cxnSpLocks/>
            <a:stCxn id="6" idx="2"/>
            <a:endCxn id="19" idx="0"/>
          </p:cNvCxnSpPr>
          <p:nvPr/>
        </p:nvCxnSpPr>
        <p:spPr>
          <a:xfrm>
            <a:off x="5501735" y="3467850"/>
            <a:ext cx="2015639" cy="128335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3D8F8089-7CC5-3DE2-A49C-783D5EBA55EC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10517517" y="5216130"/>
            <a:ext cx="83165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81ED8A3-1F7D-777B-B3F6-FEEF5B8E95C9}"/>
              </a:ext>
            </a:extLst>
          </p:cNvPr>
          <p:cNvSpPr txBox="1"/>
          <p:nvPr/>
        </p:nvSpPr>
        <p:spPr>
          <a:xfrm>
            <a:off x="131038" y="5035241"/>
            <a:ext cx="26481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[</a:t>
            </a:r>
            <a:r>
              <a:rPr kumimoji="1" lang="ja-JP" altLang="en-US" dirty="0">
                <a:latin typeface="BIZ UDGothic" panose="020B0400000000000000" pitchFamily="49" charset="-128"/>
                <a:ea typeface="BIZ UDGothic" panose="020B0400000000000000" pitchFamily="49" charset="-128"/>
              </a:rPr>
              <a:t>米国</a:t>
            </a:r>
            <a:r>
              <a:rPr kumimoji="1" lang="en-US" altLang="ja-JP" dirty="0">
                <a:latin typeface="BIZ UDGothic" panose="020B0400000000000000" pitchFamily="49" charset="-128"/>
                <a:ea typeface="BIZ UDGothic" panose="020B0400000000000000" pitchFamily="49" charset="-128"/>
              </a:rPr>
              <a:t>,</a:t>
            </a:r>
            <a:r>
              <a:rPr kumimoji="1" lang="ja-JP" altLang="en-US" dirty="0">
                <a:latin typeface="BIZ UDGothic" panose="020B0400000000000000" pitchFamily="49" charset="-128"/>
                <a:ea typeface="BIZ UDGothic" panose="020B0400000000000000" pitchFamily="49" charset="-128"/>
              </a:rPr>
              <a:t>の</a:t>
            </a:r>
            <a:r>
              <a:rPr kumimoji="1" lang="en-US" altLang="ja-JP" dirty="0">
                <a:latin typeface="BIZ UDGothic" panose="020B0400000000000000" pitchFamily="49" charset="-128"/>
                <a:ea typeface="BIZ UDGothic" panose="020B0400000000000000" pitchFamily="49" charset="-128"/>
              </a:rPr>
              <a:t>,</a:t>
            </a:r>
            <a:r>
              <a:rPr kumimoji="1" lang="ja-JP" altLang="en-US" dirty="0">
                <a:latin typeface="BIZ UDGothic" panose="020B0400000000000000" pitchFamily="49" charset="-128"/>
                <a:ea typeface="BIZ UDGothic" panose="020B0400000000000000" pitchFamily="49" charset="-128"/>
              </a:rPr>
              <a:t>三途の川</a:t>
            </a:r>
            <a:r>
              <a:rPr kumimoji="1" lang="en-US" altLang="ja-JP" dirty="0">
                <a:latin typeface="BIZ UDGothic" panose="020B0400000000000000" pitchFamily="49" charset="-128"/>
                <a:ea typeface="BIZ UDGothic" panose="020B0400000000000000" pitchFamily="49" charset="-128"/>
              </a:rPr>
              <a:t>,</a:t>
            </a:r>
            <a:r>
              <a:rPr kumimoji="1" lang="ja-JP" altLang="en-US" dirty="0">
                <a:latin typeface="BIZ UDGothic" panose="020B0400000000000000" pitchFamily="49" charset="-128"/>
                <a:ea typeface="BIZ UDGothic" panose="020B0400000000000000" pitchFamily="49" charset="-128"/>
              </a:rPr>
              <a:t>が</a:t>
            </a:r>
            <a:r>
              <a:rPr lang="en-US" altLang="ja-JP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]</a:t>
            </a:r>
            <a:endParaRPr lang="ja-JP" altLang="en-US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pic>
        <p:nvPicPr>
          <p:cNvPr id="18" name="図 17">
            <a:extLst>
              <a:ext uri="{FF2B5EF4-FFF2-40B4-BE49-F238E27FC236}">
                <a16:creationId xmlns:a16="http://schemas.microsoft.com/office/drawing/2014/main" id="{C3897D0A-3BE0-D0B0-6124-26881FCCBC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711" t="24564" r="48409" b="42385"/>
          <a:stretch/>
        </p:blipFill>
        <p:spPr>
          <a:xfrm>
            <a:off x="388895" y="2747502"/>
            <a:ext cx="2132444" cy="1435765"/>
          </a:xfrm>
          <a:prstGeom prst="rect">
            <a:avLst/>
          </a:prstGeom>
        </p:spPr>
      </p:pic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B4FA9DAC-2D11-6FA2-0565-D3374642E131}"/>
              </a:ext>
            </a:extLst>
          </p:cNvPr>
          <p:cNvSpPr/>
          <p:nvPr/>
        </p:nvSpPr>
        <p:spPr>
          <a:xfrm>
            <a:off x="6560970" y="4751206"/>
            <a:ext cx="1912807" cy="937402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Cross-Attention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cxnSp>
        <p:nvCxnSpPr>
          <p:cNvPr id="20" name="直線矢印コネクタ 18">
            <a:extLst>
              <a:ext uri="{FF2B5EF4-FFF2-40B4-BE49-F238E27FC236}">
                <a16:creationId xmlns:a16="http://schemas.microsoft.com/office/drawing/2014/main" id="{18EACE07-3A53-3CFD-5837-1229B30D193C}"/>
              </a:ext>
            </a:extLst>
          </p:cNvPr>
          <p:cNvCxnSpPr>
            <a:cxnSpLocks/>
            <a:stCxn id="19" idx="3"/>
            <a:endCxn id="9" idx="1"/>
          </p:cNvCxnSpPr>
          <p:nvPr/>
        </p:nvCxnSpPr>
        <p:spPr>
          <a:xfrm flipV="1">
            <a:off x="8473777" y="5216130"/>
            <a:ext cx="605465" cy="37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吹き出し: 四角形 56">
            <a:extLst>
              <a:ext uri="{FF2B5EF4-FFF2-40B4-BE49-F238E27FC236}">
                <a16:creationId xmlns:a16="http://schemas.microsoft.com/office/drawing/2014/main" id="{41FF7B21-6D09-1C2B-D746-EA6ADF1EAE79}"/>
              </a:ext>
            </a:extLst>
          </p:cNvPr>
          <p:cNvSpPr/>
          <p:nvPr/>
        </p:nvSpPr>
        <p:spPr>
          <a:xfrm>
            <a:off x="5636386" y="2467487"/>
            <a:ext cx="2666770" cy="766012"/>
          </a:xfrm>
          <a:prstGeom prst="wedgeRectCallout">
            <a:avLst>
              <a:gd name="adj1" fmla="val -63141"/>
              <a:gd name="adj2" fmla="val 3249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ImageNet</a:t>
            </a:r>
            <a:r>
              <a:rPr kumimoji="1"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学習済み</a:t>
            </a:r>
            <a:endParaRPr kumimoji="1" lang="en-US" altLang="ja-JP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7AB0C2D4-1421-C694-E3A2-3EE7EB696589}"/>
                  </a:ext>
                </a:extLst>
              </p:cNvPr>
              <p:cNvSpPr txBox="1"/>
              <p:nvPr/>
            </p:nvSpPr>
            <p:spPr>
              <a:xfrm>
                <a:off x="7986784" y="4249163"/>
                <a:ext cx="60702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kumimoji="1" lang="ja-JP" altLang="en-US" sz="240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7AB0C2D4-1421-C694-E3A2-3EE7EB6965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6784" y="4249163"/>
                <a:ext cx="607026" cy="369332"/>
              </a:xfrm>
              <a:prstGeom prst="rect">
                <a:avLst/>
              </a:prstGeom>
              <a:blipFill>
                <a:blip r:embed="rId3"/>
                <a:stretch>
                  <a:fillRect l="-12245" b="-1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3299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6AEA9D-3C10-70EE-22AE-5D2256CA6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Self-Attention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F9D45161-A55D-4399-7CDB-7CD2A50665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kumimoji="1" lang="ja-JP" altLang="en-US" dirty="0"/>
                  <a:t>全ての要素どうしの関連性を並列で考慮</a:t>
                </a:r>
                <a:r>
                  <a:rPr kumimoji="1" lang="ja-JP" altLang="en-US"/>
                  <a:t>する構造</a:t>
                </a:r>
                <a:endParaRPr kumimoji="1" lang="en-US" altLang="ja-JP" dirty="0"/>
              </a:p>
              <a:p>
                <a:pPr marL="0" indent="0">
                  <a:buNone/>
                </a:pP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1" i="0" smtClean="0">
                          <a:latin typeface="Cambria Math" panose="02040503050406030204" pitchFamily="18" charset="0"/>
                        </a:rPr>
                        <m:t>𝐐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1" i="0" smtClean="0">
                          <a:latin typeface="Cambria Math" panose="02040503050406030204" pitchFamily="18" charset="0"/>
                        </a:rPr>
                        <m:t>𝐗</m:t>
                      </m:r>
                      <m:sSub>
                        <m:sSubPr>
                          <m:ctrlPr>
                            <a:rPr lang="en-US" altLang="ja-JP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1" i="0" smtClean="0"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lang="en-US" altLang="ja-JP" b="1" i="0" smtClean="0">
                              <a:latin typeface="Cambria Math" panose="02040503050406030204" pitchFamily="18" charset="0"/>
                            </a:rPr>
                            <m:t>𝐐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ja-JP" b="1" i="0" smtClean="0">
                          <a:latin typeface="Cambria Math" panose="02040503050406030204" pitchFamily="18" charset="0"/>
                        </a:rPr>
                        <m:t>𝐊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1" i="0" smtClean="0">
                          <a:latin typeface="Cambria Math" panose="02040503050406030204" pitchFamily="18" charset="0"/>
                        </a:rPr>
                        <m:t>𝐗</m:t>
                      </m:r>
                      <m:sSub>
                        <m:sSubPr>
                          <m:ctrlPr>
                            <a:rPr lang="en-US" altLang="ja-JP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1" i="0" smtClean="0"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lang="en-US" altLang="ja-JP" b="1" i="0" smtClean="0">
                              <a:latin typeface="Cambria Math" panose="02040503050406030204" pitchFamily="18" charset="0"/>
                            </a:rPr>
                            <m:t>𝐊</m:t>
                          </m:r>
                        </m:sub>
                      </m:sSub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ja-JP" b="1" i="0" smtClean="0">
                          <a:latin typeface="Cambria Math" panose="02040503050406030204" pitchFamily="18" charset="0"/>
                        </a:rPr>
                        <m:t>𝐕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1" i="0" smtClean="0">
                          <a:latin typeface="Cambria Math" panose="02040503050406030204" pitchFamily="18" charset="0"/>
                        </a:rPr>
                        <m:t>𝐗</m:t>
                      </m:r>
                      <m:sSub>
                        <m:sSubPr>
                          <m:ctrlPr>
                            <a:rPr lang="en-US" altLang="ja-JP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1" i="0" smtClean="0"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lang="en-US" altLang="ja-JP" b="1" i="0" smtClean="0">
                              <a:latin typeface="Cambria Math" panose="02040503050406030204" pitchFamily="18" charset="0"/>
                            </a:rPr>
                            <m:t>𝐕</m:t>
                          </m:r>
                        </m:sub>
                      </m:sSub>
                    </m:oMath>
                  </m:oMathPara>
                </a14:m>
                <a:endParaRPr lang="en-US" altLang="ja-JP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𝐀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𝑠𝑜𝑓𝑡𝑚𝑎𝑥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lin"/>
                          <m:ctrlPr>
                            <a:rPr lang="en-US" altLang="ja-JP" b="1" i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1" i="0" smtClean="0">
                              <a:latin typeface="Cambria Math" panose="02040503050406030204" pitchFamily="18" charset="0"/>
                            </a:rPr>
                            <m:t>𝐐</m:t>
                          </m:r>
                          <m:sSup>
                            <m:sSupPr>
                              <m:ctrlPr>
                                <a:rPr lang="en-US" altLang="ja-JP" b="1" i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b="1" i="0" smtClean="0">
                                  <a:latin typeface="Cambria Math" panose="02040503050406030204" pitchFamily="18" charset="0"/>
                                </a:rPr>
                                <m:t>𝐊</m:t>
                              </m:r>
                            </m:e>
                            <m:sup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rad>
                        </m:den>
                      </m:f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1" i="0" smtClean="0">
                          <a:latin typeface="Cambria Math" panose="02040503050406030204" pitchFamily="18" charset="0"/>
                        </a:rPr>
                        <m:t>𝐘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1" i="0" smtClean="0">
                          <a:latin typeface="Cambria Math" panose="02040503050406030204" pitchFamily="18" charset="0"/>
                        </a:rPr>
                        <m:t>𝐀𝐕</m:t>
                      </m:r>
                    </m:oMath>
                  </m:oMathPara>
                </a14:m>
                <a:endParaRPr kumimoji="1" lang="en-US" altLang="ja-JP" dirty="0"/>
              </a:p>
              <a:p>
                <a:pPr marL="0" indent="0">
                  <a:buNone/>
                </a:pPr>
                <a:r>
                  <a:rPr kumimoji="1" lang="en-US" altLang="ja-JP" dirty="0"/>
                  <a:t>※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1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1×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kumimoji="1" lang="en-US" altLang="ja-JP" dirty="0"/>
                  <a:t>: </a:t>
                </a:r>
                <a:r>
                  <a:rPr kumimoji="1" lang="ja-JP" altLang="en-US"/>
                  <a:t>入力の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kumimoji="1" lang="ja-JP" altLang="en-US"/>
                  <a:t>番目の要素</a:t>
                </a:r>
                <a:r>
                  <a:rPr lang="ja-JP" altLang="en-US"/>
                  <a:t>，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kumimoji="1" lang="ja-JP" altLang="en-US" b="1"/>
                  <a:t>　 </a:t>
                </a:r>
                <a14:m>
                  <m:oMath xmlns:m="http://schemas.openxmlformats.org/officeDocument/2006/math">
                    <m:r>
                      <a:rPr kumimoji="1" lang="en-US" altLang="ja-JP" b="1" i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kumimoji="1" lang="en-US" altLang="ja-JP" b="1" i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kumimoji="1" lang="en-US" altLang="ja-JP" b="1" i="0" smtClean="0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kumimoji="1" lang="en-US" altLang="ja-JP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ja-JP" b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b="1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Sup>
                              <m:sSubSupPr>
                                <m:ctrlPr>
                                  <a:rPr lang="en-US" altLang="ja-JP" b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b="1">
                                    <a:latin typeface="Cambria Math" panose="02040503050406030204" pitchFamily="18" charset="0"/>
                                  </a:rPr>
                                  <m:t>𝐱</m:t>
                                </m:r>
                              </m:e>
                              <m: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  <m:sup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kumimoji="1" lang="en-US" altLang="ja-JP" dirty="0"/>
                  <a:t>: </a:t>
                </a:r>
                <a:r>
                  <a:rPr kumimoji="1" lang="ja-JP" altLang="en-US"/>
                  <a:t>全ての入力，</a:t>
                </a:r>
                <a:endParaRPr kumimoji="1" lang="en-US" altLang="ja-JP" dirty="0"/>
              </a:p>
              <a:p>
                <a:pPr marL="0" indent="0">
                  <a:buNone/>
                </a:pPr>
                <a:r>
                  <a:rPr lang="ja-JP" altLang="en-US" b="1"/>
                  <a:t>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altLang="ja-JP" b="1">
                            <a:latin typeface="Cambria Math" panose="02040503050406030204" pitchFamily="18" charset="0"/>
                          </a:rPr>
                          <m:t>𝐐</m:t>
                        </m:r>
                      </m:sub>
                    </m:sSub>
                    <m:r>
                      <a:rPr lang="en-US" altLang="ja-JP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b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altLang="ja-JP" b="1" i="0" smtClean="0">
                            <a:latin typeface="Cambria Math" panose="02040503050406030204" pitchFamily="18" charset="0"/>
                          </a:rPr>
                          <m:t>𝐊</m:t>
                        </m:r>
                      </m:sub>
                    </m:sSub>
                    <m:r>
                      <a:rPr lang="en-US" altLang="ja-JP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b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altLang="ja-JP" b="1" i="0" smtClean="0">
                            <a:latin typeface="Cambria Math" panose="02040503050406030204" pitchFamily="18" charset="0"/>
                          </a:rPr>
                          <m:t>𝐕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kumimoji="1" lang="en-US" altLang="ja-JP" dirty="0"/>
                  <a:t>: </a:t>
                </a:r>
                <a:r>
                  <a:rPr kumimoji="1" lang="ja-JP" altLang="en-US"/>
                  <a:t>学習する重み，</a:t>
                </a:r>
                <a:endParaRPr kumimoji="1" lang="en-US" altLang="ja-JP" dirty="0"/>
              </a:p>
              <a:p>
                <a:pPr marL="0" indent="0">
                  <a:buNone/>
                </a:pPr>
                <a:r>
                  <a:rPr lang="ja-JP" altLang="en-US" b="1"/>
                  <a:t>　 </a:t>
                </a:r>
                <a14:m>
                  <m:oMath xmlns:m="http://schemas.openxmlformats.org/officeDocument/2006/math">
                    <m:r>
                      <a:rPr lang="en-US" altLang="ja-JP" b="1">
                        <a:latin typeface="Cambria Math" panose="02040503050406030204" pitchFamily="18" charset="0"/>
                      </a:rPr>
                      <m:t>𝐘</m:t>
                    </m:r>
                  </m:oMath>
                </a14:m>
                <a:r>
                  <a:rPr lang="en-US" altLang="ja-JP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en-US" altLang="ja-JP" dirty="0"/>
                  <a:t>: </a:t>
                </a:r>
                <a:r>
                  <a:rPr kumimoji="1" lang="ja-JP" altLang="en-US"/>
                  <a:t>出力</a:t>
                </a:r>
                <a:endParaRPr kumimoji="1"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kumimoji="1"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endParaRPr kumimoji="1" lang="en-US" altLang="ja-JP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F9D45161-A55D-4399-7CDB-7CD2A50665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4" t="-204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89B0792-D85D-7A00-B3A8-1288FCE50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15</a:t>
            </a:fld>
            <a:endParaRPr kumimoji="1"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78800A01-B35E-0CDA-2A70-D8CB5D0C7B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605325"/>
              </p:ext>
            </p:extLst>
          </p:nvPr>
        </p:nvGraphicFramePr>
        <p:xfrm>
          <a:off x="6953311" y="3999896"/>
          <a:ext cx="5112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3042">
                  <a:extLst>
                    <a:ext uri="{9D8B030D-6E8A-4147-A177-3AD203B41FA5}">
                      <a16:colId xmlns:a16="http://schemas.microsoft.com/office/drawing/2014/main" val="1803978739"/>
                    </a:ext>
                  </a:extLst>
                </a:gridCol>
                <a:gridCol w="791013">
                  <a:extLst>
                    <a:ext uri="{9D8B030D-6E8A-4147-A177-3AD203B41FA5}">
                      <a16:colId xmlns:a16="http://schemas.microsoft.com/office/drawing/2014/main" val="1383393032"/>
                    </a:ext>
                  </a:extLst>
                </a:gridCol>
                <a:gridCol w="512305">
                  <a:extLst>
                    <a:ext uri="{9D8B030D-6E8A-4147-A177-3AD203B41FA5}">
                      <a16:colId xmlns:a16="http://schemas.microsoft.com/office/drawing/2014/main" val="1852312236"/>
                    </a:ext>
                  </a:extLst>
                </a:gridCol>
                <a:gridCol w="1254502">
                  <a:extLst>
                    <a:ext uri="{9D8B030D-6E8A-4147-A177-3AD203B41FA5}">
                      <a16:colId xmlns:a16="http://schemas.microsoft.com/office/drawing/2014/main" val="2169985853"/>
                    </a:ext>
                  </a:extLst>
                </a:gridCol>
                <a:gridCol w="449738">
                  <a:extLst>
                    <a:ext uri="{9D8B030D-6E8A-4147-A177-3AD203B41FA5}">
                      <a16:colId xmlns:a16="http://schemas.microsoft.com/office/drawing/2014/main" val="1748902097"/>
                    </a:ext>
                  </a:extLst>
                </a:gridCol>
                <a:gridCol w="852120">
                  <a:extLst>
                    <a:ext uri="{9D8B030D-6E8A-4147-A177-3AD203B41FA5}">
                      <a16:colId xmlns:a16="http://schemas.microsoft.com/office/drawing/2014/main" val="31426595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米国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三途の川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陽気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611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1" dirty="0">
                          <a:solidFill>
                            <a:schemeClr val="bg1"/>
                          </a:solidFill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米国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◎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×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×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0040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1" dirty="0">
                          <a:solidFill>
                            <a:schemeClr val="bg1"/>
                          </a:solidFill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の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◎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×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×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50207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1" dirty="0">
                          <a:solidFill>
                            <a:schemeClr val="bg1"/>
                          </a:solidFill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三途の川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×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◎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◎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×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008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1" dirty="0">
                          <a:solidFill>
                            <a:schemeClr val="bg1"/>
                          </a:solidFill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が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×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×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◎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6248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1" dirty="0">
                          <a:solidFill>
                            <a:schemeClr val="bg1"/>
                          </a:solidFill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陽気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×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×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◎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847282"/>
                  </a:ext>
                </a:extLst>
              </a:tr>
            </a:tbl>
          </a:graphicData>
        </a:graphic>
      </p:graphicFrame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AAEC1D0-C3CC-EE51-3385-021BC34DA1AE}"/>
              </a:ext>
            </a:extLst>
          </p:cNvPr>
          <p:cNvSpPr/>
          <p:nvPr/>
        </p:nvSpPr>
        <p:spPr>
          <a:xfrm>
            <a:off x="8214101" y="4437633"/>
            <a:ext cx="3851929" cy="3462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24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856E92C-6E41-0383-ABE4-33FFD04D5F22}"/>
              </a:ext>
            </a:extLst>
          </p:cNvPr>
          <p:cNvSpPr/>
          <p:nvPr/>
        </p:nvSpPr>
        <p:spPr>
          <a:xfrm>
            <a:off x="8214102" y="4822872"/>
            <a:ext cx="2541722" cy="34623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24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9" name="吹き出し: 四角形 8">
            <a:extLst>
              <a:ext uri="{FF2B5EF4-FFF2-40B4-BE49-F238E27FC236}">
                <a16:creationId xmlns:a16="http://schemas.microsoft.com/office/drawing/2014/main" id="{C700FBE1-FE8A-9F3C-6516-684717614573}"/>
              </a:ext>
            </a:extLst>
          </p:cNvPr>
          <p:cNvSpPr/>
          <p:nvPr/>
        </p:nvSpPr>
        <p:spPr>
          <a:xfrm>
            <a:off x="3905305" y="5512344"/>
            <a:ext cx="2666770" cy="766012"/>
          </a:xfrm>
          <a:prstGeom prst="wedgeRectCallout">
            <a:avLst>
              <a:gd name="adj1" fmla="val 60563"/>
              <a:gd name="adj2" fmla="val 840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単語どうしの</a:t>
            </a:r>
            <a:endParaRPr kumimoji="1" lang="en-US" altLang="ja-JP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pPr algn="ctr"/>
            <a:r>
              <a:rPr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関連性を考慮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10" name="吹き出し: 四角形 8">
            <a:extLst>
              <a:ext uri="{FF2B5EF4-FFF2-40B4-BE49-F238E27FC236}">
                <a16:creationId xmlns:a16="http://schemas.microsoft.com/office/drawing/2014/main" id="{DB54A3FD-9BEA-7BC4-CE90-96D43379D61C}"/>
              </a:ext>
            </a:extLst>
          </p:cNvPr>
          <p:cNvSpPr/>
          <p:nvPr/>
        </p:nvSpPr>
        <p:spPr>
          <a:xfrm>
            <a:off x="125969" y="2214805"/>
            <a:ext cx="4014662" cy="766012"/>
          </a:xfrm>
          <a:prstGeom prst="wedgeRectCallout">
            <a:avLst>
              <a:gd name="adj1" fmla="val 54277"/>
              <a:gd name="adj2" fmla="val 8404"/>
            </a:avLst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要素どうしの関連性を表す</a:t>
            </a:r>
            <a:endParaRPr kumimoji="1" lang="en-US" altLang="ja-JP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pPr algn="ctr"/>
            <a:r>
              <a:rPr lang="en-US" altLang="ja-JP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Attention Map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75CD3C8-75EA-4D8B-3C45-E0DBFCD4B133}"/>
              </a:ext>
            </a:extLst>
          </p:cNvPr>
          <p:cNvSpPr txBox="1"/>
          <p:nvPr/>
        </p:nvSpPr>
        <p:spPr>
          <a:xfrm>
            <a:off x="7622537" y="3538231"/>
            <a:ext cx="37742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Attention Map</a:t>
            </a:r>
            <a:r>
              <a:rPr lang="ja-JP" altLang="en-US" sz="24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のイメージ</a:t>
            </a:r>
            <a:endParaRPr lang="ja-JP" altLang="en-US" sz="24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76757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316B33-6646-B591-EA9C-AEACB2CA7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Vision-Transformer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566B1BB-96D7-8E44-A5A6-81BAA825A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ja-JP" dirty="0"/>
              <a:t>Transformer</a:t>
            </a:r>
            <a:r>
              <a:rPr lang="ja-JP" altLang="en-US" dirty="0"/>
              <a:t>で画像を扱う構造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B843591-F721-582B-E2A1-A0AE7C875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16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79552A3-A813-86D7-A098-BE2D03C18F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711" t="24564" r="48409" b="42385"/>
          <a:stretch/>
        </p:blipFill>
        <p:spPr>
          <a:xfrm>
            <a:off x="125969" y="1495480"/>
            <a:ext cx="2132444" cy="1435765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567C7CCE-80D6-3E77-E8FC-51EC295722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711" t="24564" r="48409" b="42385"/>
          <a:stretch/>
        </p:blipFill>
        <p:spPr>
          <a:xfrm>
            <a:off x="5029778" y="1495479"/>
            <a:ext cx="2132444" cy="1435765"/>
          </a:xfrm>
          <a:prstGeom prst="rect">
            <a:avLst/>
          </a:prstGeom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A5DCCEF0-3457-3B01-9F7D-94627C4606BF}"/>
              </a:ext>
            </a:extLst>
          </p:cNvPr>
          <p:cNvCxnSpPr>
            <a:stCxn id="6" idx="0"/>
            <a:endCxn id="6" idx="2"/>
          </p:cNvCxnSpPr>
          <p:nvPr/>
        </p:nvCxnSpPr>
        <p:spPr>
          <a:xfrm>
            <a:off x="6096000" y="1495479"/>
            <a:ext cx="0" cy="1435765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8DA50610-8E03-1751-F1AA-242FFF556E15}"/>
              </a:ext>
            </a:extLst>
          </p:cNvPr>
          <p:cNvCxnSpPr>
            <a:cxnSpLocks/>
            <a:stCxn id="6" idx="1"/>
            <a:endCxn id="6" idx="3"/>
          </p:cNvCxnSpPr>
          <p:nvPr/>
        </p:nvCxnSpPr>
        <p:spPr>
          <a:xfrm>
            <a:off x="5029778" y="2213362"/>
            <a:ext cx="2132444" cy="0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表 15">
            <a:extLst>
              <a:ext uri="{FF2B5EF4-FFF2-40B4-BE49-F238E27FC236}">
                <a16:creationId xmlns:a16="http://schemas.microsoft.com/office/drawing/2014/main" id="{5DAD02EE-3267-EA16-024D-7A777C87BFA5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3244912"/>
          <a:ext cx="81280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87106873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29258027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88575619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35831533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752858966"/>
                    </a:ext>
                  </a:extLst>
                </a:gridCol>
              </a:tblGrid>
              <a:tr h="648000"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6091191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×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0398626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×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7797715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×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2589624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×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〇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5699617"/>
                  </a:ext>
                </a:extLst>
              </a:tr>
            </a:tbl>
          </a:graphicData>
        </a:graphic>
      </p:graphicFrame>
      <p:pic>
        <p:nvPicPr>
          <p:cNvPr id="18" name="図 17">
            <a:extLst>
              <a:ext uri="{FF2B5EF4-FFF2-40B4-BE49-F238E27FC236}">
                <a16:creationId xmlns:a16="http://schemas.microsoft.com/office/drawing/2014/main" id="{7DC592B9-65F3-FAF0-2301-E4D0FCDFC5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711" t="24564" r="64349" b="58911"/>
          <a:stretch/>
        </p:blipFill>
        <p:spPr>
          <a:xfrm>
            <a:off x="3986090" y="3256893"/>
            <a:ext cx="911716" cy="613855"/>
          </a:xfrm>
          <a:prstGeom prst="rect">
            <a:avLst/>
          </a:prstGeom>
        </p:spPr>
      </p:pic>
      <p:pic>
        <p:nvPicPr>
          <p:cNvPr id="19" name="図 18">
            <a:extLst>
              <a:ext uri="{FF2B5EF4-FFF2-40B4-BE49-F238E27FC236}">
                <a16:creationId xmlns:a16="http://schemas.microsoft.com/office/drawing/2014/main" id="{CC0751A7-E05B-3C98-58CA-5AFB31972B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711" t="41089" r="64349" b="42386"/>
          <a:stretch/>
        </p:blipFill>
        <p:spPr>
          <a:xfrm>
            <a:off x="8948244" y="3256893"/>
            <a:ext cx="911716" cy="613855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69722B90-5C79-6F72-1609-2C00E8C31BA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652" t="24564" r="48408" b="58911"/>
          <a:stretch/>
        </p:blipFill>
        <p:spPr>
          <a:xfrm>
            <a:off x="5640141" y="3256893"/>
            <a:ext cx="911718" cy="613855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E9B002C9-5342-ABAF-6C33-8BDFAE29F4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652" t="41089" r="48408" b="42386"/>
          <a:stretch/>
        </p:blipFill>
        <p:spPr>
          <a:xfrm>
            <a:off x="7294194" y="3256893"/>
            <a:ext cx="911715" cy="613855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2A9A6F1A-3A2E-9CB8-930B-BD34C269BF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711" t="24564" r="64349" b="58911"/>
          <a:stretch/>
        </p:blipFill>
        <p:spPr>
          <a:xfrm>
            <a:off x="2416370" y="3905442"/>
            <a:ext cx="911716" cy="613855"/>
          </a:xfrm>
          <a:prstGeom prst="rect">
            <a:avLst/>
          </a:prstGeom>
        </p:spPr>
      </p:pic>
      <p:pic>
        <p:nvPicPr>
          <p:cNvPr id="23" name="図 22">
            <a:extLst>
              <a:ext uri="{FF2B5EF4-FFF2-40B4-BE49-F238E27FC236}">
                <a16:creationId xmlns:a16="http://schemas.microsoft.com/office/drawing/2014/main" id="{1BF65064-11C2-18BB-08FE-81DB353710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652" t="24564" r="48408" b="58911"/>
          <a:stretch/>
        </p:blipFill>
        <p:spPr>
          <a:xfrm>
            <a:off x="2416370" y="4555191"/>
            <a:ext cx="911718" cy="613855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260A7661-7A5E-0067-F0B9-2CF61FE017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652" t="41089" r="48408" b="42386"/>
          <a:stretch/>
        </p:blipFill>
        <p:spPr>
          <a:xfrm>
            <a:off x="2416371" y="5212560"/>
            <a:ext cx="911715" cy="613855"/>
          </a:xfrm>
          <a:prstGeom prst="rect">
            <a:avLst/>
          </a:prstGeom>
        </p:spPr>
      </p:pic>
      <p:pic>
        <p:nvPicPr>
          <p:cNvPr id="25" name="図 24">
            <a:extLst>
              <a:ext uri="{FF2B5EF4-FFF2-40B4-BE49-F238E27FC236}">
                <a16:creationId xmlns:a16="http://schemas.microsoft.com/office/drawing/2014/main" id="{5B52A448-769A-2EB6-2976-42498E9DC6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711" t="41089" r="64349" b="42386"/>
          <a:stretch/>
        </p:blipFill>
        <p:spPr>
          <a:xfrm>
            <a:off x="2416370" y="5857825"/>
            <a:ext cx="911716" cy="613855"/>
          </a:xfrm>
          <a:prstGeom prst="rect">
            <a:avLst/>
          </a:prstGeom>
        </p:spPr>
      </p:pic>
      <p:sp>
        <p:nvSpPr>
          <p:cNvPr id="28" name="矢印: 右 27">
            <a:extLst>
              <a:ext uri="{FF2B5EF4-FFF2-40B4-BE49-F238E27FC236}">
                <a16:creationId xmlns:a16="http://schemas.microsoft.com/office/drawing/2014/main" id="{0CD7254F-6F14-79B6-59C3-74DE773B3432}"/>
              </a:ext>
            </a:extLst>
          </p:cNvPr>
          <p:cNvSpPr/>
          <p:nvPr/>
        </p:nvSpPr>
        <p:spPr>
          <a:xfrm>
            <a:off x="2761882" y="1765397"/>
            <a:ext cx="1764427" cy="895927"/>
          </a:xfrm>
          <a:prstGeom prst="right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パッチ化</a:t>
            </a:r>
          </a:p>
        </p:txBody>
      </p:sp>
      <p:sp>
        <p:nvSpPr>
          <p:cNvPr id="29" name="吹き出し: 四角形 28">
            <a:extLst>
              <a:ext uri="{FF2B5EF4-FFF2-40B4-BE49-F238E27FC236}">
                <a16:creationId xmlns:a16="http://schemas.microsoft.com/office/drawing/2014/main" id="{75CACA93-F9CD-FB15-E140-50D8B7C7834A}"/>
              </a:ext>
            </a:extLst>
          </p:cNvPr>
          <p:cNvSpPr/>
          <p:nvPr/>
        </p:nvSpPr>
        <p:spPr>
          <a:xfrm>
            <a:off x="9110476" y="2313392"/>
            <a:ext cx="2666770" cy="766012"/>
          </a:xfrm>
          <a:prstGeom prst="wedgeRectCallout">
            <a:avLst>
              <a:gd name="adj1" fmla="val -49568"/>
              <a:gd name="adj2" fmla="val 66066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パッチどうしの</a:t>
            </a:r>
            <a:endParaRPr kumimoji="1" lang="en-US" altLang="ja-JP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pPr algn="ctr"/>
            <a:r>
              <a:rPr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関連性を考慮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094970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CE5701-FA72-7317-FDF8-BAD2D2A09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Cross-Attention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DAB67703-1C7C-1083-A680-8024F905B9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kumimoji="1" lang="en-US" altLang="ja-JP" dirty="0"/>
                  <a:t>2</a:t>
                </a:r>
                <a:r>
                  <a:rPr kumimoji="1" lang="ja-JP" altLang="en-US" dirty="0"/>
                  <a:t>つのデータの要素どうしの関連性を考慮</a:t>
                </a:r>
                <a:r>
                  <a:rPr kumimoji="1" lang="ja-JP" altLang="en-US"/>
                  <a:t>する構造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1">
                          <a:latin typeface="Cambria Math" panose="02040503050406030204" pitchFamily="18" charset="0"/>
                        </a:rPr>
                        <m:t>𝐐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1">
                          <a:latin typeface="Cambria Math" panose="02040503050406030204" pitchFamily="18" charset="0"/>
                        </a:rPr>
                        <m:t>𝐗</m:t>
                      </m:r>
                      <m:sSub>
                        <m:sSubPr>
                          <m:ctrlPr>
                            <a:rPr lang="en-US" altLang="ja-JP" b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1"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lang="en-US" altLang="ja-JP" b="1">
                              <a:latin typeface="Cambria Math" panose="02040503050406030204" pitchFamily="18" charset="0"/>
                            </a:rPr>
                            <m:t>𝐐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ja-JP" b="1">
                          <a:latin typeface="Cambria Math" panose="02040503050406030204" pitchFamily="18" charset="0"/>
                        </a:rPr>
                        <m:t>𝐊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𝐘</m:t>
                      </m:r>
                      <m:sSub>
                        <m:sSubPr>
                          <m:ctrlPr>
                            <a:rPr lang="en-US" altLang="ja-JP" b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1"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lang="en-US" altLang="ja-JP" b="1">
                              <a:latin typeface="Cambria Math" panose="02040503050406030204" pitchFamily="18" charset="0"/>
                            </a:rPr>
                            <m:t>𝐊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ja-JP" b="1">
                          <a:latin typeface="Cambria Math" panose="02040503050406030204" pitchFamily="18" charset="0"/>
                        </a:rPr>
                        <m:t>𝐕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1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𝐘</m:t>
                      </m:r>
                      <m:sSub>
                        <m:sSubPr>
                          <m:ctrlPr>
                            <a:rPr lang="en-US" altLang="ja-JP" b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b="1"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lang="en-US" altLang="ja-JP" b="1">
                              <a:latin typeface="Cambria Math" panose="02040503050406030204" pitchFamily="18" charset="0"/>
                            </a:rPr>
                            <m:t>𝐕</m:t>
                          </m:r>
                        </m:sub>
                      </m:sSub>
                    </m:oMath>
                  </m:oMathPara>
                </a14:m>
                <a:endParaRPr lang="en-US" altLang="ja-JP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𝐀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𝑠𝑜𝑓𝑡𝑚𝑎𝑥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lin"/>
                          <m:ctrlPr>
                            <a:rPr lang="en-US" altLang="ja-JP" b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b="1">
                              <a:latin typeface="Cambria Math" panose="02040503050406030204" pitchFamily="18" charset="0"/>
                            </a:rPr>
                            <m:t>𝐐</m:t>
                          </m:r>
                          <m:sSup>
                            <m:sSupPr>
                              <m:ctrlPr>
                                <a:rPr lang="en-US" altLang="ja-JP" b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b="1">
                                  <a:latin typeface="Cambria Math" panose="02040503050406030204" pitchFamily="18" charset="0"/>
                                </a:rPr>
                                <m:t>𝐊</m:t>
                              </m:r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</m:rad>
                        </m:den>
                      </m:f>
                      <m:r>
                        <a:rPr lang="en-US" altLang="ja-JP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1">
                          <a:latin typeface="Cambria Math" panose="02040503050406030204" pitchFamily="18" charset="0"/>
                        </a:rPr>
                        <m:t>𝐘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1" i="0" smtClean="0"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lang="en-US" altLang="ja-JP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ja-JP" b="1">
                          <a:latin typeface="Cambria Math" panose="02040503050406030204" pitchFamily="18" charset="0"/>
                        </a:rPr>
                        <m:t>𝐀𝐕</m:t>
                      </m:r>
                    </m:oMath>
                  </m:oMathPara>
                </a14:m>
                <a:endParaRPr lang="en-US" altLang="ja-JP" dirty="0"/>
              </a:p>
              <a:p>
                <a:pPr marL="0" indent="0">
                  <a:buNone/>
                </a:pPr>
                <a:r>
                  <a:rPr lang="en-US" altLang="ja-JP" dirty="0"/>
                  <a:t>※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1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1×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altLang="ja-JP" dirty="0"/>
                  <a:t>: </a:t>
                </a:r>
                <a:r>
                  <a:rPr lang="ja-JP" altLang="en-US"/>
                  <a:t>入力の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ja-JP" altLang="en-US"/>
                  <a:t>番目の要素，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b="1"/>
                  <a:t>　 </a:t>
                </a:r>
                <a14:m>
                  <m:oMath xmlns:m="http://schemas.openxmlformats.org/officeDocument/2006/math">
                    <m:r>
                      <a:rPr lang="en-US" altLang="ja-JP" b="1" i="0" smtClean="0">
                        <a:latin typeface="Cambria Math" panose="02040503050406030204" pitchFamily="18" charset="0"/>
                      </a:rPr>
                      <m:t>𝐘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ja-JP" b="1" i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b="1" i="0" smtClean="0">
                                    <a:latin typeface="Cambria Math" panose="02040503050406030204" pitchFamily="18" charset="0"/>
                                  </a:rPr>
                                  <m:t>𝐲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Sup>
                              <m:sSubSupPr>
                                <m:ctrlPr>
                                  <a:rPr lang="en-US" altLang="ja-JP" b="1" i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b="1" i="0" smtClean="0">
                                    <a:latin typeface="Cambria Math" panose="02040503050406030204" pitchFamily="18" charset="0"/>
                                  </a:rPr>
                                  <m:t>𝐲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Sup>
                              <m:sSubSupPr>
                                <m:ctrlPr>
                                  <a:rPr lang="en-US" altLang="ja-JP" b="1" i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b="1" i="0" smtClean="0">
                                    <a:latin typeface="Cambria Math" panose="02040503050406030204" pitchFamily="18" charset="0"/>
                                  </a:rPr>
                                  <m:t>𝐲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b>
                              <m:sup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altLang="ja-JP" dirty="0"/>
                  <a:t>: </a:t>
                </a:r>
                <a:r>
                  <a:rPr lang="ja-JP" altLang="en-US"/>
                  <a:t>全ての入力，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b="1"/>
                  <a:t>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altLang="ja-JP" b="1">
                            <a:latin typeface="Cambria Math" panose="02040503050406030204" pitchFamily="18" charset="0"/>
                          </a:rPr>
                          <m:t>𝐐</m:t>
                        </m:r>
                      </m:sub>
                    </m:sSub>
                    <m:r>
                      <a:rPr lang="en-US" altLang="ja-JP" b="1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b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altLang="ja-JP" b="1">
                            <a:latin typeface="Cambria Math" panose="02040503050406030204" pitchFamily="18" charset="0"/>
                          </a:rPr>
                          <m:t>𝐊</m:t>
                        </m:r>
                      </m:sub>
                    </m:sSub>
                    <m:r>
                      <a:rPr lang="en-US" altLang="ja-JP" b="1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b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altLang="ja-JP" b="1">
                            <a:latin typeface="Cambria Math" panose="02040503050406030204" pitchFamily="18" charset="0"/>
                          </a:rPr>
                          <m:t>𝐕</m:t>
                        </m:r>
                      </m:sub>
                    </m:sSub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altLang="ja-JP" dirty="0"/>
                  <a:t>: </a:t>
                </a:r>
                <a:r>
                  <a:rPr lang="ja-JP" altLang="en-US"/>
                  <a:t>学習する重み，</a:t>
                </a: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b="1"/>
                  <a:t>　 </a:t>
                </a:r>
                <a14:m>
                  <m:oMath xmlns:m="http://schemas.openxmlformats.org/officeDocument/2006/math">
                    <m:r>
                      <a:rPr lang="en-US" altLang="ja-JP" b="1">
                        <a:latin typeface="Cambria Math" panose="02040503050406030204" pitchFamily="18" charset="0"/>
                      </a:rPr>
                      <m:t>𝐘</m:t>
                    </m:r>
                  </m:oMath>
                </a14:m>
                <a:r>
                  <a:rPr lang="en-US" altLang="ja-JP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ja-JP" dirty="0"/>
                  <a:t>: </a:t>
                </a:r>
                <a:r>
                  <a:rPr lang="ja-JP" altLang="en-US"/>
                  <a:t>出力</a:t>
                </a:r>
                <a:endParaRPr lang="en-US" altLang="ja-JP" dirty="0"/>
              </a:p>
              <a:p>
                <a:pPr marL="0" indent="0">
                  <a:buNone/>
                </a:pPr>
                <a:endParaRPr kumimoji="1" lang="ja-JP" altLang="en-US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DAB67703-1C7C-1083-A680-8024F905B9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4" t="-204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3F4558F-7A1A-8DF6-8538-D8E69E66D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17</a:t>
            </a:fld>
            <a:endParaRPr kumimoji="1" lang="ja-JP" altLang="en-US"/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103A0A63-7E67-FDE4-1505-A6A53C28EC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3711986"/>
              </p:ext>
            </p:extLst>
          </p:nvPr>
        </p:nvGraphicFramePr>
        <p:xfrm>
          <a:off x="7433760" y="3455861"/>
          <a:ext cx="4632271" cy="2921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2045">
                  <a:extLst>
                    <a:ext uri="{9D8B030D-6E8A-4147-A177-3AD203B41FA5}">
                      <a16:colId xmlns:a16="http://schemas.microsoft.com/office/drawing/2014/main" val="1871068737"/>
                    </a:ext>
                  </a:extLst>
                </a:gridCol>
                <a:gridCol w="714071">
                  <a:extLst>
                    <a:ext uri="{9D8B030D-6E8A-4147-A177-3AD203B41FA5}">
                      <a16:colId xmlns:a16="http://schemas.microsoft.com/office/drawing/2014/main" val="4292580271"/>
                    </a:ext>
                  </a:extLst>
                </a:gridCol>
                <a:gridCol w="449451">
                  <a:extLst>
                    <a:ext uri="{9D8B030D-6E8A-4147-A177-3AD203B41FA5}">
                      <a16:colId xmlns:a16="http://schemas.microsoft.com/office/drawing/2014/main" val="3885756196"/>
                    </a:ext>
                  </a:extLst>
                </a:gridCol>
                <a:gridCol w="1239865">
                  <a:extLst>
                    <a:ext uri="{9D8B030D-6E8A-4147-A177-3AD203B41FA5}">
                      <a16:colId xmlns:a16="http://schemas.microsoft.com/office/drawing/2014/main" val="2358315334"/>
                    </a:ext>
                  </a:extLst>
                </a:gridCol>
                <a:gridCol w="534691">
                  <a:extLst>
                    <a:ext uri="{9D8B030D-6E8A-4147-A177-3AD203B41FA5}">
                      <a16:colId xmlns:a16="http://schemas.microsoft.com/office/drawing/2014/main" val="752858966"/>
                    </a:ext>
                  </a:extLst>
                </a:gridCol>
                <a:gridCol w="922148">
                  <a:extLst>
                    <a:ext uri="{9D8B030D-6E8A-4147-A177-3AD203B41FA5}">
                      <a16:colId xmlns:a16="http://schemas.microsoft.com/office/drawing/2014/main" val="3185417975"/>
                    </a:ext>
                  </a:extLst>
                </a:gridCol>
              </a:tblGrid>
              <a:tr h="584295"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米国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三途の川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陽気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6091191"/>
                  </a:ext>
                </a:extLst>
              </a:tr>
              <a:tr h="584295"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×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×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0398626"/>
                  </a:ext>
                </a:extLst>
              </a:tr>
              <a:tr h="584295"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×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×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7797715"/>
                  </a:ext>
                </a:extLst>
              </a:tr>
              <a:tr h="584295"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△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×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×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△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2589624"/>
                  </a:ext>
                </a:extLst>
              </a:tr>
              <a:tr h="584295"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×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×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5699617"/>
                  </a:ext>
                </a:extLst>
              </a:tr>
            </a:tbl>
          </a:graphicData>
        </a:graphic>
      </p:graphicFrame>
      <p:pic>
        <p:nvPicPr>
          <p:cNvPr id="10" name="図 9">
            <a:extLst>
              <a:ext uri="{FF2B5EF4-FFF2-40B4-BE49-F238E27FC236}">
                <a16:creationId xmlns:a16="http://schemas.microsoft.com/office/drawing/2014/main" id="{4C363A1C-6062-9BCA-6FCC-B2CF5DBCD3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711" t="24564" r="64349" b="58911"/>
          <a:stretch/>
        </p:blipFill>
        <p:spPr>
          <a:xfrm>
            <a:off x="7433758" y="4093358"/>
            <a:ext cx="745421" cy="501889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29A6A528-470F-AB61-8E44-31B4747C88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652" t="24564" r="48408" b="58911"/>
          <a:stretch/>
        </p:blipFill>
        <p:spPr>
          <a:xfrm>
            <a:off x="7444580" y="4661269"/>
            <a:ext cx="745422" cy="501889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8A32B955-A22E-1089-9A00-F49ED5D5CE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652" t="41089" r="48408" b="42386"/>
          <a:stretch/>
        </p:blipFill>
        <p:spPr>
          <a:xfrm>
            <a:off x="7444580" y="5252271"/>
            <a:ext cx="745422" cy="501890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B859F536-878D-4CEE-C358-4F61BD4FFE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711" t="41089" r="64349" b="42386"/>
          <a:stretch/>
        </p:blipFill>
        <p:spPr>
          <a:xfrm>
            <a:off x="7433758" y="5827776"/>
            <a:ext cx="745422" cy="501890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75E544E-7E08-EC68-6815-096656BCFA93}"/>
              </a:ext>
            </a:extLst>
          </p:cNvPr>
          <p:cNvSpPr txBox="1"/>
          <p:nvPr/>
        </p:nvSpPr>
        <p:spPr>
          <a:xfrm>
            <a:off x="7862761" y="2994196"/>
            <a:ext cx="37742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ja-JP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Attention Map</a:t>
            </a:r>
            <a:r>
              <a:rPr lang="ja-JP" altLang="en-US" sz="24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のイメージ</a:t>
            </a:r>
            <a:endParaRPr lang="ja-JP" altLang="en-US" sz="24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  <p:sp>
        <p:nvSpPr>
          <p:cNvPr id="7" name="吹き出し: 四角形 13">
            <a:extLst>
              <a:ext uri="{FF2B5EF4-FFF2-40B4-BE49-F238E27FC236}">
                <a16:creationId xmlns:a16="http://schemas.microsoft.com/office/drawing/2014/main" id="{A2A524FD-AC2E-5E6D-640D-C59B28AC0A60}"/>
              </a:ext>
            </a:extLst>
          </p:cNvPr>
          <p:cNvSpPr/>
          <p:nvPr/>
        </p:nvSpPr>
        <p:spPr>
          <a:xfrm>
            <a:off x="2231757" y="5371155"/>
            <a:ext cx="4751186" cy="766012"/>
          </a:xfrm>
          <a:prstGeom prst="wedgeRectCallout">
            <a:avLst>
              <a:gd name="adj1" fmla="val 58078"/>
              <a:gd name="adj2" fmla="val -33073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モデルがある単語に対し，</a:t>
            </a:r>
            <a:endParaRPr lang="en-US" altLang="ja-JP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pPr algn="ctr"/>
            <a:r>
              <a:rPr lang="ja-JP" altLang="en-US" sz="24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どの部分を着目しているかを示す</a:t>
            </a:r>
            <a:endParaRPr kumimoji="1" lang="ja-JP" altLang="en-US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435337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D897ED-ECDB-EDBE-E00C-3A38F41E1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WiT</a:t>
            </a:r>
            <a:r>
              <a:rPr kumimoji="1" lang="ja-JP" altLang="en-US"/>
              <a:t>のモデル構造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6D9105-8810-B8BC-8E97-BE074BA4A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6A23C88-61DD-BF6D-66C7-C12F2265B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18</a:t>
            </a:fld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CF62A43-5E36-D2E0-801F-7FC2DEB806B3}"/>
              </a:ext>
            </a:extLst>
          </p:cNvPr>
          <p:cNvSpPr/>
          <p:nvPr/>
        </p:nvSpPr>
        <p:spPr>
          <a:xfrm>
            <a:off x="8605218" y="909719"/>
            <a:ext cx="3330365" cy="49546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20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939E9B8A-FE5F-0DBE-4260-C6539CC2069C}"/>
              </a:ext>
            </a:extLst>
          </p:cNvPr>
          <p:cNvSpPr/>
          <p:nvPr/>
        </p:nvSpPr>
        <p:spPr>
          <a:xfrm>
            <a:off x="5364953" y="926596"/>
            <a:ext cx="3055402" cy="49546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20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170F40A-1C0E-B84C-70C0-50680D0D4CF9}"/>
              </a:ext>
            </a:extLst>
          </p:cNvPr>
          <p:cNvSpPr/>
          <p:nvPr/>
        </p:nvSpPr>
        <p:spPr>
          <a:xfrm>
            <a:off x="1835215" y="2032975"/>
            <a:ext cx="3006545" cy="201711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20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6CA08BF0-272C-566C-26A2-11BFF440D9C8}"/>
              </a:ext>
            </a:extLst>
          </p:cNvPr>
          <p:cNvSpPr/>
          <p:nvPr/>
        </p:nvSpPr>
        <p:spPr>
          <a:xfrm>
            <a:off x="1995489" y="4638885"/>
            <a:ext cx="2686007" cy="4892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Embedding</a:t>
            </a:r>
            <a:endParaRPr kumimoji="1" lang="ja-JP" altLang="en-US" sz="20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8DDE87B-E517-EF7D-0B5A-81AE2A7639E2}"/>
              </a:ext>
            </a:extLst>
          </p:cNvPr>
          <p:cNvSpPr/>
          <p:nvPr/>
        </p:nvSpPr>
        <p:spPr>
          <a:xfrm>
            <a:off x="1995490" y="3160800"/>
            <a:ext cx="2686006" cy="7516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Self-Attention</a:t>
            </a:r>
          </a:p>
          <a:p>
            <a:pPr algn="ctr"/>
            <a:r>
              <a:rPr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Block</a:t>
            </a:r>
            <a:endParaRPr kumimoji="1" lang="ja-JP" altLang="en-US" sz="20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EAE92D7-6E58-87C0-164E-3CCD8CCA7341}"/>
              </a:ext>
            </a:extLst>
          </p:cNvPr>
          <p:cNvSpPr/>
          <p:nvPr/>
        </p:nvSpPr>
        <p:spPr>
          <a:xfrm>
            <a:off x="1995490" y="2199764"/>
            <a:ext cx="2686006" cy="75166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Cross-Attention</a:t>
            </a:r>
          </a:p>
          <a:p>
            <a:pPr algn="ctr"/>
            <a:r>
              <a:rPr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Block</a:t>
            </a:r>
            <a:endParaRPr kumimoji="1" lang="ja-JP" altLang="en-US" sz="20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D0A38469-040A-E288-AC35-6CC64D686754}"/>
              </a:ext>
            </a:extLst>
          </p:cNvPr>
          <p:cNvCxnSpPr>
            <a:cxnSpLocks/>
            <a:stCxn id="14" idx="0"/>
            <a:endCxn id="15" idx="2"/>
          </p:cNvCxnSpPr>
          <p:nvPr/>
        </p:nvCxnSpPr>
        <p:spPr>
          <a:xfrm flipV="1">
            <a:off x="944602" y="5128136"/>
            <a:ext cx="1099" cy="4203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12A741D3-2FD3-D378-B349-52EB7D744C57}"/>
                  </a:ext>
                </a:extLst>
              </p:cNvPr>
              <p:cNvSpPr txBox="1"/>
              <p:nvPr/>
            </p:nvSpPr>
            <p:spPr>
              <a:xfrm>
                <a:off x="1835215" y="1743486"/>
                <a:ext cx="50481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altLang="ja-JP" sz="200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ja-JP" sz="2000" b="0" i="1" smtClean="0">
                          <a:solidFill>
                            <a:sysClr val="windowText" lastClr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kumimoji="1" lang="ja-JP" altLang="en-US" sz="2000">
                  <a:solidFill>
                    <a:sysClr val="windowText" lastClr="000000"/>
                  </a:solidFill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12A741D3-2FD3-D378-B349-52EB7D744C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215" y="1743486"/>
                <a:ext cx="504817" cy="307777"/>
              </a:xfrm>
              <a:prstGeom prst="rect">
                <a:avLst/>
              </a:prstGeom>
              <a:blipFill>
                <a:blip r:embed="rId2"/>
                <a:stretch>
                  <a:fillRect l="-14634" b="-12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C04A83E-E6EC-D1C7-1AAF-87EF36422730}"/>
              </a:ext>
            </a:extLst>
          </p:cNvPr>
          <p:cNvSpPr txBox="1"/>
          <p:nvPr/>
        </p:nvSpPr>
        <p:spPr>
          <a:xfrm>
            <a:off x="2149956" y="5793505"/>
            <a:ext cx="4766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>
                <a:latin typeface="BIZ UDGothic" panose="020B0400000000000000" pitchFamily="49" charset="-128"/>
                <a:ea typeface="BIZ UDGothic" panose="020B0400000000000000" pitchFamily="49" charset="-128"/>
              </a:rPr>
              <a:t>猫</a:t>
            </a:r>
          </a:p>
        </p:txBody>
      </p:sp>
      <p:pic>
        <p:nvPicPr>
          <p:cNvPr id="14" name="Picture 6">
            <a:extLst>
              <a:ext uri="{FF2B5EF4-FFF2-40B4-BE49-F238E27FC236}">
                <a16:creationId xmlns:a16="http://schemas.microsoft.com/office/drawing/2014/main" id="{08594439-AEDD-CF1F-1129-A10FB3034BF6}"/>
              </a:ext>
            </a:extLst>
          </p:cNvPr>
          <p:cNvPicPr>
            <a:picLocks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298538" y="5548521"/>
            <a:ext cx="1292127" cy="1292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台形 14">
            <a:extLst>
              <a:ext uri="{FF2B5EF4-FFF2-40B4-BE49-F238E27FC236}">
                <a16:creationId xmlns:a16="http://schemas.microsoft.com/office/drawing/2014/main" id="{7D750AB5-4ACA-6309-3885-793EB4DB8A5A}"/>
              </a:ext>
            </a:extLst>
          </p:cNvPr>
          <p:cNvSpPr/>
          <p:nvPr/>
        </p:nvSpPr>
        <p:spPr>
          <a:xfrm>
            <a:off x="317306" y="4305306"/>
            <a:ext cx="1256790" cy="822830"/>
          </a:xfrm>
          <a:prstGeom prst="trapezoid">
            <a:avLst/>
          </a:prstGeom>
          <a:solidFill>
            <a:srgbClr val="F9BEE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000" dirty="0" err="1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ViT</a:t>
            </a:r>
            <a:endParaRPr kumimoji="1" lang="ja-JP" altLang="en-US" sz="20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05D658D0-3D71-DD64-A0A8-E759EA7CDD35}"/>
              </a:ext>
            </a:extLst>
          </p:cNvPr>
          <p:cNvSpPr txBox="1"/>
          <p:nvPr/>
        </p:nvSpPr>
        <p:spPr>
          <a:xfrm>
            <a:off x="3100184" y="5793505"/>
            <a:ext cx="4766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000">
                <a:latin typeface="BIZ UDGothic" panose="020B0400000000000000" pitchFamily="49" charset="-128"/>
                <a:ea typeface="BIZ UDGothic" panose="020B0400000000000000" pitchFamily="49" charset="-128"/>
              </a:rPr>
              <a:t>が</a:t>
            </a:r>
            <a:endParaRPr kumimoji="1" lang="ja-JP" altLang="en-US" sz="200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E0EF3D4-4DC0-6590-73D8-9355F3B70629}"/>
              </a:ext>
            </a:extLst>
          </p:cNvPr>
          <p:cNvSpPr txBox="1"/>
          <p:nvPr/>
        </p:nvSpPr>
        <p:spPr>
          <a:xfrm>
            <a:off x="4050412" y="5793505"/>
            <a:ext cx="4766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>
                <a:latin typeface="BIZ UDGothic" panose="020B0400000000000000" pitchFamily="49" charset="-128"/>
                <a:ea typeface="BIZ UDGothic" panose="020B0400000000000000" pitchFamily="49" charset="-128"/>
              </a:rPr>
              <a:t>寝</a:t>
            </a:r>
          </a:p>
        </p:txBody>
      </p:sp>
      <p:cxnSp>
        <p:nvCxnSpPr>
          <p:cNvPr id="18" name="直線矢印コネクタ 75">
            <a:extLst>
              <a:ext uri="{FF2B5EF4-FFF2-40B4-BE49-F238E27FC236}">
                <a16:creationId xmlns:a16="http://schemas.microsoft.com/office/drawing/2014/main" id="{722A9F3A-AD8D-C0A2-9B13-15C5259650B8}"/>
              </a:ext>
            </a:extLst>
          </p:cNvPr>
          <p:cNvCxnSpPr>
            <a:cxnSpLocks/>
            <a:stCxn id="15" idx="0"/>
            <a:endCxn id="10" idx="1"/>
          </p:cNvCxnSpPr>
          <p:nvPr/>
        </p:nvCxnSpPr>
        <p:spPr>
          <a:xfrm rot="5400000" flipH="1" flipV="1">
            <a:off x="605741" y="2915558"/>
            <a:ext cx="1729708" cy="104978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971E7BDB-361E-6102-51A3-8AA5753AF094}"/>
              </a:ext>
            </a:extLst>
          </p:cNvPr>
          <p:cNvCxnSpPr>
            <a:cxnSpLocks/>
            <a:stCxn id="13" idx="0"/>
          </p:cNvCxnSpPr>
          <p:nvPr/>
        </p:nvCxnSpPr>
        <p:spPr>
          <a:xfrm flipV="1">
            <a:off x="2388265" y="5128136"/>
            <a:ext cx="0" cy="6653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350592A8-48C2-1072-F4F5-BA499E2755B4}"/>
              </a:ext>
            </a:extLst>
          </p:cNvPr>
          <p:cNvCxnSpPr>
            <a:cxnSpLocks/>
            <a:stCxn id="16" idx="0"/>
            <a:endCxn id="8" idx="2"/>
          </p:cNvCxnSpPr>
          <p:nvPr/>
        </p:nvCxnSpPr>
        <p:spPr>
          <a:xfrm flipV="1">
            <a:off x="3338493" y="5128136"/>
            <a:ext cx="0" cy="66536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F575A0C2-B790-AFD5-0309-98168A2E5937}"/>
              </a:ext>
            </a:extLst>
          </p:cNvPr>
          <p:cNvCxnSpPr>
            <a:cxnSpLocks/>
            <a:stCxn id="17" idx="0"/>
          </p:cNvCxnSpPr>
          <p:nvPr/>
        </p:nvCxnSpPr>
        <p:spPr>
          <a:xfrm flipV="1">
            <a:off x="4288721" y="5137419"/>
            <a:ext cx="0" cy="6560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AB580139-A887-7A12-B217-3B027E659A6D}"/>
              </a:ext>
            </a:extLst>
          </p:cNvPr>
          <p:cNvCxnSpPr>
            <a:cxnSpLocks/>
            <a:stCxn id="8" idx="0"/>
            <a:endCxn id="9" idx="2"/>
          </p:cNvCxnSpPr>
          <p:nvPr/>
        </p:nvCxnSpPr>
        <p:spPr>
          <a:xfrm flipV="1">
            <a:off x="3338493" y="3912468"/>
            <a:ext cx="0" cy="7264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379E8A59-50AA-4370-95BE-51788DC6C446}"/>
              </a:ext>
            </a:extLst>
          </p:cNvPr>
          <p:cNvSpPr txBox="1"/>
          <p:nvPr/>
        </p:nvSpPr>
        <p:spPr>
          <a:xfrm>
            <a:off x="2705775" y="661817"/>
            <a:ext cx="1265423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000">
                <a:latin typeface="BIZ UDGothic" panose="020B0400000000000000" pitchFamily="49" charset="-128"/>
                <a:ea typeface="BIZ UDGothic" panose="020B0400000000000000" pitchFamily="49" charset="-128"/>
              </a:rPr>
              <a:t>ころんだ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B75D8A8-6863-4EA0-15CB-4F78736ABEF9}"/>
              </a:ext>
            </a:extLst>
          </p:cNvPr>
          <p:cNvSpPr/>
          <p:nvPr/>
        </p:nvSpPr>
        <p:spPr>
          <a:xfrm>
            <a:off x="317305" y="3292008"/>
            <a:ext cx="1256790" cy="4892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Dense</a:t>
            </a:r>
            <a:endParaRPr kumimoji="1" lang="ja-JP" altLang="en-US" sz="20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870631FF-0282-3A7B-6C61-69B80525689E}"/>
              </a:ext>
            </a:extLst>
          </p:cNvPr>
          <p:cNvSpPr/>
          <p:nvPr/>
        </p:nvSpPr>
        <p:spPr>
          <a:xfrm>
            <a:off x="1995486" y="1237706"/>
            <a:ext cx="2686007" cy="48925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Dense</a:t>
            </a:r>
            <a:endParaRPr kumimoji="1" lang="ja-JP" altLang="en-US" sz="20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B3860F68-AA94-FB39-7E8B-45BDF117923D}"/>
              </a:ext>
            </a:extLst>
          </p:cNvPr>
          <p:cNvCxnSpPr>
            <a:cxnSpLocks/>
            <a:stCxn id="10" idx="0"/>
            <a:endCxn id="25" idx="2"/>
          </p:cNvCxnSpPr>
          <p:nvPr/>
        </p:nvCxnSpPr>
        <p:spPr>
          <a:xfrm flipH="1" flipV="1">
            <a:off x="3338490" y="1726957"/>
            <a:ext cx="3" cy="47280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矢印コネクタ 26">
            <a:extLst>
              <a:ext uri="{FF2B5EF4-FFF2-40B4-BE49-F238E27FC236}">
                <a16:creationId xmlns:a16="http://schemas.microsoft.com/office/drawing/2014/main" id="{A5669BDF-6256-424E-0402-4879CA1ADB48}"/>
              </a:ext>
            </a:extLst>
          </p:cNvPr>
          <p:cNvCxnSpPr>
            <a:cxnSpLocks/>
            <a:stCxn id="25" idx="0"/>
            <a:endCxn id="23" idx="2"/>
          </p:cNvCxnSpPr>
          <p:nvPr/>
        </p:nvCxnSpPr>
        <p:spPr>
          <a:xfrm flipH="1" flipV="1">
            <a:off x="3338487" y="1061927"/>
            <a:ext cx="3" cy="17577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24E3D0FF-756B-5F19-A71A-DCBE5E23B9DF}"/>
              </a:ext>
            </a:extLst>
          </p:cNvPr>
          <p:cNvCxnSpPr>
            <a:cxnSpLocks/>
            <a:stCxn id="9" idx="0"/>
            <a:endCxn id="10" idx="2"/>
          </p:cNvCxnSpPr>
          <p:nvPr/>
        </p:nvCxnSpPr>
        <p:spPr>
          <a:xfrm flipV="1">
            <a:off x="3338493" y="2951432"/>
            <a:ext cx="0" cy="20936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Picture 4" descr="Generated by DALL·E">
            <a:extLst>
              <a:ext uri="{FF2B5EF4-FFF2-40B4-BE49-F238E27FC236}">
                <a16:creationId xmlns:a16="http://schemas.microsoft.com/office/drawing/2014/main" id="{2E7707D7-42E4-E3FE-7359-63BD1E23BA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9464" y="4093122"/>
            <a:ext cx="473693" cy="473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A80826F9-16FE-CEA3-3594-B7883AD294E3}"/>
                  </a:ext>
                </a:extLst>
              </p:cNvPr>
              <p:cNvSpPr txBox="1"/>
              <p:nvPr/>
            </p:nvSpPr>
            <p:spPr>
              <a:xfrm>
                <a:off x="3190553" y="4147095"/>
                <a:ext cx="306519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>
                      <m:r>
                        <a:rPr kumimoji="1" lang="ja-JP" altLang="en-US" sz="2400" i="1" smtClean="0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⊕</m:t>
                      </m:r>
                    </m:oMath>
                  </m:oMathPara>
                </a14:m>
                <a:endParaRPr kumimoji="1" lang="ja-JP" altLang="en-US" sz="2400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A80826F9-16FE-CEA3-3594-B7883AD29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0553" y="4147095"/>
                <a:ext cx="306519" cy="369332"/>
              </a:xfrm>
              <a:prstGeom prst="rect">
                <a:avLst/>
              </a:prstGeom>
              <a:blipFill>
                <a:blip r:embed="rId5"/>
                <a:stretch>
                  <a:fillRect l="-40000" r="-40000" b="-2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3540E0FF-B68A-9707-AD39-C35FC2D0A965}"/>
              </a:ext>
            </a:extLst>
          </p:cNvPr>
          <p:cNvCxnSpPr>
            <a:cxnSpLocks/>
            <a:stCxn id="29" idx="1"/>
            <a:endCxn id="30" idx="3"/>
          </p:cNvCxnSpPr>
          <p:nvPr/>
        </p:nvCxnSpPr>
        <p:spPr>
          <a:xfrm flipH="1">
            <a:off x="3497072" y="4329969"/>
            <a:ext cx="432392" cy="179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836609C3-E3C0-4C16-8B6E-AD526D2E083A}"/>
              </a:ext>
            </a:extLst>
          </p:cNvPr>
          <p:cNvSpPr/>
          <p:nvPr/>
        </p:nvSpPr>
        <p:spPr>
          <a:xfrm>
            <a:off x="5706019" y="5237354"/>
            <a:ext cx="2625540" cy="3158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Layer Normalization</a:t>
            </a:r>
            <a:endParaRPr kumimoji="1" lang="ja-JP" altLang="en-US" sz="20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83C0F8BD-1F39-8337-22EE-441ECA4513FD}"/>
              </a:ext>
            </a:extLst>
          </p:cNvPr>
          <p:cNvSpPr/>
          <p:nvPr/>
        </p:nvSpPr>
        <p:spPr>
          <a:xfrm>
            <a:off x="5706019" y="4644654"/>
            <a:ext cx="2625540" cy="3158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Self-Attention</a:t>
            </a:r>
            <a:endParaRPr kumimoji="1" lang="ja-JP" altLang="en-US" sz="20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B39FE6D4-3E1E-4B39-1814-8C925E5B9A27}"/>
              </a:ext>
            </a:extLst>
          </p:cNvPr>
          <p:cNvSpPr/>
          <p:nvPr/>
        </p:nvSpPr>
        <p:spPr>
          <a:xfrm>
            <a:off x="5706019" y="4054538"/>
            <a:ext cx="2625540" cy="3158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Add</a:t>
            </a:r>
            <a:endParaRPr kumimoji="1" lang="ja-JP" altLang="en-US" sz="20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F103E711-7825-B143-B40B-B7C31A14800F}"/>
              </a:ext>
            </a:extLst>
          </p:cNvPr>
          <p:cNvSpPr/>
          <p:nvPr/>
        </p:nvSpPr>
        <p:spPr>
          <a:xfrm>
            <a:off x="5706018" y="3461838"/>
            <a:ext cx="2625540" cy="3158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Layer Normalization</a:t>
            </a:r>
            <a:endParaRPr kumimoji="1" lang="ja-JP" altLang="en-US" sz="20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971A0EF0-E8BE-8998-8C02-0685D653A069}"/>
              </a:ext>
            </a:extLst>
          </p:cNvPr>
          <p:cNvSpPr/>
          <p:nvPr/>
        </p:nvSpPr>
        <p:spPr>
          <a:xfrm>
            <a:off x="5706017" y="2866557"/>
            <a:ext cx="2625540" cy="3158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Dense</a:t>
            </a:r>
            <a:endParaRPr kumimoji="1" lang="ja-JP" altLang="en-US" sz="20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54129F80-6975-330A-60A6-8D2DF699A124}"/>
              </a:ext>
            </a:extLst>
          </p:cNvPr>
          <p:cNvSpPr/>
          <p:nvPr/>
        </p:nvSpPr>
        <p:spPr>
          <a:xfrm>
            <a:off x="5706019" y="2271276"/>
            <a:ext cx="2625540" cy="3158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Leaky </a:t>
            </a:r>
            <a:r>
              <a:rPr kumimoji="1" lang="en-US" altLang="ja-JP" sz="2000" dirty="0" err="1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ReLU</a:t>
            </a:r>
            <a:endParaRPr kumimoji="1" lang="ja-JP" altLang="en-US" sz="20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50B877ED-9DCF-7BE0-7E6A-7E2DB44F1F30}"/>
              </a:ext>
            </a:extLst>
          </p:cNvPr>
          <p:cNvSpPr/>
          <p:nvPr/>
        </p:nvSpPr>
        <p:spPr>
          <a:xfrm>
            <a:off x="5706016" y="1673411"/>
            <a:ext cx="2625540" cy="3158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Dense</a:t>
            </a:r>
            <a:endParaRPr kumimoji="1" lang="ja-JP" altLang="en-US" sz="20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D512FEFC-3FF4-F008-0F3C-225EE526DC47}"/>
              </a:ext>
            </a:extLst>
          </p:cNvPr>
          <p:cNvSpPr/>
          <p:nvPr/>
        </p:nvSpPr>
        <p:spPr>
          <a:xfrm>
            <a:off x="5706019" y="1083295"/>
            <a:ext cx="2625540" cy="3158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Add</a:t>
            </a:r>
            <a:endParaRPr kumimoji="1" lang="ja-JP" altLang="en-US" sz="20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3DE4D6CE-AF63-CB0B-AA06-45C289C8A0DD}"/>
              </a:ext>
            </a:extLst>
          </p:cNvPr>
          <p:cNvCxnSpPr>
            <a:cxnSpLocks/>
            <a:stCxn id="47" idx="0"/>
            <a:endCxn id="32" idx="2"/>
          </p:cNvCxnSpPr>
          <p:nvPr/>
        </p:nvCxnSpPr>
        <p:spPr>
          <a:xfrm flipV="1">
            <a:off x="7018786" y="5553155"/>
            <a:ext cx="3" cy="4070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矢印コネクタ 40">
            <a:extLst>
              <a:ext uri="{FF2B5EF4-FFF2-40B4-BE49-F238E27FC236}">
                <a16:creationId xmlns:a16="http://schemas.microsoft.com/office/drawing/2014/main" id="{C7ABDAC7-FF50-3B9B-AEA1-3E6018F3BFF4}"/>
              </a:ext>
            </a:extLst>
          </p:cNvPr>
          <p:cNvCxnSpPr>
            <a:cxnSpLocks/>
            <a:stCxn id="33" idx="0"/>
            <a:endCxn id="34" idx="2"/>
          </p:cNvCxnSpPr>
          <p:nvPr/>
        </p:nvCxnSpPr>
        <p:spPr>
          <a:xfrm flipV="1">
            <a:off x="7018789" y="4370339"/>
            <a:ext cx="0" cy="2743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7D0E19A0-2C2D-8653-F701-89DBA8137AEC}"/>
              </a:ext>
            </a:extLst>
          </p:cNvPr>
          <p:cNvCxnSpPr>
            <a:cxnSpLocks/>
            <a:stCxn id="34" idx="0"/>
            <a:endCxn id="35" idx="2"/>
          </p:cNvCxnSpPr>
          <p:nvPr/>
        </p:nvCxnSpPr>
        <p:spPr>
          <a:xfrm flipH="1" flipV="1">
            <a:off x="7018788" y="3777639"/>
            <a:ext cx="1" cy="2768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線矢印コネクタ 42">
            <a:extLst>
              <a:ext uri="{FF2B5EF4-FFF2-40B4-BE49-F238E27FC236}">
                <a16:creationId xmlns:a16="http://schemas.microsoft.com/office/drawing/2014/main" id="{3D03CD6B-8CCE-6DF5-C0DC-18ABE0C18EF5}"/>
              </a:ext>
            </a:extLst>
          </p:cNvPr>
          <p:cNvCxnSpPr>
            <a:cxnSpLocks/>
            <a:stCxn id="35" idx="0"/>
            <a:endCxn id="36" idx="2"/>
          </p:cNvCxnSpPr>
          <p:nvPr/>
        </p:nvCxnSpPr>
        <p:spPr>
          <a:xfrm flipH="1" flipV="1">
            <a:off x="7018787" y="3182358"/>
            <a:ext cx="1" cy="2794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DD609606-2ADE-0D61-5601-4251E4BBFD29}"/>
              </a:ext>
            </a:extLst>
          </p:cNvPr>
          <p:cNvCxnSpPr>
            <a:cxnSpLocks/>
            <a:stCxn id="36" idx="0"/>
            <a:endCxn id="37" idx="2"/>
          </p:cNvCxnSpPr>
          <p:nvPr/>
        </p:nvCxnSpPr>
        <p:spPr>
          <a:xfrm flipV="1">
            <a:off x="7018787" y="2587077"/>
            <a:ext cx="2" cy="2794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D01E2B21-0AF5-A6E1-78C1-8F7C0882F71C}"/>
              </a:ext>
            </a:extLst>
          </p:cNvPr>
          <p:cNvCxnSpPr>
            <a:cxnSpLocks/>
            <a:stCxn id="37" idx="0"/>
            <a:endCxn id="38" idx="2"/>
          </p:cNvCxnSpPr>
          <p:nvPr/>
        </p:nvCxnSpPr>
        <p:spPr>
          <a:xfrm flipH="1" flipV="1">
            <a:off x="7018786" y="1989212"/>
            <a:ext cx="3" cy="2820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矢印コネクタ 45">
            <a:extLst>
              <a:ext uri="{FF2B5EF4-FFF2-40B4-BE49-F238E27FC236}">
                <a16:creationId xmlns:a16="http://schemas.microsoft.com/office/drawing/2014/main" id="{9DC990E0-19EC-651F-3C10-1786F019E892}"/>
              </a:ext>
            </a:extLst>
          </p:cNvPr>
          <p:cNvCxnSpPr>
            <a:cxnSpLocks/>
            <a:stCxn id="38" idx="0"/>
            <a:endCxn id="39" idx="2"/>
          </p:cNvCxnSpPr>
          <p:nvPr/>
        </p:nvCxnSpPr>
        <p:spPr>
          <a:xfrm flipV="1">
            <a:off x="7018786" y="1399096"/>
            <a:ext cx="3" cy="2743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23F12092-F34D-F2C2-E699-191D8EEC3C7E}"/>
                  </a:ext>
                </a:extLst>
              </p:cNvPr>
              <p:cNvSpPr txBox="1"/>
              <p:nvPr/>
            </p:nvSpPr>
            <p:spPr>
              <a:xfrm>
                <a:off x="6492934" y="5960210"/>
                <a:ext cx="1051703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000" b="1" i="0" smtClean="0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𝐗</m:t>
                      </m:r>
                    </m:oMath>
                  </m:oMathPara>
                </a14:m>
                <a:endParaRPr kumimoji="1" lang="ja-JP" altLang="en-US" sz="2000" b="1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23F12092-F34D-F2C2-E699-191D8EEC3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2934" y="5960210"/>
                <a:ext cx="1051703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A2DDC293-A426-5D4E-F670-71B940AA97AE}"/>
              </a:ext>
            </a:extLst>
          </p:cNvPr>
          <p:cNvCxnSpPr>
            <a:cxnSpLocks/>
            <a:stCxn id="32" idx="0"/>
            <a:endCxn id="33" idx="2"/>
          </p:cNvCxnSpPr>
          <p:nvPr/>
        </p:nvCxnSpPr>
        <p:spPr>
          <a:xfrm flipV="1">
            <a:off x="7018789" y="4960455"/>
            <a:ext cx="0" cy="2768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52">
            <a:extLst>
              <a:ext uri="{FF2B5EF4-FFF2-40B4-BE49-F238E27FC236}">
                <a16:creationId xmlns:a16="http://schemas.microsoft.com/office/drawing/2014/main" id="{AD9C918D-9469-BBA0-E221-C28D5A1DBA54}"/>
              </a:ext>
            </a:extLst>
          </p:cNvPr>
          <p:cNvCxnSpPr>
            <a:cxnSpLocks/>
            <a:stCxn id="47" idx="0"/>
            <a:endCxn id="34" idx="1"/>
          </p:cNvCxnSpPr>
          <p:nvPr/>
        </p:nvCxnSpPr>
        <p:spPr>
          <a:xfrm rot="16200000" flipV="1">
            <a:off x="5488518" y="4429941"/>
            <a:ext cx="1747771" cy="1312767"/>
          </a:xfrm>
          <a:prstGeom prst="bentConnector4">
            <a:avLst>
              <a:gd name="adj1" fmla="val 11573"/>
              <a:gd name="adj2" fmla="val 11741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直線矢印コネクタ 52">
            <a:extLst>
              <a:ext uri="{FF2B5EF4-FFF2-40B4-BE49-F238E27FC236}">
                <a16:creationId xmlns:a16="http://schemas.microsoft.com/office/drawing/2014/main" id="{EACE12AA-AE94-50EF-EA2A-590FCDFF7371}"/>
              </a:ext>
            </a:extLst>
          </p:cNvPr>
          <p:cNvCxnSpPr>
            <a:cxnSpLocks/>
            <a:stCxn id="34" idx="0"/>
            <a:endCxn id="39" idx="1"/>
          </p:cNvCxnSpPr>
          <p:nvPr/>
        </p:nvCxnSpPr>
        <p:spPr>
          <a:xfrm rot="16200000" flipV="1">
            <a:off x="4955733" y="1991482"/>
            <a:ext cx="2813342" cy="1312770"/>
          </a:xfrm>
          <a:prstGeom prst="bentConnector4">
            <a:avLst>
              <a:gd name="adj1" fmla="val 3966"/>
              <a:gd name="adj2" fmla="val 11741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CF1F0623-7877-CACB-9164-C8B283DA61A5}"/>
              </a:ext>
            </a:extLst>
          </p:cNvPr>
          <p:cNvCxnSpPr>
            <a:cxnSpLocks/>
            <a:stCxn id="39" idx="0"/>
          </p:cNvCxnSpPr>
          <p:nvPr/>
        </p:nvCxnSpPr>
        <p:spPr>
          <a:xfrm flipH="1" flipV="1">
            <a:off x="7018786" y="755190"/>
            <a:ext cx="3" cy="3281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3D19E3E3-51C4-0E97-3638-608633DBEF85}"/>
              </a:ext>
            </a:extLst>
          </p:cNvPr>
          <p:cNvSpPr txBox="1"/>
          <p:nvPr/>
        </p:nvSpPr>
        <p:spPr>
          <a:xfrm>
            <a:off x="5364953" y="6395896"/>
            <a:ext cx="3055401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Self-Attention</a:t>
            </a:r>
            <a:r>
              <a:rPr kumimoji="1" lang="ja-JP" altLang="en-US" sz="20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 </a:t>
            </a:r>
            <a:r>
              <a:rPr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Block</a:t>
            </a:r>
            <a:endParaRPr kumimoji="1" lang="ja-JP" altLang="en-US" sz="20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22CDD99F-9F73-4111-307A-AC0AD39A10DD}"/>
              </a:ext>
            </a:extLst>
          </p:cNvPr>
          <p:cNvSpPr/>
          <p:nvPr/>
        </p:nvSpPr>
        <p:spPr>
          <a:xfrm>
            <a:off x="8942380" y="5232720"/>
            <a:ext cx="2625522" cy="3158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Layer Normalization</a:t>
            </a:r>
            <a:endParaRPr kumimoji="1" lang="ja-JP" altLang="en-US" sz="20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1C71CD49-B946-85FA-41E6-D262A7C4C3F3}"/>
              </a:ext>
            </a:extLst>
          </p:cNvPr>
          <p:cNvSpPr/>
          <p:nvPr/>
        </p:nvSpPr>
        <p:spPr>
          <a:xfrm>
            <a:off x="8942380" y="4640020"/>
            <a:ext cx="2625522" cy="3158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Cross-Attention</a:t>
            </a:r>
            <a:endParaRPr kumimoji="1" lang="ja-JP" altLang="en-US" sz="20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C8092782-F66E-0425-82BE-A309C6D7EBD3}"/>
              </a:ext>
            </a:extLst>
          </p:cNvPr>
          <p:cNvSpPr/>
          <p:nvPr/>
        </p:nvSpPr>
        <p:spPr>
          <a:xfrm>
            <a:off x="8942380" y="4049904"/>
            <a:ext cx="2625522" cy="3158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Add</a:t>
            </a:r>
            <a:endParaRPr kumimoji="1" lang="ja-JP" altLang="en-US" sz="20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20B9FD62-96AF-2388-B95D-F2049BBB22CF}"/>
              </a:ext>
            </a:extLst>
          </p:cNvPr>
          <p:cNvSpPr/>
          <p:nvPr/>
        </p:nvSpPr>
        <p:spPr>
          <a:xfrm>
            <a:off x="8942379" y="3457204"/>
            <a:ext cx="2625522" cy="3158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Layer Normalization</a:t>
            </a:r>
            <a:endParaRPr kumimoji="1" lang="ja-JP" altLang="en-US" sz="20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C8AD3E0A-D1F1-7B91-7292-703C96B78C56}"/>
              </a:ext>
            </a:extLst>
          </p:cNvPr>
          <p:cNvSpPr/>
          <p:nvPr/>
        </p:nvSpPr>
        <p:spPr>
          <a:xfrm>
            <a:off x="8942378" y="2861923"/>
            <a:ext cx="2625522" cy="3158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Dense</a:t>
            </a:r>
            <a:endParaRPr kumimoji="1" lang="ja-JP" altLang="en-US" sz="20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46D40C95-3566-42A3-334A-BBA13E16A1CE}"/>
              </a:ext>
            </a:extLst>
          </p:cNvPr>
          <p:cNvSpPr/>
          <p:nvPr/>
        </p:nvSpPr>
        <p:spPr>
          <a:xfrm>
            <a:off x="8942380" y="2266642"/>
            <a:ext cx="2625522" cy="3158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Leaky </a:t>
            </a:r>
            <a:r>
              <a:rPr kumimoji="1" lang="en-US" altLang="ja-JP" sz="2000" dirty="0" err="1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ReLU</a:t>
            </a:r>
            <a:endParaRPr kumimoji="1" lang="ja-JP" altLang="en-US" sz="20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E5B8B96C-3EE2-762A-0DFF-D046E5750940}"/>
              </a:ext>
            </a:extLst>
          </p:cNvPr>
          <p:cNvSpPr/>
          <p:nvPr/>
        </p:nvSpPr>
        <p:spPr>
          <a:xfrm>
            <a:off x="8942377" y="1668777"/>
            <a:ext cx="2625522" cy="3158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Dense</a:t>
            </a:r>
            <a:endParaRPr kumimoji="1" lang="ja-JP" altLang="en-US" sz="20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CE34F785-4635-FAE5-A813-D06B73AB9B82}"/>
              </a:ext>
            </a:extLst>
          </p:cNvPr>
          <p:cNvSpPr/>
          <p:nvPr/>
        </p:nvSpPr>
        <p:spPr>
          <a:xfrm>
            <a:off x="8942380" y="1078661"/>
            <a:ext cx="2625522" cy="31580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Add</a:t>
            </a:r>
            <a:endParaRPr kumimoji="1" lang="ja-JP" altLang="en-US" sz="20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572FFFE7-98CF-BA88-1403-292D4BF13112}"/>
              </a:ext>
            </a:extLst>
          </p:cNvPr>
          <p:cNvCxnSpPr>
            <a:cxnSpLocks/>
            <a:stCxn id="68" idx="0"/>
            <a:endCxn id="53" idx="2"/>
          </p:cNvCxnSpPr>
          <p:nvPr/>
        </p:nvCxnSpPr>
        <p:spPr>
          <a:xfrm flipH="1" flipV="1">
            <a:off x="10255141" y="5548521"/>
            <a:ext cx="2603" cy="4057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D3832461-70C1-7709-FB27-314F6F084AE1}"/>
              </a:ext>
            </a:extLst>
          </p:cNvPr>
          <p:cNvCxnSpPr>
            <a:cxnSpLocks/>
            <a:stCxn id="54" idx="0"/>
            <a:endCxn id="55" idx="2"/>
          </p:cNvCxnSpPr>
          <p:nvPr/>
        </p:nvCxnSpPr>
        <p:spPr>
          <a:xfrm flipV="1">
            <a:off x="10255141" y="4365705"/>
            <a:ext cx="0" cy="2743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26612691-5CD0-CBDA-1661-28026EB31245}"/>
              </a:ext>
            </a:extLst>
          </p:cNvPr>
          <p:cNvCxnSpPr>
            <a:cxnSpLocks/>
            <a:stCxn id="55" idx="0"/>
            <a:endCxn id="56" idx="2"/>
          </p:cNvCxnSpPr>
          <p:nvPr/>
        </p:nvCxnSpPr>
        <p:spPr>
          <a:xfrm flipH="1" flipV="1">
            <a:off x="10255140" y="3773005"/>
            <a:ext cx="1" cy="2768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直線矢印コネクタ 63">
            <a:extLst>
              <a:ext uri="{FF2B5EF4-FFF2-40B4-BE49-F238E27FC236}">
                <a16:creationId xmlns:a16="http://schemas.microsoft.com/office/drawing/2014/main" id="{91888A42-6D62-EB8B-F98D-33A697A558BF}"/>
              </a:ext>
            </a:extLst>
          </p:cNvPr>
          <p:cNvCxnSpPr>
            <a:cxnSpLocks/>
            <a:stCxn id="56" idx="0"/>
            <a:endCxn id="57" idx="2"/>
          </p:cNvCxnSpPr>
          <p:nvPr/>
        </p:nvCxnSpPr>
        <p:spPr>
          <a:xfrm flipH="1" flipV="1">
            <a:off x="10255139" y="3177724"/>
            <a:ext cx="1" cy="2794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4520BAAA-F3E5-54AC-DF49-BE7DBF971692}"/>
              </a:ext>
            </a:extLst>
          </p:cNvPr>
          <p:cNvCxnSpPr>
            <a:cxnSpLocks/>
            <a:stCxn id="57" idx="0"/>
            <a:endCxn id="58" idx="2"/>
          </p:cNvCxnSpPr>
          <p:nvPr/>
        </p:nvCxnSpPr>
        <p:spPr>
          <a:xfrm flipV="1">
            <a:off x="10255139" y="2582443"/>
            <a:ext cx="2" cy="2794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直線矢印コネクタ 65">
            <a:extLst>
              <a:ext uri="{FF2B5EF4-FFF2-40B4-BE49-F238E27FC236}">
                <a16:creationId xmlns:a16="http://schemas.microsoft.com/office/drawing/2014/main" id="{A53AD54B-D4BB-D018-47D5-A387B234F9FA}"/>
              </a:ext>
            </a:extLst>
          </p:cNvPr>
          <p:cNvCxnSpPr>
            <a:cxnSpLocks/>
            <a:stCxn id="58" idx="0"/>
            <a:endCxn id="59" idx="2"/>
          </p:cNvCxnSpPr>
          <p:nvPr/>
        </p:nvCxnSpPr>
        <p:spPr>
          <a:xfrm flipH="1" flipV="1">
            <a:off x="10255138" y="1984578"/>
            <a:ext cx="3" cy="2820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直線矢印コネクタ 66">
            <a:extLst>
              <a:ext uri="{FF2B5EF4-FFF2-40B4-BE49-F238E27FC236}">
                <a16:creationId xmlns:a16="http://schemas.microsoft.com/office/drawing/2014/main" id="{CA1EAD90-5D44-89CB-E736-E6B0A67A490E}"/>
              </a:ext>
            </a:extLst>
          </p:cNvPr>
          <p:cNvCxnSpPr>
            <a:cxnSpLocks/>
            <a:stCxn id="59" idx="0"/>
            <a:endCxn id="60" idx="2"/>
          </p:cNvCxnSpPr>
          <p:nvPr/>
        </p:nvCxnSpPr>
        <p:spPr>
          <a:xfrm flipV="1">
            <a:off x="10255138" y="1394462"/>
            <a:ext cx="3" cy="2743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テキスト ボックス 67">
                <a:extLst>
                  <a:ext uri="{FF2B5EF4-FFF2-40B4-BE49-F238E27FC236}">
                    <a16:creationId xmlns:a16="http://schemas.microsoft.com/office/drawing/2014/main" id="{4C24B225-4837-A91C-C40F-1B3E938B3B8F}"/>
                  </a:ext>
                </a:extLst>
              </p:cNvPr>
              <p:cNvSpPr txBox="1"/>
              <p:nvPr/>
            </p:nvSpPr>
            <p:spPr>
              <a:xfrm>
                <a:off x="9731896" y="5954256"/>
                <a:ext cx="105169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000" b="1" i="0" smtClean="0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𝐗</m:t>
                      </m:r>
                    </m:oMath>
                  </m:oMathPara>
                </a14:m>
                <a:endParaRPr kumimoji="1" lang="ja-JP" altLang="en-US" sz="2000" b="1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68" name="テキスト ボックス 67">
                <a:extLst>
                  <a:ext uri="{FF2B5EF4-FFF2-40B4-BE49-F238E27FC236}">
                    <a16:creationId xmlns:a16="http://schemas.microsoft.com/office/drawing/2014/main" id="{4C24B225-4837-A91C-C40F-1B3E938B3B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1896" y="5954256"/>
                <a:ext cx="1051695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545C4B43-7D99-0C52-6D22-8FCFB405511D}"/>
              </a:ext>
            </a:extLst>
          </p:cNvPr>
          <p:cNvCxnSpPr>
            <a:cxnSpLocks/>
            <a:stCxn id="53" idx="0"/>
            <a:endCxn id="54" idx="2"/>
          </p:cNvCxnSpPr>
          <p:nvPr/>
        </p:nvCxnSpPr>
        <p:spPr>
          <a:xfrm flipV="1">
            <a:off x="10255141" y="4955821"/>
            <a:ext cx="0" cy="2768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直線矢印コネクタ 52">
            <a:extLst>
              <a:ext uri="{FF2B5EF4-FFF2-40B4-BE49-F238E27FC236}">
                <a16:creationId xmlns:a16="http://schemas.microsoft.com/office/drawing/2014/main" id="{D351FDF8-2295-8ECB-6485-2337B57B0865}"/>
              </a:ext>
            </a:extLst>
          </p:cNvPr>
          <p:cNvCxnSpPr>
            <a:cxnSpLocks/>
            <a:stCxn id="68" idx="0"/>
            <a:endCxn id="55" idx="1"/>
          </p:cNvCxnSpPr>
          <p:nvPr/>
        </p:nvCxnSpPr>
        <p:spPr>
          <a:xfrm rot="16200000" flipV="1">
            <a:off x="8726837" y="4423349"/>
            <a:ext cx="1746451" cy="1315364"/>
          </a:xfrm>
          <a:prstGeom prst="bentConnector4">
            <a:avLst>
              <a:gd name="adj1" fmla="val 12998"/>
              <a:gd name="adj2" fmla="val 11737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52">
            <a:extLst>
              <a:ext uri="{FF2B5EF4-FFF2-40B4-BE49-F238E27FC236}">
                <a16:creationId xmlns:a16="http://schemas.microsoft.com/office/drawing/2014/main" id="{D236BE20-BF53-CD21-07BB-CB467ADC85D9}"/>
              </a:ext>
            </a:extLst>
          </p:cNvPr>
          <p:cNvCxnSpPr>
            <a:cxnSpLocks/>
            <a:stCxn id="55" idx="0"/>
            <a:endCxn id="60" idx="1"/>
          </p:cNvCxnSpPr>
          <p:nvPr/>
        </p:nvCxnSpPr>
        <p:spPr>
          <a:xfrm rot="16200000" flipV="1">
            <a:off x="8192090" y="1986852"/>
            <a:ext cx="2813342" cy="1312761"/>
          </a:xfrm>
          <a:prstGeom prst="bentConnector4">
            <a:avLst>
              <a:gd name="adj1" fmla="val 2991"/>
              <a:gd name="adj2" fmla="val 11741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テキスト ボックス 71">
                <a:extLst>
                  <a:ext uri="{FF2B5EF4-FFF2-40B4-BE49-F238E27FC236}">
                    <a16:creationId xmlns:a16="http://schemas.microsoft.com/office/drawing/2014/main" id="{F97D9FC2-F4DA-EE3D-2968-2F2DE2060FDA}"/>
                  </a:ext>
                </a:extLst>
              </p:cNvPr>
              <p:cNvSpPr txBox="1"/>
              <p:nvPr/>
            </p:nvSpPr>
            <p:spPr>
              <a:xfrm>
                <a:off x="10584592" y="5954256"/>
                <a:ext cx="90088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kumimoji="1" lang="en-US" altLang="ja-JP" sz="2000" b="1" i="0" smtClean="0">
                          <a:latin typeface="Cambria Math" panose="02040503050406030204" pitchFamily="18" charset="0"/>
                          <a:ea typeface="BIZ UDGothic" panose="020B0400000000000000" pitchFamily="49" charset="-128"/>
                        </a:rPr>
                        <m:t>𝐘</m:t>
                      </m:r>
                    </m:oMath>
                  </m:oMathPara>
                </a14:m>
                <a:endParaRPr kumimoji="1" lang="ja-JP" altLang="en-US" sz="2000" b="1">
                  <a:latin typeface="BIZ UDGothic" panose="020B0400000000000000" pitchFamily="49" charset="-128"/>
                  <a:ea typeface="BIZ UDGothic" panose="020B0400000000000000" pitchFamily="49" charset="-128"/>
                </a:endParaRPr>
              </a:p>
            </p:txBody>
          </p:sp>
        </mc:Choice>
        <mc:Fallback xmlns="">
          <p:sp>
            <p:nvSpPr>
              <p:cNvPr id="72" name="テキスト ボックス 71">
                <a:extLst>
                  <a:ext uri="{FF2B5EF4-FFF2-40B4-BE49-F238E27FC236}">
                    <a16:creationId xmlns:a16="http://schemas.microsoft.com/office/drawing/2014/main" id="{F97D9FC2-F4DA-EE3D-2968-2F2DE2060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4592" y="5954256"/>
                <a:ext cx="900884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直線矢印コネクタ 52">
            <a:extLst>
              <a:ext uri="{FF2B5EF4-FFF2-40B4-BE49-F238E27FC236}">
                <a16:creationId xmlns:a16="http://schemas.microsoft.com/office/drawing/2014/main" id="{77C99102-DC19-1D5D-E7A5-36B3DE7E6367}"/>
              </a:ext>
            </a:extLst>
          </p:cNvPr>
          <p:cNvCxnSpPr>
            <a:cxnSpLocks/>
            <a:stCxn id="72" idx="0"/>
            <a:endCxn id="54" idx="3"/>
          </p:cNvCxnSpPr>
          <p:nvPr/>
        </p:nvCxnSpPr>
        <p:spPr>
          <a:xfrm rot="5400000" flipH="1" flipV="1">
            <a:off x="10723301" y="5109655"/>
            <a:ext cx="1156335" cy="532868"/>
          </a:xfrm>
          <a:prstGeom prst="bentConnector4">
            <a:avLst>
              <a:gd name="adj1" fmla="val 20239"/>
              <a:gd name="adj2" fmla="val 1429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テキスト ボックス 73">
            <a:extLst>
              <a:ext uri="{FF2B5EF4-FFF2-40B4-BE49-F238E27FC236}">
                <a16:creationId xmlns:a16="http://schemas.microsoft.com/office/drawing/2014/main" id="{C098BE97-A0F9-FDDE-2DC8-FD78475D9EE0}"/>
              </a:ext>
            </a:extLst>
          </p:cNvPr>
          <p:cNvSpPr txBox="1"/>
          <p:nvPr/>
        </p:nvSpPr>
        <p:spPr>
          <a:xfrm>
            <a:off x="8742699" y="6395896"/>
            <a:ext cx="3055401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Cross-Attention</a:t>
            </a:r>
            <a:r>
              <a:rPr kumimoji="1" lang="ja-JP" altLang="en-US" sz="20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 </a:t>
            </a:r>
            <a:r>
              <a:rPr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Block</a:t>
            </a:r>
            <a:endParaRPr kumimoji="1" lang="ja-JP" altLang="en-US" sz="20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DBC4091E-AE07-24FD-5298-D87A123E4AE8}"/>
              </a:ext>
            </a:extLst>
          </p:cNvPr>
          <p:cNvSpPr txBox="1"/>
          <p:nvPr/>
        </p:nvSpPr>
        <p:spPr>
          <a:xfrm>
            <a:off x="4367076" y="4129913"/>
            <a:ext cx="4427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20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PE</a:t>
            </a:r>
            <a:endParaRPr kumimoji="1" lang="ja-JP" altLang="en-US" sz="20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78" name="正方形/長方形 77">
            <a:extLst>
              <a:ext uri="{FF2B5EF4-FFF2-40B4-BE49-F238E27FC236}">
                <a16:creationId xmlns:a16="http://schemas.microsoft.com/office/drawing/2014/main" id="{A4BF9394-95E5-EAC4-4C45-E690041E700D}"/>
              </a:ext>
            </a:extLst>
          </p:cNvPr>
          <p:cNvSpPr/>
          <p:nvPr/>
        </p:nvSpPr>
        <p:spPr>
          <a:xfrm>
            <a:off x="133718" y="4177857"/>
            <a:ext cx="1635716" cy="10703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24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961A1EB5-6083-21A2-6754-82A67BC2BF48}"/>
              </a:ext>
            </a:extLst>
          </p:cNvPr>
          <p:cNvSpPr/>
          <p:nvPr/>
        </p:nvSpPr>
        <p:spPr>
          <a:xfrm>
            <a:off x="1810627" y="1760446"/>
            <a:ext cx="504793" cy="3000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kumimoji="1" lang="ja-JP" altLang="en-US" sz="240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1980376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6EAD9C-7BBE-7D89-AAE6-2F402D18A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実験</a:t>
            </a:r>
            <a:r>
              <a:rPr kumimoji="1" lang="en-US" altLang="ja-JP" dirty="0"/>
              <a:t>1: </a:t>
            </a:r>
            <a:r>
              <a:rPr kumimoji="1" lang="en-US" altLang="ja-JP" dirty="0" err="1"/>
              <a:t>WiT</a:t>
            </a:r>
            <a:r>
              <a:rPr kumimoji="1" lang="ja-JP" altLang="en-US"/>
              <a:t>の実装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C08B1BFB-918D-B6AD-0D7B-C2F82F5737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altLang="ja-JP" dirty="0"/>
                  <a:t>WiT</a:t>
                </a:r>
                <a:r>
                  <a:rPr lang="ja-JP" altLang="en-US"/>
                  <a:t>の層の数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kumimoji="1" lang="ja-JP" altLang="en-US"/>
                  <a:t>や</a:t>
                </a:r>
                <a:r>
                  <a:rPr kumimoji="1" lang="en-US" altLang="ja-JP" dirty="0" err="1"/>
                  <a:t>ViT</a:t>
                </a:r>
                <a:r>
                  <a:rPr kumimoji="1" lang="ja-JP" altLang="en-US"/>
                  <a:t>のファインチューニングの有無による学習結果を比較</a:t>
                </a:r>
                <a:endParaRPr kumimoji="1" lang="en-US" altLang="ja-JP" dirty="0"/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kumimoji="1" lang="ja-JP" altLang="en-US"/>
                  <a:t>実験条件</a:t>
                </a:r>
                <a:endParaRPr kumimoji="1" lang="en-US" altLang="ja-JP" dirty="0"/>
              </a:p>
              <a:p>
                <a:pPr marL="457200" lvl="1" indent="0">
                  <a:buNone/>
                </a:pPr>
                <a:r>
                  <a:rPr lang="ja-JP" altLang="en-US"/>
                  <a:t>画像</a:t>
                </a:r>
                <a:r>
                  <a:rPr lang="en-US" altLang="ja-JP" dirty="0"/>
                  <a:t>: 220,138</a:t>
                </a:r>
                <a:r>
                  <a:rPr lang="ja-JP" altLang="en-US"/>
                  <a:t>枚</a:t>
                </a:r>
                <a:endParaRPr lang="en-US" altLang="ja-JP" dirty="0"/>
              </a:p>
              <a:p>
                <a:pPr marL="457200" lvl="1" indent="0">
                  <a:buNone/>
                </a:pPr>
                <a:r>
                  <a:rPr lang="ja-JP" altLang="en-US"/>
                  <a:t>文章</a:t>
                </a:r>
                <a:r>
                  <a:rPr lang="en-US" altLang="ja-JP" dirty="0"/>
                  <a:t>: 1,378,064</a:t>
                </a:r>
                <a:r>
                  <a:rPr lang="ja-JP" altLang="en-US"/>
                  <a:t>件</a:t>
                </a:r>
                <a:endParaRPr lang="en-US" altLang="ja-JP" dirty="0"/>
              </a:p>
              <a:p>
                <a:pPr marL="457200" lvl="1" indent="0">
                  <a:buNone/>
                </a:pPr>
                <a:r>
                  <a:rPr lang="ja-JP" altLang="en-US"/>
                  <a:t>サブワード数</a:t>
                </a:r>
                <a:r>
                  <a:rPr lang="en-US" altLang="ja-JP" dirty="0"/>
                  <a:t>: 17,363</a:t>
                </a:r>
                <a:r>
                  <a:rPr lang="ja-JP" altLang="en-US"/>
                  <a:t>語</a:t>
                </a:r>
                <a:endParaRPr lang="en-US" altLang="ja-JP" dirty="0"/>
              </a:p>
              <a:p>
                <a:pPr marL="457200" lvl="1" indent="0">
                  <a:buNone/>
                </a:pPr>
                <a:endParaRPr lang="en-US" altLang="ja-JP" dirty="0"/>
              </a:p>
              <a:p>
                <a:pPr marL="457200" lvl="1" indent="0">
                  <a:buNone/>
                </a:pPr>
                <a:r>
                  <a:rPr lang="ja-JP" altLang="en-US"/>
                  <a:t>最適化手法</a:t>
                </a:r>
                <a:r>
                  <a:rPr lang="en-US" altLang="ja-JP" dirty="0"/>
                  <a:t>: </a:t>
                </a:r>
                <a:r>
                  <a:rPr lang="en-US" altLang="ja-JP" dirty="0" err="1"/>
                  <a:t>AdamW</a:t>
                </a:r>
                <a:r>
                  <a:rPr lang="en-US" altLang="ja-JP" dirty="0"/>
                  <a:t>(</a:t>
                </a:r>
                <a14:m>
                  <m:oMath xmlns:m="http://schemas.openxmlformats.org/officeDocument/2006/math">
                    <m:r>
                      <a:rPr lang="en-US" altLang="ja-JP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𝜂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=0.0001</m:t>
                    </m:r>
                  </m:oMath>
                </a14:m>
                <a:r>
                  <a:rPr lang="en-US" altLang="ja-JP" dirty="0"/>
                  <a:t>)</a:t>
                </a:r>
              </a:p>
              <a:p>
                <a:pPr marL="457200" lvl="1" indent="0">
                  <a:buNone/>
                </a:pPr>
                <a:r>
                  <a:rPr lang="ja-JP" altLang="en-US"/>
                  <a:t>バッチサイズ</a:t>
                </a:r>
                <a:r>
                  <a:rPr lang="en-US" altLang="ja-JP" dirty="0"/>
                  <a:t>: 32</a:t>
                </a:r>
              </a:p>
              <a:p>
                <a:pPr marL="457200" lvl="1" indent="0">
                  <a:buNone/>
                </a:pPr>
                <a:r>
                  <a:rPr lang="ja-JP" altLang="en-US"/>
                  <a:t>学習反復回数</a:t>
                </a:r>
                <a:r>
                  <a:rPr lang="en-US" altLang="ja-JP" dirty="0"/>
                  <a:t>: 50</a:t>
                </a:r>
                <a:r>
                  <a:rPr lang="ja-JP" altLang="en-US"/>
                  <a:t>回</a:t>
                </a:r>
                <a:endParaRPr lang="en-US" altLang="ja-JP" dirty="0"/>
              </a:p>
              <a:p>
                <a:pPr marL="457200" lvl="1" indent="0">
                  <a:buNone/>
                </a:pPr>
                <a:endParaRPr lang="en-US" altLang="ja-JP" dirty="0"/>
              </a:p>
              <a:p>
                <a:pPr marL="457200" lvl="1" indent="0">
                  <a:buNone/>
                </a:pPr>
                <a:r>
                  <a:rPr lang="ja-JP" altLang="en-US"/>
                  <a:t>特徴量次元数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ja-JP" dirty="0"/>
                  <a:t>: 1024</a:t>
                </a:r>
              </a:p>
              <a:p>
                <a:pPr marL="457200" lvl="1" indent="0">
                  <a:buNone/>
                </a:pPr>
                <a:r>
                  <a:rPr lang="ja-JP" altLang="en-US" b="1"/>
                  <a:t>層の数</a:t>
                </a:r>
                <a14:m>
                  <m:oMath xmlns:m="http://schemas.openxmlformats.org/officeDocument/2006/math">
                    <m:r>
                      <a:rPr lang="en-US" altLang="ja-JP" b="1" i="1">
                        <a:latin typeface="Cambria Math" panose="02040503050406030204" pitchFamily="18" charset="0"/>
                      </a:rPr>
                      <m:t>𝑵</m:t>
                    </m:r>
                  </m:oMath>
                </a14:m>
                <a:r>
                  <a:rPr lang="en-US" altLang="ja-JP" b="1" dirty="0"/>
                  <a:t>: 1, 2, 3, 4, 5</a:t>
                </a:r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C08B1BFB-918D-B6AD-0D7B-C2F82F5737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4" t="-2500" r="-21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AD2793B-E765-C124-2083-2D1482190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70708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88CA91-D759-5C5A-19B0-8A337EAE8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データセット</a:t>
            </a:r>
            <a:r>
              <a:rPr lang="en-US" altLang="ja-JP" dirty="0"/>
              <a:t>: </a:t>
            </a:r>
            <a:r>
              <a:rPr lang="en-US" altLang="ja-JP" dirty="0" err="1"/>
              <a:t>Bokete</a:t>
            </a:r>
            <a:r>
              <a:rPr lang="en-US" altLang="ja-JP" dirty="0"/>
              <a:t> DB v3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D5012E2-8D43-788E-3EF5-B9631B279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/>
              <a:t>ボケてには</a:t>
            </a:r>
            <a:r>
              <a:rPr kumimoji="1" lang="ja-JP" altLang="en-US" dirty="0"/>
              <a:t>本研究の目的と異なるお題画像や大喜利文章がある</a:t>
            </a:r>
            <a:endParaRPr kumimoji="1" lang="en-US" altLang="ja-JP" dirty="0"/>
          </a:p>
          <a:p>
            <a:pPr marL="0" indent="0">
              <a:buNone/>
            </a:pPr>
            <a:r>
              <a:rPr lang="ja-JP" altLang="en-US" dirty="0"/>
              <a:t>→ これらを前処理で取り除く</a:t>
            </a: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  <a:p>
            <a:pPr marL="0" indent="0">
              <a:buNone/>
            </a:pPr>
            <a:endParaRPr kumimoji="1" lang="en-US" altLang="ja-JP" dirty="0"/>
          </a:p>
          <a:p>
            <a:pPr marL="0" indent="0">
              <a:buNone/>
            </a:pP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4AEFF3E-80DD-94FB-9BCD-374CD183F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20</a:t>
            </a:fld>
            <a:endParaRPr kumimoji="1" lang="ja-JP" altLang="en-US"/>
          </a:p>
        </p:txBody>
      </p:sp>
      <p:pic>
        <p:nvPicPr>
          <p:cNvPr id="6" name="図 5" descr="写真, 若い, グループ, 覆い が含まれている画像&#10;&#10;自動的に生成された説明">
            <a:extLst>
              <a:ext uri="{FF2B5EF4-FFF2-40B4-BE49-F238E27FC236}">
                <a16:creationId xmlns:a16="http://schemas.microsoft.com/office/drawing/2014/main" id="{CDA89734-DB81-B611-88D6-6CC149C2FF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780"/>
          <a:stretch/>
        </p:blipFill>
        <p:spPr>
          <a:xfrm>
            <a:off x="4770808" y="2693594"/>
            <a:ext cx="2650384" cy="254353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8" name="図 7" descr="グラフィカル ユーザー インターフェイス, アプリケーション, Web サイト&#10;&#10;自動的に生成された説明">
            <a:extLst>
              <a:ext uri="{FF2B5EF4-FFF2-40B4-BE49-F238E27FC236}">
                <a16:creationId xmlns:a16="http://schemas.microsoft.com/office/drawing/2014/main" id="{00E7555C-7F68-0C24-282E-2517247287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6099"/>
          <a:stretch/>
        </p:blipFill>
        <p:spPr>
          <a:xfrm>
            <a:off x="125969" y="2693594"/>
            <a:ext cx="3289208" cy="254353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0" name="図 9" descr="テキスト&#10;&#10;中程度の精度で自動的に生成された説明">
            <a:extLst>
              <a:ext uri="{FF2B5EF4-FFF2-40B4-BE49-F238E27FC236}">
                <a16:creationId xmlns:a16="http://schemas.microsoft.com/office/drawing/2014/main" id="{583DC9A1-8DCC-28DD-3ECD-513BA87A81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7914" y="2693595"/>
            <a:ext cx="4158117" cy="2543529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B815ECF-3FED-2D26-039A-A8324846245C}"/>
              </a:ext>
            </a:extLst>
          </p:cNvPr>
          <p:cNvSpPr txBox="1"/>
          <p:nvPr/>
        </p:nvSpPr>
        <p:spPr>
          <a:xfrm>
            <a:off x="21138" y="1862597"/>
            <a:ext cx="3498870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固有名詞を含む</a:t>
            </a:r>
            <a:endParaRPr lang="en-US" altLang="ja-JP" sz="24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algn="ctr"/>
            <a:r>
              <a:rPr lang="ja-JP" altLang="en-US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大喜利文章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DAA6DF5-7865-3EAC-129B-AE2194EFCE38}"/>
              </a:ext>
            </a:extLst>
          </p:cNvPr>
          <p:cNvSpPr txBox="1"/>
          <p:nvPr/>
        </p:nvSpPr>
        <p:spPr>
          <a:xfrm>
            <a:off x="4346565" y="1862597"/>
            <a:ext cx="3498870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アニメ，イラスト，　漫画のお題画像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29604DC-CA79-13D7-B922-3E0B19C7F64D}"/>
              </a:ext>
            </a:extLst>
          </p:cNvPr>
          <p:cNvSpPr txBox="1"/>
          <p:nvPr/>
        </p:nvSpPr>
        <p:spPr>
          <a:xfrm>
            <a:off x="8237537" y="2047262"/>
            <a:ext cx="3498870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文字を含むお題画像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80BD547-9AA2-1668-06F7-678EFD1DE39E}"/>
              </a:ext>
            </a:extLst>
          </p:cNvPr>
          <p:cNvSpPr txBox="1"/>
          <p:nvPr/>
        </p:nvSpPr>
        <p:spPr>
          <a:xfrm>
            <a:off x="21138" y="5237124"/>
            <a:ext cx="3498870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↓</a:t>
            </a:r>
            <a:endParaRPr lang="en-US" altLang="ja-JP" sz="24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algn="ctr"/>
            <a:r>
              <a:rPr lang="en-US" altLang="ja-JP" sz="2400" dirty="0" err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MeCab</a:t>
            </a:r>
            <a:r>
              <a:rPr lang="ja-JP" altLang="en-US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で固有名詞か判断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54CF32E1-30A2-4AEC-EE90-CD46738D4D56}"/>
              </a:ext>
            </a:extLst>
          </p:cNvPr>
          <p:cNvSpPr txBox="1"/>
          <p:nvPr/>
        </p:nvSpPr>
        <p:spPr>
          <a:xfrm>
            <a:off x="4346565" y="5237124"/>
            <a:ext cx="3498870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↓</a:t>
            </a:r>
            <a:endParaRPr lang="en-US" altLang="ja-JP" sz="24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algn="ctr"/>
            <a:r>
              <a:rPr lang="ja-JP" altLang="en-US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現実写真か否か</a:t>
            </a:r>
            <a:endParaRPr lang="en-US" altLang="ja-JP" sz="24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algn="ctr"/>
            <a:r>
              <a:rPr lang="ja-JP" altLang="en-US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分類する</a:t>
            </a:r>
            <a:r>
              <a:rPr lang="en-US" altLang="ja-JP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AI</a:t>
            </a:r>
            <a:r>
              <a:rPr lang="ja-JP" altLang="en-US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で判断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E4B058E-2E42-388F-2FBA-A802250353AE}"/>
              </a:ext>
            </a:extLst>
          </p:cNvPr>
          <p:cNvSpPr txBox="1"/>
          <p:nvPr/>
        </p:nvSpPr>
        <p:spPr>
          <a:xfrm>
            <a:off x="8237537" y="5237124"/>
            <a:ext cx="3498870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↓</a:t>
            </a:r>
            <a:endParaRPr lang="en-US" altLang="ja-JP" sz="24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  <a:p>
            <a:pPr algn="ctr"/>
            <a:r>
              <a:rPr lang="en-US" altLang="ja-JP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OCR</a:t>
            </a:r>
            <a:r>
              <a:rPr lang="ja-JP" altLang="en-US" sz="24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で文字を含むか判断</a:t>
            </a:r>
          </a:p>
        </p:txBody>
      </p:sp>
    </p:spTree>
    <p:extLst>
      <p:ext uri="{BB962C8B-B14F-4D97-AF65-F5344CB8AC3E}">
        <p14:creationId xmlns:p14="http://schemas.microsoft.com/office/powerpoint/2010/main" val="5848013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8EEDFD-8173-9132-5890-C26112199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Transformer</a:t>
            </a:r>
            <a:r>
              <a:rPr kumimoji="1" lang="ja-JP" altLang="en-US"/>
              <a:t>ブロック数を変更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1EF13B9-6AFF-CA7A-C629-BBDC111EE8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969" y="813577"/>
            <a:ext cx="11940062" cy="5672464"/>
          </a:xfrm>
        </p:spPr>
        <p:txBody>
          <a:bodyPr>
            <a:normAutofit/>
          </a:bodyPr>
          <a:lstStyle/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/>
              <a:t>多層化することで高い学習精度が得られる</a:t>
            </a:r>
            <a:endParaRPr lang="en-US" altLang="ja-JP" dirty="0"/>
          </a:p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045C339-7EDE-5254-DF69-7F257A1F4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21</a:t>
            </a:fld>
            <a:endParaRPr kumimoji="1" lang="ja-JP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975CA3C-6D7E-C76A-2E4D-82BCC17FBB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9" y="813576"/>
            <a:ext cx="3859907" cy="454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0983B83-2437-A984-0FCC-130D1C6C3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5876" y="813577"/>
            <a:ext cx="3944843" cy="4548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4265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3785B-18CE-F83A-3B70-992642C15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A01B2C-435E-4A9C-CB14-BFF821FB8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ViT</a:t>
            </a:r>
            <a:r>
              <a:rPr kumimoji="1" lang="ja-JP" altLang="en-US"/>
              <a:t>のファインチューニングの有無を変更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4426815-AFA7-7BE1-83FD-4AC938E0D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969" y="813577"/>
            <a:ext cx="11940062" cy="5672464"/>
          </a:xfrm>
        </p:spPr>
        <p:txBody>
          <a:bodyPr>
            <a:normAutofit/>
          </a:bodyPr>
          <a:lstStyle/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r>
              <a:rPr lang="en-US" altLang="ja-JP" dirty="0" err="1"/>
              <a:t>ViT</a:t>
            </a:r>
            <a:r>
              <a:rPr lang="ja-JP" altLang="en-US" dirty="0"/>
              <a:t>をファインチューニングと同じ総数でも高い学習精度が得られる</a:t>
            </a:r>
            <a:endParaRPr lang="en-US" altLang="ja-JP" dirty="0"/>
          </a:p>
          <a:p>
            <a:pPr marL="0" indent="0">
              <a:buNone/>
            </a:pPr>
            <a:r>
              <a:rPr kumimoji="1" lang="ja-JP" altLang="en-US" dirty="0"/>
              <a:t>→</a:t>
            </a:r>
            <a:r>
              <a:rPr kumimoji="1" lang="en-US" altLang="ja-JP" dirty="0"/>
              <a:t> Layer: 5 &gt; Layer: 1(FC)</a:t>
            </a:r>
            <a:r>
              <a:rPr kumimoji="1" lang="ja-JP" altLang="en-US" dirty="0"/>
              <a:t>より，多層化の方が有利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3334CC8-FCEE-6D5A-2403-F15B9A741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22</a:t>
            </a:fld>
            <a:endParaRPr kumimoji="1" lang="ja-JP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1AED3D8-329A-B66D-BA0D-FFEEFB132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125969" y="906699"/>
            <a:ext cx="3859907" cy="4362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5F4D704-8727-EEE3-4397-A5523A7A2C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3985876" y="848283"/>
            <a:ext cx="3944843" cy="4479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833220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EF8B12E9-D740-5A01-43E3-B2EB010C64EF}"/>
              </a:ext>
            </a:extLst>
          </p:cNvPr>
          <p:cNvSpPr txBox="1">
            <a:spLocks/>
          </p:cNvSpPr>
          <p:nvPr/>
        </p:nvSpPr>
        <p:spPr>
          <a:xfrm>
            <a:off x="125969" y="813577"/>
            <a:ext cx="11940062" cy="56724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/>
              <a:t>画像に適した大喜利を生成可能</a:t>
            </a:r>
            <a:endParaRPr lang="en-US" altLang="ja-JP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8E757A0-9BE7-5AD8-EE1D-7B088FC87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WiT</a:t>
            </a:r>
            <a:r>
              <a:rPr lang="ja-JP" altLang="en-US" dirty="0"/>
              <a:t>が生成した大喜利</a:t>
            </a:r>
            <a:endParaRPr kumimoji="1" lang="ja-JP" altLang="en-US" dirty="0"/>
          </a:p>
        </p:txBody>
      </p:sp>
      <p:graphicFrame>
        <p:nvGraphicFramePr>
          <p:cNvPr id="5" name="コンテンツ プレースホルダー 4">
            <a:extLst>
              <a:ext uri="{FF2B5EF4-FFF2-40B4-BE49-F238E27FC236}">
                <a16:creationId xmlns:a16="http://schemas.microsoft.com/office/drawing/2014/main" id="{7C4FB55C-452C-18F6-7C33-BF3E9E784F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0304531"/>
              </p:ext>
            </p:extLst>
          </p:nvPr>
        </p:nvGraphicFramePr>
        <p:xfrm>
          <a:off x="125413" y="812800"/>
          <a:ext cx="11941172" cy="4634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5387">
                  <a:extLst>
                    <a:ext uri="{9D8B030D-6E8A-4147-A177-3AD203B41FA5}">
                      <a16:colId xmlns:a16="http://schemas.microsoft.com/office/drawing/2014/main" val="1609100178"/>
                    </a:ext>
                  </a:extLst>
                </a:gridCol>
                <a:gridCol w="3158595">
                  <a:extLst>
                    <a:ext uri="{9D8B030D-6E8A-4147-A177-3AD203B41FA5}">
                      <a16:colId xmlns:a16="http://schemas.microsoft.com/office/drawing/2014/main" val="2402676554"/>
                    </a:ext>
                  </a:extLst>
                </a:gridCol>
                <a:gridCol w="3158595">
                  <a:extLst>
                    <a:ext uri="{9D8B030D-6E8A-4147-A177-3AD203B41FA5}">
                      <a16:colId xmlns:a16="http://schemas.microsoft.com/office/drawing/2014/main" val="2418242744"/>
                    </a:ext>
                  </a:extLst>
                </a:gridCol>
                <a:gridCol w="3158595">
                  <a:extLst>
                    <a:ext uri="{9D8B030D-6E8A-4147-A177-3AD203B41FA5}">
                      <a16:colId xmlns:a16="http://schemas.microsoft.com/office/drawing/2014/main" val="1800737481"/>
                    </a:ext>
                  </a:extLst>
                </a:gridCol>
              </a:tblGrid>
              <a:tr h="2134800"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847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 err="1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WiT</a:t>
                      </a:r>
                      <a:r>
                        <a:rPr kumimoji="1" lang="en-US" altLang="ja-JP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(FC,L:5)</a:t>
                      </a:r>
                      <a:r>
                        <a:rPr kumimoji="1" lang="ja-JP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 </a:t>
                      </a:r>
                      <a:r>
                        <a:rPr kumimoji="1" lang="en-US" altLang="ja-JP" sz="2000" b="0" i="0" kern="1200" dirty="0">
                          <a:solidFill>
                            <a:schemeClr val="dk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68%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自毛だって！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マタタビの禁断症状の猫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0" i="0" kern="1200" dirty="0">
                          <a:solidFill>
                            <a:srgbClr val="FF0000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弾き語り</a:t>
                      </a:r>
                      <a:endParaRPr kumimoji="1" lang="ja-JP" altLang="en-US" sz="2000" dirty="0">
                        <a:solidFill>
                          <a:srgbClr val="FF0000"/>
                        </a:solidFill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381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 dirty="0" err="1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WiT</a:t>
                      </a:r>
                      <a:r>
                        <a:rPr kumimoji="1" lang="en-US" altLang="ja-JP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(L:5)</a:t>
                      </a:r>
                      <a:r>
                        <a:rPr kumimoji="1" lang="ja-JP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 </a:t>
                      </a:r>
                      <a:r>
                        <a:rPr kumimoji="1" lang="en-US" altLang="ja-JP" sz="2000" b="0" i="0" kern="1200" dirty="0">
                          <a:solidFill>
                            <a:schemeClr val="dk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62%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えっ！電話越しでも臭う声なんだっけ？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座った瞬間マグロ缶が飛び出た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ギターが似合わない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365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 dirty="0" err="1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WiT</a:t>
                      </a:r>
                      <a:r>
                        <a:rPr kumimoji="1" lang="en-US" altLang="ja-JP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(FC,L:1)</a:t>
                      </a:r>
                      <a:r>
                        <a:rPr kumimoji="1" lang="ja-JP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 </a:t>
                      </a:r>
                      <a:r>
                        <a:rPr kumimoji="1" lang="en-US" altLang="ja-JP" sz="2000" b="0" i="0" kern="1200" dirty="0">
                          <a:solidFill>
                            <a:schemeClr val="dk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56%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  <a:p>
                      <a:pPr algn="ctr"/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あ、ごめん！この通り！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お願い、もう少しよ！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ちゃんと聴こえてるわよ、、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0615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 dirty="0" err="1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WiT</a:t>
                      </a:r>
                      <a:r>
                        <a:rPr kumimoji="1" lang="en-US" altLang="ja-JP" sz="2000" dirty="0"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(L:1)</a:t>
                      </a:r>
                      <a:r>
                        <a:rPr kumimoji="1" lang="ja-JP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 </a:t>
                      </a:r>
                      <a:r>
                        <a:rPr kumimoji="1" lang="en-US" altLang="ja-JP" sz="2000" b="0" i="0" kern="1200" dirty="0">
                          <a:solidFill>
                            <a:schemeClr val="dk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47%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俺はハゲじゃないんだけどな。ハゲ増えてるんだ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あ！お腹が減った！メシは食えねー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0" i="0" kern="1200" dirty="0">
                          <a:solidFill>
                            <a:schemeClr val="dk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犬派のネコ</a:t>
                      </a:r>
                      <a:endParaRPr kumimoji="1" lang="ja-JP" altLang="en-US" sz="2000" dirty="0"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1122897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CB8B24D-03DD-F425-1723-4E0267C7D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23</a:t>
            </a:fld>
            <a:endParaRPr kumimoji="1" lang="ja-JP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3EE14D4-A9F8-519B-C40E-BC9133451F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5563" y="812800"/>
            <a:ext cx="3138487" cy="2132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6AB18BF-C179-72E7-448E-9AD35B46E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0162" y="812800"/>
            <a:ext cx="3138487" cy="2132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E0F5A09C-3492-CC99-7EBC-B289D21ABC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25" y="812800"/>
            <a:ext cx="3138487" cy="2132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63375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26F0C2-8196-3CA1-3694-890931C14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WiT</a:t>
            </a:r>
            <a:r>
              <a:rPr kumimoji="1" lang="ja-JP" altLang="en-US" dirty="0"/>
              <a:t>の推論の説明</a:t>
            </a:r>
            <a:r>
              <a:rPr kumimoji="1" lang="en-US" altLang="ja-JP" dirty="0"/>
              <a:t>(Layer:5)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F90A06B-C0A4-5350-DA37-396E0EC93F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「弾」を入力した際に，楽器に対する注目度が高い</a:t>
            </a:r>
            <a:endParaRPr kumimoji="1" lang="en-US" altLang="ja-JP" dirty="0"/>
          </a:p>
          <a:p>
            <a:r>
              <a:rPr kumimoji="1" lang="ja-JP" altLang="en-US" dirty="0"/>
              <a:t>「語」を入力した際に，登場人物</a:t>
            </a:r>
            <a:r>
              <a:rPr kumimoji="1" lang="en-US" altLang="ja-JP" dirty="0"/>
              <a:t>(</a:t>
            </a:r>
            <a:r>
              <a:rPr kumimoji="1" lang="ja-JP" altLang="en-US" dirty="0"/>
              <a:t>犬</a:t>
            </a:r>
            <a:r>
              <a:rPr kumimoji="1" lang="en-US" altLang="ja-JP" dirty="0"/>
              <a:t>)</a:t>
            </a:r>
            <a:r>
              <a:rPr kumimoji="1" lang="ja-JP" altLang="en-US" dirty="0"/>
              <a:t>に対する注目度が高い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BF5C4F2-2485-25C4-55CA-8DFFB0B33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24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FB1D98A2-519F-27CB-AD0A-96720090A8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5968" y="813576"/>
            <a:ext cx="2483045" cy="2780601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EE738551-CCF7-C022-064C-D56CC05B4B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09013" y="813577"/>
            <a:ext cx="2483044" cy="27806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AE991FFC-AB99-F1DC-5EB4-37229D3B7C4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92057" y="813576"/>
            <a:ext cx="2483044" cy="27806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A5C30983-9E85-6F98-AFDE-BBA045AB3B8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575100" y="813574"/>
            <a:ext cx="2483045" cy="2780599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2AA5401-9A90-673F-B6C2-0290245DF6BE}"/>
              </a:ext>
            </a:extLst>
          </p:cNvPr>
          <p:cNvSpPr txBox="1"/>
          <p:nvPr/>
        </p:nvSpPr>
        <p:spPr>
          <a:xfrm>
            <a:off x="1016109" y="741324"/>
            <a:ext cx="702762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20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弾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1E09F08-D0E5-C7AB-B9C0-D3D98393E388}"/>
              </a:ext>
            </a:extLst>
          </p:cNvPr>
          <p:cNvSpPr txBox="1"/>
          <p:nvPr/>
        </p:nvSpPr>
        <p:spPr>
          <a:xfrm>
            <a:off x="3499152" y="741324"/>
            <a:ext cx="702762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20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き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6ADB4B9-F203-46DC-A735-15A1EDA32108}"/>
              </a:ext>
            </a:extLst>
          </p:cNvPr>
          <p:cNvSpPr txBox="1"/>
          <p:nvPr/>
        </p:nvSpPr>
        <p:spPr>
          <a:xfrm>
            <a:off x="5982195" y="741324"/>
            <a:ext cx="702762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20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語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65A27F1-5344-CC6A-753E-DADEEAA98B85}"/>
              </a:ext>
            </a:extLst>
          </p:cNvPr>
          <p:cNvSpPr txBox="1"/>
          <p:nvPr/>
        </p:nvSpPr>
        <p:spPr>
          <a:xfrm>
            <a:off x="8465241" y="741324"/>
            <a:ext cx="702762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20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り</a:t>
            </a:r>
          </a:p>
        </p:txBody>
      </p:sp>
      <p:sp>
        <p:nvSpPr>
          <p:cNvPr id="13" name="吹き出し: 四角形 12">
            <a:extLst>
              <a:ext uri="{FF2B5EF4-FFF2-40B4-BE49-F238E27FC236}">
                <a16:creationId xmlns:a16="http://schemas.microsoft.com/office/drawing/2014/main" id="{175F0252-A2D3-FAAD-4795-85CFD341AE85}"/>
              </a:ext>
            </a:extLst>
          </p:cNvPr>
          <p:cNvSpPr/>
          <p:nvPr/>
        </p:nvSpPr>
        <p:spPr>
          <a:xfrm>
            <a:off x="8956017" y="47561"/>
            <a:ext cx="2666770" cy="766012"/>
          </a:xfrm>
          <a:prstGeom prst="wedgeRectCallout">
            <a:avLst>
              <a:gd name="adj1" fmla="val -33017"/>
              <a:gd name="adj2" fmla="val 8674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赤が濃いほど</a:t>
            </a:r>
            <a:endParaRPr lang="en-US" altLang="ja-JP" sz="2400" dirty="0">
              <a:solidFill>
                <a:schemeClr val="tx1"/>
              </a:solidFill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pPr algn="ctr"/>
            <a:r>
              <a:rPr kumimoji="1" lang="ja-JP" altLang="en-US" sz="2400" dirty="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</a:rPr>
              <a:t>注目度が高い</a:t>
            </a:r>
          </a:p>
        </p:txBody>
      </p:sp>
    </p:spTree>
    <p:extLst>
      <p:ext uri="{BB962C8B-B14F-4D97-AF65-F5344CB8AC3E}">
        <p14:creationId xmlns:p14="http://schemas.microsoft.com/office/powerpoint/2010/main" val="39918986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4835E-C11F-5F1F-FE27-8CCA8D56D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B5819C-515E-D810-020E-FFD96863B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WiT</a:t>
            </a:r>
            <a:r>
              <a:rPr kumimoji="1" lang="ja-JP" altLang="en-US" dirty="0"/>
              <a:t>の推論の説明</a:t>
            </a:r>
            <a:r>
              <a:rPr kumimoji="1" lang="en-US" altLang="ja-JP" dirty="0"/>
              <a:t>(Layer:5)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411BA02-FE2C-6FA1-0AF5-354FD6100C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1C826A5-7FD6-9423-D1EF-9C7E1457F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25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80CF2BBC-54F0-4E29-FBD9-A9F033E3FB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5968" y="813576"/>
            <a:ext cx="2483045" cy="2780601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629B73B-C20E-1D7D-DBBD-81BE901567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09013" y="813577"/>
            <a:ext cx="2483044" cy="2780600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02EBB4FF-3D87-6EBD-D139-98407C94A4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92057" y="813576"/>
            <a:ext cx="2483044" cy="278060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CA3307E5-1948-2A88-A72B-4BF8F7CE17C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575100" y="813574"/>
            <a:ext cx="2483045" cy="2780599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36365DA-E917-537C-E7D0-A42A0A81C1DA}"/>
              </a:ext>
            </a:extLst>
          </p:cNvPr>
          <p:cNvSpPr txBox="1"/>
          <p:nvPr/>
        </p:nvSpPr>
        <p:spPr>
          <a:xfrm>
            <a:off x="1016109" y="741324"/>
            <a:ext cx="702762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20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弾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ACAD9E78-DD7F-D43F-A711-3136B313925D}"/>
              </a:ext>
            </a:extLst>
          </p:cNvPr>
          <p:cNvSpPr txBox="1"/>
          <p:nvPr/>
        </p:nvSpPr>
        <p:spPr>
          <a:xfrm>
            <a:off x="3499152" y="741324"/>
            <a:ext cx="702762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20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き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6F76E84-7CB5-C1A2-85CB-293D726B250D}"/>
              </a:ext>
            </a:extLst>
          </p:cNvPr>
          <p:cNvSpPr txBox="1"/>
          <p:nvPr/>
        </p:nvSpPr>
        <p:spPr>
          <a:xfrm>
            <a:off x="5982195" y="741324"/>
            <a:ext cx="702762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20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語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AB99AA3-CC09-F7FF-698D-CDED95B31E43}"/>
              </a:ext>
            </a:extLst>
          </p:cNvPr>
          <p:cNvSpPr txBox="1"/>
          <p:nvPr/>
        </p:nvSpPr>
        <p:spPr>
          <a:xfrm>
            <a:off x="8465241" y="741324"/>
            <a:ext cx="702762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ja-JP" altLang="en-US" sz="2000" dirty="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り</a:t>
            </a: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4ED10EA4-88BE-307F-2F8D-1029CA4AC73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967" y="3594173"/>
            <a:ext cx="2483045" cy="2780600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A1C6B345-8B9E-59C8-A77D-C23D478F84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8664" y="3591610"/>
            <a:ext cx="2483045" cy="2780600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05912FB4-2EAF-195B-63FA-F41B235720E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1707" y="3594173"/>
            <a:ext cx="2480753" cy="2778033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1C293061-3A8B-B68A-0B5D-765C1F4CFE8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72459" y="3595455"/>
            <a:ext cx="2486477" cy="2784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4634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05FEC-6C39-E1BD-DC29-AC1E1C3CB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885199-D55A-218F-A412-7A837A900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文章とパッチの関連度 </a:t>
            </a:r>
            <a:r>
              <a:rPr lang="en-US" altLang="ja-JP" dirty="0"/>
              <a:t>Layer:5</a:t>
            </a:r>
            <a:r>
              <a:rPr lang="ja-JP" altLang="en-US"/>
              <a:t>，別の画像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818D6DE-33C6-8F7F-9B52-B79543CDC8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018BBFC-51BF-B141-60EA-ECE87A8E0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26</a:t>
            </a:fld>
            <a:endParaRPr kumimoji="1"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759A8E0F-D6D6-198C-96B8-D08A34001D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25973" y="76732"/>
            <a:ext cx="1935774" cy="2167748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51D103A5-758F-53F4-A31F-ED9BADCB5B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61749" y="76732"/>
            <a:ext cx="1935774" cy="2167748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CEAD0EF0-5E10-D2F7-A9AD-1409E72F07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997525" y="76732"/>
            <a:ext cx="1935774" cy="2167748"/>
          </a:xfrm>
          <a:prstGeom prst="rect">
            <a:avLst/>
          </a:prstGeom>
        </p:spPr>
      </p:pic>
      <p:pic>
        <p:nvPicPr>
          <p:cNvPr id="16" name="図 15">
            <a:extLst>
              <a:ext uri="{FF2B5EF4-FFF2-40B4-BE49-F238E27FC236}">
                <a16:creationId xmlns:a16="http://schemas.microsoft.com/office/drawing/2014/main" id="{5014468B-5A2D-C211-CEFE-5832C28A8F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933300" y="76732"/>
            <a:ext cx="1935774" cy="2167748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08B78F89-F5C4-EBC7-340A-482FB561889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804851" y="76733"/>
            <a:ext cx="1935774" cy="2167746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71731396-474A-DDDB-7978-166B4515C73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869075" y="76733"/>
            <a:ext cx="1935774" cy="2167746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2890C90C-60E5-A206-92AA-BFA0D89C63B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924" y="4408717"/>
            <a:ext cx="1936471" cy="2168528"/>
          </a:xfrm>
          <a:prstGeom prst="rect">
            <a:avLst/>
          </a:prstGeom>
        </p:spPr>
      </p:pic>
      <p:pic>
        <p:nvPicPr>
          <p:cNvPr id="26" name="図 25">
            <a:extLst>
              <a:ext uri="{FF2B5EF4-FFF2-40B4-BE49-F238E27FC236}">
                <a16:creationId xmlns:a16="http://schemas.microsoft.com/office/drawing/2014/main" id="{429970E0-1199-C9EA-D551-B26C03471E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61395" y="4410305"/>
            <a:ext cx="1935053" cy="2166940"/>
          </a:xfrm>
          <a:prstGeom prst="rect">
            <a:avLst/>
          </a:prstGeom>
        </p:spPr>
      </p:pic>
      <p:pic>
        <p:nvPicPr>
          <p:cNvPr id="28" name="図 27">
            <a:extLst>
              <a:ext uri="{FF2B5EF4-FFF2-40B4-BE49-F238E27FC236}">
                <a16:creationId xmlns:a16="http://schemas.microsoft.com/office/drawing/2014/main" id="{F12CBC6B-7A1A-5B0F-CBDF-FA37BFA74C6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96812" y="4415729"/>
            <a:ext cx="1935053" cy="2166940"/>
          </a:xfrm>
          <a:prstGeom prst="rect">
            <a:avLst/>
          </a:prstGeom>
        </p:spPr>
      </p:pic>
      <p:pic>
        <p:nvPicPr>
          <p:cNvPr id="30" name="図 29">
            <a:extLst>
              <a:ext uri="{FF2B5EF4-FFF2-40B4-BE49-F238E27FC236}">
                <a16:creationId xmlns:a16="http://schemas.microsoft.com/office/drawing/2014/main" id="{106F2BCF-7898-4B18-4542-161EDEA83EA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31501" y="4408717"/>
            <a:ext cx="1936471" cy="2168528"/>
          </a:xfrm>
          <a:prstGeom prst="rect">
            <a:avLst/>
          </a:prstGeom>
        </p:spPr>
      </p:pic>
      <p:pic>
        <p:nvPicPr>
          <p:cNvPr id="32" name="図 31">
            <a:extLst>
              <a:ext uri="{FF2B5EF4-FFF2-40B4-BE49-F238E27FC236}">
                <a16:creationId xmlns:a16="http://schemas.microsoft.com/office/drawing/2014/main" id="{74A38B05-B6C1-B38F-9AB3-E05DFD290B5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69071" y="4415729"/>
            <a:ext cx="1935053" cy="2166940"/>
          </a:xfrm>
          <a:prstGeom prst="rect">
            <a:avLst/>
          </a:prstGeom>
        </p:spPr>
      </p:pic>
      <p:pic>
        <p:nvPicPr>
          <p:cNvPr id="34" name="図 33">
            <a:extLst>
              <a:ext uri="{FF2B5EF4-FFF2-40B4-BE49-F238E27FC236}">
                <a16:creationId xmlns:a16="http://schemas.microsoft.com/office/drawing/2014/main" id="{2146576B-AAAD-ACC6-85BD-884793B07BA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04127" y="4408716"/>
            <a:ext cx="1936472" cy="2168529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1721F28E-6281-2557-2FF8-DCCAA80FE1F7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25969" y="2255779"/>
            <a:ext cx="1935774" cy="2167746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824520EE-E520-DC2A-2652-419A97244265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2061742" y="2255779"/>
            <a:ext cx="1935775" cy="2167749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DE1F2F7F-A91D-C9A3-B0EF-C8EF22570ECC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3997518" y="2255779"/>
            <a:ext cx="1935774" cy="2167746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837F0E29-6F64-BC21-FDC2-EF70096AE6CE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5932595" y="2252274"/>
            <a:ext cx="1936470" cy="2168527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DF1ACDED-2758-821D-B126-0FAC1CB81C1A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7868362" y="2252273"/>
            <a:ext cx="1936471" cy="2168528"/>
          </a:xfrm>
          <a:prstGeom prst="rect">
            <a:avLst/>
          </a:prstGeom>
        </p:spPr>
      </p:pic>
      <p:pic>
        <p:nvPicPr>
          <p:cNvPr id="21" name="図 20">
            <a:extLst>
              <a:ext uri="{FF2B5EF4-FFF2-40B4-BE49-F238E27FC236}">
                <a16:creationId xmlns:a16="http://schemas.microsoft.com/office/drawing/2014/main" id="{7DFC4A32-3C9B-9B43-D7AA-9A9C993E4D1C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9804128" y="2251491"/>
            <a:ext cx="1936471" cy="2168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9885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8D162-2E4B-F27D-9AF3-1CA0765F7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5B0FDC-A4E9-755A-4D76-DC4420E0C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WiT</a:t>
            </a:r>
            <a:r>
              <a:rPr kumimoji="1" lang="en-US" altLang="ja-JP" dirty="0"/>
              <a:t>(FC, Layer:5)</a:t>
            </a:r>
            <a:endParaRPr kumimoji="1" lang="ja-JP" altLang="en-US" dirty="0"/>
          </a:p>
        </p:txBody>
      </p:sp>
      <p:graphicFrame>
        <p:nvGraphicFramePr>
          <p:cNvPr id="5" name="コンテンツ プレースホルダー 4">
            <a:extLst>
              <a:ext uri="{FF2B5EF4-FFF2-40B4-BE49-F238E27FC236}">
                <a16:creationId xmlns:a16="http://schemas.microsoft.com/office/drawing/2014/main" id="{FB021CED-0E27-7541-71FD-E24A32597EE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25969" y="822560"/>
          <a:ext cx="11941173" cy="644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189">
                  <a:extLst>
                    <a:ext uri="{9D8B030D-6E8A-4147-A177-3AD203B41FA5}">
                      <a16:colId xmlns:a16="http://schemas.microsoft.com/office/drawing/2014/main" val="2510302127"/>
                    </a:ext>
                  </a:extLst>
                </a:gridCol>
                <a:gridCol w="2781996">
                  <a:extLst>
                    <a:ext uri="{9D8B030D-6E8A-4147-A177-3AD203B41FA5}">
                      <a16:colId xmlns:a16="http://schemas.microsoft.com/office/drawing/2014/main" val="709396677"/>
                    </a:ext>
                  </a:extLst>
                </a:gridCol>
                <a:gridCol w="2781996">
                  <a:extLst>
                    <a:ext uri="{9D8B030D-6E8A-4147-A177-3AD203B41FA5}">
                      <a16:colId xmlns:a16="http://schemas.microsoft.com/office/drawing/2014/main" val="2935870306"/>
                    </a:ext>
                  </a:extLst>
                </a:gridCol>
                <a:gridCol w="2781996">
                  <a:extLst>
                    <a:ext uri="{9D8B030D-6E8A-4147-A177-3AD203B41FA5}">
                      <a16:colId xmlns:a16="http://schemas.microsoft.com/office/drawing/2014/main" val="1052863655"/>
                    </a:ext>
                  </a:extLst>
                </a:gridCol>
                <a:gridCol w="2781996">
                  <a:extLst>
                    <a:ext uri="{9D8B030D-6E8A-4147-A177-3AD203B41FA5}">
                      <a16:colId xmlns:a16="http://schemas.microsoft.com/office/drawing/2014/main" val="3148727883"/>
                    </a:ext>
                  </a:extLst>
                </a:gridCol>
              </a:tblGrid>
              <a:tr h="2235600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b="0" i="0" dirty="0"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画像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8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800" b="0" i="0" dirty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8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800" b="0" i="0"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78169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kumimoji="1" lang="ja-JP" altLang="en-US" sz="1800" b="0" i="0" dirty="0">
                        <a:solidFill>
                          <a:schemeClr val="tx1"/>
                        </a:solidFill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800" b="0" i="0">
                          <a:solidFill>
                            <a:schemeClr val="tx1"/>
                          </a:solidFill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弾き方を間違えている</a:t>
                      </a:r>
                      <a:endParaRPr kumimoji="1" lang="en-US" altLang="ja-JP" sz="1800" b="0" i="0" dirty="0">
                        <a:solidFill>
                          <a:schemeClr val="tx1"/>
                        </a:solidFill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800" b="0" i="0">
                          <a:solidFill>
                            <a:schemeClr val="tx1"/>
                          </a:solidFill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弾き語り</a:t>
                      </a:r>
                      <a:endParaRPr kumimoji="1" lang="en-US" altLang="ja-JP" sz="1800" b="0" i="0" dirty="0">
                        <a:solidFill>
                          <a:schemeClr val="tx1"/>
                        </a:solidFill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800" b="0" i="0">
                          <a:solidFill>
                            <a:schemeClr val="tx1"/>
                          </a:solidFill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弾き忘れたけど、弾けた。</a:t>
                      </a:r>
                      <a:endParaRPr kumimoji="1" lang="en-US" altLang="ja-JP" sz="1800" b="0" i="0" dirty="0">
                        <a:solidFill>
                          <a:schemeClr val="tx1"/>
                        </a:solidFill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800" b="0" i="0">
                          <a:solidFill>
                            <a:schemeClr val="tx1"/>
                          </a:solidFill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この後、チョキを着用で全滅</a:t>
                      </a:r>
                      <a:endParaRPr kumimoji="1" lang="en-US" altLang="ja-JP" sz="1800" b="0" i="0" dirty="0">
                        <a:solidFill>
                          <a:schemeClr val="tx1"/>
                        </a:solidFill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800" b="0" i="0">
                          <a:solidFill>
                            <a:schemeClr val="tx1"/>
                          </a:solidFill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ファンの権力には勝たれへん</a:t>
                      </a:r>
                      <a:endParaRPr kumimoji="1" lang="ja-JP" altLang="en-US" sz="1800" b="0" i="0" dirty="0">
                        <a:solidFill>
                          <a:schemeClr val="tx1"/>
                        </a:solidFill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  <a:cs typeface="+mn-cs"/>
                        </a:rPr>
                        <a:t>私は無論、無論、無心理では無いのよ。</a:t>
                      </a:r>
                      <a:endParaRPr kumimoji="1" lang="en-US" altLang="ja-JP" sz="1800" b="0" i="0" kern="1200" dirty="0">
                        <a:solidFill>
                          <a:schemeClr val="dk1"/>
                        </a:solidFill>
                        <a:effectLst/>
                        <a:latin typeface="BIZ UDGothic" panose="020B0400000000000000" pitchFamily="49" charset="-128"/>
                        <a:ea typeface="BIZ UDGothic" panose="020B0400000000000000" pitchFamily="49" charset="-128"/>
                        <a:cs typeface="+mn-cs"/>
                      </a:endParaRP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  <a:cs typeface="+mn-cs"/>
                        </a:rPr>
                        <a:t>腹話術が雑</a:t>
                      </a:r>
                      <a:endParaRPr kumimoji="1" lang="en-US" altLang="ja-JP" sz="1800" b="0" i="0" kern="1200" dirty="0">
                        <a:solidFill>
                          <a:schemeClr val="dk1"/>
                        </a:solidFill>
                        <a:effectLst/>
                        <a:latin typeface="BIZ UDGothic" panose="020B0400000000000000" pitchFamily="49" charset="-128"/>
                        <a:ea typeface="BIZ UDGothic" panose="020B0400000000000000" pitchFamily="49" charset="-128"/>
                        <a:cs typeface="+mn-cs"/>
                      </a:endParaRP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  <a:cs typeface="+mn-cs"/>
                        </a:rPr>
                        <a:t>本当に三味線作るの？</a:t>
                      </a:r>
                      <a:endParaRPr kumimoji="1" lang="en-US" altLang="ja-JP" sz="1800" b="0" i="0" kern="1200" dirty="0">
                        <a:solidFill>
                          <a:schemeClr val="dk1"/>
                        </a:solidFill>
                        <a:effectLst/>
                        <a:latin typeface="BIZ UDGothic" panose="020B0400000000000000" pitchFamily="49" charset="-128"/>
                        <a:ea typeface="BIZ UDGothic" panose="020B0400000000000000" pitchFamily="49" charset="-128"/>
                        <a:cs typeface="+mn-cs"/>
                      </a:endParaRP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  <a:cs typeface="+mn-cs"/>
                        </a:rPr>
                        <a:t>私も死にますよ？え？食べてないよ？</a:t>
                      </a:r>
                      <a:endParaRPr kumimoji="1" lang="en-US" altLang="ja-JP" sz="1800" b="0" i="0" kern="1200" dirty="0">
                        <a:solidFill>
                          <a:schemeClr val="dk1"/>
                        </a:solidFill>
                        <a:effectLst/>
                        <a:latin typeface="BIZ UDGothic" panose="020B0400000000000000" pitchFamily="49" charset="-128"/>
                        <a:ea typeface="BIZ UDGothic" panose="020B0400000000000000" pitchFamily="49" charset="-128"/>
                        <a:cs typeface="+mn-cs"/>
                      </a:endParaRP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  <a:cs typeface="+mn-cs"/>
                        </a:rPr>
                        <a:t>本当は錦鯉がぐらいに大きくなったんですよねぇ。</a:t>
                      </a:r>
                      <a:endParaRPr kumimoji="1" lang="ja-JP" altLang="en-US" sz="1800" b="0" i="0" dirty="0">
                        <a:solidFill>
                          <a:schemeClr val="tx1"/>
                        </a:solidFill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marR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ja-JP" altLang="en-US" sz="1800" b="0" i="0">
                          <a:solidFill>
                            <a:schemeClr val="tx1"/>
                          </a:solidFill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自分のギターを持つ音楽の先生</a:t>
                      </a:r>
                      <a:endParaRPr kumimoji="1" lang="en-US" altLang="ja-JP" sz="1800" b="0" i="0" dirty="0">
                        <a:solidFill>
                          <a:schemeClr val="tx1"/>
                        </a:solidFill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  <a:p>
                      <a:pPr marL="285750" marR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  <a:cs typeface="+mn-cs"/>
                        </a:rPr>
                        <a:t>聞こえるわけ？</a:t>
                      </a:r>
                      <a:endParaRPr kumimoji="1" lang="en-US" altLang="ja-JP" sz="1800" b="0" i="0" kern="1200" dirty="0">
                        <a:solidFill>
                          <a:schemeClr val="dk1"/>
                        </a:solidFill>
                        <a:effectLst/>
                        <a:latin typeface="BIZ UDGothic" panose="020B0400000000000000" pitchFamily="49" charset="-128"/>
                        <a:ea typeface="BIZ UDGothic" panose="020B0400000000000000" pitchFamily="49" charset="-128"/>
                        <a:cs typeface="+mn-cs"/>
                      </a:endParaRPr>
                    </a:p>
                    <a:p>
                      <a:pPr marL="285750" marR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  <a:cs typeface="+mn-cs"/>
                        </a:rPr>
                        <a:t>このギターかっこいいなー</a:t>
                      </a:r>
                      <a:endParaRPr kumimoji="1" lang="en-US" altLang="ja-JP" sz="1800" b="0" i="0" kern="1200" dirty="0">
                        <a:solidFill>
                          <a:schemeClr val="dk1"/>
                        </a:solidFill>
                        <a:effectLst/>
                        <a:latin typeface="BIZ UDGothic" panose="020B0400000000000000" pitchFamily="49" charset="-128"/>
                        <a:ea typeface="BIZ UDGothic" panose="020B0400000000000000" pitchFamily="49" charset="-128"/>
                        <a:cs typeface="+mn-cs"/>
                      </a:endParaRPr>
                    </a:p>
                    <a:p>
                      <a:pPr marL="285750" marR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  <a:cs typeface="+mn-cs"/>
                        </a:rPr>
                        <a:t>次の弾き間違えたら当たる</a:t>
                      </a:r>
                      <a:endParaRPr kumimoji="1" lang="en-US" altLang="ja-JP" sz="1800" b="0" i="0" kern="1200" dirty="0">
                        <a:solidFill>
                          <a:schemeClr val="dk1"/>
                        </a:solidFill>
                        <a:effectLst/>
                        <a:latin typeface="BIZ UDGothic" panose="020B0400000000000000" pitchFamily="49" charset="-128"/>
                        <a:ea typeface="BIZ UDGothic" panose="020B0400000000000000" pitchFamily="49" charset="-128"/>
                        <a:cs typeface="+mn-cs"/>
                      </a:endParaRPr>
                    </a:p>
                    <a:p>
                      <a:pPr marL="285750" marR="0" indent="-28575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  <a:cs typeface="+mn-cs"/>
                        </a:rPr>
                        <a:t>自分を弦で思ったより傷一つ付けるタイプ</a:t>
                      </a:r>
                      <a:endParaRPr kumimoji="1" lang="ja-JP" altLang="en-US" sz="1800" b="0" i="0" dirty="0">
                        <a:solidFill>
                          <a:schemeClr val="tx1"/>
                        </a:solidFill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  <a:cs typeface="+mn-cs"/>
                        </a:rPr>
                        <a:t>この伝説を作った覚えはない。さぁ、今から俺の背後をつんつんつんつんつん飛ばしますぞ。</a:t>
                      </a:r>
                      <a:endParaRPr kumimoji="1" lang="en-US" altLang="ja-JP" sz="1800" b="0" i="0" kern="1200" dirty="0">
                        <a:solidFill>
                          <a:schemeClr val="dk1"/>
                        </a:solidFill>
                        <a:effectLst/>
                        <a:latin typeface="BIZ UDGothic" panose="020B0400000000000000" pitchFamily="49" charset="-128"/>
                        <a:ea typeface="BIZ UDGothic" panose="020B0400000000000000" pitchFamily="49" charset="-128"/>
                        <a:cs typeface="+mn-cs"/>
                      </a:endParaRP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  <a:cs typeface="+mn-cs"/>
                        </a:rPr>
                        <a:t>今、オレの前を飛べるとは言ったな。あれは嘘だ。</a:t>
                      </a:r>
                      <a:endParaRPr kumimoji="1" lang="en-US" altLang="ja-JP" sz="1800" b="0" i="0" kern="1200" dirty="0">
                        <a:solidFill>
                          <a:schemeClr val="dk1"/>
                        </a:solidFill>
                        <a:effectLst/>
                        <a:latin typeface="BIZ UDGothic" panose="020B0400000000000000" pitchFamily="49" charset="-128"/>
                        <a:ea typeface="BIZ UDGothic" panose="020B0400000000000000" pitchFamily="49" charset="-128"/>
                        <a:cs typeface="+mn-cs"/>
                      </a:endParaRP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  <a:cs typeface="+mn-cs"/>
                        </a:rPr>
                        <a:t>俺の発射した銃弾を止めどなく服が敷き詰めた</a:t>
                      </a:r>
                      <a:endParaRPr kumimoji="1" lang="en-US" altLang="ja-JP" sz="1800" b="0" i="0" kern="1200" dirty="0">
                        <a:solidFill>
                          <a:schemeClr val="dk1"/>
                        </a:solidFill>
                        <a:effectLst/>
                        <a:latin typeface="BIZ UDGothic" panose="020B0400000000000000" pitchFamily="49" charset="-128"/>
                        <a:ea typeface="BIZ UDGothic" panose="020B0400000000000000" pitchFamily="49" charset="-128"/>
                        <a:cs typeface="+mn-cs"/>
                      </a:endParaRP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  <a:cs typeface="+mn-cs"/>
                        </a:rPr>
                        <a:t>俺がダメだと諦めるのに。</a:t>
                      </a:r>
                      <a:endParaRPr kumimoji="1" lang="en-US" altLang="ja-JP" sz="1800" b="0" i="0" kern="1200" dirty="0">
                        <a:solidFill>
                          <a:schemeClr val="dk1"/>
                        </a:solidFill>
                        <a:effectLst/>
                        <a:latin typeface="BIZ UDGothic" panose="020B0400000000000000" pitchFamily="49" charset="-128"/>
                        <a:ea typeface="BIZ UDGothic" panose="020B0400000000000000" pitchFamily="49" charset="-128"/>
                        <a:cs typeface="+mn-cs"/>
                      </a:endParaRPr>
                    </a:p>
                    <a:p>
                      <a:pPr marL="285750" indent="-285750" algn="ctr">
                        <a:buFont typeface="Arial" panose="020B0604020202020204" pitchFamily="34" charset="0"/>
                        <a:buChar char="•"/>
                      </a:pPr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  <a:cs typeface="+mn-cs"/>
                        </a:rPr>
                        <a:t>近所の大将が止めにいった</a:t>
                      </a:r>
                      <a:endParaRPr kumimoji="1" lang="ja-JP" altLang="en-US" sz="1800" b="0" i="0" dirty="0">
                        <a:solidFill>
                          <a:schemeClr val="tx1"/>
                        </a:solidFill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6264544"/>
                  </a:ext>
                </a:extLst>
              </a:tr>
            </a:tbl>
          </a:graphicData>
        </a:graphic>
      </p:graphicFrame>
      <p:pic>
        <p:nvPicPr>
          <p:cNvPr id="6" name="図 5">
            <a:extLst>
              <a:ext uri="{FF2B5EF4-FFF2-40B4-BE49-F238E27FC236}">
                <a16:creationId xmlns:a16="http://schemas.microsoft.com/office/drawing/2014/main" id="{FAD857CA-7DF6-EE5C-7A1A-694F308B7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9" y="964450"/>
            <a:ext cx="2747368" cy="1896992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DA775DAA-2379-8C44-C924-949E7515A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9720" y="822685"/>
            <a:ext cx="2180522" cy="2180522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532DBD47-B849-D23E-C626-52BCE6ECDB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0301" y="822560"/>
            <a:ext cx="2180522" cy="2180522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6431FF57-A22D-26A1-D190-035FD1BA1D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7205" y="822560"/>
            <a:ext cx="2180522" cy="2180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876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85BC7-28F0-C39F-66C1-ACEFA10F4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989403-CF34-D59B-1AB0-573C87E87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実験</a:t>
            </a:r>
            <a:r>
              <a:rPr lang="en-US" altLang="ja-JP" dirty="0"/>
              <a:t>2</a:t>
            </a:r>
            <a:r>
              <a:rPr kumimoji="1" lang="en-US" altLang="ja-JP" dirty="0"/>
              <a:t>: </a:t>
            </a:r>
            <a:r>
              <a:rPr kumimoji="1" lang="ja-JP" altLang="en-US"/>
              <a:t>従来手法の実装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DF9A7CFE-8754-8B67-28C3-60678352DA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ja-JP" altLang="en-US"/>
                  <a:t>従来手法</a:t>
                </a:r>
                <a:r>
                  <a:rPr lang="en-US" altLang="ja-JP" dirty="0"/>
                  <a:t>(NJM</a:t>
                </a:r>
                <a:r>
                  <a:rPr lang="ja-JP" altLang="en-US"/>
                  <a:t>，</a:t>
                </a:r>
                <a:r>
                  <a:rPr lang="en-US" altLang="ja-JP" dirty="0"/>
                  <a:t>GUMI-AE)</a:t>
                </a:r>
                <a:r>
                  <a:rPr lang="ja-JP" altLang="en-US"/>
                  <a:t>と</a:t>
                </a:r>
                <a:r>
                  <a:rPr kumimoji="1" lang="ja-JP" altLang="en-US"/>
                  <a:t>学習結果を比較</a:t>
                </a:r>
                <a:endParaRPr kumimoji="1" lang="en-US" altLang="ja-JP" dirty="0"/>
              </a:p>
              <a:p>
                <a:pPr marL="0" indent="0">
                  <a:buNone/>
                </a:pPr>
                <a:endParaRPr lang="en-US" altLang="ja-JP" sz="1400" dirty="0"/>
              </a:p>
              <a:p>
                <a:pPr marL="0" indent="0">
                  <a:buNone/>
                </a:pPr>
                <a:r>
                  <a:rPr kumimoji="1" lang="ja-JP" altLang="en-US"/>
                  <a:t>実験条件</a:t>
                </a:r>
                <a:endParaRPr kumimoji="1" lang="en-US" altLang="ja-JP" dirty="0"/>
              </a:p>
              <a:p>
                <a:pPr marL="457200" lvl="1" indent="0">
                  <a:buNone/>
                </a:pPr>
                <a:r>
                  <a:rPr lang="ja-JP" altLang="en-US" b="1"/>
                  <a:t>画像</a:t>
                </a:r>
                <a:r>
                  <a:rPr lang="en-US" altLang="ja-JP" b="1" dirty="0"/>
                  <a:t>: 220,138</a:t>
                </a:r>
                <a:r>
                  <a:rPr lang="ja-JP" altLang="en-US" b="1"/>
                  <a:t>枚</a:t>
                </a:r>
                <a:endParaRPr lang="en-US" altLang="ja-JP" b="1" dirty="0"/>
              </a:p>
              <a:p>
                <a:pPr marL="457200" lvl="1" indent="0">
                  <a:buNone/>
                </a:pPr>
                <a:r>
                  <a:rPr lang="ja-JP" altLang="en-US" b="1"/>
                  <a:t>文章</a:t>
                </a:r>
                <a:r>
                  <a:rPr lang="en-US" altLang="ja-JP" b="1" dirty="0"/>
                  <a:t>: 1,378,064</a:t>
                </a:r>
                <a:r>
                  <a:rPr lang="ja-JP" altLang="en-US" b="1"/>
                  <a:t>件</a:t>
                </a:r>
                <a:endParaRPr lang="en-US" altLang="ja-JP" b="1" dirty="0"/>
              </a:p>
              <a:p>
                <a:pPr marL="457200" lvl="1" indent="0">
                  <a:buNone/>
                </a:pPr>
                <a:r>
                  <a:rPr lang="ja-JP" altLang="en-US" b="1"/>
                  <a:t>サブワード数</a:t>
                </a:r>
                <a:r>
                  <a:rPr lang="en-US" altLang="ja-JP" b="1" dirty="0"/>
                  <a:t>: 17,363</a:t>
                </a:r>
                <a:r>
                  <a:rPr lang="ja-JP" altLang="en-US" b="1"/>
                  <a:t>語</a:t>
                </a:r>
                <a:endParaRPr lang="en-US" altLang="ja-JP" b="1" dirty="0"/>
              </a:p>
              <a:p>
                <a:pPr marL="457200" lvl="1" indent="0">
                  <a:buNone/>
                </a:pPr>
                <a:endParaRPr lang="en-US" altLang="ja-JP" b="1" dirty="0"/>
              </a:p>
              <a:p>
                <a:pPr marL="457200" lvl="1" indent="0">
                  <a:buNone/>
                </a:pPr>
                <a:r>
                  <a:rPr lang="ja-JP" altLang="en-US" b="1"/>
                  <a:t>最適化手法</a:t>
                </a:r>
                <a:r>
                  <a:rPr lang="en-US" altLang="ja-JP" b="1" dirty="0"/>
                  <a:t>: </a:t>
                </a:r>
                <a:r>
                  <a:rPr lang="en-US" altLang="ja-JP" b="1" dirty="0" err="1"/>
                  <a:t>AdamW</a:t>
                </a:r>
                <a:r>
                  <a:rPr lang="en-US" altLang="ja-JP" b="1" dirty="0"/>
                  <a:t>(</a:t>
                </a:r>
                <a14:m>
                  <m:oMath xmlns:m="http://schemas.openxmlformats.org/officeDocument/2006/math">
                    <m:r>
                      <a:rPr lang="en-US" altLang="ja-JP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𝜼</m:t>
                    </m:r>
                    <m:r>
                      <a:rPr lang="en-US" altLang="ja-JP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ja-JP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n-US" altLang="ja-JP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n-US" altLang="ja-JP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𝟎𝟎𝟎𝟏</m:t>
                    </m:r>
                  </m:oMath>
                </a14:m>
                <a:r>
                  <a:rPr lang="en-US" altLang="ja-JP" b="1" dirty="0"/>
                  <a:t>)</a:t>
                </a:r>
              </a:p>
              <a:p>
                <a:pPr marL="457200" lvl="1" indent="0">
                  <a:buNone/>
                </a:pPr>
                <a:r>
                  <a:rPr lang="ja-JP" altLang="en-US" b="1"/>
                  <a:t>バッチサイズ</a:t>
                </a:r>
                <a:r>
                  <a:rPr lang="en-US" altLang="ja-JP" b="1" dirty="0"/>
                  <a:t>: 32</a:t>
                </a:r>
              </a:p>
              <a:p>
                <a:pPr marL="457200" lvl="1" indent="0">
                  <a:buNone/>
                </a:pPr>
                <a:r>
                  <a:rPr lang="ja-JP" altLang="en-US" b="1"/>
                  <a:t>学習反復回数</a:t>
                </a:r>
                <a:r>
                  <a:rPr lang="en-US" altLang="ja-JP" b="1" dirty="0"/>
                  <a:t>: 50</a:t>
                </a:r>
                <a:r>
                  <a:rPr lang="ja-JP" altLang="en-US" b="1"/>
                  <a:t>回</a:t>
                </a:r>
                <a:endParaRPr lang="en-US" altLang="ja-JP" b="1" dirty="0"/>
              </a:p>
              <a:p>
                <a:pPr marL="457200" lvl="1" indent="0">
                  <a:buNone/>
                </a:pPr>
                <a:endParaRPr lang="en-US" altLang="ja-JP" dirty="0"/>
              </a:p>
              <a:p>
                <a:pPr marL="457200" lvl="1" indent="0">
                  <a:buNone/>
                </a:pPr>
                <a:r>
                  <a:rPr lang="en-US" altLang="ja-JP" dirty="0"/>
                  <a:t>AE</a:t>
                </a:r>
                <a:r>
                  <a:rPr lang="ja-JP" altLang="en-US"/>
                  <a:t>の出力次元数</a:t>
                </a:r>
                <a:r>
                  <a:rPr lang="en-US" altLang="ja-JP" dirty="0"/>
                  <a:t>: 16384</a:t>
                </a:r>
              </a:p>
              <a:p>
                <a:pPr marL="457200" lvl="1" indent="0">
                  <a:buNone/>
                </a:pPr>
                <a:r>
                  <a:rPr lang="ja-JP" altLang="en-US"/>
                  <a:t>特徴量次元数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ja-JP" dirty="0"/>
                  <a:t>: 1024</a:t>
                </a:r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DF9A7CFE-8754-8B67-28C3-60678352DA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4" t="-204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70633DA-AB35-9D4D-3B19-1F536791A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28</a:t>
            </a:fld>
            <a:endParaRPr kumimoji="1" lang="ja-JP" altLang="en-US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7191BF0-A62E-1BDA-BE78-DCD165AF8039}"/>
              </a:ext>
            </a:extLst>
          </p:cNvPr>
          <p:cNvSpPr txBox="1"/>
          <p:nvPr/>
        </p:nvSpPr>
        <p:spPr>
          <a:xfrm>
            <a:off x="125969" y="5941865"/>
            <a:ext cx="119400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[7</a:t>
            </a:r>
            <a:r>
              <a:rPr lang="en-US" altLang="ja-JP" sz="11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] R. </a:t>
            </a:r>
            <a:r>
              <a:rPr lang="en-US" altLang="ja-JP" sz="1100" dirty="0" err="1">
                <a:latin typeface="BIZ UDGothic" panose="020B0400000000000000" pitchFamily="49" charset="-128"/>
                <a:ea typeface="BIZ UDGothic" panose="020B0400000000000000" pitchFamily="49" charset="-128"/>
              </a:rPr>
              <a:t>Yamatomi</a:t>
            </a:r>
            <a:r>
              <a:rPr lang="en-US" altLang="ja-JP" sz="11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, et al., "Generative Model of Suitable Meme Sentences for Images Using </a:t>
            </a:r>
            <a:r>
              <a:rPr lang="en-US" altLang="ja-JP" sz="1100" dirty="0" err="1">
                <a:latin typeface="BIZ UDGothic" panose="020B0400000000000000" pitchFamily="49" charset="-128"/>
                <a:ea typeface="BIZ UDGothic" panose="020B0400000000000000" pitchFamily="49" charset="-128"/>
              </a:rPr>
              <a:t>AutoEncoder</a:t>
            </a:r>
            <a:r>
              <a:rPr lang="en-US" altLang="ja-JP" sz="11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," Proc. Pacific Rim International Conference on Artificial Intelligence, pp.237-248, November 2023.</a:t>
            </a:r>
            <a:endParaRPr kumimoji="1" lang="en-US" altLang="ja-JP" sz="1100" dirty="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031722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F596D-BD14-1D09-E039-004053FBE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C07583-4765-2790-EAB7-7AEA7B202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err="1"/>
              <a:t>WiT</a:t>
            </a:r>
            <a:r>
              <a:rPr kumimoji="1" lang="ja-JP" altLang="en-US"/>
              <a:t>，</a:t>
            </a:r>
            <a:r>
              <a:rPr kumimoji="1" lang="en-US" altLang="ja-JP" dirty="0"/>
              <a:t>GUMI-AE</a:t>
            </a:r>
            <a:r>
              <a:rPr kumimoji="1" lang="ja-JP" altLang="en-US"/>
              <a:t>，</a:t>
            </a:r>
            <a:r>
              <a:rPr kumimoji="1" lang="en-US" altLang="ja-JP" dirty="0"/>
              <a:t>NJM</a:t>
            </a:r>
            <a:r>
              <a:rPr kumimoji="1" lang="ja-JP" altLang="en-US"/>
              <a:t>の比較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BB6475E-4CD9-9E96-E68C-AAF25EF6B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969" y="813577"/>
            <a:ext cx="11940062" cy="5672464"/>
          </a:xfrm>
        </p:spPr>
        <p:txBody>
          <a:bodyPr>
            <a:normAutofit/>
          </a:bodyPr>
          <a:lstStyle/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endParaRPr lang="en-US" altLang="ja-JP" dirty="0"/>
          </a:p>
          <a:p>
            <a:endParaRPr kumimoji="1" lang="en-US" altLang="ja-JP" dirty="0"/>
          </a:p>
          <a:p>
            <a:r>
              <a:rPr lang="en-US" altLang="ja-JP" dirty="0" err="1"/>
              <a:t>WiT</a:t>
            </a:r>
            <a:r>
              <a:rPr lang="en-US" altLang="ja-JP" dirty="0"/>
              <a:t>(L:5,FC)&gt;</a:t>
            </a:r>
            <a:r>
              <a:rPr lang="en-US" altLang="ja-JP" dirty="0" err="1"/>
              <a:t>WiT</a:t>
            </a:r>
            <a:r>
              <a:rPr lang="en-US" altLang="ja-JP" dirty="0"/>
              <a:t>(L:5)&gt;</a:t>
            </a:r>
            <a:r>
              <a:rPr lang="en-US" altLang="ja-JP" dirty="0" err="1"/>
              <a:t>WiT</a:t>
            </a:r>
            <a:r>
              <a:rPr lang="en-US" altLang="ja-JP" dirty="0"/>
              <a:t>(L:1,FC)&gt;</a:t>
            </a:r>
            <a:r>
              <a:rPr lang="en-US" altLang="ja-JP" dirty="0" err="1"/>
              <a:t>WiT</a:t>
            </a:r>
            <a:r>
              <a:rPr lang="en-US" altLang="ja-JP" dirty="0"/>
              <a:t>(L:1)&gt;NJM&gt;GUMI-AE</a:t>
            </a:r>
          </a:p>
          <a:p>
            <a:pPr marL="0" indent="0">
              <a:buNone/>
            </a:pPr>
            <a:r>
              <a:rPr lang="ja-JP" altLang="en-US"/>
              <a:t>→</a:t>
            </a:r>
            <a:r>
              <a:rPr lang="en-US" altLang="ja-JP" dirty="0"/>
              <a:t> </a:t>
            </a:r>
            <a:r>
              <a:rPr lang="ja-JP" altLang="en-US"/>
              <a:t>同じデータを用いて提案手法は従来手法より高い学習精度を得られる</a:t>
            </a:r>
            <a:endParaRPr lang="en-US" altLang="ja-JP" dirty="0"/>
          </a:p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D5CC8B0-3C2C-EA2C-C633-849C020E5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29</a:t>
            </a:fld>
            <a:endParaRPr kumimoji="1" lang="ja-JP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DB5C768-D8B1-13D4-9F77-F9748F55E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130688" y="813576"/>
            <a:ext cx="3850468" cy="4548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96CA600-47E2-6B36-A5AF-113F5FB73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4042501" y="813577"/>
            <a:ext cx="3831592" cy="4548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70007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02E38-16EC-815C-DBA0-D621AB60A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2">
            <a:extLst>
              <a:ext uri="{FF2B5EF4-FFF2-40B4-BE49-F238E27FC236}">
                <a16:creationId xmlns:a16="http://schemas.microsoft.com/office/drawing/2014/main" id="{2B34184F-89F8-5DB9-66E7-8AB29AA7F248}"/>
              </a:ext>
            </a:extLst>
          </p:cNvPr>
          <p:cNvSpPr txBox="1">
            <a:spLocks/>
          </p:cNvSpPr>
          <p:nvPr/>
        </p:nvSpPr>
        <p:spPr>
          <a:xfrm>
            <a:off x="125969" y="813577"/>
            <a:ext cx="11940062" cy="56724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BIZ UDGothic" panose="020B0400000000000000" pitchFamily="49" charset="-128"/>
                <a:ea typeface="BIZ UDGothic" panose="020B0400000000000000" pitchFamily="49" charset="-128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  <a:p>
            <a:endParaRPr lang="en-US" altLang="ja-JP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5E0967BF-895F-4271-5889-82825D723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それぞれの手法が生成した大喜利</a:t>
            </a:r>
          </a:p>
        </p:txBody>
      </p:sp>
      <p:graphicFrame>
        <p:nvGraphicFramePr>
          <p:cNvPr id="5" name="コンテンツ プレースホルダー 4">
            <a:extLst>
              <a:ext uri="{FF2B5EF4-FFF2-40B4-BE49-F238E27FC236}">
                <a16:creationId xmlns:a16="http://schemas.microsoft.com/office/drawing/2014/main" id="{C672A2A7-B41B-95F2-83A7-8EB370FEC0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2113745"/>
              </p:ext>
            </p:extLst>
          </p:nvPr>
        </p:nvGraphicFramePr>
        <p:xfrm>
          <a:off x="125413" y="812800"/>
          <a:ext cx="11941172" cy="426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5387">
                  <a:extLst>
                    <a:ext uri="{9D8B030D-6E8A-4147-A177-3AD203B41FA5}">
                      <a16:colId xmlns:a16="http://schemas.microsoft.com/office/drawing/2014/main" val="1609100178"/>
                    </a:ext>
                  </a:extLst>
                </a:gridCol>
                <a:gridCol w="3158595">
                  <a:extLst>
                    <a:ext uri="{9D8B030D-6E8A-4147-A177-3AD203B41FA5}">
                      <a16:colId xmlns:a16="http://schemas.microsoft.com/office/drawing/2014/main" val="2402676554"/>
                    </a:ext>
                  </a:extLst>
                </a:gridCol>
                <a:gridCol w="3158595">
                  <a:extLst>
                    <a:ext uri="{9D8B030D-6E8A-4147-A177-3AD203B41FA5}">
                      <a16:colId xmlns:a16="http://schemas.microsoft.com/office/drawing/2014/main" val="2418242744"/>
                    </a:ext>
                  </a:extLst>
                </a:gridCol>
                <a:gridCol w="3158595">
                  <a:extLst>
                    <a:ext uri="{9D8B030D-6E8A-4147-A177-3AD203B41FA5}">
                      <a16:colId xmlns:a16="http://schemas.microsoft.com/office/drawing/2014/main" val="1800737481"/>
                    </a:ext>
                  </a:extLst>
                </a:gridCol>
              </a:tblGrid>
              <a:tr h="2134800"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>
                        <a:solidFill>
                          <a:schemeClr val="tx1"/>
                        </a:solidFill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>
                        <a:solidFill>
                          <a:schemeClr val="tx1"/>
                        </a:solidFill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 dirty="0">
                        <a:solidFill>
                          <a:schemeClr val="tx1"/>
                        </a:solidFill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>
                        <a:solidFill>
                          <a:schemeClr val="tx1"/>
                        </a:solidFill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847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 err="1">
                          <a:solidFill>
                            <a:schemeClr val="tx1"/>
                          </a:solidFill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WiT</a:t>
                      </a:r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(FC,L:5)</a:t>
                      </a:r>
                      <a:r>
                        <a:rPr kumimoji="1" lang="ja-JP" altLang="en-US" sz="2000" b="0" i="0" kern="1200" dirty="0">
                          <a:solidFill>
                            <a:schemeClr val="tx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 </a:t>
                      </a:r>
                      <a:r>
                        <a:rPr kumimoji="1" lang="en-US" altLang="ja-JP" sz="2000" b="0" i="0" kern="1200" dirty="0">
                          <a:solidFill>
                            <a:schemeClr val="tx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68%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0" i="0" kern="1200" dirty="0">
                          <a:solidFill>
                            <a:schemeClr val="tx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自毛だって！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0" i="0" kern="1200" dirty="0">
                          <a:solidFill>
                            <a:schemeClr val="tx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マタタビの禁断症状の猫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0" i="0" kern="1200" dirty="0">
                          <a:solidFill>
                            <a:schemeClr val="tx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弾き語り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381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 dirty="0" err="1">
                          <a:solidFill>
                            <a:schemeClr val="tx1"/>
                          </a:solidFill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WiT</a:t>
                      </a:r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(L:5)</a:t>
                      </a:r>
                      <a:r>
                        <a:rPr kumimoji="1" lang="ja-JP" altLang="en-US" sz="2000" b="0" i="0" kern="1200" dirty="0">
                          <a:solidFill>
                            <a:schemeClr val="tx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 </a:t>
                      </a:r>
                      <a:r>
                        <a:rPr kumimoji="1" lang="en-US" altLang="ja-JP" sz="2000" b="0" i="0" kern="1200" dirty="0">
                          <a:solidFill>
                            <a:schemeClr val="tx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62%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0" i="0" kern="1200" dirty="0">
                          <a:solidFill>
                            <a:schemeClr val="tx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えっ！電話越しでも臭う声なんだっけ？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0" i="0" kern="1200" dirty="0">
                          <a:solidFill>
                            <a:schemeClr val="tx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座った瞬間マグロ缶が飛び出た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000" b="0" i="0" kern="1200" dirty="0">
                          <a:solidFill>
                            <a:schemeClr val="tx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ギターが似合わない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365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GUMI-AE 48%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あーーっ！！！！！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この後スタッフがおいしく頂きました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あ、俺今日も足短くね！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0615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 dirty="0">
                          <a:solidFill>
                            <a:schemeClr val="tx1"/>
                          </a:solidFill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</a:rPr>
                        <a:t>NJM 49%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はい、お前の負けーー！！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お前、何で猫背なんだよ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BIZ UDゴシック" panose="020B0400000000000000" pitchFamily="49" charset="-128"/>
                          <a:ea typeface="BIZ UDゴシック" panose="020B0400000000000000" pitchFamily="49" charset="-128"/>
                          <a:cs typeface="+mn-cs"/>
                        </a:rPr>
                        <a:t>ご主人、散歩行ってます。</a:t>
                      </a:r>
                      <a:endParaRPr kumimoji="1" lang="ja-JP" altLang="en-US" sz="2000" dirty="0">
                        <a:solidFill>
                          <a:schemeClr val="tx1"/>
                        </a:solidFill>
                        <a:latin typeface="BIZ UDゴシック" panose="020B0400000000000000" pitchFamily="49" charset="-128"/>
                        <a:ea typeface="BIZ UDゴシック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1122897"/>
                  </a:ext>
                </a:extLst>
              </a:tr>
            </a:tbl>
          </a:graphicData>
        </a:graphic>
      </p:graphicFrame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EE9007A-2093-A8FC-AA8B-30232789E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30</a:t>
            </a:fld>
            <a:endParaRPr kumimoji="1" lang="ja-JP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24E2E93-312D-601D-FD7B-8676CA1D1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5563" y="812800"/>
            <a:ext cx="3138487" cy="2132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45D95E7A-2BE4-874E-24DB-3CD98FC8BC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0162" y="812800"/>
            <a:ext cx="3138487" cy="2132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C476C8D4-C618-E114-55F8-CDF95DFDE2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625" y="812800"/>
            <a:ext cx="3138487" cy="2132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47596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D8626E-975A-79BB-7C1C-595B38AE9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大喜利生成</a:t>
            </a:r>
            <a:r>
              <a:rPr kumimoji="1" lang="en-US" altLang="ja-JP" dirty="0"/>
              <a:t>AI</a:t>
            </a:r>
            <a:r>
              <a:rPr kumimoji="1" lang="ja-JP" altLang="en-US" dirty="0"/>
              <a:t>の評価アンケートの実施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D33F920-2AF0-9DB2-29A9-F34DA05C6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ja-JP" altLang="en-US" dirty="0"/>
              <a:t>大喜利の面白さは機械的には評価できない</a:t>
            </a:r>
            <a:endParaRPr kumimoji="1" lang="en-US" altLang="ja-JP" dirty="0"/>
          </a:p>
          <a:p>
            <a:pPr marL="457200" lvl="1" indent="0">
              <a:buNone/>
            </a:pPr>
            <a:r>
              <a:rPr lang="ja-JP" altLang="en-US" dirty="0"/>
              <a:t>→ </a:t>
            </a:r>
            <a:r>
              <a:rPr lang="ja-JP" altLang="en-US" dirty="0">
                <a:solidFill>
                  <a:srgbClr val="FF0000"/>
                </a:solidFill>
              </a:rPr>
              <a:t>人間による面白さの評価が</a:t>
            </a:r>
            <a:r>
              <a:rPr lang="ja-JP" altLang="en-US">
                <a:solidFill>
                  <a:srgbClr val="FF0000"/>
                </a:solidFill>
              </a:rPr>
              <a:t>必要</a:t>
            </a:r>
            <a:r>
              <a:rPr lang="en-US" altLang="ja-JP" dirty="0">
                <a:solidFill>
                  <a:srgbClr val="FF0000"/>
                </a:solidFill>
              </a:rPr>
              <a:t>!</a:t>
            </a:r>
            <a:endParaRPr kumimoji="1" lang="en-US" altLang="ja-JP" dirty="0"/>
          </a:p>
          <a:p>
            <a:pPr marL="0" indent="0">
              <a:buNone/>
            </a:pPr>
            <a:r>
              <a:rPr kumimoji="1" lang="en-US" altLang="ja-JP" dirty="0"/>
              <a:t>Gemini[8]</a:t>
            </a:r>
            <a:r>
              <a:rPr kumimoji="1" lang="ja-JP" altLang="en-US"/>
              <a:t>，</a:t>
            </a:r>
            <a:r>
              <a:rPr kumimoji="1" lang="en-US" altLang="ja-JP" dirty="0" err="1"/>
              <a:t>Watashiha</a:t>
            </a:r>
            <a:r>
              <a:rPr kumimoji="1" lang="en-US" altLang="ja-JP" dirty="0"/>
              <a:t>-Llama(</a:t>
            </a:r>
            <a:r>
              <a:rPr kumimoji="1" lang="ja-JP" altLang="en-US" dirty="0"/>
              <a:t>文章の大喜利に特化した</a:t>
            </a:r>
            <a:r>
              <a:rPr kumimoji="1" lang="en-US" altLang="ja-JP" dirty="0"/>
              <a:t>LLM)[9]</a:t>
            </a:r>
            <a:r>
              <a:rPr kumimoji="1" lang="ja-JP" altLang="en-US"/>
              <a:t>と</a:t>
            </a:r>
            <a:r>
              <a:rPr kumimoji="1" lang="ja-JP" altLang="en-US" dirty="0"/>
              <a:t>も比較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B914168-F2AD-1615-A190-E4BEAD742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31</a:t>
            </a:fld>
            <a:endParaRPr kumimoji="1" lang="ja-JP" altLang="en-US"/>
          </a:p>
        </p:txBody>
      </p:sp>
      <p:graphicFrame>
        <p:nvGraphicFramePr>
          <p:cNvPr id="5" name="コンテンツ プレースホルダー 4">
            <a:extLst>
              <a:ext uri="{FF2B5EF4-FFF2-40B4-BE49-F238E27FC236}">
                <a16:creationId xmlns:a16="http://schemas.microsoft.com/office/drawing/2014/main" id="{954D4B9D-8411-665C-95CF-606BCBC6950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17902278"/>
              </p:ext>
            </p:extLst>
          </p:nvPr>
        </p:nvGraphicFramePr>
        <p:xfrm>
          <a:off x="124859" y="2181407"/>
          <a:ext cx="11941172" cy="368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5387">
                  <a:extLst>
                    <a:ext uri="{9D8B030D-6E8A-4147-A177-3AD203B41FA5}">
                      <a16:colId xmlns:a16="http://schemas.microsoft.com/office/drawing/2014/main" val="1609100178"/>
                    </a:ext>
                  </a:extLst>
                </a:gridCol>
                <a:gridCol w="3158595">
                  <a:extLst>
                    <a:ext uri="{9D8B030D-6E8A-4147-A177-3AD203B41FA5}">
                      <a16:colId xmlns:a16="http://schemas.microsoft.com/office/drawing/2014/main" val="2402676554"/>
                    </a:ext>
                  </a:extLst>
                </a:gridCol>
                <a:gridCol w="3158595">
                  <a:extLst>
                    <a:ext uri="{9D8B030D-6E8A-4147-A177-3AD203B41FA5}">
                      <a16:colId xmlns:a16="http://schemas.microsoft.com/office/drawing/2014/main" val="2418242744"/>
                    </a:ext>
                  </a:extLst>
                </a:gridCol>
                <a:gridCol w="3158595">
                  <a:extLst>
                    <a:ext uri="{9D8B030D-6E8A-4147-A177-3AD203B41FA5}">
                      <a16:colId xmlns:a16="http://schemas.microsoft.com/office/drawing/2014/main" val="1800737481"/>
                    </a:ext>
                  </a:extLst>
                </a:gridCol>
              </a:tblGrid>
              <a:tr h="2134800">
                <a:tc>
                  <a:txBody>
                    <a:bodyPr/>
                    <a:lstStyle/>
                    <a:p>
                      <a:pPr algn="ctr"/>
                      <a:endParaRPr kumimoji="1" lang="ja-JP" altLang="en-US" sz="2000" b="0" i="0" dirty="0">
                        <a:solidFill>
                          <a:schemeClr val="tx1"/>
                        </a:solidFill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 b="0" i="0" dirty="0">
                        <a:solidFill>
                          <a:schemeClr val="tx1"/>
                        </a:solidFill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 b="0" i="0" dirty="0">
                        <a:solidFill>
                          <a:schemeClr val="tx1"/>
                        </a:solidFill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000" b="0" i="0">
                        <a:solidFill>
                          <a:schemeClr val="tx1"/>
                        </a:solidFill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847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000" b="0" i="0" dirty="0">
                          <a:solidFill>
                            <a:schemeClr val="tx1"/>
                          </a:solidFill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Gemini</a:t>
                      </a:r>
                      <a:endParaRPr kumimoji="1" lang="ja-JP" altLang="en-US" sz="2000" b="0" i="0" dirty="0">
                        <a:solidFill>
                          <a:schemeClr val="tx1"/>
                        </a:solidFill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  <a:cs typeface="+mn-cs"/>
                        </a:rPr>
                        <a:t>「毛根よ、なぜ私を裏切る！」と電話で叫ぶハゲかけたビジネスマン。</a:t>
                      </a:r>
                      <a:endParaRPr kumimoji="1" lang="ja-JP" altLang="en-US" sz="2000" b="0" i="0" dirty="0">
                        <a:solidFill>
                          <a:schemeClr val="tx1"/>
                        </a:solidFill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  <a:cs typeface="+mn-cs"/>
                        </a:rPr>
                        <a:t>「あーあ、今日もゴロゴロしちゃうニャ</a:t>
                      </a:r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  <a:cs typeface="+mn-cs"/>
                        </a:rPr>
                        <a:t>…</a:t>
                      </a:r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  <a:cs typeface="+mn-cs"/>
                        </a:rPr>
                        <a:t>」</a:t>
                      </a:r>
                      <a:endParaRPr kumimoji="1" lang="ja-JP" altLang="en-US" sz="2000" b="0" i="0" dirty="0">
                        <a:solidFill>
                          <a:schemeClr val="tx1"/>
                        </a:solidFill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  <a:cs typeface="+mn-cs"/>
                        </a:rPr>
                        <a:t>「ワン」ダフルな演奏でみんなを魅了するワン！</a:t>
                      </a:r>
                      <a:endParaRPr kumimoji="1" lang="ja-JP" altLang="en-US" sz="2000" b="0" i="0" dirty="0">
                        <a:solidFill>
                          <a:schemeClr val="tx1"/>
                        </a:solidFill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381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000" b="0" i="0" dirty="0" err="1">
                          <a:solidFill>
                            <a:schemeClr val="tx1"/>
                          </a:solidFill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Watashiha</a:t>
                      </a:r>
                      <a:r>
                        <a:rPr kumimoji="1" lang="en-US" altLang="ja-JP" sz="2000" b="0" i="0" dirty="0">
                          <a:solidFill>
                            <a:schemeClr val="tx1"/>
                          </a:solidFill>
                          <a:latin typeface="BIZ UDGothic" panose="020B0400000000000000" pitchFamily="49" charset="-128"/>
                          <a:ea typeface="BIZ UDGothic" panose="020B0400000000000000" pitchFamily="49" charset="-128"/>
                        </a:rPr>
                        <a:t>-Llama</a:t>
                      </a:r>
                      <a:endParaRPr kumimoji="1" lang="ja-JP" altLang="en-US" sz="2000" b="0" i="0" dirty="0">
                        <a:solidFill>
                          <a:schemeClr val="tx1"/>
                        </a:solidFill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  <a:cs typeface="+mn-cs"/>
                        </a:rPr>
                        <a:t>お前のスーツが真っ赤に燃えてやがる。</a:t>
                      </a:r>
                      <a:endParaRPr kumimoji="1" lang="ja-JP" altLang="en-US" sz="2000" b="0" i="0" dirty="0">
                        <a:solidFill>
                          <a:schemeClr val="tx1"/>
                        </a:solidFill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  <a:cs typeface="+mn-cs"/>
                        </a:rPr>
                        <a:t>「猫耳帽子」</a:t>
                      </a:r>
                      <a:endParaRPr kumimoji="1" lang="ja-JP" altLang="en-US" sz="2000" b="0" i="0" dirty="0">
                        <a:solidFill>
                          <a:schemeClr val="tx1"/>
                        </a:solidFill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800" b="0" i="0" kern="1200">
                          <a:solidFill>
                            <a:schemeClr val="dk1"/>
                          </a:solidFill>
                          <a:effectLst/>
                          <a:latin typeface="BIZ UDGothic" panose="020B0400000000000000" pitchFamily="49" charset="-128"/>
                          <a:ea typeface="BIZ UDGothic" panose="020B0400000000000000" pitchFamily="49" charset="-128"/>
                          <a:cs typeface="+mn-cs"/>
                        </a:rPr>
                        <a:t>ギターと椅子で作った車</a:t>
                      </a:r>
                      <a:endParaRPr kumimoji="1" lang="ja-JP" altLang="en-US" sz="2000" b="0" i="0" dirty="0">
                        <a:solidFill>
                          <a:schemeClr val="tx1"/>
                        </a:solidFill>
                        <a:latin typeface="BIZ UDGothic" panose="020B0400000000000000" pitchFamily="49" charset="-128"/>
                        <a:ea typeface="BIZ UDGothic" panose="020B0400000000000000" pitchFamily="49" charset="-128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5365031"/>
                  </a:ext>
                </a:extLst>
              </a:tr>
            </a:tbl>
          </a:graphicData>
        </a:graphic>
      </p:graphicFrame>
      <p:pic>
        <p:nvPicPr>
          <p:cNvPr id="6" name="Picture 2">
            <a:extLst>
              <a:ext uri="{FF2B5EF4-FFF2-40B4-BE49-F238E27FC236}">
                <a16:creationId xmlns:a16="http://schemas.microsoft.com/office/drawing/2014/main" id="{E5EF8F8B-2EDC-D3A1-5422-B3C1DA9F23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5009" y="2181407"/>
            <a:ext cx="3138487" cy="2132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92774A4-288F-52E1-51C6-15F8FCAA32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19608" y="2181407"/>
            <a:ext cx="3138487" cy="2132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B9456CF7-1EFE-2D5E-7ADA-0C40D38C5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2071" y="2181407"/>
            <a:ext cx="3138487" cy="21329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93B7C8B-42E2-AB3F-56DA-2A96ABFAFBEA}"/>
              </a:ext>
            </a:extLst>
          </p:cNvPr>
          <p:cNvSpPr txBox="1"/>
          <p:nvPr/>
        </p:nvSpPr>
        <p:spPr>
          <a:xfrm>
            <a:off x="125969" y="5941865"/>
            <a:ext cx="1194006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1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[8</a:t>
            </a:r>
            <a:r>
              <a:rPr lang="en-US" altLang="ja-JP" sz="11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] Google LLC</a:t>
            </a:r>
            <a:r>
              <a:rPr lang="ja-JP" altLang="en-US" sz="1100">
                <a:latin typeface="BIZ UDGothic" panose="020B0400000000000000" pitchFamily="49" charset="-128"/>
                <a:ea typeface="BIZ UDGothic" panose="020B0400000000000000" pitchFamily="49" charset="-128"/>
              </a:rPr>
              <a:t>，</a:t>
            </a:r>
            <a:r>
              <a:rPr lang="en-US" altLang="ja-JP" sz="11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Gemini</a:t>
            </a:r>
            <a:r>
              <a:rPr lang="ja-JP" altLang="en-US" sz="1100">
                <a:latin typeface="BIZ UDGothic" panose="020B0400000000000000" pitchFamily="49" charset="-128"/>
                <a:ea typeface="BIZ UDGothic" panose="020B0400000000000000" pitchFamily="49" charset="-128"/>
              </a:rPr>
              <a:t>，</a:t>
            </a:r>
            <a:r>
              <a:rPr lang="en" altLang="ja-JP" sz="11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https://</a:t>
            </a:r>
            <a:r>
              <a:rPr lang="en" altLang="ja-JP" sz="1100" dirty="0" err="1">
                <a:latin typeface="BIZ UDGothic" panose="020B0400000000000000" pitchFamily="49" charset="-128"/>
                <a:ea typeface="BIZ UDGothic" panose="020B0400000000000000" pitchFamily="49" charset="-128"/>
              </a:rPr>
              <a:t>gemini.google.com</a:t>
            </a:r>
            <a:r>
              <a:rPr lang="ja-JP" altLang="en-US" sz="1100">
                <a:latin typeface="BIZ UDGothic" panose="020B0400000000000000" pitchFamily="49" charset="-128"/>
                <a:ea typeface="BIZ UDGothic" panose="020B0400000000000000" pitchFamily="49" charset="-128"/>
              </a:rPr>
              <a:t>，参照 </a:t>
            </a:r>
            <a:r>
              <a:rPr lang="en-US" altLang="ja-JP" sz="11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June 3, 2025</a:t>
            </a:r>
            <a:r>
              <a:rPr lang="ja-JP" altLang="en-US" sz="1100">
                <a:latin typeface="BIZ UDGothic" panose="020B0400000000000000" pitchFamily="49" charset="-128"/>
                <a:ea typeface="BIZ UDGothic" panose="020B0400000000000000" pitchFamily="49" charset="-128"/>
              </a:rPr>
              <a:t>．</a:t>
            </a:r>
            <a:endParaRPr lang="en-US" altLang="ja-JP" sz="1100" dirty="0">
              <a:latin typeface="BIZ UDGothic" panose="020B0400000000000000" pitchFamily="49" charset="-128"/>
              <a:ea typeface="BIZ UDGothic" panose="020B0400000000000000" pitchFamily="49" charset="-128"/>
            </a:endParaRPr>
          </a:p>
          <a:p>
            <a:r>
              <a:rPr kumimoji="1" lang="en-US" altLang="ja-JP" sz="11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[9</a:t>
            </a:r>
            <a:r>
              <a:rPr lang="en-US" altLang="ja-JP" sz="11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] Hugging Face CO. Watashiha-Llama-2-13B-Ogiri-sft</a:t>
            </a:r>
            <a:r>
              <a:rPr lang="ja-JP" altLang="en-US" sz="1100">
                <a:latin typeface="BIZ UDGothic" panose="020B0400000000000000" pitchFamily="49" charset="-128"/>
                <a:ea typeface="BIZ UDGothic" panose="020B0400000000000000" pitchFamily="49" charset="-128"/>
              </a:rPr>
              <a:t>，</a:t>
            </a:r>
            <a:r>
              <a:rPr lang="en-US" altLang="ja-JP" sz="11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https://</a:t>
            </a:r>
            <a:r>
              <a:rPr lang="en-US" altLang="ja-JP" sz="1100" dirty="0" err="1">
                <a:latin typeface="BIZ UDGothic" panose="020B0400000000000000" pitchFamily="49" charset="-128"/>
                <a:ea typeface="BIZ UDGothic" panose="020B0400000000000000" pitchFamily="49" charset="-128"/>
              </a:rPr>
              <a:t>huggingface.co</a:t>
            </a:r>
            <a:r>
              <a:rPr lang="en-US" altLang="ja-JP" sz="11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/</a:t>
            </a:r>
            <a:r>
              <a:rPr lang="en-US" altLang="ja-JP" sz="1100" dirty="0" err="1">
                <a:latin typeface="BIZ UDGothic" panose="020B0400000000000000" pitchFamily="49" charset="-128"/>
                <a:ea typeface="BIZ UDGothic" panose="020B0400000000000000" pitchFamily="49" charset="-128"/>
              </a:rPr>
              <a:t>watashiha</a:t>
            </a:r>
            <a:r>
              <a:rPr lang="en-US" altLang="ja-JP" sz="11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/Watashiha-Llama-2-13B-Ogiri-sft</a:t>
            </a:r>
            <a:r>
              <a:rPr lang="ja-JP" altLang="en-US" sz="1100">
                <a:latin typeface="BIZ UDGothic" panose="020B0400000000000000" pitchFamily="49" charset="-128"/>
                <a:ea typeface="BIZ UDGothic" panose="020B0400000000000000" pitchFamily="49" charset="-128"/>
              </a:rPr>
              <a:t>，参照 </a:t>
            </a:r>
            <a:r>
              <a:rPr lang="en-US" altLang="ja-JP" sz="1100" dirty="0">
                <a:latin typeface="BIZ UDGothic" panose="020B0400000000000000" pitchFamily="49" charset="-128"/>
                <a:ea typeface="BIZ UDGothic" panose="020B0400000000000000" pitchFamily="49" charset="-128"/>
              </a:rPr>
              <a:t>June 3, 2025</a:t>
            </a:r>
            <a:r>
              <a:rPr lang="ja-JP" altLang="en-US" sz="1100">
                <a:latin typeface="BIZ UDGothic" panose="020B0400000000000000" pitchFamily="49" charset="-128"/>
                <a:ea typeface="BIZ UDGothic" panose="020B0400000000000000" pitchFamily="49" charset="-128"/>
              </a:rPr>
              <a:t>．</a:t>
            </a:r>
            <a:endParaRPr lang="en-US" altLang="ja-JP" sz="1100" dirty="0">
              <a:latin typeface="BIZ UDGothic" panose="020B0400000000000000" pitchFamily="49" charset="-128"/>
              <a:ea typeface="BIZ UDGothic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956875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F74D1C-83EC-D9DA-BB70-33C8C9C86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まとめ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F9185F-908B-A009-A873-C779025BC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ja-JP" dirty="0"/>
              <a:t>Transformer</a:t>
            </a:r>
            <a:r>
              <a:rPr kumimoji="1" lang="ja-JP" altLang="en-US"/>
              <a:t>を用いた大喜利生成</a:t>
            </a:r>
            <a:r>
              <a:rPr kumimoji="1" lang="en-US" altLang="ja-JP" dirty="0"/>
              <a:t>AI</a:t>
            </a:r>
            <a:r>
              <a:rPr lang="en-US" altLang="ja-JP" dirty="0"/>
              <a:t> Warai-Transformer</a:t>
            </a:r>
            <a:r>
              <a:rPr lang="ja-JP" altLang="en-US"/>
              <a:t>を提案</a:t>
            </a:r>
            <a:endParaRPr lang="en-US" altLang="ja-JP" dirty="0"/>
          </a:p>
          <a:p>
            <a:r>
              <a:rPr lang="en-US" altLang="ja-JP" dirty="0"/>
              <a:t>Transformer</a:t>
            </a:r>
            <a:r>
              <a:rPr lang="ja-JP" altLang="en-US"/>
              <a:t>により従来手法の問題を解消</a:t>
            </a:r>
            <a:endParaRPr lang="en-US" altLang="ja-JP" dirty="0"/>
          </a:p>
          <a:p>
            <a:r>
              <a:rPr kumimoji="1" lang="ja-JP" altLang="en-US"/>
              <a:t>従来手法より高精度に学習可能</a:t>
            </a:r>
            <a:endParaRPr kumimoji="1" lang="en-US" altLang="ja-JP" dirty="0"/>
          </a:p>
          <a:p>
            <a:endParaRPr lang="en-US" altLang="ja-JP" dirty="0"/>
          </a:p>
          <a:p>
            <a:pPr marL="0" indent="0">
              <a:buNone/>
            </a:pPr>
            <a:r>
              <a:rPr lang="ja-JP" altLang="en-US"/>
              <a:t>今後</a:t>
            </a:r>
            <a:endParaRPr lang="en-US" altLang="ja-JP" dirty="0"/>
          </a:p>
          <a:p>
            <a:r>
              <a:rPr kumimoji="1" lang="ja-JP" altLang="en-US"/>
              <a:t>アンケートによる生成された大喜利の面白さの評価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F863C27-8E52-1F8F-EED7-4BF98772F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0FEE9A-3EB6-844C-8184-5D808DF01412}" type="slidenum">
              <a:rPr kumimoji="1" lang="ja-JP" altLang="en-US" smtClean="0"/>
              <a:t>32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4AE556-9821-F760-A51E-E92FA9048F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61" b="90234" l="4102" r="90137">
                        <a14:foregroundMark x1="8496" y1="19010" x2="8301" y2="21680"/>
                        <a14:foregroundMark x1="6934" y1="70573" x2="4102" y2="70573"/>
                        <a14:foregroundMark x1="87598" y1="68294" x2="90137" y2="68880"/>
                        <a14:foregroundMark x1="42480" y1="89648" x2="40918" y2="89583"/>
                        <a14:foregroundMark x1="40430" y1="90234" x2="38770" y2="90169"/>
                        <a14:backgroundMark x1="65918" y1="86719" x2="60059" y2="8639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70276" y="1837944"/>
            <a:ext cx="2648309" cy="3972464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45D27AA1-827B-628F-92E1-C8792055DEB4}"/>
              </a:ext>
            </a:extLst>
          </p:cNvPr>
          <p:cNvSpPr txBox="1"/>
          <p:nvPr/>
        </p:nvSpPr>
        <p:spPr>
          <a:xfrm>
            <a:off x="10005483" y="5514250"/>
            <a:ext cx="1377894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2400" dirty="0" err="1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WiT</a:t>
            </a:r>
            <a:r>
              <a:rPr lang="ja-JP" altLang="en-US" sz="2400">
                <a:latin typeface="BIZ UDゴシック" panose="020B0400000000000000" pitchFamily="49" charset="-128"/>
                <a:ea typeface="BIZ UDゴシック" panose="020B0400000000000000" pitchFamily="49" charset="-128"/>
              </a:rPr>
              <a:t>君</a:t>
            </a:r>
            <a:endParaRPr lang="ja-JP" altLang="en-US" sz="2400" dirty="0">
              <a:latin typeface="BIZ UDゴシック" panose="020B0400000000000000" pitchFamily="49" charset="-128"/>
              <a:ea typeface="BIZ UDゴシック" panose="020B0400000000000000" pitchFamily="49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849759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000000"/>
      </a:dk2>
      <a:lt2>
        <a:srgbClr val="E7E6E6"/>
      </a:lt2>
      <a:accent1>
        <a:srgbClr val="006FB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</a:spPr>
      <a:bodyPr lIns="0" tIns="0" rIns="0" bIns="0" rtlCol="0" anchor="ctr"/>
      <a:lstStyle>
        <a:defPPr algn="ctr">
          <a:defRPr kumimoji="1" sz="2400" smtClean="0">
            <a:solidFill>
              <a:schemeClr val="tx1"/>
            </a:solidFill>
            <a:latin typeface="BIZ UDGothic" panose="020B0400000000000000" pitchFamily="49" charset="-128"/>
            <a:ea typeface="BIZ UDGothic" panose="020B0400000000000000" pitchFamily="49" charset="-128"/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tailEnd type="triangle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>
        <a:spAutoFit/>
      </a:bodyPr>
      <a:lstStyle>
        <a:defPPr algn="ctr">
          <a:defRPr sz="2400" smtClean="0">
            <a:latin typeface="BIZ UDGothic" panose="020B0400000000000000" pitchFamily="49" charset="-128"/>
            <a:ea typeface="BIZ UDGothic" panose="020B0400000000000000" pitchFamily="49" charset="-128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11621</TotalTime>
  <Words>2417</Words>
  <Application>Microsoft Macintosh PowerPoint</Application>
  <PresentationFormat>ワイド画面</PresentationFormat>
  <Paragraphs>568</Paragraphs>
  <Slides>32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32</vt:i4>
      </vt:variant>
    </vt:vector>
  </HeadingPairs>
  <TitlesOfParts>
    <vt:vector size="38" baseType="lpstr">
      <vt:lpstr>BIZ UDGothic</vt:lpstr>
      <vt:lpstr>BIZ UDGothic</vt:lpstr>
      <vt:lpstr>游ゴシック</vt:lpstr>
      <vt:lpstr>Arial</vt:lpstr>
      <vt:lpstr>Cambria Math</vt:lpstr>
      <vt:lpstr>Office テーマ</vt:lpstr>
      <vt:lpstr>Warai Transformer: Transformerを用いた大喜利生成AI</vt:lpstr>
      <vt:lpstr>研究目的</vt:lpstr>
      <vt:lpstr>従来手法: Neural Joking Machine(NJM)[1]</vt:lpstr>
      <vt:lpstr>従来手法: Neural Joking Machine(NJM)[1]</vt:lpstr>
      <vt:lpstr>Image2Textモデルの学習Ⅰ</vt:lpstr>
      <vt:lpstr>Image2Textモデルの学習Ⅱ</vt:lpstr>
      <vt:lpstr>Image2Textモデルの学習Ⅲ</vt:lpstr>
      <vt:lpstr>Image2Textモデルの学習Ⅳ</vt:lpstr>
      <vt:lpstr>Image2Textモデルの学習Ⅴ</vt:lpstr>
      <vt:lpstr>Image2Textモデルの推論Ⅰ</vt:lpstr>
      <vt:lpstr>Image2Textモデルの推論Ⅱ</vt:lpstr>
      <vt:lpstr>従来の大喜利生成AIの問題点</vt:lpstr>
      <vt:lpstr>従来の大喜利生成AIの問題点</vt:lpstr>
      <vt:lpstr>提案手法: Warai Transformer(WiT)</vt:lpstr>
      <vt:lpstr>Self-Attention</vt:lpstr>
      <vt:lpstr>Vision-Transformer</vt:lpstr>
      <vt:lpstr>Cross-Attention</vt:lpstr>
      <vt:lpstr>WiTのモデル構造</vt:lpstr>
      <vt:lpstr>実験1: WiTの実装</vt:lpstr>
      <vt:lpstr>データセット: Bokete DB v3</vt:lpstr>
      <vt:lpstr>Transformerブロック数を変更</vt:lpstr>
      <vt:lpstr>ViTのファインチューニングの有無を変更</vt:lpstr>
      <vt:lpstr>WiTが生成した大喜利</vt:lpstr>
      <vt:lpstr>WiTの推論の説明(Layer:5)</vt:lpstr>
      <vt:lpstr>WiTの推論の説明(Layer:5)</vt:lpstr>
      <vt:lpstr>文章とパッチの関連度 Layer:5，別の画像</vt:lpstr>
      <vt:lpstr>WiT(FC, Layer:5)</vt:lpstr>
      <vt:lpstr>実験2: 従来手法の実装</vt:lpstr>
      <vt:lpstr>WiT，GUMI-AE，NJMの比較</vt:lpstr>
      <vt:lpstr>それぞれの手法が生成した大喜利</vt:lpstr>
      <vt:lpstr>大喜利生成AIの評価アンケートの実施</vt:lpstr>
      <vt:lpstr>まとめ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山富龍</dc:creator>
  <cp:lastModifiedBy>山富龍</cp:lastModifiedBy>
  <cp:revision>231</cp:revision>
  <dcterms:created xsi:type="dcterms:W3CDTF">2024-10-01T23:47:44Z</dcterms:created>
  <dcterms:modified xsi:type="dcterms:W3CDTF">2026-08-24T03:34:14Z</dcterms:modified>
</cp:coreProperties>
</file>