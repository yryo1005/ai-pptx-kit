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7" r:id="rId3"/>
    <p:sldId id="268" r:id="rId4"/>
    <p:sldId id="271" r:id="rId5"/>
    <p:sldId id="274" r:id="rId6"/>
    <p:sldId id="275" r:id="rId7"/>
    <p:sldId id="277" r:id="rId8"/>
    <p:sldId id="272" r:id="rId9"/>
    <p:sldId id="266" r:id="rId10"/>
    <p:sldId id="262" r:id="rId11"/>
    <p:sldId id="265" r:id="rId12"/>
    <p:sldId id="269" r:id="rId13"/>
    <p:sldId id="273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339"/>
    <a:srgbClr val="FEEEE7"/>
    <a:srgbClr val="CCFF99"/>
    <a:srgbClr val="CCECFF"/>
    <a:srgbClr val="F6F7F1"/>
    <a:srgbClr val="D371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7173"/>
  </p:normalViewPr>
  <p:slideViewPr>
    <p:cSldViewPr snapToGrid="0" showGuides="1">
      <p:cViewPr varScale="1">
        <p:scale>
          <a:sx n="107" d="100"/>
          <a:sy n="107" d="100"/>
        </p:scale>
        <p:origin x="846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A00E2A-7A72-4A68-BF1D-90A57EBB7BB5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26B602D-3541-48F4-BE0D-1100EE5C2396}">
      <dgm:prSet phldrT="[テキスト]"/>
      <dgm:spPr/>
      <dgm:t>
        <a:bodyPr/>
        <a:lstStyle/>
        <a:p>
          <a:r>
            <a:rPr kumimoji="1" lang="ja-JP" altLang="en-US" dirty="0"/>
            <a:t> </a:t>
          </a:r>
        </a:p>
      </dgm:t>
    </dgm:pt>
    <dgm:pt modelId="{E41EBCC0-3086-4A6C-8951-F773233A5EC2}" type="parTrans" cxnId="{BE0ADF65-1ED7-40B9-A43F-0DF0CF74E5BA}">
      <dgm:prSet/>
      <dgm:spPr/>
      <dgm:t>
        <a:bodyPr/>
        <a:lstStyle/>
        <a:p>
          <a:endParaRPr kumimoji="1" lang="ja-JP" altLang="en-US"/>
        </a:p>
      </dgm:t>
    </dgm:pt>
    <dgm:pt modelId="{8481F26F-3D7F-4353-85F1-83B8FA526B33}" type="sibTrans" cxnId="{BE0ADF65-1ED7-40B9-A43F-0DF0CF74E5BA}">
      <dgm:prSet/>
      <dgm:spPr>
        <a:solidFill>
          <a:srgbClr val="EE7339"/>
        </a:solidFill>
      </dgm:spPr>
      <dgm:t>
        <a:bodyPr/>
        <a:lstStyle/>
        <a:p>
          <a:endParaRPr kumimoji="1" lang="ja-JP" altLang="en-US"/>
        </a:p>
      </dgm:t>
    </dgm:pt>
    <dgm:pt modelId="{6052322B-B343-4091-90DE-C5D18567A782}">
      <dgm:prSet phldrT="[テキスト]"/>
      <dgm:spPr/>
      <dgm:t>
        <a:bodyPr/>
        <a:lstStyle/>
        <a:p>
          <a:r>
            <a:rPr kumimoji="1" lang="ja-JP" altLang="en-US" dirty="0"/>
            <a:t> </a:t>
          </a:r>
        </a:p>
      </dgm:t>
    </dgm:pt>
    <dgm:pt modelId="{9E390571-7660-483E-8FC6-6AABE25F3DB4}" type="parTrans" cxnId="{8CAB5F40-B9B8-4622-B2AD-FF60E664DECA}">
      <dgm:prSet/>
      <dgm:spPr/>
      <dgm:t>
        <a:bodyPr/>
        <a:lstStyle/>
        <a:p>
          <a:endParaRPr kumimoji="1" lang="ja-JP" altLang="en-US"/>
        </a:p>
      </dgm:t>
    </dgm:pt>
    <dgm:pt modelId="{59DF7949-2C24-46E7-B0D5-9268880BEA77}" type="sibTrans" cxnId="{8CAB5F40-B9B8-4622-B2AD-FF60E664DECA}">
      <dgm:prSet/>
      <dgm:spPr>
        <a:solidFill>
          <a:srgbClr val="EE7339"/>
        </a:solidFill>
      </dgm:spPr>
      <dgm:t>
        <a:bodyPr/>
        <a:lstStyle/>
        <a:p>
          <a:endParaRPr kumimoji="1" lang="ja-JP" altLang="en-US"/>
        </a:p>
      </dgm:t>
    </dgm:pt>
    <dgm:pt modelId="{984EAAB2-BB84-4498-B86A-BBF14872F109}" type="pres">
      <dgm:prSet presAssocID="{D1A00E2A-7A72-4A68-BF1D-90A57EBB7BB5}" presName="cycle" presStyleCnt="0">
        <dgm:presLayoutVars>
          <dgm:dir/>
          <dgm:resizeHandles val="exact"/>
        </dgm:presLayoutVars>
      </dgm:prSet>
      <dgm:spPr/>
    </dgm:pt>
    <dgm:pt modelId="{CA572B13-10AA-4D5E-B20A-C579CE49AF48}" type="pres">
      <dgm:prSet presAssocID="{226B602D-3541-48F4-BE0D-1100EE5C2396}" presName="dummy" presStyleCnt="0"/>
      <dgm:spPr/>
    </dgm:pt>
    <dgm:pt modelId="{9405611A-AC58-4C89-8F37-114C5D416BAD}" type="pres">
      <dgm:prSet presAssocID="{226B602D-3541-48F4-BE0D-1100EE5C2396}" presName="node" presStyleLbl="revTx" presStyleIdx="0" presStyleCnt="2">
        <dgm:presLayoutVars>
          <dgm:bulletEnabled val="1"/>
        </dgm:presLayoutVars>
      </dgm:prSet>
      <dgm:spPr/>
    </dgm:pt>
    <dgm:pt modelId="{09FDDDB3-AE46-4B10-9693-E7E3F51DF6D2}" type="pres">
      <dgm:prSet presAssocID="{8481F26F-3D7F-4353-85F1-83B8FA526B33}" presName="sibTrans" presStyleLbl="node1" presStyleIdx="0" presStyleCnt="2" custScaleX="90008" custScaleY="100543"/>
      <dgm:spPr/>
    </dgm:pt>
    <dgm:pt modelId="{BF023A27-9A73-4D85-8A58-5D2D12DE7F1C}" type="pres">
      <dgm:prSet presAssocID="{6052322B-B343-4091-90DE-C5D18567A782}" presName="dummy" presStyleCnt="0"/>
      <dgm:spPr/>
    </dgm:pt>
    <dgm:pt modelId="{C11DE484-20D0-4ED1-BACC-42CF90CBBE36}" type="pres">
      <dgm:prSet presAssocID="{6052322B-B343-4091-90DE-C5D18567A782}" presName="node" presStyleLbl="revTx" presStyleIdx="1" presStyleCnt="2">
        <dgm:presLayoutVars>
          <dgm:bulletEnabled val="1"/>
        </dgm:presLayoutVars>
      </dgm:prSet>
      <dgm:spPr/>
    </dgm:pt>
    <dgm:pt modelId="{12FF57C6-67D1-4C76-9714-31F5FB65491D}" type="pres">
      <dgm:prSet presAssocID="{59DF7949-2C24-46E7-B0D5-9268880BEA77}" presName="sibTrans" presStyleLbl="node1" presStyleIdx="1" presStyleCnt="2" custScaleX="90008" custScaleY="100543"/>
      <dgm:spPr/>
    </dgm:pt>
  </dgm:ptLst>
  <dgm:cxnLst>
    <dgm:cxn modelId="{3DD3D51F-9CBF-41C8-9071-A93073BD394B}" type="presOf" srcId="{6052322B-B343-4091-90DE-C5D18567A782}" destId="{C11DE484-20D0-4ED1-BACC-42CF90CBBE36}" srcOrd="0" destOrd="0" presId="urn:microsoft.com/office/officeart/2005/8/layout/cycle1"/>
    <dgm:cxn modelId="{D77EEB34-4CCA-4A2E-A4D7-112EE0E8CE4D}" type="presOf" srcId="{226B602D-3541-48F4-BE0D-1100EE5C2396}" destId="{9405611A-AC58-4C89-8F37-114C5D416BAD}" srcOrd="0" destOrd="0" presId="urn:microsoft.com/office/officeart/2005/8/layout/cycle1"/>
    <dgm:cxn modelId="{8CAB5F40-B9B8-4622-B2AD-FF60E664DECA}" srcId="{D1A00E2A-7A72-4A68-BF1D-90A57EBB7BB5}" destId="{6052322B-B343-4091-90DE-C5D18567A782}" srcOrd="1" destOrd="0" parTransId="{9E390571-7660-483E-8FC6-6AABE25F3DB4}" sibTransId="{59DF7949-2C24-46E7-B0D5-9268880BEA77}"/>
    <dgm:cxn modelId="{8A016960-DB77-4A76-B097-CAD9BE958C27}" type="presOf" srcId="{8481F26F-3D7F-4353-85F1-83B8FA526B33}" destId="{09FDDDB3-AE46-4B10-9693-E7E3F51DF6D2}" srcOrd="0" destOrd="0" presId="urn:microsoft.com/office/officeart/2005/8/layout/cycle1"/>
    <dgm:cxn modelId="{DF47DA41-7A43-438C-8E28-5041A04E08B4}" type="presOf" srcId="{59DF7949-2C24-46E7-B0D5-9268880BEA77}" destId="{12FF57C6-67D1-4C76-9714-31F5FB65491D}" srcOrd="0" destOrd="0" presId="urn:microsoft.com/office/officeart/2005/8/layout/cycle1"/>
    <dgm:cxn modelId="{AE0A6144-2C50-4C79-A762-3FD3E291A838}" type="presOf" srcId="{D1A00E2A-7A72-4A68-BF1D-90A57EBB7BB5}" destId="{984EAAB2-BB84-4498-B86A-BBF14872F109}" srcOrd="0" destOrd="0" presId="urn:microsoft.com/office/officeart/2005/8/layout/cycle1"/>
    <dgm:cxn modelId="{BE0ADF65-1ED7-40B9-A43F-0DF0CF74E5BA}" srcId="{D1A00E2A-7A72-4A68-BF1D-90A57EBB7BB5}" destId="{226B602D-3541-48F4-BE0D-1100EE5C2396}" srcOrd="0" destOrd="0" parTransId="{E41EBCC0-3086-4A6C-8951-F773233A5EC2}" sibTransId="{8481F26F-3D7F-4353-85F1-83B8FA526B33}"/>
    <dgm:cxn modelId="{28006A66-C5EC-457A-B148-BACDEE09F8F8}" type="presParOf" srcId="{984EAAB2-BB84-4498-B86A-BBF14872F109}" destId="{CA572B13-10AA-4D5E-B20A-C579CE49AF48}" srcOrd="0" destOrd="0" presId="urn:microsoft.com/office/officeart/2005/8/layout/cycle1"/>
    <dgm:cxn modelId="{26172F05-6E92-4D96-A325-93AAD4592E38}" type="presParOf" srcId="{984EAAB2-BB84-4498-B86A-BBF14872F109}" destId="{9405611A-AC58-4C89-8F37-114C5D416BAD}" srcOrd="1" destOrd="0" presId="urn:microsoft.com/office/officeart/2005/8/layout/cycle1"/>
    <dgm:cxn modelId="{D631002B-57B4-4DF2-966E-CEFEF5C04F79}" type="presParOf" srcId="{984EAAB2-BB84-4498-B86A-BBF14872F109}" destId="{09FDDDB3-AE46-4B10-9693-E7E3F51DF6D2}" srcOrd="2" destOrd="0" presId="urn:microsoft.com/office/officeart/2005/8/layout/cycle1"/>
    <dgm:cxn modelId="{8E6018A7-EC2F-4B98-9549-10EA67D9AAEE}" type="presParOf" srcId="{984EAAB2-BB84-4498-B86A-BBF14872F109}" destId="{BF023A27-9A73-4D85-8A58-5D2D12DE7F1C}" srcOrd="3" destOrd="0" presId="urn:microsoft.com/office/officeart/2005/8/layout/cycle1"/>
    <dgm:cxn modelId="{B2BDBC79-0E8F-4189-A4D7-18AD8C7F9531}" type="presParOf" srcId="{984EAAB2-BB84-4498-B86A-BBF14872F109}" destId="{C11DE484-20D0-4ED1-BACC-42CF90CBBE36}" srcOrd="4" destOrd="0" presId="urn:microsoft.com/office/officeart/2005/8/layout/cycle1"/>
    <dgm:cxn modelId="{A63F91ED-4E3A-4F0C-9310-12407D4E3527}" type="presParOf" srcId="{984EAAB2-BB84-4498-B86A-BBF14872F109}" destId="{12FF57C6-67D1-4C76-9714-31F5FB65491D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05611A-AC58-4C89-8F37-114C5D416BAD}">
      <dsp:nvSpPr>
        <dsp:cNvPr id="0" name=""/>
        <dsp:cNvSpPr/>
      </dsp:nvSpPr>
      <dsp:spPr>
        <a:xfrm>
          <a:off x="1386410" y="723682"/>
          <a:ext cx="848049" cy="84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4800" kern="1200" dirty="0"/>
            <a:t> </a:t>
          </a:r>
        </a:p>
      </dsp:txBody>
      <dsp:txXfrm>
        <a:off x="1386410" y="723682"/>
        <a:ext cx="848049" cy="848049"/>
      </dsp:txXfrm>
    </dsp:sp>
    <dsp:sp modelId="{09FDDDB3-AE46-4B10-9693-E7E3F51DF6D2}">
      <dsp:nvSpPr>
        <dsp:cNvPr id="0" name=""/>
        <dsp:cNvSpPr/>
      </dsp:nvSpPr>
      <dsp:spPr>
        <a:xfrm>
          <a:off x="332811" y="271022"/>
          <a:ext cx="1569649" cy="1753368"/>
        </a:xfrm>
        <a:prstGeom prst="circularArrow">
          <a:avLst>
            <a:gd name="adj1" fmla="val 9483"/>
            <a:gd name="adj2" fmla="val 684952"/>
            <a:gd name="adj3" fmla="val 7850793"/>
            <a:gd name="adj4" fmla="val 2264255"/>
            <a:gd name="adj5" fmla="val 11063"/>
          </a:avLst>
        </a:prstGeom>
        <a:solidFill>
          <a:srgbClr val="EE733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DE484-20D0-4ED1-BACC-42CF90CBBE36}">
      <dsp:nvSpPr>
        <dsp:cNvPr id="0" name=""/>
        <dsp:cNvSpPr/>
      </dsp:nvSpPr>
      <dsp:spPr>
        <a:xfrm>
          <a:off x="811" y="723682"/>
          <a:ext cx="848049" cy="848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4800" kern="1200" dirty="0"/>
            <a:t> </a:t>
          </a:r>
        </a:p>
      </dsp:txBody>
      <dsp:txXfrm>
        <a:off x="811" y="723682"/>
        <a:ext cx="848049" cy="848049"/>
      </dsp:txXfrm>
    </dsp:sp>
    <dsp:sp modelId="{12FF57C6-67D1-4C76-9714-31F5FB65491D}">
      <dsp:nvSpPr>
        <dsp:cNvPr id="0" name=""/>
        <dsp:cNvSpPr/>
      </dsp:nvSpPr>
      <dsp:spPr>
        <a:xfrm>
          <a:off x="332811" y="271022"/>
          <a:ext cx="1569649" cy="1753368"/>
        </a:xfrm>
        <a:prstGeom prst="circularArrow">
          <a:avLst>
            <a:gd name="adj1" fmla="val 9483"/>
            <a:gd name="adj2" fmla="val 684952"/>
            <a:gd name="adj3" fmla="val 18650793"/>
            <a:gd name="adj4" fmla="val 13064255"/>
            <a:gd name="adj5" fmla="val 11063"/>
          </a:avLst>
        </a:prstGeom>
        <a:solidFill>
          <a:srgbClr val="EE7339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>
            <a:extLst>
              <a:ext uri="{FF2B5EF4-FFF2-40B4-BE49-F238E27FC236}">
                <a16:creationId xmlns:a16="http://schemas.microsoft.com/office/drawing/2014/main" id="{A73A77E7-91DC-0B9C-4CE3-B4C3AD7D2D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</a:blip>
          <a:srcRect b="13930"/>
          <a:stretch>
            <a:fillRect/>
          </a:stretch>
        </p:blipFill>
        <p:spPr>
          <a:xfrm flipH="1" flipV="1">
            <a:off x="4305300" y="0"/>
            <a:ext cx="7912100" cy="6858000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86C41F8-3DB8-9140-46E5-EBCA55DD5C4F}"/>
              </a:ext>
            </a:extLst>
          </p:cNvPr>
          <p:cNvSpPr/>
          <p:nvPr userDrawn="1"/>
        </p:nvSpPr>
        <p:spPr>
          <a:xfrm>
            <a:off x="11658600" y="1"/>
            <a:ext cx="533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A42D0FF2-8DB4-A340-91B5-0FC7B27917C5}" type="datetime1">
              <a:rPr lang="ja-JP" altLang="en-US" smtClean="0"/>
              <a:pPr/>
              <a:t>2026/8/21</a:t>
            </a:fld>
            <a:endParaRPr lang="ja-JP" altLang="en-US" dirty="0">
              <a:latin typeface="+mn-lt"/>
              <a:ea typeface="+mn-ea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  <a:ea typeface="+mn-ea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  <a:ea typeface="+mn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005" y="2781686"/>
            <a:ext cx="11680507" cy="1288177"/>
          </a:xfrm>
          <a:prstGeom prst="rect">
            <a:avLst/>
          </a:prstGeom>
        </p:spPr>
        <p:txBody>
          <a:bodyPr anchor="ctr" anchorCtr="0"/>
          <a:lstStyle>
            <a:lvl1pPr algn="l">
              <a:defRPr sz="44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タイトルを入力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9005" y="4150518"/>
            <a:ext cx="11680507" cy="47150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aseline="0"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発表者名を入力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4C05B2A9-C394-E3AE-25DB-5260318F37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9005" y="2294437"/>
            <a:ext cx="11680507" cy="406795"/>
          </a:xfrm>
          <a:prstGeom prst="rect">
            <a:avLst/>
          </a:prstGeom>
        </p:spPr>
        <p:txBody>
          <a:bodyPr/>
          <a:lstStyle>
            <a:lvl1pPr>
              <a:buNone/>
              <a:defRPr sz="24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YYYY.MM.DD </a:t>
            </a:r>
            <a:r>
              <a:rPr kumimoji="1" lang="ja-JP" altLang="en-US" dirty="0"/>
              <a:t>発表場所を入力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7A9F2862-160D-2E0F-29E4-6A661305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7680" t="16127" r="17724" b="16170"/>
          <a:stretch>
            <a:fillRect/>
          </a:stretch>
        </p:blipFill>
        <p:spPr>
          <a:xfrm>
            <a:off x="299005" y="5950252"/>
            <a:ext cx="449867" cy="471504"/>
          </a:xfrm>
          <a:prstGeom prst="rect">
            <a:avLst/>
          </a:prstGeom>
        </p:spPr>
      </p:pic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CD996A1F-87D8-7E3F-A541-4EC0D7CC67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9005" y="4698139"/>
            <a:ext cx="11680507" cy="379065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latin typeface="+mn-lt"/>
                <a:ea typeface="+mn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kumimoji="1" lang="ja-JP" altLang="en-US" dirty="0"/>
              <a:t>連絡先を入力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2B2C3CA-F13A-E9CD-2EBC-AAA5C9C58619}"/>
              </a:ext>
            </a:extLst>
          </p:cNvPr>
          <p:cNvSpPr/>
          <p:nvPr userDrawn="1"/>
        </p:nvSpPr>
        <p:spPr>
          <a:xfrm>
            <a:off x="299005" y="2369722"/>
            <a:ext cx="45719" cy="3313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F384DF6-41CA-42BA-B6F5-42F7BD799C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827" t="54595" r="6484" b="17345"/>
          <a:stretch>
            <a:fillRect/>
          </a:stretch>
        </p:blipFill>
        <p:spPr>
          <a:xfrm>
            <a:off x="299004" y="5949656"/>
            <a:ext cx="2679283" cy="47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D8098B49-2D31-7AED-77CC-B60E86FF7D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25000"/>
          </a:blip>
          <a:srcRect b="13930"/>
          <a:stretch>
            <a:fillRect/>
          </a:stretch>
        </p:blipFill>
        <p:spPr>
          <a:xfrm flipH="1" flipV="1">
            <a:off x="4305300" y="0"/>
            <a:ext cx="7912100" cy="6858000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7BA61D9-F411-8F56-FE68-8B1EE23819C8}"/>
              </a:ext>
            </a:extLst>
          </p:cNvPr>
          <p:cNvSpPr/>
          <p:nvPr userDrawn="1"/>
        </p:nvSpPr>
        <p:spPr>
          <a:xfrm>
            <a:off x="11658600" y="1"/>
            <a:ext cx="533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963" y="609601"/>
            <a:ext cx="9990074" cy="578314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buFont typeface="+mj-lt"/>
              <a:buAutoNum type="arabicPeriod"/>
              <a:defRPr sz="2400" baseline="0">
                <a:latin typeface="+mn-lt"/>
                <a:ea typeface="+mn-ea"/>
              </a:defRPr>
            </a:lvl1pPr>
            <a:lvl2pPr>
              <a:buFont typeface="+mj-lt"/>
              <a:buAutoNum type="arabicPeriod"/>
              <a:defRPr sz="2000"/>
            </a:lvl2pPr>
            <a:lvl3pPr>
              <a:buFont typeface="+mj-lt"/>
              <a:buAutoNum type="arabicPeriod"/>
              <a:defRPr sz="1800"/>
            </a:lvl3pPr>
            <a:lvl4pPr>
              <a:buFont typeface="+mj-lt"/>
              <a:buAutoNum type="arabicPeriod"/>
              <a:defRPr sz="1600"/>
            </a:lvl4pPr>
            <a:lvl5pPr>
              <a:buFont typeface="+mj-lt"/>
              <a:buAutoNum type="arabicPeriod"/>
              <a:defRPr sz="1600"/>
            </a:lvl5pPr>
          </a:lstStyle>
          <a:p>
            <a:pPr lvl="0"/>
            <a:r>
              <a:rPr kumimoji="1" lang="ja-JP" altLang="en-US" dirty="0"/>
              <a:t>セクションを入力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セクションを入力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2026/8/21</a:t>
            </a:fld>
            <a:endParaRPr lang="ja-JP" altLang="en-US" dirty="0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6BEB24-8D50-C228-CEC2-195BFD08718A}"/>
              </a:ext>
            </a:extLst>
          </p:cNvPr>
          <p:cNvSpPr txBox="1"/>
          <p:nvPr userDrawn="1"/>
        </p:nvSpPr>
        <p:spPr>
          <a:xfrm>
            <a:off x="79924" y="127990"/>
            <a:ext cx="1183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ja-JP" sz="1800" baseline="0" dirty="0">
                <a:latin typeface="+mn-lt"/>
                <a:ea typeface="+mn-ea"/>
              </a:rPr>
              <a:t>INDEX</a:t>
            </a:r>
            <a:endParaRPr kumimoji="1" lang="ja-JP" altLang="en-US" sz="1800" baseline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63470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5" y="1420427"/>
            <a:ext cx="11617523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j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j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j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j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j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2026/8/21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j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j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6" y="1420427"/>
            <a:ext cx="5640155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2026/8/21</a:t>
            </a:fld>
            <a:endParaRPr lang="ja-JP" altLang="en-US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D4F9C77C-B73E-72C0-BE9E-8439E55F030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52840" y="1420427"/>
            <a:ext cx="5640156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56396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ラ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9005" y="624293"/>
            <a:ext cx="11617523" cy="571337"/>
          </a:xfrm>
          <a:prstGeom prst="rect">
            <a:avLst/>
          </a:prstGeom>
        </p:spPr>
        <p:txBody>
          <a:bodyPr/>
          <a:lstStyle>
            <a:lvl1pPr>
              <a:defRPr sz="2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スライドメッセージを入力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DA2D38D8-431E-2148-A67E-C99D9FDB14AB}" type="datetime1">
              <a:rPr lang="ja-JP" altLang="en-US" smtClean="0"/>
              <a:pPr/>
              <a:t>2026/8/21</a:t>
            </a:fld>
            <a:endParaRPr lang="ja-JP" altLang="en-US">
              <a:latin typeface="+mn-lt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4A95B2-FDD2-C500-23F4-F964EB7A2C4E}"/>
              </a:ext>
            </a:extLst>
          </p:cNvPr>
          <p:cNvSpPr/>
          <p:nvPr userDrawn="1"/>
        </p:nvSpPr>
        <p:spPr>
          <a:xfrm>
            <a:off x="275472" y="1172770"/>
            <a:ext cx="11641057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F0C09BC2-DA11-991E-A106-526D155F5F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924" y="127990"/>
            <a:ext cx="11617523" cy="331510"/>
          </a:xfrm>
          <a:prstGeom prst="rect">
            <a:avLst/>
          </a:prstGeom>
        </p:spPr>
        <p:txBody>
          <a:bodyPr/>
          <a:lstStyle>
            <a:lvl1pPr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セクションを入力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75535D6-C328-1930-644B-BD1902F865D2}"/>
              </a:ext>
            </a:extLst>
          </p:cNvPr>
          <p:cNvSpPr/>
          <p:nvPr userDrawn="1"/>
        </p:nvSpPr>
        <p:spPr>
          <a:xfrm>
            <a:off x="79924" y="198114"/>
            <a:ext cx="46800" cy="2611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baseline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2C591689-A482-EA05-DCC6-507A103847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1776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99ACFBD7-37A9-5825-75BD-59187E9167E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6526" y="1420427"/>
            <a:ext cx="3780000" cy="496261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buFont typeface="BIZ UDPゴシック" panose="020B0400000000000000" pitchFamily="50" charset="-128"/>
              <a:buChar char="▶"/>
              <a:defRPr sz="2400" baseline="0">
                <a:latin typeface="+mn-lt"/>
                <a:ea typeface="+mn-ea"/>
              </a:defRPr>
            </a:lvl1pPr>
            <a:lvl2pPr>
              <a:buFont typeface="BIZ UDPゴシック" panose="020B0400000000000000" pitchFamily="50" charset="-128"/>
              <a:buChar char="▶"/>
              <a:defRPr sz="2000" baseline="0">
                <a:latin typeface="+mn-lt"/>
                <a:ea typeface="+mn-ea"/>
              </a:defRPr>
            </a:lvl2pPr>
            <a:lvl3pPr>
              <a:buFont typeface="BIZ UDPゴシック" panose="020B0400000000000000" pitchFamily="50" charset="-128"/>
              <a:buChar char="▶"/>
              <a:defRPr sz="1800" baseline="0">
                <a:latin typeface="+mn-lt"/>
                <a:ea typeface="+mn-ea"/>
              </a:defRPr>
            </a:lvl3pPr>
            <a:lvl4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4pPr>
            <a:lvl5pPr>
              <a:buFont typeface="BIZ UDPゴシック" panose="020B0400000000000000" pitchFamily="50" charset="-128"/>
              <a:buChar char="▶"/>
              <a:defRPr sz="1600" baseline="0">
                <a:latin typeface="+mn-lt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89669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005" y="6542843"/>
            <a:ext cx="2570164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C8DD7B46-612B-4747-AC0E-56DE60A5EB0D}" type="datetime1">
              <a:rPr lang="ja-JP" altLang="en-US" smtClean="0"/>
              <a:pPr/>
              <a:t>2026/8/21</a:t>
            </a:fld>
            <a:endParaRPr lang="ja-JP" altLang="en-US">
              <a:latin typeface="+mn-lt"/>
              <a:ea typeface="+mn-ea"/>
            </a:endParaRP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endParaRPr lang="ja-JP" altLang="en-US">
              <a:latin typeface="+mn-lt"/>
              <a:ea typeface="+mn-ea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593697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>
              <a:latin typeface="+mn-lt"/>
              <a:ea typeface="+mn-ea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68026B4-AFC9-7DC2-83D0-A658F84A116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l="17680" t="16127" r="17724" b="16170"/>
          <a:stretch>
            <a:fillRect/>
          </a:stretch>
        </p:blipFill>
        <p:spPr>
          <a:xfrm>
            <a:off x="11691594" y="48804"/>
            <a:ext cx="449867" cy="4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9CD265D-5F3F-BA32-22E3-E6D1EBC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</a:t>
            </a:fld>
            <a:endParaRPr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7EE6E32-A79D-4816-35D1-8C4E09E233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/>
              <a:t>Stargazy</a:t>
            </a:r>
            <a:r>
              <a:rPr lang="en-US" altLang="ja-JP" dirty="0"/>
              <a:t> Guys </a:t>
            </a:r>
            <a:r>
              <a:rPr lang="ja-JP" altLang="en-US" dirty="0"/>
              <a:t>事業計画書 </a:t>
            </a:r>
            <a:r>
              <a:rPr lang="en-US" altLang="ja-JP" dirty="0"/>
              <a:t>v1.0</a:t>
            </a:r>
            <a:endParaRPr kumimoji="1" lang="ja-JP" altLang="en-US" dirty="0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1425A0CB-343C-CC01-FFEB-6DB29ABE3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山富 龍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8DD59D-49DE-B44B-B738-AE2FFCFBC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2026.8.13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868C3F-40B6-C3D0-A3CD-7F3DE547C1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ja-JP" dirty="0"/>
              <a:t>TEL: 080-8132-3962</a:t>
            </a:r>
            <a:r>
              <a:rPr lang="ja-JP" altLang="en-US" dirty="0"/>
              <a:t>，</a:t>
            </a:r>
            <a:r>
              <a:rPr lang="en-US" altLang="ja-JP" dirty="0"/>
              <a:t>MAIL: yryo1005@gmail.com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7091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3846CC9-77DD-E16D-3421-AC22D5EB9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会社概要</a:t>
            </a:r>
            <a:endParaRPr kumimoji="1" lang="en-US" altLang="ja-JP" dirty="0"/>
          </a:p>
          <a:p>
            <a:r>
              <a:rPr lang="ja-JP" altLang="en-US" dirty="0"/>
              <a:t>代表者</a:t>
            </a:r>
            <a:endParaRPr lang="en-US" altLang="ja-JP" dirty="0"/>
          </a:p>
          <a:p>
            <a:r>
              <a:rPr lang="ja-JP" altLang="ja-JP" dirty="0"/>
              <a:t>創業の背景・目的</a:t>
            </a:r>
            <a:endParaRPr lang="en-US" altLang="ja-JP" dirty="0"/>
          </a:p>
          <a:p>
            <a:r>
              <a:rPr lang="ja-JP" altLang="en-US" dirty="0"/>
              <a:t>市場・顧客分析</a:t>
            </a:r>
            <a:endParaRPr lang="en-US" altLang="ja-JP" dirty="0"/>
          </a:p>
          <a:p>
            <a:r>
              <a:rPr lang="ja-JP" altLang="en-US" dirty="0"/>
              <a:t>ビジネスモデル</a:t>
            </a:r>
            <a:endParaRPr lang="en-US" altLang="ja-JP" dirty="0"/>
          </a:p>
          <a:p>
            <a:r>
              <a:rPr lang="ja-JP" altLang="en-US" dirty="0"/>
              <a:t>営業戦略</a:t>
            </a:r>
            <a:endParaRPr lang="en-US" altLang="ja-JP" dirty="0"/>
          </a:p>
          <a:p>
            <a:r>
              <a:rPr lang="ja-JP" altLang="en-US" dirty="0"/>
              <a:t>ロードマップ（短期：～</a:t>
            </a:r>
            <a:r>
              <a:rPr lang="en-US" altLang="ja-JP" dirty="0"/>
              <a:t>1</a:t>
            </a:r>
            <a:r>
              <a:rPr lang="ja-JP" altLang="en-US" dirty="0"/>
              <a:t>年，中長期：</a:t>
            </a:r>
            <a:r>
              <a:rPr lang="en-US" altLang="ja-JP" dirty="0"/>
              <a:t> 1</a:t>
            </a:r>
            <a:r>
              <a:rPr lang="ja-JP" altLang="en-US" dirty="0"/>
              <a:t>～</a:t>
            </a:r>
            <a:r>
              <a:rPr lang="en-US" altLang="ja-JP" dirty="0"/>
              <a:t>5</a:t>
            </a:r>
            <a:r>
              <a:rPr lang="ja-JP" altLang="en-US" dirty="0"/>
              <a:t>年）</a:t>
            </a:r>
            <a:endParaRPr lang="en-US" altLang="ja-JP" dirty="0"/>
          </a:p>
          <a:p>
            <a:r>
              <a:rPr lang="ja-JP" altLang="en-US" dirty="0"/>
              <a:t>財務計画</a:t>
            </a:r>
            <a:endParaRPr lang="en-US" altLang="ja-JP" dirty="0"/>
          </a:p>
          <a:p>
            <a:r>
              <a:rPr lang="ja-JP" altLang="en-US" dirty="0"/>
              <a:t>売上計画（売上原価計画，経費計画，予算計画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実行体制</a:t>
            </a:r>
            <a:endParaRPr lang="en-US" altLang="ja-JP" dirty="0"/>
          </a:p>
          <a:p>
            <a:r>
              <a:rPr kumimoji="1" lang="ja-JP" altLang="en-US" dirty="0"/>
              <a:t>スケジュール</a:t>
            </a:r>
            <a:endParaRPr kumimoji="1" lang="en-US" altLang="ja-JP" dirty="0"/>
          </a:p>
          <a:p>
            <a:r>
              <a:rPr kumimoji="1" lang="ja-JP" altLang="en-US" dirty="0"/>
              <a:t>想定リスクと対応策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164AD3B-B023-D68D-5569-32D09B1C6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2</a:t>
            </a:fld>
            <a:endParaRPr lang="ja-JP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903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F88F0-F031-7B9E-C06B-7F685BDF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・</a:t>
            </a:r>
            <a:r>
              <a:rPr kumimoji="1" lang="en-US" altLang="ja-JP" dirty="0"/>
              <a:t>IT</a:t>
            </a:r>
            <a:r>
              <a:rPr kumimoji="1" lang="ja-JP" altLang="en-US" dirty="0"/>
              <a:t>を活用しビジネスを変革する会社です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77A326-E683-7367-0654-F702816A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基本情報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F9097FC-F414-C30C-7FA3-3BD4F1AC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3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8FDCB0A-E396-F9A2-0D0F-C32CEDC5BC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会社概要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73F390-242C-FFC4-5D12-92065D1DB4D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事業内容</a:t>
            </a:r>
            <a:endParaRPr kumimoji="1" lang="en-US" altLang="ja-JP" dirty="0"/>
          </a:p>
          <a:p>
            <a:r>
              <a:rPr kumimoji="1" lang="en-US" altLang="ja-JP" b="1" dirty="0"/>
              <a:t>AI</a:t>
            </a:r>
            <a:r>
              <a:rPr kumimoji="1" lang="ja-JP" altLang="en-US" b="1" dirty="0"/>
              <a:t>・</a:t>
            </a:r>
            <a:r>
              <a:rPr kumimoji="1" lang="en-US" altLang="ja-JP" b="1" dirty="0"/>
              <a:t>IT</a:t>
            </a:r>
            <a:r>
              <a:rPr kumimoji="1" lang="ja-JP" altLang="en-US" b="1" dirty="0"/>
              <a:t>を活用した業務改善支援</a:t>
            </a:r>
            <a:endParaRPr kumimoji="1" lang="en-US" altLang="ja-JP" b="1" dirty="0"/>
          </a:p>
          <a:p>
            <a:r>
              <a:rPr lang="ja-JP" altLang="en-US" dirty="0"/>
              <a:t>ソフトウェア開発・販売</a:t>
            </a:r>
            <a:endParaRPr lang="en-US" altLang="ja-JP" dirty="0"/>
          </a:p>
          <a:p>
            <a:r>
              <a:rPr kumimoji="1" lang="ja-JP" altLang="en-US" dirty="0"/>
              <a:t>受託ソフトウェア開発</a:t>
            </a:r>
            <a:endParaRPr kumimoji="1" lang="en-US" altLang="ja-JP" dirty="0"/>
          </a:p>
          <a:p>
            <a:r>
              <a:rPr lang="en-US" altLang="ja-JP" dirty="0"/>
              <a:t>AI</a:t>
            </a:r>
            <a:r>
              <a:rPr lang="ja-JP" altLang="en-US" dirty="0"/>
              <a:t>・</a:t>
            </a:r>
            <a:r>
              <a:rPr lang="en-US" altLang="ja-JP" dirty="0"/>
              <a:t>DX</a:t>
            </a:r>
            <a:r>
              <a:rPr lang="ja-JP" altLang="en-US" dirty="0"/>
              <a:t>に関する教育・研修</a:t>
            </a:r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43234968-2A98-FBCA-A78F-8B29BC21F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099839"/>
              </p:ext>
            </p:extLst>
          </p:nvPr>
        </p:nvGraphicFramePr>
        <p:xfrm>
          <a:off x="299004" y="1984897"/>
          <a:ext cx="5640154" cy="198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79420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3760734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屋号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 err="1"/>
                        <a:t>Stargazy</a:t>
                      </a:r>
                      <a:r>
                        <a:rPr kumimoji="1" lang="ja-JP" altLang="en-US" sz="2000" dirty="0"/>
                        <a:t> </a:t>
                      </a:r>
                      <a:r>
                        <a:rPr kumimoji="1" lang="en-US" altLang="ja-JP" sz="2000" dirty="0"/>
                        <a:t>Guys</a:t>
                      </a:r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4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事業形態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個人事業主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代表者名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山富 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開業日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2026.10(</a:t>
                      </a:r>
                      <a:r>
                        <a:rPr kumimoji="1" lang="ja-JP" altLang="en-US" sz="2000" dirty="0"/>
                        <a:t>予定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所在地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神奈川県藤沢市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746649"/>
                  </a:ext>
                </a:extLst>
              </a:tr>
            </a:tbl>
          </a:graphicData>
        </a:graphic>
      </p:graphicFrame>
      <p:pic>
        <p:nvPicPr>
          <p:cNvPr id="20" name="図 19">
            <a:extLst>
              <a:ext uri="{FF2B5EF4-FFF2-40B4-BE49-F238E27FC236}">
                <a16:creationId xmlns:a16="http://schemas.microsoft.com/office/drawing/2014/main" id="{E64458E4-83A2-08BD-003E-F5B1CF1B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7" t="54595" r="6484" b="17345"/>
          <a:stretch>
            <a:fillRect/>
          </a:stretch>
        </p:blipFill>
        <p:spPr>
          <a:xfrm>
            <a:off x="1403123" y="4611715"/>
            <a:ext cx="9385753" cy="165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17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16D66-567A-6070-7137-A6B4BE78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AIについて，基礎から応用まで幅広く研究してきました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D7768C-110E-30B8-6FA4-AA82CE488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基本情報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sz="100" dirty="0"/>
          </a:p>
          <a:p>
            <a:pPr marL="0" indent="0">
              <a:buNone/>
            </a:pPr>
            <a:r>
              <a:rPr kumimoji="1" lang="ja-JP" altLang="en-US" dirty="0"/>
              <a:t>略歴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829770-9A18-D0B9-3DCA-96326973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4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648CC1-55D0-F7A3-5FB6-F1B221EFB5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代表者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35EC6A2-E343-FEED-1EFE-F3E4357BD0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52839" y="1420427"/>
            <a:ext cx="6024885" cy="5122416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研究テーマ</a:t>
            </a:r>
            <a:endParaRPr lang="en-US" altLang="ja-JP" dirty="0"/>
          </a:p>
          <a:p>
            <a:r>
              <a:rPr kumimoji="1" lang="ja-JP" altLang="en-US" sz="1800" dirty="0"/>
              <a:t>画像に対し面白文章を生成するお笑い</a:t>
            </a:r>
            <a:r>
              <a:rPr kumimoji="1" lang="en-US" altLang="ja-JP" sz="1800" dirty="0"/>
              <a:t>AI(</a:t>
            </a:r>
            <a:r>
              <a:rPr kumimoji="1" lang="ja-JP" altLang="en-US" sz="1800" b="1" dirty="0"/>
              <a:t>応用</a:t>
            </a:r>
            <a:r>
              <a:rPr kumimoji="1" lang="en-US" altLang="ja-JP" sz="1800" dirty="0"/>
              <a:t>)</a:t>
            </a:r>
          </a:p>
          <a:p>
            <a:r>
              <a:rPr kumimoji="1" lang="en-US" altLang="ja-JP" sz="1800" dirty="0"/>
              <a:t>AI</a:t>
            </a:r>
            <a:r>
              <a:rPr kumimoji="1" lang="ja-JP" altLang="en-US" sz="1800" dirty="0"/>
              <a:t>を高速・高精度に学習する最適化アルゴリズム</a:t>
            </a:r>
            <a:r>
              <a:rPr kumimoji="1" lang="en-US" altLang="ja-JP" sz="1800" dirty="0"/>
              <a:t>(</a:t>
            </a:r>
            <a:r>
              <a:rPr kumimoji="1" lang="ja-JP" altLang="en-US" sz="1800" b="1" dirty="0"/>
              <a:t>基礎</a:t>
            </a:r>
            <a:r>
              <a:rPr kumimoji="1" lang="en-US" altLang="ja-JP" sz="1800" dirty="0"/>
              <a:t>)</a:t>
            </a:r>
          </a:p>
          <a:p>
            <a:pPr marL="0" indent="0">
              <a:buNone/>
            </a:pPr>
            <a:endParaRPr kumimoji="1" lang="en-US" altLang="ja-JP" sz="300" dirty="0"/>
          </a:p>
          <a:p>
            <a:pPr marL="0" indent="0">
              <a:buNone/>
            </a:pPr>
            <a:r>
              <a:rPr kumimoji="1" lang="ja-JP" altLang="en-US" dirty="0"/>
              <a:t>研究業績</a:t>
            </a:r>
            <a:r>
              <a:rPr kumimoji="1" lang="en-US" altLang="ja-JP" dirty="0"/>
              <a:t>(</a:t>
            </a:r>
            <a:r>
              <a:rPr kumimoji="1" lang="ja-JP" altLang="en-US" b="1" dirty="0"/>
              <a:t>論文誌</a:t>
            </a:r>
            <a:r>
              <a:rPr kumimoji="1" lang="en-US" altLang="ja-JP" b="1" dirty="0"/>
              <a:t>: 2</a:t>
            </a:r>
            <a:r>
              <a:rPr kumimoji="1" lang="ja-JP" altLang="en-US" b="1" dirty="0"/>
              <a:t>件，学会発表</a:t>
            </a:r>
            <a:r>
              <a:rPr kumimoji="1" lang="en-US" altLang="ja-JP" b="1" dirty="0"/>
              <a:t>: 29</a:t>
            </a:r>
            <a:r>
              <a:rPr kumimoji="1" lang="ja-JP" altLang="en-US" b="1" dirty="0"/>
              <a:t>件</a:t>
            </a:r>
            <a:r>
              <a:rPr kumimoji="1" lang="en-US" altLang="ja-JP" dirty="0"/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ディープラーニングを用いた</a:t>
            </a:r>
            <a:r>
              <a:rPr kumimoji="1"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生成画像の識別</a:t>
            </a:r>
            <a:endParaRPr kumimoji="1" lang="en-US" altLang="ja-JP" sz="1800" b="1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kumimoji="1" lang="en-US" altLang="ja-JP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AI</a:t>
            </a: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技術を用いた超音波画像における</a:t>
            </a:r>
            <a:r>
              <a:rPr kumimoji="1"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血管領域自動検出</a:t>
            </a:r>
            <a:endParaRPr kumimoji="1" lang="en-US" altLang="ja-JP" sz="1800" b="1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遠隔授業における</a:t>
            </a:r>
            <a:r>
              <a:rPr kumimoji="1"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顔認証出席管理システム</a:t>
            </a:r>
            <a:endParaRPr kumimoji="1" lang="en-US" altLang="ja-JP" sz="1800" b="1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lang="ja-JP" altLang="en-US" sz="1800" spc="-100" dirty="0">
                <a:solidFill>
                  <a:prstClr val="black"/>
                </a:solidFill>
              </a:rPr>
              <a:t>ディープフェイクを用いた</a:t>
            </a:r>
            <a:r>
              <a:rPr lang="ja-JP" altLang="en-US" sz="1800" b="1" spc="-100" dirty="0">
                <a:solidFill>
                  <a:prstClr val="black"/>
                </a:solidFill>
              </a:rPr>
              <a:t>アイデンティティ保持型匿名化</a:t>
            </a:r>
            <a:endParaRPr lang="en-US" altLang="ja-JP" sz="1800" b="1" spc="-100" dirty="0"/>
          </a:p>
          <a:p>
            <a:pPr>
              <a:defRPr/>
            </a:pPr>
            <a:r>
              <a:rPr lang="en-US" altLang="ja-JP" sz="1800" spc="-100" dirty="0">
                <a:solidFill>
                  <a:prstClr val="black"/>
                </a:solidFill>
              </a:rPr>
              <a:t>Transformer</a:t>
            </a:r>
            <a:r>
              <a:rPr lang="ja-JP" altLang="en-US" sz="1800" spc="-100" dirty="0">
                <a:solidFill>
                  <a:prstClr val="black"/>
                </a:solidFill>
              </a:rPr>
              <a:t>を用いた画像に対する</a:t>
            </a:r>
            <a:r>
              <a:rPr lang="ja-JP" altLang="en-US" sz="1800" b="1" spc="-100" dirty="0">
                <a:solidFill>
                  <a:prstClr val="black"/>
                </a:solidFill>
              </a:rPr>
              <a:t>大喜利生成</a:t>
            </a:r>
            <a:r>
              <a:rPr lang="en-US" altLang="ja-JP" sz="1800" b="1" spc="-100" dirty="0">
                <a:solidFill>
                  <a:prstClr val="black"/>
                </a:solidFill>
              </a:rPr>
              <a:t>AI</a:t>
            </a:r>
            <a:endParaRPr kumimoji="1" lang="en-US" altLang="ja-JP" sz="1800" b="1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大規模言語モデルを用いた</a:t>
            </a:r>
            <a:r>
              <a:rPr kumimoji="1"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観光地推奨システム</a:t>
            </a: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の開発</a:t>
            </a:r>
            <a:endParaRPr kumimoji="1" lang="en-US" altLang="ja-JP" sz="18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kumimoji="1" lang="en-US" altLang="ja-JP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AI</a:t>
            </a: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を用いたファインバブル発生装置の</a:t>
            </a:r>
            <a:r>
              <a:rPr kumimoji="1"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最適操作条件</a:t>
            </a:r>
            <a:r>
              <a:rPr kumimoji="1"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の検討</a:t>
            </a:r>
            <a:endParaRPr kumimoji="1" lang="en-US" altLang="ja-JP" sz="18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BIZ UDPゴシック" panose="020B0400000000000000" pitchFamily="50" charset="-128"/>
              <a:buChar char="▶"/>
              <a:tabLst/>
              <a:defRPr/>
            </a:pPr>
            <a:r>
              <a:rPr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行列対角化を用いた</a:t>
            </a:r>
            <a:r>
              <a:rPr lang="en-US" altLang="ja-JP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2</a:t>
            </a:r>
            <a:r>
              <a:rPr lang="ja-JP" altLang="en-US" sz="1800" b="1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次近似勾配学習法</a:t>
            </a:r>
            <a:r>
              <a:rPr lang="ja-JP" altLang="en-US" sz="18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Z UDPゴシック"/>
                <a:ea typeface="BIZ UDPゴシック"/>
                <a:cs typeface="+mn-cs"/>
              </a:rPr>
              <a:t>　　　　　　　　　　他</a:t>
            </a:r>
            <a:endParaRPr lang="en-US" altLang="ja-JP" sz="18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Z UDPゴシック"/>
              <a:ea typeface="BIZ UDPゴシック"/>
              <a:cs typeface="+mn-cs"/>
            </a:endParaRP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9DA35B9-5433-F4E2-AF56-D4D50AB39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580654"/>
              </p:ext>
            </p:extLst>
          </p:nvPr>
        </p:nvGraphicFramePr>
        <p:xfrm>
          <a:off x="310771" y="4527006"/>
          <a:ext cx="5640156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9303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4610853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2016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/>
                        <a:t>高校卒業程度認定試験 合格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2021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/>
                        <a:t>湘南工科大学 </a:t>
                      </a:r>
                      <a:r>
                        <a:rPr kumimoji="1" lang="en-US" altLang="ja-JP" sz="1600" b="1" dirty="0">
                          <a:solidFill>
                            <a:schemeClr val="tx1"/>
                          </a:solidFill>
                        </a:rPr>
                        <a:t>AI</a:t>
                      </a:r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600" b="1" dirty="0">
                          <a:solidFill>
                            <a:schemeClr val="tx1"/>
                          </a:solidFill>
                        </a:rPr>
                        <a:t>R&amp;D</a:t>
                      </a:r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600" b="1" dirty="0">
                          <a:solidFill>
                            <a:schemeClr val="tx1"/>
                          </a:solidFill>
                        </a:rPr>
                        <a:t>Center</a:t>
                      </a:r>
                      <a:r>
                        <a:rPr kumimoji="1" lang="ja-JP" altLang="en-US" sz="16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ja-JP" altLang="en-US" sz="1600" dirty="0"/>
                        <a:t>入局</a:t>
                      </a:r>
                      <a:endParaRPr kumimoji="1" lang="en-US" altLang="ja-JP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2023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/>
                        <a:t>湘南工科大学 卒業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2025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/>
                        <a:t>湘南工科大学大学院 修士課程 修了，</a:t>
                      </a:r>
                      <a:r>
                        <a:rPr kumimoji="1" lang="ja-JP" altLang="en-US" sz="1600" b="1" dirty="0"/>
                        <a:t>学長賞受賞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52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2026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sz="1600" dirty="0" err="1"/>
                        <a:t>Stargazy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Guys</a:t>
                      </a:r>
                      <a:r>
                        <a:rPr kumimoji="1" lang="ja-JP" altLang="en-US" sz="1600" dirty="0"/>
                        <a:t> 設立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93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2028</a:t>
                      </a:r>
                      <a:r>
                        <a:rPr kumimoji="1" lang="ja-JP" altLang="en-US" sz="1600" dirty="0"/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600" dirty="0"/>
                        <a:t>湘南工科大学大学院 博士課程 </a:t>
                      </a:r>
                      <a:r>
                        <a:rPr kumimoji="1" lang="ja-JP" altLang="en-US" sz="1600" b="1" dirty="0"/>
                        <a:t>修了予定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28707"/>
                  </a:ext>
                </a:extLst>
              </a:tr>
            </a:tbl>
          </a:graphicData>
        </a:graphic>
      </p:graphicFrame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6E419DC7-7DC2-E04F-4B95-BED978504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321036"/>
              </p:ext>
            </p:extLst>
          </p:nvPr>
        </p:nvGraphicFramePr>
        <p:xfrm>
          <a:off x="1876426" y="1983612"/>
          <a:ext cx="4074502" cy="198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57711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2716791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氏名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山富 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4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生年月日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平成</a:t>
                      </a:r>
                      <a:r>
                        <a:rPr kumimoji="1" lang="en-US" altLang="ja-JP" sz="2000" dirty="0"/>
                        <a:t>12</a:t>
                      </a:r>
                      <a:r>
                        <a:rPr kumimoji="1" lang="ja-JP" altLang="en-US" sz="2000" dirty="0"/>
                        <a:t>年</a:t>
                      </a:r>
                      <a:r>
                        <a:rPr kumimoji="1" lang="en-US" altLang="ja-JP" sz="2000" dirty="0"/>
                        <a:t>10</a:t>
                      </a:r>
                      <a:r>
                        <a:rPr kumimoji="1" lang="ja-JP" altLang="en-US" sz="2000" dirty="0"/>
                        <a:t>月</a:t>
                      </a:r>
                      <a:r>
                        <a:rPr kumimoji="1" lang="en-US" altLang="ja-JP" sz="2000" dirty="0"/>
                        <a:t>5</a:t>
                      </a:r>
                      <a:r>
                        <a:rPr kumimoji="1" lang="ja-JP" altLang="en-US" sz="2000" dirty="0"/>
                        <a:t>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血液型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/>
                        <a:t>A</a:t>
                      </a:r>
                      <a:r>
                        <a:rPr kumimoji="1" lang="ja-JP" altLang="en-US" sz="2000" dirty="0"/>
                        <a:t>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出身地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大阪府大阪市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学位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/>
                        <a:t>修士</a:t>
                      </a:r>
                      <a:r>
                        <a:rPr kumimoji="1" lang="en-US" altLang="ja-JP" sz="2000" dirty="0"/>
                        <a:t>(</a:t>
                      </a:r>
                      <a:r>
                        <a:rPr kumimoji="1" lang="ja-JP" altLang="en-US" sz="2000" dirty="0"/>
                        <a:t>工学</a:t>
                      </a:r>
                      <a:r>
                        <a:rPr kumimoji="1" lang="en-US" altLang="ja-JP" sz="2000" dirty="0"/>
                        <a:t>)</a:t>
                      </a:r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783215"/>
                  </a:ext>
                </a:extLst>
              </a:tr>
            </a:tbl>
          </a:graphicData>
        </a:graphic>
      </p:graphicFrame>
      <p:pic>
        <p:nvPicPr>
          <p:cNvPr id="12" name="図 11">
            <a:extLst>
              <a:ext uri="{FF2B5EF4-FFF2-40B4-BE49-F238E27FC236}">
                <a16:creationId xmlns:a16="http://schemas.microsoft.com/office/drawing/2014/main" id="{B2932FC3-A566-5216-D5D3-3EA9D0FB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71" y="1983612"/>
            <a:ext cx="1463788" cy="1981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424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EF6342-72DA-508D-8572-67CA5445C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AI</a:t>
            </a:r>
            <a:r>
              <a:rPr lang="ja-JP" altLang="en-US" dirty="0"/>
              <a:t>の研究と</a:t>
            </a:r>
            <a:r>
              <a:rPr lang="en-US" altLang="ja-JP" dirty="0"/>
              <a:t>AI</a:t>
            </a:r>
            <a:r>
              <a:rPr lang="ja-JP" altLang="en-US" dirty="0"/>
              <a:t>・</a:t>
            </a:r>
            <a:r>
              <a:rPr lang="en-US" altLang="ja-JP" dirty="0"/>
              <a:t>DX</a:t>
            </a:r>
            <a:r>
              <a:rPr lang="ja-JP" altLang="en-US" dirty="0"/>
              <a:t>コンサルティングのプロセス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 algn="ctr">
              <a:buNone/>
            </a:pPr>
            <a:r>
              <a:rPr lang="ja-JP" altLang="ja-JP" sz="3100" spc="-50" dirty="0">
                <a:solidFill>
                  <a:srgbClr val="EE7339"/>
                </a:solidFill>
              </a:rPr>
              <a:t>研究で培った仮説検証型の課題解決力×AI技術 → 企業の課題解決</a:t>
            </a:r>
            <a:endParaRPr lang="en-US" altLang="ja-JP" sz="3100" spc="-50" dirty="0">
              <a:solidFill>
                <a:srgbClr val="EE7339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590C43C6-56FD-DC8A-52D4-A7FB82119585}"/>
              </a:ext>
            </a:extLst>
          </p:cNvPr>
          <p:cNvSpPr/>
          <p:nvPr/>
        </p:nvSpPr>
        <p:spPr>
          <a:xfrm>
            <a:off x="101034" y="2046458"/>
            <a:ext cx="12013464" cy="148115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t"/>
          <a:lstStyle/>
          <a:p>
            <a:pPr algn="ctr"/>
            <a:r>
              <a:rPr kumimoji="1" lang="ja-JP" altLang="en-US" sz="2400" dirty="0"/>
              <a:t>研究</a:t>
            </a: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4C8790DB-3366-4F1C-1A3D-6FF16ABA7497}"/>
              </a:ext>
            </a:extLst>
          </p:cNvPr>
          <p:cNvSpPr/>
          <p:nvPr/>
        </p:nvSpPr>
        <p:spPr>
          <a:xfrm>
            <a:off x="89268" y="4233025"/>
            <a:ext cx="12013464" cy="1481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 algn="ctr"/>
            <a:r>
              <a:rPr kumimoji="1" lang="en-US" altLang="ja-JP" sz="2400" dirty="0"/>
              <a:t>AI</a:t>
            </a:r>
            <a:r>
              <a:rPr kumimoji="1" lang="ja-JP" altLang="en-US" sz="2400" dirty="0"/>
              <a:t>・</a:t>
            </a:r>
            <a:r>
              <a:rPr kumimoji="1" lang="en-US" altLang="ja-JP" sz="2400" dirty="0"/>
              <a:t>DX</a:t>
            </a:r>
            <a:r>
              <a:rPr kumimoji="1" lang="ja-JP" altLang="en-US" sz="2400" dirty="0"/>
              <a:t>コンサルティング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4F2AB5E-5F48-EB91-F01E-368D157EC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研究で培った経験と知識を社会に還元します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657B4E-5B7D-992C-9C89-0922D1B41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CBA3085-EBE4-0D03-00B7-EB153434F9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ja-JP" dirty="0"/>
              <a:t>創業の背景・目的</a:t>
            </a:r>
            <a:endParaRPr lang="en-US" altLang="ja-JP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5592E3B-09C7-75E3-794D-3C2C2F81302F}"/>
              </a:ext>
            </a:extLst>
          </p:cNvPr>
          <p:cNvSpPr/>
          <p:nvPr/>
        </p:nvSpPr>
        <p:spPr>
          <a:xfrm>
            <a:off x="299005" y="3325908"/>
            <a:ext cx="1807701" cy="111162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課題発見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E3AF6A1-E3F2-C67D-C053-615AE30BD288}"/>
              </a:ext>
            </a:extLst>
          </p:cNvPr>
          <p:cNvSpPr/>
          <p:nvPr/>
        </p:nvSpPr>
        <p:spPr>
          <a:xfrm>
            <a:off x="3465773" y="3325904"/>
            <a:ext cx="1807701" cy="111162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解決策の</a:t>
            </a:r>
            <a:endParaRPr lang="en-US" altLang="ja-JP" sz="2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設計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4867072-DD15-CAC6-EA81-656353F36813}"/>
              </a:ext>
            </a:extLst>
          </p:cNvPr>
          <p:cNvSpPr/>
          <p:nvPr/>
        </p:nvSpPr>
        <p:spPr>
          <a:xfrm>
            <a:off x="6918527" y="3325905"/>
            <a:ext cx="1807701" cy="111162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提案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1490632-1A1F-CF01-EA44-0B35F91FA8F6}"/>
              </a:ext>
            </a:extLst>
          </p:cNvPr>
          <p:cNvSpPr/>
          <p:nvPr/>
        </p:nvSpPr>
        <p:spPr>
          <a:xfrm>
            <a:off x="10108827" y="3325906"/>
            <a:ext cx="1807701" cy="111162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</a:rPr>
              <a:t>評価・改善</a:t>
            </a: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5B5EC81A-9461-C351-60F1-0B319D41A2FB}"/>
              </a:ext>
            </a:extLst>
          </p:cNvPr>
          <p:cNvSpPr/>
          <p:nvPr/>
        </p:nvSpPr>
        <p:spPr>
          <a:xfrm>
            <a:off x="2366682" y="3612773"/>
            <a:ext cx="887506" cy="53788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A2220091-B5E3-CAC2-BFAD-006961138D4B}"/>
              </a:ext>
            </a:extLst>
          </p:cNvPr>
          <p:cNvSpPr/>
          <p:nvPr/>
        </p:nvSpPr>
        <p:spPr>
          <a:xfrm>
            <a:off x="5652247" y="3612773"/>
            <a:ext cx="887506" cy="53788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3" name="矢印: 左右 22">
            <a:extLst>
              <a:ext uri="{FF2B5EF4-FFF2-40B4-BE49-F238E27FC236}">
                <a16:creationId xmlns:a16="http://schemas.microsoft.com/office/drawing/2014/main" id="{E5318040-4E03-303B-B563-6813C96265A0}"/>
              </a:ext>
            </a:extLst>
          </p:cNvPr>
          <p:cNvSpPr/>
          <p:nvPr/>
        </p:nvSpPr>
        <p:spPr>
          <a:xfrm>
            <a:off x="8973774" y="3612773"/>
            <a:ext cx="887506" cy="537882"/>
          </a:xfrm>
          <a:prstGeom prst="left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24" name="コンテンツ プレースホルダー 2">
            <a:extLst>
              <a:ext uri="{FF2B5EF4-FFF2-40B4-BE49-F238E27FC236}">
                <a16:creationId xmlns:a16="http://schemas.microsoft.com/office/drawing/2014/main" id="{89C03F6A-41BD-2192-3AF1-2C28A89361B9}"/>
              </a:ext>
            </a:extLst>
          </p:cNvPr>
          <p:cNvSpPr txBox="1">
            <a:spLocks/>
          </p:cNvSpPr>
          <p:nvPr/>
        </p:nvSpPr>
        <p:spPr>
          <a:xfrm>
            <a:off x="428993" y="2501157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文献調査</a:t>
            </a:r>
            <a:endParaRPr lang="en-US" altLang="ja-JP" sz="1800" dirty="0"/>
          </a:p>
          <a:p>
            <a:r>
              <a:rPr lang="ja-JP" altLang="en-US" sz="1800" dirty="0"/>
              <a:t>発表聴講</a:t>
            </a:r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7920D54A-28BD-69EC-A3BB-B2A2F323B1B4}"/>
              </a:ext>
            </a:extLst>
          </p:cNvPr>
          <p:cNvSpPr txBox="1">
            <a:spLocks/>
          </p:cNvSpPr>
          <p:nvPr/>
        </p:nvSpPr>
        <p:spPr>
          <a:xfrm>
            <a:off x="428992" y="4433052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ヒアリング</a:t>
            </a:r>
            <a:endParaRPr lang="en-US" altLang="ja-JP" sz="1800" dirty="0"/>
          </a:p>
          <a:p>
            <a:r>
              <a:rPr lang="ja-JP" altLang="en-US" sz="1800" dirty="0"/>
              <a:t>現地調査</a:t>
            </a:r>
          </a:p>
        </p:txBody>
      </p:sp>
      <p:sp>
        <p:nvSpPr>
          <p:cNvPr id="28" name="コンテンツ プレースホルダー 2">
            <a:extLst>
              <a:ext uri="{FF2B5EF4-FFF2-40B4-BE49-F238E27FC236}">
                <a16:creationId xmlns:a16="http://schemas.microsoft.com/office/drawing/2014/main" id="{5E0235FD-68D5-9521-A4A7-D38786864CD8}"/>
              </a:ext>
            </a:extLst>
          </p:cNvPr>
          <p:cNvSpPr txBox="1">
            <a:spLocks/>
          </p:cNvSpPr>
          <p:nvPr/>
        </p:nvSpPr>
        <p:spPr>
          <a:xfrm>
            <a:off x="3595761" y="2501156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 sz="1800" dirty="0"/>
              <a:t>仮説立案</a:t>
            </a:r>
            <a:endParaRPr lang="en-US" altLang="ja-JP" sz="1800" dirty="0"/>
          </a:p>
          <a:p>
            <a:r>
              <a:rPr lang="ja-JP" altLang="en-US" sz="1800" dirty="0"/>
              <a:t>手法設計</a:t>
            </a:r>
          </a:p>
        </p:txBody>
      </p:sp>
      <p:sp>
        <p:nvSpPr>
          <p:cNvPr id="30" name="コンテンツ プレースホルダー 2">
            <a:extLst>
              <a:ext uri="{FF2B5EF4-FFF2-40B4-BE49-F238E27FC236}">
                <a16:creationId xmlns:a16="http://schemas.microsoft.com/office/drawing/2014/main" id="{536BEA36-AE6F-D46E-5156-0D1D5A0AEBBF}"/>
              </a:ext>
            </a:extLst>
          </p:cNvPr>
          <p:cNvSpPr txBox="1">
            <a:spLocks/>
          </p:cNvSpPr>
          <p:nvPr/>
        </p:nvSpPr>
        <p:spPr>
          <a:xfrm>
            <a:off x="7048515" y="2501155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学会発表</a:t>
            </a:r>
            <a:endParaRPr lang="en-US" altLang="ja-JP" sz="1800" dirty="0"/>
          </a:p>
          <a:p>
            <a:r>
              <a:rPr lang="ja-JP" altLang="en-US" sz="1800" dirty="0"/>
              <a:t>論文投稿</a:t>
            </a:r>
          </a:p>
        </p:txBody>
      </p:sp>
      <p:sp>
        <p:nvSpPr>
          <p:cNvPr id="32" name="コンテンツ プレースホルダー 2">
            <a:extLst>
              <a:ext uri="{FF2B5EF4-FFF2-40B4-BE49-F238E27FC236}">
                <a16:creationId xmlns:a16="http://schemas.microsoft.com/office/drawing/2014/main" id="{4014E61D-4A1F-64A4-3693-455AF8C7C4BB}"/>
              </a:ext>
            </a:extLst>
          </p:cNvPr>
          <p:cNvSpPr txBox="1">
            <a:spLocks/>
          </p:cNvSpPr>
          <p:nvPr/>
        </p:nvSpPr>
        <p:spPr>
          <a:xfrm>
            <a:off x="10238815" y="2501154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実験</a:t>
            </a:r>
            <a:endParaRPr lang="en-US" altLang="ja-JP" sz="1800" dirty="0"/>
          </a:p>
          <a:p>
            <a:r>
              <a:rPr lang="ja-JP" altLang="en-US" sz="1800" dirty="0"/>
              <a:t>結果分析</a:t>
            </a:r>
          </a:p>
        </p:txBody>
      </p:sp>
      <p:sp>
        <p:nvSpPr>
          <p:cNvPr id="34" name="コンテンツ プレースホルダー 2">
            <a:extLst>
              <a:ext uri="{FF2B5EF4-FFF2-40B4-BE49-F238E27FC236}">
                <a16:creationId xmlns:a16="http://schemas.microsoft.com/office/drawing/2014/main" id="{1100FCD8-60EC-56BD-A05C-EA2BA5CEAEC4}"/>
              </a:ext>
            </a:extLst>
          </p:cNvPr>
          <p:cNvSpPr txBox="1">
            <a:spLocks/>
          </p:cNvSpPr>
          <p:nvPr/>
        </p:nvSpPr>
        <p:spPr>
          <a:xfrm>
            <a:off x="3465773" y="4433049"/>
            <a:ext cx="1807701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要件定義</a:t>
            </a:r>
            <a:endParaRPr lang="en-US" altLang="ja-JP" sz="1800" dirty="0"/>
          </a:p>
          <a:p>
            <a:r>
              <a:rPr lang="ja-JP" altLang="en-US" sz="1800" dirty="0"/>
              <a:t>システム設計</a:t>
            </a:r>
          </a:p>
        </p:txBody>
      </p:sp>
      <p:sp>
        <p:nvSpPr>
          <p:cNvPr id="36" name="コンテンツ プレースホルダー 2">
            <a:extLst>
              <a:ext uri="{FF2B5EF4-FFF2-40B4-BE49-F238E27FC236}">
                <a16:creationId xmlns:a16="http://schemas.microsoft.com/office/drawing/2014/main" id="{79F90572-1951-3FE7-D5C7-6E602DE825F7}"/>
              </a:ext>
            </a:extLst>
          </p:cNvPr>
          <p:cNvSpPr txBox="1">
            <a:spLocks/>
          </p:cNvSpPr>
          <p:nvPr/>
        </p:nvSpPr>
        <p:spPr>
          <a:xfrm>
            <a:off x="7048515" y="4433052"/>
            <a:ext cx="1547723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 dirty="0"/>
              <a:t>プレゼン</a:t>
            </a:r>
            <a:endParaRPr lang="en-US" altLang="ja-JP" sz="1800" dirty="0"/>
          </a:p>
          <a:p>
            <a:r>
              <a:rPr lang="ja-JP" altLang="en-US" sz="1800" dirty="0"/>
              <a:t>運用支援</a:t>
            </a:r>
          </a:p>
        </p:txBody>
      </p:sp>
      <p:sp>
        <p:nvSpPr>
          <p:cNvPr id="38" name="コンテンツ プレースホルダー 2">
            <a:extLst>
              <a:ext uri="{FF2B5EF4-FFF2-40B4-BE49-F238E27FC236}">
                <a16:creationId xmlns:a16="http://schemas.microsoft.com/office/drawing/2014/main" id="{0C38C201-B4AD-2E15-B760-119838795072}"/>
              </a:ext>
            </a:extLst>
          </p:cNvPr>
          <p:cNvSpPr txBox="1">
            <a:spLocks/>
          </p:cNvSpPr>
          <p:nvPr/>
        </p:nvSpPr>
        <p:spPr>
          <a:xfrm>
            <a:off x="10108827" y="4433050"/>
            <a:ext cx="1807701" cy="808789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BIZ UDPゴシック" panose="020B0400000000000000" pitchFamily="50" charset="-128"/>
              <a:buChar char="▶"/>
              <a:defRPr kumimoji="1"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BIZ UDPゴシック" panose="020B0400000000000000" pitchFamily="50" charset="-128"/>
              <a:buChar char="▶"/>
              <a:defRPr kumimoji="1" sz="16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ja-JP" sz="1800" dirty="0"/>
              <a:t>効果測定</a:t>
            </a:r>
            <a:endParaRPr lang="en-US" altLang="ja-JP" sz="1800" dirty="0"/>
          </a:p>
          <a:p>
            <a:r>
              <a:rPr lang="ja-JP" altLang="en-US" sz="1800" dirty="0"/>
              <a:t>継続的改善</a:t>
            </a:r>
          </a:p>
        </p:txBody>
      </p:sp>
    </p:spTree>
    <p:extLst>
      <p:ext uri="{BB962C8B-B14F-4D97-AF65-F5344CB8AC3E}">
        <p14:creationId xmlns:p14="http://schemas.microsoft.com/office/powerpoint/2010/main" val="2416798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7BF598-8BB5-53C6-F960-AFFACDF76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中小企業が抱える普遍的な課題の解決を目指します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FB8110-EF65-CF6E-AA75-C49135DE8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　 市場</a:t>
            </a:r>
            <a:endParaRPr kumimoji="1" lang="en-US" altLang="ja-JP" dirty="0"/>
          </a:p>
          <a:p>
            <a:r>
              <a:rPr lang="en-US" altLang="ja-JP" dirty="0"/>
              <a:t>AI</a:t>
            </a:r>
            <a:r>
              <a:rPr lang="ja-JP" altLang="en-US" dirty="0"/>
              <a:t>・生成</a:t>
            </a:r>
            <a:r>
              <a:rPr lang="en-US" altLang="ja-JP" dirty="0"/>
              <a:t>AI</a:t>
            </a:r>
            <a:r>
              <a:rPr lang="ja-JP" altLang="en-US" dirty="0"/>
              <a:t>の普及により，中小企業でも</a:t>
            </a:r>
            <a:r>
              <a:rPr lang="en-US" altLang="ja-JP" dirty="0"/>
              <a:t>AI</a:t>
            </a:r>
            <a:r>
              <a:rPr lang="ja-JP" altLang="en-US" dirty="0"/>
              <a:t>活用の可能性が拡大</a:t>
            </a:r>
          </a:p>
          <a:p>
            <a:r>
              <a:rPr lang="ja-JP" altLang="en-US" dirty="0"/>
              <a:t>一方で，単純な</a:t>
            </a:r>
            <a:r>
              <a:rPr lang="en-US" altLang="ja-JP" dirty="0"/>
              <a:t>AI</a:t>
            </a:r>
            <a:r>
              <a:rPr lang="ja-JP" altLang="en-US" dirty="0"/>
              <a:t>ツール導入だけでは業務改善につながりにくい</a:t>
            </a:r>
          </a:p>
          <a:p>
            <a:r>
              <a:rPr lang="ja-JP" altLang="en-US" dirty="0"/>
              <a:t>「</a:t>
            </a:r>
            <a:r>
              <a:rPr lang="ja-JP" altLang="en-US" dirty="0">
                <a:solidFill>
                  <a:srgbClr val="EE7339"/>
                </a:solidFill>
              </a:rPr>
              <a:t>自社の業務に合わせた導入・開発・運用支援</a:t>
            </a:r>
            <a:r>
              <a:rPr lang="ja-JP" altLang="en-US" dirty="0"/>
              <a:t>」への需要が存在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sz="1800" dirty="0"/>
          </a:p>
          <a:p>
            <a:pPr marL="0" indent="0">
              <a:buNone/>
            </a:pPr>
            <a:r>
              <a:rPr lang="ja-JP" altLang="en-US" dirty="0"/>
              <a:t>　 ターゲット：従業員</a:t>
            </a:r>
            <a:r>
              <a:rPr lang="en-US" altLang="ja-JP" dirty="0"/>
              <a:t>50</a:t>
            </a:r>
            <a:r>
              <a:rPr lang="ja-JP" altLang="en-US" dirty="0"/>
              <a:t>～</a:t>
            </a:r>
            <a:r>
              <a:rPr lang="en-US" altLang="ja-JP" dirty="0"/>
              <a:t>250</a:t>
            </a:r>
            <a:r>
              <a:rPr lang="ja-JP" altLang="en-US" dirty="0"/>
              <a:t>名程度の</a:t>
            </a:r>
            <a:r>
              <a:rPr lang="ja-JP" altLang="en-US" dirty="0">
                <a:solidFill>
                  <a:srgbClr val="EE7339"/>
                </a:solidFill>
              </a:rPr>
              <a:t>中小企業</a:t>
            </a:r>
            <a:endParaRPr lang="en-US" altLang="ja-JP" dirty="0">
              <a:solidFill>
                <a:srgbClr val="EE7339"/>
              </a:solidFill>
            </a:endParaRPr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4B220B4-F62A-2EC5-7F69-08DA810C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CF7103-14FD-32DF-4B0F-31C8122DA8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市場・顧客分析</a:t>
            </a:r>
          </a:p>
        </p:txBody>
      </p:sp>
      <p:pic>
        <p:nvPicPr>
          <p:cNvPr id="7" name="グラフィックス 6" descr="世界 単色塗りつぶし">
            <a:extLst>
              <a:ext uri="{FF2B5EF4-FFF2-40B4-BE49-F238E27FC236}">
                <a16:creationId xmlns:a16="http://schemas.microsoft.com/office/drawing/2014/main" id="{03F18E38-E05F-BD33-B2D0-B6AD7EDE90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299005" y="1509049"/>
            <a:ext cx="358589" cy="358589"/>
          </a:xfrm>
          <a:prstGeom prst="rect">
            <a:avLst/>
          </a:prstGeom>
        </p:spPr>
      </p:pic>
      <p:sp>
        <p:nvSpPr>
          <p:cNvPr id="11" name="矢印: 下 10">
            <a:extLst>
              <a:ext uri="{FF2B5EF4-FFF2-40B4-BE49-F238E27FC236}">
                <a16:creationId xmlns:a16="http://schemas.microsoft.com/office/drawing/2014/main" id="{CB7A17BA-B8AB-9B19-FE7C-BEC1ABF2B5A2}"/>
              </a:ext>
            </a:extLst>
          </p:cNvPr>
          <p:cNvSpPr/>
          <p:nvPr/>
        </p:nvSpPr>
        <p:spPr>
          <a:xfrm>
            <a:off x="5011041" y="3491754"/>
            <a:ext cx="2193450" cy="286414"/>
          </a:xfrm>
          <a:prstGeom prst="downArrow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グラフィックス 12" descr="建物 枠線">
            <a:extLst>
              <a:ext uri="{FF2B5EF4-FFF2-40B4-BE49-F238E27FC236}">
                <a16:creationId xmlns:a16="http://schemas.microsoft.com/office/drawing/2014/main" id="{8822024B-A3AA-AD82-370D-3CF630A72D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972" y="3870956"/>
            <a:ext cx="352622" cy="352622"/>
          </a:xfrm>
          <a:prstGeom prst="rect">
            <a:avLst/>
          </a:prstGeom>
        </p:spPr>
      </p:pic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F333421-E291-87C1-5EE8-FBBE09E2B703}"/>
              </a:ext>
            </a:extLst>
          </p:cNvPr>
          <p:cNvSpPr/>
          <p:nvPr/>
        </p:nvSpPr>
        <p:spPr>
          <a:xfrm>
            <a:off x="322540" y="4352062"/>
            <a:ext cx="5294970" cy="2111667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導入前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ベテランの経験・</a:t>
            </a:r>
            <a:r>
              <a:rPr lang="ja-JP" altLang="en-US" sz="2000" dirty="0">
                <a:solidFill>
                  <a:srgbClr val="0070C0"/>
                </a:solidFill>
              </a:rPr>
              <a:t>勘に依存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口頭・紙・</a:t>
            </a:r>
            <a:r>
              <a:rPr lang="en-US" altLang="ja-JP" sz="2000" dirty="0">
                <a:solidFill>
                  <a:schemeClr val="tx1"/>
                </a:solidFill>
              </a:rPr>
              <a:t>Excel</a:t>
            </a:r>
            <a:r>
              <a:rPr lang="ja-JP" altLang="en-US" sz="2000" dirty="0">
                <a:solidFill>
                  <a:schemeClr val="tx1"/>
                </a:solidFill>
              </a:rPr>
              <a:t>中心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情報・</a:t>
            </a:r>
            <a:r>
              <a:rPr lang="ja-JP" altLang="en-US" sz="2000" dirty="0">
                <a:solidFill>
                  <a:srgbClr val="0070C0"/>
                </a:solidFill>
              </a:rPr>
              <a:t>ノウハウが蓄積されない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en-US" altLang="ja-JP" sz="2000" dirty="0">
                <a:solidFill>
                  <a:schemeClr val="tx1"/>
                </a:solidFill>
              </a:rPr>
              <a:t>IT</a:t>
            </a:r>
            <a:r>
              <a:rPr lang="ja-JP" altLang="en-US" sz="2000" dirty="0">
                <a:solidFill>
                  <a:schemeClr val="tx1"/>
                </a:solidFill>
              </a:rPr>
              <a:t>人材が不足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en-US" altLang="ja-JP" sz="2000" dirty="0">
                <a:solidFill>
                  <a:schemeClr val="tx1"/>
                </a:solidFill>
              </a:rPr>
              <a:t>DX</a:t>
            </a:r>
            <a:r>
              <a:rPr lang="ja-JP" altLang="en-US" sz="2000" dirty="0">
                <a:solidFill>
                  <a:schemeClr val="tx1"/>
                </a:solidFill>
              </a:rPr>
              <a:t>したいが何をすればよいかわからない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4956405E-BDB3-85AA-5F3B-F925CAA8418A}"/>
              </a:ext>
            </a:extLst>
          </p:cNvPr>
          <p:cNvSpPr/>
          <p:nvPr/>
        </p:nvSpPr>
        <p:spPr>
          <a:xfrm>
            <a:off x="6621558" y="4352062"/>
            <a:ext cx="5294970" cy="2111667"/>
          </a:xfrm>
          <a:prstGeom prst="roundRect">
            <a:avLst>
              <a:gd name="adj" fmla="val 457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導入後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Clr>
                <a:schemeClr val="tx1"/>
              </a:buClr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rgbClr val="EE7339"/>
                </a:solidFill>
              </a:rPr>
              <a:t>業務・課題を可視化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en-US" altLang="ja-JP" sz="2000" dirty="0">
                <a:solidFill>
                  <a:schemeClr val="tx1"/>
                </a:solidFill>
              </a:rPr>
              <a:t>AI</a:t>
            </a:r>
            <a:r>
              <a:rPr lang="ja-JP" altLang="en-US" sz="2000" dirty="0">
                <a:solidFill>
                  <a:schemeClr val="tx1"/>
                </a:solidFill>
              </a:rPr>
              <a:t>・</a:t>
            </a:r>
            <a:r>
              <a:rPr lang="en-US" altLang="ja-JP" sz="2000" dirty="0">
                <a:solidFill>
                  <a:schemeClr val="tx1"/>
                </a:solidFill>
              </a:rPr>
              <a:t>DX</a:t>
            </a:r>
            <a:r>
              <a:rPr lang="ja-JP" altLang="en-US" sz="2000" dirty="0">
                <a:solidFill>
                  <a:schemeClr val="tx1"/>
                </a:solidFill>
              </a:rPr>
              <a:t>による</a:t>
            </a:r>
            <a:r>
              <a:rPr lang="ja-JP" altLang="en-US" sz="2000" dirty="0">
                <a:solidFill>
                  <a:srgbClr val="EE7339"/>
                </a:solidFill>
              </a:rPr>
              <a:t>業務効率化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情報・</a:t>
            </a:r>
            <a:r>
              <a:rPr lang="ja-JP" altLang="en-US" sz="2000" dirty="0">
                <a:solidFill>
                  <a:srgbClr val="EE7339"/>
                </a:solidFill>
              </a:rPr>
              <a:t>ノウハウをデータ化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自社業務に合わせたシステム開発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運用まで含めた</a:t>
            </a:r>
            <a:r>
              <a:rPr lang="ja-JP" altLang="en-US" sz="2000" dirty="0">
                <a:solidFill>
                  <a:srgbClr val="EE7339"/>
                </a:solidFill>
              </a:rPr>
              <a:t>教育・研修</a:t>
            </a:r>
            <a:endParaRPr kumimoji="1" lang="ja-JP" altLang="en-US" sz="2000" dirty="0">
              <a:solidFill>
                <a:srgbClr val="EE7339"/>
              </a:solidFill>
            </a:endParaRPr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CBC465E9-702A-220A-E238-C48874216406}"/>
              </a:ext>
            </a:extLst>
          </p:cNvPr>
          <p:cNvSpPr/>
          <p:nvPr/>
        </p:nvSpPr>
        <p:spPr>
          <a:xfrm>
            <a:off x="5483041" y="5074737"/>
            <a:ext cx="1272988" cy="649941"/>
          </a:xfrm>
          <a:prstGeom prst="rightArrow">
            <a:avLst/>
          </a:prstGeom>
          <a:solidFill>
            <a:srgbClr val="EE7339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BD12465A-2F1F-8412-DD86-0D1D7C951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816" y="5239055"/>
            <a:ext cx="282389" cy="29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8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09CA-508E-9B6C-3911-73EC2318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99BB06-BC32-CFB0-6123-CD4367B98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5" y="1420427"/>
            <a:ext cx="11617523" cy="4962618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競合相手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 </a:t>
            </a:r>
            <a:r>
              <a:rPr lang="en-US" altLang="ja-JP" dirty="0" err="1"/>
              <a:t>Stargazy</a:t>
            </a:r>
            <a:r>
              <a:rPr lang="en-US" altLang="ja-JP" dirty="0"/>
              <a:t> Guys</a:t>
            </a:r>
          </a:p>
          <a:p>
            <a:r>
              <a:rPr lang="ja-JP" altLang="en-US" dirty="0"/>
              <a:t>中小企業に特化</a:t>
            </a:r>
          </a:p>
          <a:p>
            <a:r>
              <a:rPr lang="ja-JP" altLang="en-US" dirty="0"/>
              <a:t>経営・業務課題の整理から支援</a:t>
            </a:r>
          </a:p>
          <a:p>
            <a:r>
              <a:rPr lang="ja-JP" altLang="en-US" dirty="0">
                <a:solidFill>
                  <a:srgbClr val="EE7339"/>
                </a:solidFill>
              </a:rPr>
              <a:t>自分自身と同じプログラム・資料を作成する</a:t>
            </a:r>
            <a:r>
              <a:rPr lang="en-US" altLang="ja-JP" dirty="0">
                <a:solidFill>
                  <a:srgbClr val="EE7339"/>
                </a:solidFill>
              </a:rPr>
              <a:t>AI</a:t>
            </a:r>
            <a:r>
              <a:rPr lang="ja-JP" altLang="en-US" dirty="0">
                <a:solidFill>
                  <a:srgbClr val="EE7339"/>
                </a:solidFill>
              </a:rPr>
              <a:t>エージェント</a:t>
            </a:r>
            <a:endParaRPr lang="en-US" altLang="ja-JP" dirty="0">
              <a:solidFill>
                <a:srgbClr val="EE7339"/>
              </a:solidFill>
            </a:endParaRPr>
          </a:p>
          <a:p>
            <a:r>
              <a:rPr lang="ja-JP" altLang="en-US" dirty="0"/>
              <a:t>個別案件で得た知見を汎用ソフトウェアへ展開</a:t>
            </a:r>
            <a:endParaRPr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CE7DA57-7A60-DB9F-D45E-2835F65C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～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142C22F-C31A-0291-4063-2A431C8D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7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E748CFA-A6E5-812F-8FFB-8885081A7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市場・顧客分析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86500A4-21AA-2049-5D59-1D831F445B7A}"/>
              </a:ext>
            </a:extLst>
          </p:cNvPr>
          <p:cNvSpPr/>
          <p:nvPr/>
        </p:nvSpPr>
        <p:spPr>
          <a:xfrm>
            <a:off x="299006" y="1913489"/>
            <a:ext cx="3780000" cy="2008573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大手コンサル会社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大企業向けで高価格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テンプレ業務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開発は委託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～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4B7B3A9-F291-B0C3-5E8E-9993B67451E7}"/>
              </a:ext>
            </a:extLst>
          </p:cNvPr>
          <p:cNvSpPr/>
          <p:nvPr/>
        </p:nvSpPr>
        <p:spPr>
          <a:xfrm>
            <a:off x="4206000" y="1913489"/>
            <a:ext cx="3780000" cy="2008573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</a:rPr>
              <a:t>AI</a:t>
            </a:r>
            <a:r>
              <a:rPr kumimoji="1" lang="ja-JP" altLang="en-US" sz="2400" dirty="0">
                <a:solidFill>
                  <a:schemeClr val="tx1"/>
                </a:solidFill>
              </a:rPr>
              <a:t>ツール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汎用品で導入ハードルが高い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～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～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A710CFA-C8FC-BEFB-B94A-608D835AFC82}"/>
              </a:ext>
            </a:extLst>
          </p:cNvPr>
          <p:cNvSpPr/>
          <p:nvPr/>
        </p:nvSpPr>
        <p:spPr>
          <a:xfrm>
            <a:off x="8112994" y="1913489"/>
            <a:ext cx="3780000" cy="2008573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フリーの</a:t>
            </a:r>
            <a:r>
              <a:rPr kumimoji="1" lang="en-US" altLang="ja-JP" sz="2400" dirty="0">
                <a:solidFill>
                  <a:schemeClr val="tx1"/>
                </a:solidFill>
              </a:rPr>
              <a:t>AI</a:t>
            </a:r>
            <a:r>
              <a:rPr kumimoji="1" lang="ja-JP" altLang="en-US" sz="2400" dirty="0">
                <a:solidFill>
                  <a:schemeClr val="tx1"/>
                </a:solidFill>
              </a:rPr>
              <a:t>コンサルタント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低価格だが鈍足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ソリューションの幅が狭い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sz="2000" dirty="0">
                <a:solidFill>
                  <a:schemeClr val="tx1"/>
                </a:solidFill>
              </a:rPr>
              <a:t>～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9FFD9D0-33AD-D072-9579-F6B65BB63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4" y="3986162"/>
            <a:ext cx="282389" cy="29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89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92DCBC-B18D-789B-24FA-B7857BE3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コンサルティングで得た知見をソフトウェア化し，事業として展開します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17ECB1-C150-70CA-2937-1C68DD44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006" y="1420426"/>
            <a:ext cx="5640155" cy="5228023"/>
          </a:xfrm>
        </p:spPr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DX</a:t>
            </a:r>
            <a:r>
              <a:rPr kumimoji="1" lang="ja-JP" altLang="en-US" dirty="0"/>
              <a:t>コンサルティング，開発，運用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顧客に応じた</a:t>
            </a:r>
            <a:r>
              <a:rPr lang="ja-JP" altLang="en-US" dirty="0">
                <a:solidFill>
                  <a:srgbClr val="EE7339"/>
                </a:solidFill>
              </a:rPr>
              <a:t>オーダーメイド</a:t>
            </a:r>
            <a:r>
              <a:rPr lang="ja-JP" altLang="en-US" dirty="0"/>
              <a:t>の　　　　　　ソリューションを提案・開発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sz="1000" dirty="0"/>
          </a:p>
          <a:p>
            <a:pPr marL="0" indent="0">
              <a:buNone/>
            </a:pPr>
            <a:r>
              <a:rPr lang="en-US" altLang="ja-JP" dirty="0"/>
              <a:t>1</a:t>
            </a:r>
            <a:r>
              <a:rPr lang="ja-JP" altLang="en-US" dirty="0"/>
              <a:t>年程度での投資回収を目指す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DF73E3A-4800-DFB1-3807-A76DDCDE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8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51DD4B-F229-3213-AC6E-8BE1A639C1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/>
              <a:t>ビジネスモデル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F41099-C0F0-3128-FAA6-A9AC973BE38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52840" y="1420427"/>
            <a:ext cx="5640156" cy="5122416"/>
          </a:xfrm>
        </p:spPr>
        <p:txBody>
          <a:bodyPr/>
          <a:lstStyle/>
          <a:p>
            <a:r>
              <a:rPr kumimoji="1" lang="ja-JP" altLang="en-US" dirty="0"/>
              <a:t>自動化・データ蓄積システム開発，販売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中小企業が抱える普遍的な問題に　　　　対応したシステムを開発・販売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sz="1000" dirty="0"/>
          </a:p>
          <a:p>
            <a:pPr marL="0" indent="0">
              <a:buNone/>
            </a:pPr>
            <a:r>
              <a:rPr lang="ja-JP" altLang="en-US" dirty="0"/>
              <a:t>蓄積したデータからコンサルを提案する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7E193113-B274-8CF1-0914-B8986948A6A9}"/>
              </a:ext>
            </a:extLst>
          </p:cNvPr>
          <p:cNvSpPr/>
          <p:nvPr/>
        </p:nvSpPr>
        <p:spPr>
          <a:xfrm>
            <a:off x="794324" y="2931992"/>
            <a:ext cx="2668317" cy="51051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</a:rPr>
              <a:t>ヒアリング</a:t>
            </a:r>
            <a:r>
              <a:rPr lang="ja-JP" altLang="en-US" sz="2000" dirty="0">
                <a:solidFill>
                  <a:schemeClr val="tx1"/>
                </a:solidFill>
              </a:rPr>
              <a:t>・現地調査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9B6BFF7-212E-E684-268F-C32CF76F724B}"/>
              </a:ext>
            </a:extLst>
          </p:cNvPr>
          <p:cNvSpPr/>
          <p:nvPr/>
        </p:nvSpPr>
        <p:spPr>
          <a:xfrm>
            <a:off x="794323" y="3739768"/>
            <a:ext cx="2668317" cy="510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lang="ja-JP" altLang="en-US" sz="2000" dirty="0">
                <a:solidFill>
                  <a:schemeClr val="tx1"/>
                </a:solidFill>
              </a:rPr>
              <a:t>プレゼンテーション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F7A1FBF-46F0-5CA7-31BB-C5FF70C77B0B}"/>
              </a:ext>
            </a:extLst>
          </p:cNvPr>
          <p:cNvSpPr/>
          <p:nvPr/>
        </p:nvSpPr>
        <p:spPr>
          <a:xfrm>
            <a:off x="794323" y="4547544"/>
            <a:ext cx="2668317" cy="51051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</a:rPr>
              <a:t>PoC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3E70E3BA-C609-898D-ED09-8BBA9462A950}"/>
              </a:ext>
            </a:extLst>
          </p:cNvPr>
          <p:cNvSpPr/>
          <p:nvPr/>
        </p:nvSpPr>
        <p:spPr>
          <a:xfrm>
            <a:off x="794323" y="5355320"/>
            <a:ext cx="2668317" cy="5105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ctr">
            <a:noAutofit/>
          </a:bodyPr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</a:rPr>
              <a:t>本開発</a:t>
            </a:r>
          </a:p>
        </p:txBody>
      </p:sp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AB647AD2-D797-612F-7B65-A07D741BC0B2}"/>
              </a:ext>
            </a:extLst>
          </p:cNvPr>
          <p:cNvSpPr/>
          <p:nvPr/>
        </p:nvSpPr>
        <p:spPr>
          <a:xfrm>
            <a:off x="3581056" y="2931992"/>
            <a:ext cx="390525" cy="1318289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DBB0A11-F959-3A81-3C59-22A88ED78598}"/>
              </a:ext>
            </a:extLst>
          </p:cNvPr>
          <p:cNvSpPr txBox="1"/>
          <p:nvPr/>
        </p:nvSpPr>
        <p:spPr>
          <a:xfrm>
            <a:off x="3957957" y="3360303"/>
            <a:ext cx="131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1</a:t>
            </a:r>
            <a:r>
              <a:rPr kumimoji="1" lang="ja-JP" altLang="en-US" sz="2400" dirty="0"/>
              <a:t>ヵ月</a:t>
            </a:r>
          </a:p>
        </p:txBody>
      </p:sp>
      <p:sp>
        <p:nvSpPr>
          <p:cNvPr id="20" name="右中かっこ 19">
            <a:extLst>
              <a:ext uri="{FF2B5EF4-FFF2-40B4-BE49-F238E27FC236}">
                <a16:creationId xmlns:a16="http://schemas.microsoft.com/office/drawing/2014/main" id="{31B57027-FF5B-0FE0-BC8B-6AB143A4D6AB}"/>
              </a:ext>
            </a:extLst>
          </p:cNvPr>
          <p:cNvSpPr/>
          <p:nvPr/>
        </p:nvSpPr>
        <p:spPr>
          <a:xfrm>
            <a:off x="3581056" y="4547544"/>
            <a:ext cx="390525" cy="510513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右中かっこ 21">
            <a:extLst>
              <a:ext uri="{FF2B5EF4-FFF2-40B4-BE49-F238E27FC236}">
                <a16:creationId xmlns:a16="http://schemas.microsoft.com/office/drawing/2014/main" id="{F31FA90C-2D8F-EC0E-3861-8B5A6208CC61}"/>
              </a:ext>
            </a:extLst>
          </p:cNvPr>
          <p:cNvSpPr/>
          <p:nvPr/>
        </p:nvSpPr>
        <p:spPr>
          <a:xfrm>
            <a:off x="3581056" y="5355320"/>
            <a:ext cx="390525" cy="510513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131CB3-54B3-2417-CCEC-5F2FFBCA2090}"/>
              </a:ext>
            </a:extLst>
          </p:cNvPr>
          <p:cNvSpPr txBox="1"/>
          <p:nvPr/>
        </p:nvSpPr>
        <p:spPr>
          <a:xfrm>
            <a:off x="3957956" y="4572704"/>
            <a:ext cx="131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3</a:t>
            </a:r>
            <a:r>
              <a:rPr kumimoji="1" lang="ja-JP" altLang="en-US" sz="2400" dirty="0"/>
              <a:t>ヵ月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E79C260-B109-EC96-7388-82A3577E4C07}"/>
              </a:ext>
            </a:extLst>
          </p:cNvPr>
          <p:cNvSpPr txBox="1"/>
          <p:nvPr/>
        </p:nvSpPr>
        <p:spPr>
          <a:xfrm>
            <a:off x="3971581" y="5380480"/>
            <a:ext cx="131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/>
              <a:t>3</a:t>
            </a:r>
            <a:r>
              <a:rPr kumimoji="1" lang="ja-JP" altLang="en-US" sz="2400" dirty="0"/>
              <a:t>ヵ月</a:t>
            </a:r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B667C46E-D6C6-1495-C5B1-139A92050327}"/>
              </a:ext>
            </a:extLst>
          </p:cNvPr>
          <p:cNvSpPr/>
          <p:nvPr/>
        </p:nvSpPr>
        <p:spPr>
          <a:xfrm>
            <a:off x="1685568" y="3505657"/>
            <a:ext cx="885825" cy="173793"/>
          </a:xfrm>
          <a:prstGeom prst="downArrow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矢印: 下 28">
            <a:extLst>
              <a:ext uri="{FF2B5EF4-FFF2-40B4-BE49-F238E27FC236}">
                <a16:creationId xmlns:a16="http://schemas.microsoft.com/office/drawing/2014/main" id="{A82C6CFF-2867-6431-EB38-412CF8755AE4}"/>
              </a:ext>
            </a:extLst>
          </p:cNvPr>
          <p:cNvSpPr/>
          <p:nvPr/>
        </p:nvSpPr>
        <p:spPr>
          <a:xfrm>
            <a:off x="1685567" y="4310599"/>
            <a:ext cx="885825" cy="173793"/>
          </a:xfrm>
          <a:prstGeom prst="downArrow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矢印: 下 30">
            <a:extLst>
              <a:ext uri="{FF2B5EF4-FFF2-40B4-BE49-F238E27FC236}">
                <a16:creationId xmlns:a16="http://schemas.microsoft.com/office/drawing/2014/main" id="{52518252-E341-8720-0BA9-01E1BE9BFD99}"/>
              </a:ext>
            </a:extLst>
          </p:cNvPr>
          <p:cNvSpPr/>
          <p:nvPr/>
        </p:nvSpPr>
        <p:spPr>
          <a:xfrm>
            <a:off x="1685567" y="5119792"/>
            <a:ext cx="885825" cy="173793"/>
          </a:xfrm>
          <a:prstGeom prst="downArrow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3" name="図 32">
            <a:extLst>
              <a:ext uri="{FF2B5EF4-FFF2-40B4-BE49-F238E27FC236}">
                <a16:creationId xmlns:a16="http://schemas.microsoft.com/office/drawing/2014/main" id="{CB2C8B81-98E1-B225-ECAC-B71CC39587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96667" y="2812073"/>
            <a:ext cx="1990725" cy="1990725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0E24133-8D9B-AF42-95F9-AE61B3D8FCA0}"/>
              </a:ext>
            </a:extLst>
          </p:cNvPr>
          <p:cNvSpPr txBox="1"/>
          <p:nvPr/>
        </p:nvSpPr>
        <p:spPr>
          <a:xfrm>
            <a:off x="6996667" y="4802799"/>
            <a:ext cx="1990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pc="-100" dirty="0"/>
              <a:t>AI</a:t>
            </a:r>
            <a:r>
              <a:rPr lang="ja-JP" altLang="ja-JP" spc="-100" dirty="0"/>
              <a:t>伝達代行ツール</a:t>
            </a:r>
            <a:endParaRPr lang="ja-JP" altLang="en-US" spc="-100" dirty="0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54C72BD7-5AD1-02A9-6D26-5C24A343C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13139" y="2812073"/>
            <a:ext cx="1990725" cy="1990725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88692A7-8DDC-2782-C69D-72FAAF7469A4}"/>
              </a:ext>
            </a:extLst>
          </p:cNvPr>
          <p:cNvSpPr txBox="1"/>
          <p:nvPr/>
        </p:nvSpPr>
        <p:spPr>
          <a:xfrm>
            <a:off x="6889176" y="5172131"/>
            <a:ext cx="2205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頼まい</a:t>
            </a:r>
            <a:endParaRPr kumimoji="1" lang="en-US" altLang="ja-JP" sz="2000" dirty="0"/>
          </a:p>
          <a:p>
            <a:pPr algn="ctr"/>
            <a:r>
              <a:rPr lang="en-US" altLang="ja-JP" sz="2000" dirty="0"/>
              <a:t>Tanomu</a:t>
            </a:r>
            <a:r>
              <a:rPr lang="ja-JP" altLang="en-US" sz="2000" dirty="0"/>
              <a:t> </a:t>
            </a:r>
            <a:r>
              <a:rPr lang="en-US" altLang="ja-JP" sz="2000" dirty="0"/>
              <a:t>AI</a:t>
            </a:r>
            <a:endParaRPr kumimoji="1" lang="ja-JP" altLang="en-US" sz="200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3652FFA4-F177-E043-3611-6D82B6861F4D}"/>
              </a:ext>
            </a:extLst>
          </p:cNvPr>
          <p:cNvSpPr txBox="1"/>
          <p:nvPr/>
        </p:nvSpPr>
        <p:spPr>
          <a:xfrm>
            <a:off x="9529019" y="4802798"/>
            <a:ext cx="21520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pc="-100" dirty="0"/>
              <a:t>社内文書検索</a:t>
            </a:r>
            <a:r>
              <a:rPr lang="ja-JP" altLang="ja-JP" spc="-100" dirty="0"/>
              <a:t>ツール</a:t>
            </a:r>
            <a:endParaRPr lang="ja-JP" altLang="en-US" spc="-100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E89AAC7-6A9A-DFE1-A895-E03312691B67}"/>
              </a:ext>
            </a:extLst>
          </p:cNvPr>
          <p:cNvSpPr txBox="1"/>
          <p:nvPr/>
        </p:nvSpPr>
        <p:spPr>
          <a:xfrm>
            <a:off x="9502168" y="5172130"/>
            <a:ext cx="2205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dirty="0"/>
              <a:t>名前はまだない</a:t>
            </a:r>
            <a:endParaRPr kumimoji="1" lang="en-US" altLang="ja-JP" sz="2000" dirty="0"/>
          </a:p>
          <a:p>
            <a:pPr algn="ctr"/>
            <a:r>
              <a:rPr kumimoji="1" lang="en-US" altLang="ja-JP" sz="2000" dirty="0"/>
              <a:t>Noname</a:t>
            </a:r>
            <a:endParaRPr kumimoji="1" lang="ja-JP" altLang="en-US" sz="2000" dirty="0"/>
          </a:p>
        </p:txBody>
      </p:sp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CFD8CB5A-2197-8C33-2B48-440E642CA4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3888948"/>
              </p:ext>
            </p:extLst>
          </p:nvPr>
        </p:nvGraphicFramePr>
        <p:xfrm>
          <a:off x="4978364" y="2771969"/>
          <a:ext cx="2235272" cy="2295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0721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061D7-56EC-38E5-FA4C-8D5AEA8C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スライド作成の規則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B6E25E-6AA8-7FA9-351E-C3F0866CD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色の規則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文字色：</a:t>
            </a:r>
            <a:r>
              <a:rPr lang="en-US" altLang="ja-JP" dirty="0"/>
              <a:t> </a:t>
            </a:r>
            <a:r>
              <a:rPr lang="ja-JP" altLang="en-US" dirty="0"/>
              <a:t>黒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強調色：</a:t>
            </a:r>
            <a:r>
              <a:rPr lang="en-US" altLang="ja-JP" dirty="0"/>
              <a:t> </a:t>
            </a:r>
            <a:r>
              <a:rPr lang="ja-JP" altLang="en-US" dirty="0"/>
              <a:t>オレンジ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背景色：</a:t>
            </a:r>
            <a:r>
              <a:rPr lang="en-US" altLang="ja-JP" dirty="0"/>
              <a:t> </a:t>
            </a:r>
            <a:r>
              <a:rPr lang="ja-JP" altLang="en-US" dirty="0"/>
              <a:t>白</a:t>
            </a:r>
            <a:endParaRPr lang="en-US" altLang="ja-JP" dirty="0"/>
          </a:p>
          <a:p>
            <a:pPr marL="0" indent="0"/>
            <a:endParaRPr lang="en-US" altLang="ja-JP" dirty="0"/>
          </a:p>
          <a:p>
            <a:r>
              <a:rPr lang="ja-JP" altLang="en-US" dirty="0"/>
              <a:t>図形の規則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箇条書き：</a:t>
            </a:r>
            <a:r>
              <a:rPr lang="en-US" altLang="ja-JP" dirty="0"/>
              <a:t> </a:t>
            </a:r>
            <a:r>
              <a:rPr lang="ja-JP" altLang="en-US" dirty="0"/>
              <a:t>▶（横向き三角形）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ブロック：</a:t>
            </a:r>
            <a:r>
              <a:rPr lang="en-US" altLang="ja-JP" dirty="0"/>
              <a:t> </a:t>
            </a:r>
            <a:r>
              <a:rPr lang="ja-JP" altLang="en-US" dirty="0"/>
              <a:t>□（中抜き四角形）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71C6B28-AA54-F6A6-9BBD-033A02BC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9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7DB9F58-97BA-6750-4CF2-9EADBEB3EF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BADFAA-6E17-1CD0-6A28-3825B03D9B82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ja-JP" altLang="en-US" dirty="0"/>
              <a:t>句読点，記号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句点：</a:t>
            </a:r>
            <a:r>
              <a:rPr lang="en-US" altLang="ja-JP" dirty="0"/>
              <a:t> </a:t>
            </a:r>
            <a:r>
              <a:rPr lang="ja-JP" altLang="en-US" dirty="0"/>
              <a:t>．（全角ピリオド）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読点：</a:t>
            </a:r>
            <a:r>
              <a:rPr lang="en-US" altLang="ja-JP" dirty="0"/>
              <a:t> </a:t>
            </a:r>
            <a:r>
              <a:rPr lang="ja-JP" altLang="en-US" dirty="0"/>
              <a:t>，（全角コンマ）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区切り記号：</a:t>
            </a:r>
            <a:r>
              <a:rPr lang="en-US" altLang="ja-JP" dirty="0"/>
              <a:t> </a:t>
            </a:r>
            <a:r>
              <a:rPr lang="ja-JP" altLang="en-US" dirty="0"/>
              <a:t>：（全角コロン）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括弧：半角</a:t>
            </a:r>
            <a:r>
              <a:rPr lang="en-US" altLang="ja-JP" dirty="0"/>
              <a:t>()</a:t>
            </a:r>
          </a:p>
          <a:p>
            <a:pPr marL="342900" indent="-342900">
              <a:buFont typeface="BIZ UDPゴシック" panose="020B0400000000000000" pitchFamily="50" charset="-128"/>
              <a:buChar char="▶"/>
            </a:pPr>
            <a:endParaRPr lang="en-US" altLang="ja-JP" dirty="0"/>
          </a:p>
          <a:p>
            <a:pPr marL="0" indent="0"/>
            <a:r>
              <a:rPr lang="ja-JP" altLang="en-US" dirty="0"/>
              <a:t>文字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日本語：</a:t>
            </a:r>
            <a:r>
              <a:rPr lang="en-US" altLang="ja-JP" dirty="0"/>
              <a:t> </a:t>
            </a:r>
            <a:r>
              <a:rPr lang="ja-JP" altLang="en-US" dirty="0"/>
              <a:t>全角</a:t>
            </a:r>
            <a:endParaRPr lang="en-US" altLang="ja-JP" dirty="0"/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lang="ja-JP" altLang="en-US" dirty="0"/>
              <a:t>アルファベット，数字：半角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60366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E967F-5BB2-EED8-665A-EDC89718D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ea typeface="+mn-ea"/>
              </a:rPr>
              <a:t>2</a:t>
            </a:r>
            <a:r>
              <a:rPr kumimoji="1" lang="ja-JP" altLang="en-US" dirty="0">
                <a:ea typeface="+mn-ea"/>
              </a:rPr>
              <a:t>カラム ボックステンプレート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021265-21A0-06EC-7457-F1CD5B10C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10</a:t>
            </a:fld>
            <a:endParaRPr lang="ja-JP" altLang="en-US">
              <a:latin typeface="+mj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49C97C-96DB-7227-DFFD-4220C16B20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F2FF88D-1D87-621F-2F1A-FE7D53CE2FD9}"/>
              </a:ext>
            </a:extLst>
          </p:cNvPr>
          <p:cNvSpPr/>
          <p:nvPr/>
        </p:nvSpPr>
        <p:spPr>
          <a:xfrm>
            <a:off x="299006" y="1420427"/>
            <a:ext cx="5640154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9EB712B-7DAE-9654-76B3-1F191E8DA33F}"/>
              </a:ext>
            </a:extLst>
          </p:cNvPr>
          <p:cNvSpPr/>
          <p:nvPr/>
        </p:nvSpPr>
        <p:spPr>
          <a:xfrm>
            <a:off x="6252842" y="1420427"/>
            <a:ext cx="5640154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805276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8E9A9E-5E75-8022-3FE1-766D450CD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</a:t>
            </a:r>
            <a:r>
              <a:rPr lang="ja-JP" altLang="en-US" dirty="0"/>
              <a:t>カラム ボックステンプレート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4FADDE-FFC6-C5FE-0FF4-7D326B5A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11</a:t>
            </a:fld>
            <a:endParaRPr lang="ja-JP" altLang="en-US">
              <a:latin typeface="+mn-lt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F4A9F0-8965-E3DD-0097-998CE661C6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1EF00F3-18B2-80B9-872D-D7A331EC6D17}"/>
              </a:ext>
            </a:extLst>
          </p:cNvPr>
          <p:cNvSpPr/>
          <p:nvPr/>
        </p:nvSpPr>
        <p:spPr>
          <a:xfrm>
            <a:off x="299006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4E7A9C1-210C-34BF-373E-35FFF3499C56}"/>
              </a:ext>
            </a:extLst>
          </p:cNvPr>
          <p:cNvSpPr/>
          <p:nvPr/>
        </p:nvSpPr>
        <p:spPr>
          <a:xfrm>
            <a:off x="4206000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77191D0-430B-B33D-5B1D-BB757AEB8201}"/>
              </a:ext>
            </a:extLst>
          </p:cNvPr>
          <p:cNvSpPr/>
          <p:nvPr/>
        </p:nvSpPr>
        <p:spPr>
          <a:xfrm>
            <a:off x="8112994" y="1420427"/>
            <a:ext cx="3780000" cy="4962618"/>
          </a:xfrm>
          <a:prstGeom prst="roundRect">
            <a:avLst>
              <a:gd name="adj" fmla="val 45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rIns="90000" bIns="90000" rtlCol="0" anchor="t">
            <a:noAutofit/>
          </a:bodyPr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ボックスタイトルを入力</a:t>
            </a:r>
            <a:endParaRPr kumimoji="1" lang="en-US" altLang="ja-JP" sz="2400" dirty="0">
              <a:solidFill>
                <a:schemeClr val="tx1"/>
              </a:solidFill>
            </a:endParaRPr>
          </a:p>
          <a:p>
            <a:pPr marL="342900" indent="-342900">
              <a:buFont typeface="BIZ UDPゴシック" panose="020B0400000000000000" pitchFamily="50" charset="-128"/>
              <a:buChar char="▶"/>
            </a:pPr>
            <a:r>
              <a:rPr kumimoji="1" lang="ja-JP" altLang="en-US" sz="2000" dirty="0">
                <a:solidFill>
                  <a:schemeClr val="tx1"/>
                </a:solidFill>
              </a:rPr>
              <a:t>テキストを入力</a:t>
            </a:r>
          </a:p>
        </p:txBody>
      </p:sp>
    </p:spTree>
    <p:extLst>
      <p:ext uri="{BB962C8B-B14F-4D97-AF65-F5344CB8AC3E}">
        <p14:creationId xmlns:p14="http://schemas.microsoft.com/office/powerpoint/2010/main" val="3939794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E3CD98-0AC4-D155-24AF-14657B52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表のテンプレート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B522D2-F395-00EE-64C6-51ED64ED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dirty="0"/>
              <a:t>項目がオレンジ色になるように設定する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lang="ja-JP" altLang="en-US" dirty="0"/>
              <a:t>カラム用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2</a:t>
            </a:r>
            <a:r>
              <a:rPr kumimoji="1" lang="ja-JP" altLang="en-US" dirty="0"/>
              <a:t>カラム用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F73714-3785-9D4F-12D8-D628C089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12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7A1859-CD78-442E-D1FE-44D106EE10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3B1AFB3-3F37-5843-C96E-562C6C426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876391"/>
              </p:ext>
            </p:extLst>
          </p:nvPr>
        </p:nvGraphicFramePr>
        <p:xfrm>
          <a:off x="299005" y="2474595"/>
          <a:ext cx="11617524" cy="1584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04381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705708215"/>
                    </a:ext>
                  </a:extLst>
                </a:gridCol>
                <a:gridCol w="2904381">
                  <a:extLst>
                    <a:ext uri="{9D8B030D-6E8A-4147-A177-3AD203B41FA5}">
                      <a16:colId xmlns:a16="http://schemas.microsoft.com/office/drawing/2014/main" val="848546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42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A73B7247-2B15-F4D1-44A8-46FAD5395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87196"/>
              </p:ext>
            </p:extLst>
          </p:nvPr>
        </p:nvGraphicFramePr>
        <p:xfrm>
          <a:off x="299004" y="4899685"/>
          <a:ext cx="5640154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43626">
                  <a:extLst>
                    <a:ext uri="{9D8B030D-6E8A-4147-A177-3AD203B41FA5}">
                      <a16:colId xmlns:a16="http://schemas.microsoft.com/office/drawing/2014/main" val="1134641363"/>
                    </a:ext>
                  </a:extLst>
                </a:gridCol>
                <a:gridCol w="4296528">
                  <a:extLst>
                    <a:ext uri="{9D8B030D-6E8A-4147-A177-3AD203B41FA5}">
                      <a16:colId xmlns:a16="http://schemas.microsoft.com/office/drawing/2014/main" val="24059352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73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en-US" altLang="ja-JP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931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788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kumimoji="1" lang="ja-JP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52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33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141A1-D522-5F2B-D47B-09400E58E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ロゴ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60834F-3F31-47FB-BBBA-7EE506331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B47B3D-6878-3A9C-D5F5-D7C23A09C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lang="ja-JP" altLang="en-US" smtClean="0"/>
              <a:pPr/>
              <a:t>13</a:t>
            </a:fld>
            <a:endParaRPr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2B7837-45E1-860C-3093-7E79108921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5C56F1F-8F3E-65AD-AC71-17F533888A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7" t="54595" r="6484" b="17345"/>
          <a:stretch>
            <a:fillRect/>
          </a:stretch>
        </p:blipFill>
        <p:spPr>
          <a:xfrm>
            <a:off x="299005" y="4335906"/>
            <a:ext cx="11632725" cy="204713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D76F710E-88B5-534F-C985-239CA7873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5" y="2195153"/>
            <a:ext cx="1933207" cy="2028354"/>
          </a:xfrm>
          <a:prstGeom prst="rect">
            <a:avLst/>
          </a:prstGeom>
        </p:spPr>
      </p:pic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BF767776-15AB-4C2E-063F-9886D2CA8D6E}"/>
              </a:ext>
            </a:extLst>
          </p:cNvPr>
          <p:cNvGrpSpPr/>
          <p:nvPr/>
        </p:nvGrpSpPr>
        <p:grpSpPr>
          <a:xfrm>
            <a:off x="5636095" y="1420427"/>
            <a:ext cx="6256900" cy="1219186"/>
            <a:chOff x="2158468" y="4881813"/>
            <a:chExt cx="6256900" cy="1219186"/>
          </a:xfrm>
        </p:grpSpPr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5EBCC0E9-D83A-30DC-A569-0BC9E8ED9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8468" y="4974244"/>
              <a:ext cx="1027287" cy="1077847"/>
            </a:xfrm>
            <a:prstGeom prst="rect">
              <a:avLst/>
            </a:prstGeom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CCD8A91F-1183-863D-C567-3618BE6864B7}"/>
                </a:ext>
              </a:extLst>
            </p:cNvPr>
            <p:cNvSpPr txBox="1"/>
            <p:nvPr/>
          </p:nvSpPr>
          <p:spPr>
            <a:xfrm>
              <a:off x="3119080" y="4881813"/>
              <a:ext cx="52677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54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Stargazy</a:t>
              </a:r>
              <a:r>
                <a:rPr kumimoji="1" lang="ja-JP" altLang="en-US" sz="2400" dirty="0">
                  <a:latin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kumimoji="1" lang="en-US" altLang="ja-JP" sz="5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Guys</a:t>
              </a:r>
              <a:endParaRPr kumimoji="1" lang="ja-JP" altLang="en-US" sz="540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84810031-D9D5-7DC8-84F8-F69E213AC9A8}"/>
                </a:ext>
              </a:extLst>
            </p:cNvPr>
            <p:cNvSpPr txBox="1"/>
            <p:nvPr/>
          </p:nvSpPr>
          <p:spPr>
            <a:xfrm>
              <a:off x="3067593" y="5716278"/>
              <a:ext cx="534777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900" spc="-3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Consulting x Technology x Enablement</a:t>
              </a:r>
              <a:endParaRPr kumimoji="1" lang="ja-JP" altLang="en-US" sz="1900" spc="-30" dirty="0"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8534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黄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BIZ UDPゴシック">
      <a:majorFont>
        <a:latin typeface="BIZ UDPゴシック"/>
        <a:ea typeface="BIZ UDPゴシック"/>
        <a:cs typeface=""/>
      </a:majorFont>
      <a:minorFont>
        <a:latin typeface="BIZ UDPゴシック"/>
        <a:ea typeface="BIZ UD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  <a:headEnd type="none" w="med" len="med"/>
          <a:tailEnd type="non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12201</TotalTime>
  <Words>913</Words>
  <Application>Microsoft Office PowerPoint</Application>
  <PresentationFormat>ワイド画面</PresentationFormat>
  <Paragraphs>250</Paragraphs>
  <Slides>13</Slides>
  <Notes>0</Notes>
  <HiddenSlides>5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BIZ UDPゴシック</vt:lpstr>
      <vt:lpstr>BIZ UDGothic</vt:lpstr>
      <vt:lpstr>游ゴシック</vt:lpstr>
      <vt:lpstr>Arial</vt:lpstr>
      <vt:lpstr>Cascadia Code</vt:lpstr>
      <vt:lpstr>Office テーマ</vt:lpstr>
      <vt:lpstr>Stargazy Guys 事業計画書 v1.0</vt:lpstr>
      <vt:lpstr>PowerPoint プレゼンテーション</vt:lpstr>
      <vt:lpstr>AI・ITを活用しビジネスを変革する会社です</vt:lpstr>
      <vt:lpstr>AIについて，基礎から応用まで幅広く研究してきました</vt:lpstr>
      <vt:lpstr>研究で培った経験と知識を社会に還元します</vt:lpstr>
      <vt:lpstr>中小企業が抱える普遍的な課題の解決を目指します</vt:lpstr>
      <vt:lpstr>～</vt:lpstr>
      <vt:lpstr>コンサルティングで得た知見をソフトウェア化し，事業として展開します</vt:lpstr>
      <vt:lpstr>スライド作成の規則</vt:lpstr>
      <vt:lpstr>2カラム ボックステンプレート</vt:lpstr>
      <vt:lpstr>3カラム ボックステンプレート</vt:lpstr>
      <vt:lpstr>表のテンプレート</vt:lpstr>
      <vt:lpstr>ロゴ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167</cp:revision>
  <cp:lastPrinted>2026-08-17T13:31:45Z</cp:lastPrinted>
  <dcterms:created xsi:type="dcterms:W3CDTF">2024-10-01T23:47:44Z</dcterms:created>
  <dcterms:modified xsi:type="dcterms:W3CDTF">2026-08-21T10:36:10Z</dcterms:modified>
</cp:coreProperties>
</file>