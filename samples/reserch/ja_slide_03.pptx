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61" r:id="rId2"/>
    <p:sldId id="270" r:id="rId3"/>
    <p:sldId id="1401" r:id="rId4"/>
    <p:sldId id="264" r:id="rId5"/>
    <p:sldId id="265" r:id="rId6"/>
    <p:sldId id="271" r:id="rId7"/>
    <p:sldId id="275" r:id="rId8"/>
    <p:sldId id="276" r:id="rId9"/>
    <p:sldId id="1390" r:id="rId10"/>
    <p:sldId id="1393" r:id="rId11"/>
    <p:sldId id="1391" r:id="rId12"/>
    <p:sldId id="1392" r:id="rId13"/>
    <p:sldId id="1471" r:id="rId14"/>
    <p:sldId id="268" r:id="rId15"/>
    <p:sldId id="1397" r:id="rId16"/>
    <p:sldId id="1394" r:id="rId17"/>
    <p:sldId id="1395" r:id="rId18"/>
    <p:sldId id="1399" r:id="rId19"/>
    <p:sldId id="1472" r:id="rId20"/>
    <p:sldId id="1473" r:id="rId21"/>
    <p:sldId id="1475" r:id="rId22"/>
    <p:sldId id="1474" r:id="rId23"/>
    <p:sldId id="1476" r:id="rId24"/>
    <p:sldId id="269" r:id="rId25"/>
    <p:sldId id="1400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FBF"/>
    <a:srgbClr val="CBD6E8"/>
    <a:srgbClr val="E8EBF4"/>
    <a:srgbClr val="EE7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7173"/>
  </p:normalViewPr>
  <p:slideViewPr>
    <p:cSldViewPr snapToGrid="0" showGuides="1">
      <p:cViewPr varScale="1">
        <p:scale>
          <a:sx n="123" d="100"/>
          <a:sy n="123" d="100"/>
        </p:scale>
        <p:origin x="98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7" d="100"/>
          <a:sy n="127" d="100"/>
        </p:scale>
        <p:origin x="44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25AD575-7CC8-6AC7-FE6A-DFDD27A8CA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F27B0E-A93B-2F38-E0FC-31F597E5E2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D4A56-4347-7E47-805C-A4CC550EB7FE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0BCC8F-962C-B670-E032-0E7AD40CE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85014A-F3B1-11F7-8AE0-A98B75A68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D713F-9469-214B-ACCC-5A39EEDA84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47468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71477-B974-724E-B5A2-6B597495C72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46392-E619-9147-B7CA-0C7C9A3ADD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57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AB798-492E-22C6-68CE-0FBA475D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0FF2-8DB4-A340-91B5-0FC7B27917C5}" type="datetime1">
              <a:rPr kumimoji="1" lang="ja-JP" altLang="en-US" smtClean="0"/>
              <a:t>2026/3/5</a:t>
            </a:fld>
            <a:endParaRPr kumimoji="1"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115F2-D155-73B0-C019-2BAC5210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8BF458-E430-27DE-37E5-3E1C0FBA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E8B333-7560-E390-D814-F6BEF1BF4D17}"/>
              </a:ext>
            </a:extLst>
          </p:cNvPr>
          <p:cNvSpPr/>
          <p:nvPr userDrawn="1"/>
        </p:nvSpPr>
        <p:spPr>
          <a:xfrm>
            <a:off x="0" y="0"/>
            <a:ext cx="12192000" cy="4109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85CBEE-6029-4F7A-A802-D89A4604B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569" y="772319"/>
            <a:ext cx="9144000" cy="2656681"/>
          </a:xfrm>
        </p:spPr>
        <p:txBody>
          <a:bodyPr anchor="ctr" anchorCtr="0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C98D89-2B71-F08E-900C-FBD12F49A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9531"/>
            <a:ext cx="9144000" cy="1210860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8" name="Picture 2" descr="湘南工科大学">
            <a:extLst>
              <a:ext uri="{FF2B5EF4-FFF2-40B4-BE49-F238E27FC236}">
                <a16:creationId xmlns:a16="http://schemas.microsoft.com/office/drawing/2014/main" id="{F03C5772-EB15-2D75-0B66-C9A0CD990F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931" y="5780147"/>
            <a:ext cx="2124100" cy="61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111DEA92-C74A-8552-E6EA-B0CDBEF83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867" y="5780147"/>
            <a:ext cx="2658064" cy="62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D38D8-431E-2148-A67E-C99D9FDB14AB}" type="datetime1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812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1BE25-8097-E1B2-F1F1-4F9F443C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927930-B44A-5F80-BF0B-ECC9747D9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96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A00B66-3C0D-487C-8999-2BBE7A5D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0C5A16-605B-678E-7E15-FE95593A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C9B8-7821-394F-9014-0DAE5FBA846C}" type="datetime1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443E2A-7AA8-41BD-0C20-3B2E0896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085C57-3338-2D92-76F8-7418B004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36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6C7B59-9C0A-A8AF-CF51-2063AD5A1677}"/>
              </a:ext>
            </a:extLst>
          </p:cNvPr>
          <p:cNvSpPr/>
          <p:nvPr userDrawn="1"/>
        </p:nvSpPr>
        <p:spPr>
          <a:xfrm>
            <a:off x="0" y="6445188"/>
            <a:ext cx="12192000" cy="412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3A1BB62-5804-22AC-B506-505B96B77B5B}"/>
              </a:ext>
            </a:extLst>
          </p:cNvPr>
          <p:cNvSpPr/>
          <p:nvPr userDrawn="1"/>
        </p:nvSpPr>
        <p:spPr>
          <a:xfrm>
            <a:off x="0" y="1"/>
            <a:ext cx="12192000" cy="7368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86A81B-5CD1-B0C3-31EB-59E19BFD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9" y="76732"/>
            <a:ext cx="11940062" cy="57133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66C32B-C8AA-5B42-740A-64859E5E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9" y="813577"/>
            <a:ext cx="11940062" cy="556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6919BA-5EC6-6F21-A52B-1C6DA8593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969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C8DD7B46-612B-4747-AC0E-56DE60A5EB0D}" type="datetime1">
              <a:rPr lang="ja-JP" altLang="en-US" smtClean="0"/>
              <a:t>2026/3/5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D700D3-7F2D-6840-2666-703A5F65F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2843"/>
            <a:ext cx="41148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BF3CFF-1290-6EDC-C4B9-F4FB9C913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2831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46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4000" kern="1200">
          <a:solidFill>
            <a:schemeClr val="bg1"/>
          </a:solidFill>
          <a:latin typeface="BIZ UDGothic" panose="020B0400000000000000" pitchFamily="49" charset="-128"/>
          <a:ea typeface="BIZ UDGothic" panose="020B0400000000000000" pitchFamily="49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9.png"/><Relationship Id="rId3" Type="http://schemas.openxmlformats.org/officeDocument/2006/relationships/image" Target="../media/image614.png"/><Relationship Id="rId7" Type="http://schemas.openxmlformats.org/officeDocument/2006/relationships/image" Target="../media/image61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7.png"/><Relationship Id="rId5" Type="http://schemas.openxmlformats.org/officeDocument/2006/relationships/image" Target="../media/image616.png"/><Relationship Id="rId4" Type="http://schemas.openxmlformats.org/officeDocument/2006/relationships/image" Target="../media/image615.png"/><Relationship Id="rId9" Type="http://schemas.openxmlformats.org/officeDocument/2006/relationships/image" Target="../media/image6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58E456A-A7AB-1C1B-45E8-6526291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EC0B609-E426-518F-DD92-521D4980E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171" y="772319"/>
            <a:ext cx="10815658" cy="2656681"/>
          </a:xfrm>
        </p:spPr>
        <p:txBody>
          <a:bodyPr/>
          <a:lstStyle/>
          <a:p>
            <a:r>
              <a:rPr lang="ja-JP" altLang="en-US"/>
              <a:t>ニューラルネットワークによる大喜利の面白さ判定</a:t>
            </a:r>
            <a:endParaRPr kumimoji="1" lang="ja-JP" altLang="en-US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5C8109D2-3662-CAD0-009C-A93BCAC1A1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kumimoji="1" lang="ja-JP" altLang="en-US"/>
              <a:t>湘南工科大学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lang="ja-JP" altLang="en-US"/>
              <a:t>●山富</a:t>
            </a:r>
            <a:r>
              <a:rPr lang="en-US" altLang="ja-JP" dirty="0"/>
              <a:t> </a:t>
            </a:r>
            <a:r>
              <a:rPr lang="ja-JP" altLang="en-US"/>
              <a:t>龍，マハブービ</a:t>
            </a:r>
            <a:r>
              <a:rPr lang="en-US" altLang="ja-JP" dirty="0"/>
              <a:t> </a:t>
            </a:r>
            <a:r>
              <a:rPr lang="ja-JP" altLang="en-US"/>
              <a:t>シェヘラザード，二宮</a:t>
            </a:r>
            <a:r>
              <a:rPr lang="en-US" altLang="ja-JP" dirty="0"/>
              <a:t> </a:t>
            </a:r>
            <a:r>
              <a:rPr lang="ja-JP" altLang="en-US"/>
              <a:t>洋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546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4961-EEC6-17FE-B0D9-5649F560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0F089D-FE20-5714-9717-398413A9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研究背景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5465D5-E93D-B8F8-686B-4C21AE884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画像に対し面白文章</a:t>
            </a:r>
            <a:r>
              <a:rPr lang="en-US" altLang="ja-JP" dirty="0"/>
              <a:t>(</a:t>
            </a:r>
            <a:r>
              <a:rPr kumimoji="1" lang="ja-JP" altLang="en-US"/>
              <a:t>大喜利</a:t>
            </a:r>
            <a:r>
              <a:rPr kumimoji="1" lang="en-US" altLang="ja-JP" dirty="0"/>
              <a:t>)</a:t>
            </a:r>
            <a:r>
              <a:rPr kumimoji="1" lang="ja-JP" altLang="en-US"/>
              <a:t>を生成す</a:t>
            </a:r>
            <a:r>
              <a:rPr lang="ja-JP" altLang="en-US"/>
              <a:t>る</a:t>
            </a:r>
            <a:r>
              <a:rPr kumimoji="1" lang="en-US" altLang="ja-JP" dirty="0"/>
              <a:t>AI[1,2]</a:t>
            </a:r>
          </a:p>
          <a:p>
            <a:pPr marL="457200" lvl="1" indent="0">
              <a:buNone/>
            </a:pPr>
            <a:r>
              <a:rPr lang="ja-JP" altLang="en-US"/>
              <a:t>・大喜利生成</a:t>
            </a:r>
            <a:r>
              <a:rPr lang="en-US" altLang="ja-JP" dirty="0"/>
              <a:t>AI</a:t>
            </a:r>
            <a:r>
              <a:rPr lang="ja-JP" altLang="en-US"/>
              <a:t>は画像に適した大喜利を生成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・生成された大喜利の面白さはアンケートでのみの評価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42960B-A633-143C-5DCD-4334AB2D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C99C15E-E561-2293-DD77-3F6E4C612980}"/>
              </a:ext>
            </a:extLst>
          </p:cNvPr>
          <p:cNvSpPr txBox="1"/>
          <p:nvPr/>
        </p:nvSpPr>
        <p:spPr>
          <a:xfrm>
            <a:off x="125969" y="5915671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[1] 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美濃口 宗尊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 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他，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“Neural Joking Machine”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，精密工学会誌，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vol.85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no.12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pp.1151-1156, 2019.</a:t>
            </a:r>
          </a:p>
          <a:p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[2] R. Yamatomi, et 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al.,“Generative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 Model of Suitable Meme Sentences for Images Using 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AutoEncoder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,”Proc. PRICAI, pp.237-248, 2023.</a:t>
            </a:r>
            <a:endParaRPr kumimoji="1" lang="en-US" altLang="ja-JP" sz="12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1C2C580-F04E-9825-3899-B4CF64E86C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40" t="24900" r="18262" b="15075"/>
          <a:stretch>
            <a:fillRect/>
          </a:stretch>
        </p:blipFill>
        <p:spPr>
          <a:xfrm>
            <a:off x="6540285" y="2276340"/>
            <a:ext cx="5525746" cy="3210351"/>
          </a:xfrm>
          <a:prstGeom prst="rect">
            <a:avLst/>
          </a:prstGeom>
        </p:spPr>
      </p:pic>
      <p:pic>
        <p:nvPicPr>
          <p:cNvPr id="11" name="グラフィックス 10" descr="人工知能 単色塗りつぶし">
            <a:extLst>
              <a:ext uri="{FF2B5EF4-FFF2-40B4-BE49-F238E27FC236}">
                <a16:creationId xmlns:a16="http://schemas.microsoft.com/office/drawing/2014/main" id="{CD219FB9-764E-C4BA-6EC7-7E9F16D43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2502" y="2819636"/>
            <a:ext cx="1252780" cy="1252780"/>
          </a:xfrm>
          <a:prstGeom prst="rect">
            <a:avLst/>
          </a:prstGeom>
        </p:spPr>
      </p:pic>
      <p:pic>
        <p:nvPicPr>
          <p:cNvPr id="12" name="Picture 2" descr="黒いスーツを着た男性が土下座で謝罪している様子［モデル：大川竜弥］">
            <a:extLst>
              <a:ext uri="{FF2B5EF4-FFF2-40B4-BE49-F238E27FC236}">
                <a16:creationId xmlns:a16="http://schemas.microsoft.com/office/drawing/2014/main" id="{AF1B0823-92A5-FF8C-A654-A96B9BE26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8" y="2819636"/>
            <a:ext cx="1880329" cy="125278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角丸四角形吹き出し 12">
            <a:extLst>
              <a:ext uri="{FF2B5EF4-FFF2-40B4-BE49-F238E27FC236}">
                <a16:creationId xmlns:a16="http://schemas.microsoft.com/office/drawing/2014/main" id="{AE79D709-E43B-84D0-F436-B22A75C684E0}"/>
              </a:ext>
            </a:extLst>
          </p:cNvPr>
          <p:cNvSpPr/>
          <p:nvPr/>
        </p:nvSpPr>
        <p:spPr>
          <a:xfrm>
            <a:off x="3951323" y="2819636"/>
            <a:ext cx="2433870" cy="836181"/>
          </a:xfrm>
          <a:prstGeom prst="wedgeRoundRectCallout">
            <a:avLst>
              <a:gd name="adj1" fmla="val -61871"/>
              <a:gd name="adj2" fmla="val 3384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サラリーマンの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一夜干し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4" name="右矢印 13">
            <a:extLst>
              <a:ext uri="{FF2B5EF4-FFF2-40B4-BE49-F238E27FC236}">
                <a16:creationId xmlns:a16="http://schemas.microsoft.com/office/drawing/2014/main" id="{F7BD05AA-7753-AF98-1F59-9302DAA19408}"/>
              </a:ext>
            </a:extLst>
          </p:cNvPr>
          <p:cNvSpPr/>
          <p:nvPr/>
        </p:nvSpPr>
        <p:spPr>
          <a:xfrm>
            <a:off x="2087820" y="3215193"/>
            <a:ext cx="445258" cy="461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16" name="グラフィックス 15" descr="ユーザー 単色塗りつぶし">
            <a:extLst>
              <a:ext uri="{FF2B5EF4-FFF2-40B4-BE49-F238E27FC236}">
                <a16:creationId xmlns:a16="http://schemas.microsoft.com/office/drawing/2014/main" id="{EFB1F529-4C2C-7A42-1B75-AE0E7BBEF5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2319" y="4462515"/>
            <a:ext cx="1571876" cy="1571876"/>
          </a:xfrm>
          <a:prstGeom prst="rect">
            <a:avLst/>
          </a:prstGeom>
        </p:spPr>
      </p:pic>
      <p:sp>
        <p:nvSpPr>
          <p:cNvPr id="17" name="下矢印 16">
            <a:extLst>
              <a:ext uri="{FF2B5EF4-FFF2-40B4-BE49-F238E27FC236}">
                <a16:creationId xmlns:a16="http://schemas.microsoft.com/office/drawing/2014/main" id="{AA5932D0-9935-75F5-DCCE-DA28C50B124F}"/>
              </a:ext>
            </a:extLst>
          </p:cNvPr>
          <p:cNvSpPr/>
          <p:nvPr/>
        </p:nvSpPr>
        <p:spPr>
          <a:xfrm>
            <a:off x="4228092" y="3904044"/>
            <a:ext cx="1880329" cy="461666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評価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8" name="四角形吹き出し 17">
            <a:extLst>
              <a:ext uri="{FF2B5EF4-FFF2-40B4-BE49-F238E27FC236}">
                <a16:creationId xmlns:a16="http://schemas.microsoft.com/office/drawing/2014/main" id="{A9A60068-3E13-BA3C-8792-0128883E569C}"/>
              </a:ext>
            </a:extLst>
          </p:cNvPr>
          <p:cNvSpPr/>
          <p:nvPr/>
        </p:nvSpPr>
        <p:spPr>
          <a:xfrm>
            <a:off x="2123406" y="4230462"/>
            <a:ext cx="1571876" cy="1650570"/>
          </a:xfrm>
          <a:prstGeom prst="wedgeRectCallout">
            <a:avLst>
              <a:gd name="adj1" fmla="val 86638"/>
              <a:gd name="adj2" fmla="val 3339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Funny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Not Bad</a:t>
            </a:r>
          </a:p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Bad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Boring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A7215E64-13E4-58BA-FA5D-8AEDFBFB9FF4}"/>
              </a:ext>
            </a:extLst>
          </p:cNvPr>
          <p:cNvSpPr/>
          <p:nvPr/>
        </p:nvSpPr>
        <p:spPr>
          <a:xfrm>
            <a:off x="2212501" y="4346348"/>
            <a:ext cx="1394848" cy="3652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2D4848F-2C9D-9327-E216-DC7DABE5D4EC}"/>
              </a:ext>
            </a:extLst>
          </p:cNvPr>
          <p:cNvSpPr txBox="1"/>
          <p:nvPr/>
        </p:nvSpPr>
        <p:spPr>
          <a:xfrm>
            <a:off x="7651297" y="5486691"/>
            <a:ext cx="330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アンケートの結果</a:t>
            </a:r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[2]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71BFD112-8791-F9D7-2AF8-7EA3B459FD38}"/>
              </a:ext>
            </a:extLst>
          </p:cNvPr>
          <p:cNvCxnSpPr/>
          <p:nvPr/>
        </p:nvCxnSpPr>
        <p:spPr>
          <a:xfrm>
            <a:off x="6470543" y="2185261"/>
            <a:ext cx="0" cy="3647656"/>
          </a:xfrm>
          <a:prstGeom prst="line">
            <a:avLst/>
          </a:prstGeom>
          <a:ln>
            <a:solidFill>
              <a:srgbClr val="0070C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07ED5AD-9F2C-F7A2-1BE0-C28CE3F91916}"/>
              </a:ext>
            </a:extLst>
          </p:cNvPr>
          <p:cNvSpPr txBox="1"/>
          <p:nvPr/>
        </p:nvSpPr>
        <p:spPr>
          <a:xfrm>
            <a:off x="2047941" y="2357971"/>
            <a:ext cx="2041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/>
              <a:t>大喜利生成</a:t>
            </a:r>
            <a:r>
              <a:rPr lang="en-US" altLang="ja-JP" sz="2400" dirty="0"/>
              <a:t>AI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89148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80E9-B1CA-16C7-D59D-9D29C303B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BE9BEC75-F92D-820F-588E-0A7DD2286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9" t="28320" r="5652" b="11168"/>
          <a:stretch>
            <a:fillRect/>
          </a:stretch>
        </p:blipFill>
        <p:spPr>
          <a:xfrm>
            <a:off x="1266162" y="1931274"/>
            <a:ext cx="9679132" cy="416906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60F68AB1-A238-6594-E5C1-E0BE637B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大喜利判定</a:t>
            </a:r>
            <a:r>
              <a:rPr kumimoji="1" lang="en-US" altLang="ja-JP" dirty="0"/>
              <a:t>AI</a:t>
            </a:r>
            <a:r>
              <a:rPr kumimoji="1" lang="ja-JP" altLang="en-US"/>
              <a:t>が実現すると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47130F-EFE5-1828-7572-FF4BC77D8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大喜利を定量的・リアルタイムに評価可能</a:t>
            </a:r>
            <a:endParaRPr kumimoji="1" lang="en-US" altLang="ja-JP" dirty="0"/>
          </a:p>
          <a:p>
            <a:r>
              <a:rPr lang="ja-JP" altLang="en-US"/>
              <a:t>判定</a:t>
            </a:r>
            <a:r>
              <a:rPr lang="en-US" altLang="ja-JP" dirty="0"/>
              <a:t>AI</a:t>
            </a:r>
            <a:r>
              <a:rPr lang="ja-JP" altLang="en-US"/>
              <a:t>が面白いと判定する大喜利を生成するよう生成</a:t>
            </a:r>
            <a:r>
              <a:rPr lang="en-US" altLang="ja-JP" dirty="0"/>
              <a:t>AI</a:t>
            </a:r>
            <a:r>
              <a:rPr lang="ja-JP" altLang="en-US"/>
              <a:t>を学習</a:t>
            </a:r>
            <a:endParaRPr lang="en-US" altLang="ja-JP" dirty="0"/>
          </a:p>
          <a:p>
            <a:pPr marL="457200" lvl="1" indent="0">
              <a:buNone/>
            </a:pPr>
            <a:r>
              <a:rPr kumimoji="1" lang="en-US" altLang="ja-JP" dirty="0"/>
              <a:t>RLHF</a:t>
            </a:r>
            <a:r>
              <a:rPr kumimoji="1" lang="ja-JP" altLang="en-US"/>
              <a:t>，</a:t>
            </a:r>
            <a:r>
              <a:rPr kumimoji="1" lang="en-US" altLang="ja-JP" dirty="0" err="1"/>
              <a:t>SeqGAN</a:t>
            </a:r>
            <a:r>
              <a:rPr kumimoji="1" lang="ja-JP" altLang="en-US"/>
              <a:t>のアプローチ</a:t>
            </a:r>
            <a:r>
              <a:rPr kumimoji="1" lang="en-US" altLang="ja-JP" dirty="0"/>
              <a:t>[3]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BF0502-31EE-74B2-0023-92DEB554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657858-FE8A-8C84-FB3A-E7F32B27AF66}"/>
              </a:ext>
            </a:extLst>
          </p:cNvPr>
          <p:cNvSpPr txBox="1"/>
          <p:nvPr/>
        </p:nvSpPr>
        <p:spPr>
          <a:xfrm>
            <a:off x="125968" y="6100337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[3] L. 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Yu,et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 al.,“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Seqgan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: Sequence generative adversarial nets with policy gradient,” Proc. AAAI, vol.31, no.1, 2017.</a:t>
            </a:r>
            <a:endParaRPr kumimoji="1" lang="en-US" altLang="ja-JP" sz="12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6" name="角丸四角形吹き出し 15">
            <a:extLst>
              <a:ext uri="{FF2B5EF4-FFF2-40B4-BE49-F238E27FC236}">
                <a16:creationId xmlns:a16="http://schemas.microsoft.com/office/drawing/2014/main" id="{4BA780E1-1757-CF23-1412-0236EA948BDB}"/>
              </a:ext>
            </a:extLst>
          </p:cNvPr>
          <p:cNvSpPr/>
          <p:nvPr/>
        </p:nvSpPr>
        <p:spPr>
          <a:xfrm>
            <a:off x="10491447" y="1593734"/>
            <a:ext cx="1519739" cy="509573"/>
          </a:xfrm>
          <a:prstGeom prst="wedgeRoundRectCallout">
            <a:avLst>
              <a:gd name="adj1" fmla="val -33297"/>
              <a:gd name="adj2" fmla="val 7775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0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重みを更新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5374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82DAAD-4B7D-85AF-D31F-24E6F8B4B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従来手法</a:t>
            </a:r>
            <a:r>
              <a:rPr kumimoji="1" lang="en-US" altLang="ja-JP" dirty="0"/>
              <a:t>[4]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8491F6-ECF9-098E-E96F-8DC992E41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Meme</a:t>
            </a:r>
            <a:r>
              <a:rPr lang="ja-JP" altLang="en-US"/>
              <a:t>が面白いか否か判定する</a:t>
            </a:r>
            <a:r>
              <a:rPr lang="en-US" altLang="ja-JP" dirty="0"/>
              <a:t>AI</a:t>
            </a:r>
          </a:p>
          <a:p>
            <a:pPr marL="457200" lvl="1" indent="0">
              <a:buNone/>
            </a:pPr>
            <a:r>
              <a:rPr kumimoji="1" lang="en-US" altLang="ja-JP" dirty="0"/>
              <a:t>Meme Generator[5]</a:t>
            </a:r>
            <a:r>
              <a:rPr kumimoji="1" lang="ja-JP" altLang="en-US"/>
              <a:t>から</a:t>
            </a:r>
            <a:r>
              <a:rPr kumimoji="1" lang="en-US" altLang="ja-JP" dirty="0"/>
              <a:t>Meme</a:t>
            </a:r>
            <a:r>
              <a:rPr kumimoji="1" lang="ja-JP" altLang="en-US"/>
              <a:t>をスクレイピングし，面白いか否かを人手で評価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ja-JP" altLang="en-US"/>
              <a:t>画像・文章埋め込みモデルである</a:t>
            </a:r>
            <a:r>
              <a:rPr kumimoji="1" lang="en-US" altLang="ja-JP" dirty="0"/>
              <a:t>CLIP</a:t>
            </a:r>
            <a:r>
              <a:rPr kumimoji="1" lang="ja-JP" altLang="en-US"/>
              <a:t>，</a:t>
            </a:r>
            <a:r>
              <a:rPr kumimoji="1" lang="en-US" altLang="ja-JP" dirty="0"/>
              <a:t>ViLT</a:t>
            </a:r>
            <a:r>
              <a:rPr kumimoji="1" lang="ja-JP" altLang="en-US"/>
              <a:t>を用いて分類</a:t>
            </a:r>
            <a:endParaRPr kumimoji="1" lang="en-US" altLang="ja-JP" dirty="0"/>
          </a:p>
          <a:p>
            <a:pPr marL="457200" lvl="1" indent="0">
              <a:buNone/>
            </a:pP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367319-64DF-09E9-E749-6148A9D3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A7C81D-C5CD-0E63-EBAE-F0606791C70D}"/>
              </a:ext>
            </a:extLst>
          </p:cNvPr>
          <p:cNvSpPr txBox="1"/>
          <p:nvPr/>
        </p:nvSpPr>
        <p:spPr>
          <a:xfrm>
            <a:off x="125969" y="5918597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[4] K. </a:t>
            </a:r>
            <a:r>
              <a:rPr lang="en" altLang="ja-JP" sz="1200" dirty="0"/>
              <a:t>Tanaka, et al., "Learning to evaluate humor in memes based on the incongruity theory," Proc. the Second Workshop on CAI2. 2022.</a:t>
            </a:r>
          </a:p>
          <a:p>
            <a:r>
              <a:rPr kumimoji="1" lang="en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[5] </a:t>
            </a:r>
            <a:r>
              <a:rPr kumimoji="1" lang="en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Imgflip</a:t>
            </a:r>
            <a:r>
              <a:rPr kumimoji="1" lang="en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 LLC, Meme Generator, https://</a:t>
            </a:r>
            <a:r>
              <a:rPr kumimoji="1" lang="en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imgflip.com</a:t>
            </a:r>
            <a:r>
              <a:rPr kumimoji="1" lang="en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</a:t>
            </a:r>
            <a:r>
              <a:rPr kumimoji="1" lang="en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memegenerator</a:t>
            </a:r>
            <a:r>
              <a:rPr kumimoji="1" lang="en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 </a:t>
            </a:r>
            <a:r>
              <a:rPr kumimoji="1"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最終確認日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: </a:t>
            </a:r>
            <a:r>
              <a:rPr kumimoji="1" lang="en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2026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2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</a:t>
            </a:r>
            <a:r>
              <a:rPr kumimoji="1"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23.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E60632B-97B8-BB58-7D88-9747C380C0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97" t="24505" r="11329" b="3202"/>
          <a:stretch>
            <a:fillRect/>
          </a:stretch>
        </p:blipFill>
        <p:spPr>
          <a:xfrm>
            <a:off x="939801" y="2208398"/>
            <a:ext cx="6121400" cy="358467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CCF6438-1FE3-912E-9AA1-3AD2AB7F70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13" t="27859" r="37145" b="20814"/>
          <a:stretch>
            <a:fillRect/>
          </a:stretch>
        </p:blipFill>
        <p:spPr>
          <a:xfrm>
            <a:off x="203200" y="2259718"/>
            <a:ext cx="1785193" cy="177937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95DA979-0643-200E-0E9F-9A675D91B3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14" t="29201" r="22876" b="34066"/>
          <a:stretch>
            <a:fillRect/>
          </a:stretch>
        </p:blipFill>
        <p:spPr>
          <a:xfrm>
            <a:off x="7061201" y="3744722"/>
            <a:ext cx="5004830" cy="198628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A9493DE-00C2-369B-5487-D68F93A4B1BD}"/>
              </a:ext>
            </a:extLst>
          </p:cNvPr>
          <p:cNvSpPr txBox="1"/>
          <p:nvPr/>
        </p:nvSpPr>
        <p:spPr>
          <a:xfrm>
            <a:off x="7863214" y="3277204"/>
            <a:ext cx="34008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/>
              <a:t>[4]</a:t>
            </a:r>
            <a:r>
              <a:rPr lang="ja-JP" altLang="en-US" sz="2400"/>
              <a:t>のモデルの学習結果</a:t>
            </a:r>
          </a:p>
        </p:txBody>
      </p:sp>
      <p:sp>
        <p:nvSpPr>
          <p:cNvPr id="10" name="角丸四角形吹き出し 9">
            <a:extLst>
              <a:ext uri="{FF2B5EF4-FFF2-40B4-BE49-F238E27FC236}">
                <a16:creationId xmlns:a16="http://schemas.microsoft.com/office/drawing/2014/main" id="{508AFF40-AC75-0921-85CA-1A67173E1557}"/>
              </a:ext>
            </a:extLst>
          </p:cNvPr>
          <p:cNvSpPr/>
          <p:nvPr/>
        </p:nvSpPr>
        <p:spPr>
          <a:xfrm>
            <a:off x="4277179" y="4345643"/>
            <a:ext cx="2707821" cy="801102"/>
          </a:xfrm>
          <a:prstGeom prst="wedgeRoundRectCallout">
            <a:avLst>
              <a:gd name="adj1" fmla="val -59057"/>
              <a:gd name="adj2" fmla="val -3273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ユーモア特有の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ズレを差分で表現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404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FAEE79-778A-51E8-86CE-22A07302C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提案手法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DEB12A-5ACE-A279-3A96-AB6552C9F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大喜利投稿サイト「ボケて」</a:t>
            </a:r>
            <a:r>
              <a:rPr kumimoji="1" lang="en-US" altLang="ja-JP" dirty="0"/>
              <a:t>[6]</a:t>
            </a:r>
            <a:r>
              <a:rPr kumimoji="1" lang="ja-JP" altLang="en-US"/>
              <a:t>から大喜利を収集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/>
              <a:t>画像と文章を入力とし，大喜利として面白いかを判定する</a:t>
            </a:r>
            <a:r>
              <a:rPr lang="en-US" altLang="ja-JP" dirty="0"/>
              <a:t>AI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D08678-EC82-142A-7F30-F7ED0D490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46DDDF6-18EA-55DC-17AC-3E04E3F29CB5}"/>
              </a:ext>
            </a:extLst>
          </p:cNvPr>
          <p:cNvSpPr txBox="1"/>
          <p:nvPr/>
        </p:nvSpPr>
        <p:spPr>
          <a:xfrm>
            <a:off x="125969" y="6100337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[6] 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株式会社オモロキ，ボケて，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https://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bokete.jp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，最終確認日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: 2026/2/23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  <a:endParaRPr lang="en" altLang="ja-JP" sz="12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37602463-F0DD-12FA-0C8A-6FD2AC3037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69" t="23627" r="42266" b="28530"/>
          <a:stretch>
            <a:fillRect/>
          </a:stretch>
        </p:blipFill>
        <p:spPr>
          <a:xfrm>
            <a:off x="3996928" y="2569175"/>
            <a:ext cx="3432927" cy="294940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43E2F70-39A3-A7EF-C383-AAE3C28238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41" t="36195" r="42266" b="11656"/>
          <a:stretch>
            <a:fillRect/>
          </a:stretch>
        </p:blipFill>
        <p:spPr>
          <a:xfrm>
            <a:off x="125969" y="2305262"/>
            <a:ext cx="3746697" cy="34772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122" name="Picture 2" descr="ボケて">
            <a:extLst>
              <a:ext uri="{FF2B5EF4-FFF2-40B4-BE49-F238E27FC236}">
                <a16:creationId xmlns:a16="http://schemas.microsoft.com/office/drawing/2014/main" id="{41700652-519F-8EE0-6034-58290EF53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29223">
            <a:off x="28194" y="2003053"/>
            <a:ext cx="1645912" cy="43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ボケて">
            <a:extLst>
              <a:ext uri="{FF2B5EF4-FFF2-40B4-BE49-F238E27FC236}">
                <a16:creationId xmlns:a16="http://schemas.microsoft.com/office/drawing/2014/main" id="{6B425637-C397-4FCF-B6B1-6DC10A4D8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29223">
            <a:off x="3900859" y="2266968"/>
            <a:ext cx="1645912" cy="43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グラフィックス 12" descr="人工知能 単色塗りつぶし">
            <a:extLst>
              <a:ext uri="{FF2B5EF4-FFF2-40B4-BE49-F238E27FC236}">
                <a16:creationId xmlns:a16="http://schemas.microsoft.com/office/drawing/2014/main" id="{58A13CD2-754B-B5CF-E962-1513F12441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3951" y="3022926"/>
            <a:ext cx="2041902" cy="2041902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451EF54-BC29-1608-22E2-80275D97BAB8}"/>
              </a:ext>
            </a:extLst>
          </p:cNvPr>
          <p:cNvSpPr txBox="1"/>
          <p:nvPr/>
        </p:nvSpPr>
        <p:spPr>
          <a:xfrm>
            <a:off x="9393951" y="5064828"/>
            <a:ext cx="2041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/>
              <a:t>大喜利判定</a:t>
            </a:r>
            <a:r>
              <a:rPr lang="en-US" altLang="ja-JP" sz="2400" dirty="0"/>
              <a:t>AI</a:t>
            </a:r>
            <a:endParaRPr lang="ja-JP" altLang="en-US" sz="2400"/>
          </a:p>
        </p:txBody>
      </p:sp>
      <p:sp>
        <p:nvSpPr>
          <p:cNvPr id="15" name="右矢印 14">
            <a:extLst>
              <a:ext uri="{FF2B5EF4-FFF2-40B4-BE49-F238E27FC236}">
                <a16:creationId xmlns:a16="http://schemas.microsoft.com/office/drawing/2014/main" id="{BB6E559B-072E-47F2-F3FF-88501AEEFDE2}"/>
              </a:ext>
            </a:extLst>
          </p:cNvPr>
          <p:cNvSpPr/>
          <p:nvPr/>
        </p:nvSpPr>
        <p:spPr>
          <a:xfrm>
            <a:off x="7840373" y="3538193"/>
            <a:ext cx="1143060" cy="101136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学習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24814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A9420E-5B22-4BE5-F682-A0A93F0C5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ボケての大喜利の特性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16D9B8-8AA3-AB2A-7E29-D025F988C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・ユーザは</a:t>
            </a:r>
            <a:r>
              <a:rPr kumimoji="1" lang="ja-JP" altLang="en-US">
                <a:solidFill>
                  <a:srgbClr val="00B050"/>
                </a:solidFill>
              </a:rPr>
              <a:t>大喜利</a:t>
            </a:r>
            <a:r>
              <a:rPr kumimoji="1" lang="ja-JP" altLang="en-US"/>
              <a:t>を閲覧し</a:t>
            </a:r>
            <a:r>
              <a:rPr kumimoji="1" lang="ja-JP" altLang="en-US">
                <a:solidFill>
                  <a:srgbClr val="0070C0"/>
                </a:solidFill>
              </a:rPr>
              <a:t>★</a:t>
            </a:r>
            <a:r>
              <a:rPr kumimoji="1" lang="en-US" altLang="ja-JP" dirty="0">
                <a:solidFill>
                  <a:srgbClr val="0070C0"/>
                </a:solidFill>
              </a:rPr>
              <a:t>0〜</a:t>
            </a:r>
            <a:r>
              <a:rPr kumimoji="1" lang="ja-JP" altLang="en-US">
                <a:solidFill>
                  <a:srgbClr val="0070C0"/>
                </a:solidFill>
              </a:rPr>
              <a:t>★</a:t>
            </a:r>
            <a:r>
              <a:rPr kumimoji="1" lang="en-US" altLang="ja-JP" dirty="0">
                <a:solidFill>
                  <a:srgbClr val="0070C0"/>
                </a:solidFill>
              </a:rPr>
              <a:t>3</a:t>
            </a:r>
            <a:r>
              <a:rPr kumimoji="1" lang="ja-JP" altLang="en-US"/>
              <a:t>までで評価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/>
              <a:t>・大喜利がこれまでに得た</a:t>
            </a:r>
            <a:r>
              <a:rPr lang="ja-JP" altLang="en-US">
                <a:solidFill>
                  <a:srgbClr val="FF0000"/>
                </a:solidFill>
              </a:rPr>
              <a:t>星の総数</a:t>
            </a:r>
            <a:r>
              <a:rPr lang="ja-JP" altLang="en-US"/>
              <a:t>のみ取得可能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/>
              <a:t>・星の総数が</a:t>
            </a:r>
            <a:r>
              <a:rPr lang="en-US" altLang="ja-JP" dirty="0"/>
              <a:t>0</a:t>
            </a:r>
            <a:r>
              <a:rPr lang="ja-JP" altLang="en-US"/>
              <a:t>の大喜利が</a:t>
            </a:r>
            <a:r>
              <a:rPr lang="ja-JP" altLang="en-US">
                <a:solidFill>
                  <a:schemeClr val="accent2"/>
                </a:solidFill>
              </a:rPr>
              <a:t>半数以上</a:t>
            </a:r>
            <a:endParaRPr lang="en-US" altLang="ja-JP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823D4A-A657-BBE2-62DD-4B35176F3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4EC1CE3-4404-4F67-124D-320CFFDF3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69" t="23627" r="42266" b="28530"/>
          <a:stretch>
            <a:fillRect/>
          </a:stretch>
        </p:blipFill>
        <p:spPr>
          <a:xfrm>
            <a:off x="7127092" y="2125579"/>
            <a:ext cx="4938939" cy="424329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C417B31-FFB7-22B6-B82E-C8B96AEEBCAE}"/>
              </a:ext>
            </a:extLst>
          </p:cNvPr>
          <p:cNvSpPr/>
          <p:nvPr/>
        </p:nvSpPr>
        <p:spPr>
          <a:xfrm>
            <a:off x="7159175" y="6097272"/>
            <a:ext cx="703776" cy="231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EBDDA9F-AD9D-A29D-5FC3-D3601244AC05}"/>
              </a:ext>
            </a:extLst>
          </p:cNvPr>
          <p:cNvSpPr/>
          <p:nvPr/>
        </p:nvSpPr>
        <p:spPr>
          <a:xfrm>
            <a:off x="7727034" y="2145293"/>
            <a:ext cx="3582650" cy="364073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96379C4-D898-0427-7C58-4B931F406D3F}"/>
              </a:ext>
            </a:extLst>
          </p:cNvPr>
          <p:cNvSpPr/>
          <p:nvPr/>
        </p:nvSpPr>
        <p:spPr>
          <a:xfrm>
            <a:off x="9152020" y="5855367"/>
            <a:ext cx="822145" cy="298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9BC357-07C9-E07D-D7BC-C3213B7AAD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5970" y="2439521"/>
            <a:ext cx="4909256" cy="3937815"/>
          </a:xfrm>
          <a:prstGeom prst="rect">
            <a:avLst/>
          </a:prstGeom>
        </p:spPr>
      </p:pic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BE0C9E31-03BB-383F-BB68-FC43DA705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332316"/>
              </p:ext>
            </p:extLst>
          </p:nvPr>
        </p:nvGraphicFramePr>
        <p:xfrm>
          <a:off x="1977647" y="2822659"/>
          <a:ext cx="285403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015">
                  <a:extLst>
                    <a:ext uri="{9D8B030D-6E8A-4147-A177-3AD203B41FA5}">
                      <a16:colId xmlns:a16="http://schemas.microsoft.com/office/drawing/2014/main" val="2362978152"/>
                    </a:ext>
                  </a:extLst>
                </a:gridCol>
                <a:gridCol w="1427015">
                  <a:extLst>
                    <a:ext uri="{9D8B030D-6E8A-4147-A177-3AD203B41FA5}">
                      <a16:colId xmlns:a16="http://schemas.microsoft.com/office/drawing/2014/main" val="1196222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>
                          <a:solidFill>
                            <a:sysClr val="windowText" lastClr="000000"/>
                          </a:solidFill>
                        </a:rPr>
                        <a:t>平均</a:t>
                      </a:r>
                    </a:p>
                  </a:txBody>
                  <a:tcPr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>
                          <a:solidFill>
                            <a:sysClr val="windowText" lastClr="000000"/>
                          </a:solidFill>
                        </a:rPr>
                        <a:t>10.33</a:t>
                      </a:r>
                      <a:endParaRPr kumimoji="1" lang="ja-JP" altLang="en-US" sz="24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501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solidFill>
                            <a:schemeClr val="accent2"/>
                          </a:solidFill>
                        </a:rPr>
                        <a:t>中央値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solidFill>
                            <a:schemeClr val="accent2"/>
                          </a:solidFill>
                        </a:rPr>
                        <a:t>0</a:t>
                      </a:r>
                      <a:endParaRPr kumimoji="1" lang="ja-JP" altLang="en-US" sz="240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1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最大値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139612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128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最小値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503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標準偏差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316.84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191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319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1E5CB-2339-24D8-6F0B-0647E45F9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ボケての大喜利の特性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E1CE57-7F5F-AEF9-532B-65F24FE63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A21B0B-A555-0646-6F7D-7D91CC4B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7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7FA2C05-86DB-479B-8385-F59C9010F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303747"/>
              </p:ext>
            </p:extLst>
          </p:nvPr>
        </p:nvGraphicFramePr>
        <p:xfrm>
          <a:off x="125969" y="813576"/>
          <a:ext cx="1194006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3692">
                  <a:extLst>
                    <a:ext uri="{9D8B030D-6E8A-4147-A177-3AD203B41FA5}">
                      <a16:colId xmlns:a16="http://schemas.microsoft.com/office/drawing/2014/main" val="3659885741"/>
                    </a:ext>
                  </a:extLst>
                </a:gridCol>
                <a:gridCol w="8966370">
                  <a:extLst>
                    <a:ext uri="{9D8B030D-6E8A-4147-A177-3AD203B41FA5}">
                      <a16:colId xmlns:a16="http://schemas.microsoft.com/office/drawing/2014/main" val="4092836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星の数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備考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735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多い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/>
                        <a:t>多くの人が高い評価をした</a:t>
                      </a:r>
                      <a:r>
                        <a:rPr lang="ja-JP" altLang="en-US" sz="2400">
                          <a:solidFill>
                            <a:srgbClr val="FF0000"/>
                          </a:solidFill>
                        </a:rPr>
                        <a:t>面白い</a:t>
                      </a:r>
                      <a:r>
                        <a:rPr lang="ja-JP" altLang="en-US" sz="2400"/>
                        <a:t>大喜利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07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1, 2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/>
                        <a:t>満点が得られない</a:t>
                      </a:r>
                      <a:r>
                        <a:rPr lang="ja-JP" altLang="en-US" sz="2400">
                          <a:solidFill>
                            <a:srgbClr val="FF0000"/>
                          </a:solidFill>
                        </a:rPr>
                        <a:t>やや面白い</a:t>
                      </a:r>
                      <a:r>
                        <a:rPr lang="ja-JP" altLang="en-US" sz="2400"/>
                        <a:t>大喜利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97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・誰も面白いと評価しなかった</a:t>
                      </a:r>
                      <a:r>
                        <a:rPr lang="ja-JP" altLang="en-US" sz="2400" b="0" i="0">
                          <a:solidFill>
                            <a:srgbClr val="FF0000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つまらない</a:t>
                      </a:r>
                      <a:r>
                        <a:rPr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大喜利</a:t>
                      </a:r>
                    </a:p>
                    <a:p>
                      <a:pPr algn="ctr"/>
                      <a:r>
                        <a:rPr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・誰にも閲覧されなかった</a:t>
                      </a:r>
                      <a:r>
                        <a:rPr lang="ja-JP" altLang="en-US" sz="2400" b="0" i="0">
                          <a:solidFill>
                            <a:srgbClr val="FF0000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面白い</a:t>
                      </a:r>
                      <a:r>
                        <a:rPr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大喜利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540989"/>
                  </a:ext>
                </a:extLst>
              </a:tr>
            </a:tbl>
          </a:graphicData>
        </a:graphic>
      </p:graphicFrame>
      <p:pic>
        <p:nvPicPr>
          <p:cNvPr id="6" name="図 5">
            <a:extLst>
              <a:ext uri="{FF2B5EF4-FFF2-40B4-BE49-F238E27FC236}">
                <a16:creationId xmlns:a16="http://schemas.microsoft.com/office/drawing/2014/main" id="{45134D35-4A3A-079A-0FD4-97D9CA49D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9" t="16860" r="33863" b="11706"/>
          <a:stretch>
            <a:fillRect/>
          </a:stretch>
        </p:blipFill>
        <p:spPr>
          <a:xfrm>
            <a:off x="8341397" y="3265672"/>
            <a:ext cx="3724634" cy="352447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60539E8-4742-C1FA-8DBC-462A2CD86D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00" t="23207" r="21464" b="7894"/>
          <a:stretch>
            <a:fillRect/>
          </a:stretch>
        </p:blipFill>
        <p:spPr>
          <a:xfrm>
            <a:off x="4188993" y="3671945"/>
            <a:ext cx="3961973" cy="270107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67BD6B2-0D14-F4EB-8E57-1AB8E40669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72" t="19296" r="28184" b="4838"/>
          <a:stretch>
            <a:fillRect/>
          </a:stretch>
        </p:blipFill>
        <p:spPr>
          <a:xfrm>
            <a:off x="125968" y="3263699"/>
            <a:ext cx="3872593" cy="351756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6241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B0E403-9AFB-0806-CA12-94913A63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データセット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A5CAED-8475-85E9-1BB3-A949F4053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191063B-E0E3-9985-A557-1426BFD9A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8</a:t>
            </a:fld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4C62434B-5A78-25BC-F3F7-3F8D1CBB3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045565"/>
              </p:ext>
            </p:extLst>
          </p:nvPr>
        </p:nvGraphicFramePr>
        <p:xfrm>
          <a:off x="125969" y="813576"/>
          <a:ext cx="11935845" cy="50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252">
                  <a:extLst>
                    <a:ext uri="{9D8B030D-6E8A-4147-A177-3AD203B41FA5}">
                      <a16:colId xmlns:a16="http://schemas.microsoft.com/office/drawing/2014/main" val="1514604495"/>
                    </a:ext>
                  </a:extLst>
                </a:gridCol>
                <a:gridCol w="3357531">
                  <a:extLst>
                    <a:ext uri="{9D8B030D-6E8A-4147-A177-3AD203B41FA5}">
                      <a16:colId xmlns:a16="http://schemas.microsoft.com/office/drawing/2014/main" val="1720278652"/>
                    </a:ext>
                  </a:extLst>
                </a:gridCol>
                <a:gridCol w="3357531">
                  <a:extLst>
                    <a:ext uri="{9D8B030D-6E8A-4147-A177-3AD203B41FA5}">
                      <a16:colId xmlns:a16="http://schemas.microsoft.com/office/drawing/2014/main" val="415598819"/>
                    </a:ext>
                  </a:extLst>
                </a:gridCol>
                <a:gridCol w="3357531">
                  <a:extLst>
                    <a:ext uri="{9D8B030D-6E8A-4147-A177-3AD203B41FA5}">
                      <a16:colId xmlns:a16="http://schemas.microsoft.com/office/drawing/2014/main" val="3355126795"/>
                    </a:ext>
                  </a:extLst>
                </a:gridCol>
              </a:tblGrid>
              <a:tr h="29808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solidFill>
                            <a:schemeClr val="tx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画像</a:t>
                      </a:r>
                    </a:p>
                  </a:txBody>
                  <a:tcPr anchor="ctr"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3760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AI[7,8]</a:t>
                      </a:r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が生成した</a:t>
                      </a:r>
                      <a:endParaRPr kumimoji="1" lang="en-US" altLang="ja-JP" sz="24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キャプション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星</a:t>
                      </a:r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</a:t>
                      </a:r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の大喜利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星が</a:t>
                      </a:r>
                      <a:r>
                        <a:rPr kumimoji="1" lang="ja-JP" altLang="en-US" sz="2400" b="0" i="0">
                          <a:solidFill>
                            <a:srgbClr val="FF0000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しきい値</a:t>
                      </a:r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以上の</a:t>
                      </a:r>
                      <a:endParaRPr kumimoji="1" lang="en-US" altLang="ja-JP" sz="24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大喜利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778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プールにいる太った男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飼ってくれよー！！</a:t>
                      </a:r>
                      <a:endParaRPr kumimoji="1" lang="en-US" altLang="ja-JP" sz="24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  <a:p>
                      <a:pPr algn="ctr"/>
                      <a:r>
                        <a:rPr kumimoji="1" lang="en-US" altLang="ja-JP" sz="2400" dirty="0"/>
                        <a:t>(</a:t>
                      </a:r>
                      <a:r>
                        <a:rPr kumimoji="1" lang="ja-JP" altLang="en-US" sz="2400"/>
                        <a:t>⭐️</a:t>
                      </a:r>
                      <a:r>
                        <a:rPr kumimoji="1" lang="en-US" altLang="ja-JP" sz="2400" dirty="0"/>
                        <a:t>1)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空気入れる方間違えた</a:t>
                      </a:r>
                      <a:endParaRPr kumimoji="1" lang="en-US" altLang="ja-JP" sz="24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  <a:p>
                      <a:pPr algn="ctr"/>
                      <a:r>
                        <a:rPr kumimoji="1" lang="en-US" altLang="ja-JP" sz="2400" dirty="0"/>
                        <a:t>(</a:t>
                      </a:r>
                      <a:r>
                        <a:rPr kumimoji="1" lang="ja-JP" altLang="en-US" sz="2400"/>
                        <a:t>⭐️</a:t>
                      </a:r>
                      <a:r>
                        <a:rPr kumimoji="1" lang="en-US" altLang="ja-JP" sz="2400" dirty="0"/>
                        <a:t>1,492)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269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solidFill>
                            <a:schemeClr val="bg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ラベル</a:t>
                      </a:r>
                    </a:p>
                  </a:txBody>
                  <a:tcPr anchor="ctr"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solidFill>
                            <a:schemeClr val="bg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面白くない</a:t>
                      </a:r>
                    </a:p>
                  </a:txBody>
                  <a:tcPr anchor="ctr"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solidFill>
                            <a:schemeClr val="bg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やや面白い</a:t>
                      </a:r>
                    </a:p>
                  </a:txBody>
                  <a:tcPr anchor="ctr"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solidFill>
                            <a:schemeClr val="bg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面白い</a:t>
                      </a:r>
                    </a:p>
                  </a:txBody>
                  <a:tcPr anchor="ctr">
                    <a:solidFill>
                      <a:srgbClr val="016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878334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94843869-E454-5DE7-3D29-0E329CCE2B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57" t="4323" r="2238" b="9148"/>
          <a:stretch>
            <a:fillRect/>
          </a:stretch>
        </p:blipFill>
        <p:spPr>
          <a:xfrm>
            <a:off x="4839741" y="853460"/>
            <a:ext cx="4362774" cy="290120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2FC0C9-2181-4A36-7ABD-C56CDDC79719}"/>
              </a:ext>
            </a:extLst>
          </p:cNvPr>
          <p:cNvSpPr txBox="1"/>
          <p:nvPr/>
        </p:nvSpPr>
        <p:spPr>
          <a:xfrm>
            <a:off x="125969" y="5915671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[7] Hugging Face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Salesforce/blip2-flan-t5-xxl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https://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huggingface.co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/Salesforce/blip2-flan-t5-xxl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，最終確認日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: 2026/2/23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</a:p>
          <a:p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[8] Hugging Face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Mitsua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/elan-mt-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bt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-ja-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en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https://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huggingface.co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Mitsua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/elan-mt-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bt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-ja-</a:t>
            </a:r>
            <a:r>
              <a:rPr lang="en-US" altLang="ja-JP" sz="12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en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，最終確認日</a:t>
            </a:r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: 2026/2/23</a:t>
            </a:r>
            <a:r>
              <a:rPr lang="ja-JP" altLang="en-US" sz="1200"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</a:p>
        </p:txBody>
      </p:sp>
    </p:spTree>
    <p:extLst>
      <p:ext uri="{BB962C8B-B14F-4D97-AF65-F5344CB8AC3E}">
        <p14:creationId xmlns:p14="http://schemas.microsoft.com/office/powerpoint/2010/main" val="344719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5ACFDE-476B-898A-0AD8-396557D1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各しきい値における星の分布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336E87-F232-77D7-5A8B-46DAB80A7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9FF56C-AA6B-8DAB-7F5F-8E9F54CE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9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D2CE8F2-7C2C-3797-2EA5-D18503E7F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959693"/>
              </p:ext>
            </p:extLst>
          </p:nvPr>
        </p:nvGraphicFramePr>
        <p:xfrm>
          <a:off x="125969" y="783775"/>
          <a:ext cx="8127999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185026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344022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68115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星</a:t>
                      </a:r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(</a:t>
                      </a:r>
                      <a:r>
                        <a:rPr kumimoji="1" lang="ja-JP" altLang="en-US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以上</a:t>
                      </a:r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)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大喜利数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全体に占める割合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132402"/>
                  </a:ext>
                </a:extLst>
              </a:tr>
              <a:tr h="38052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706,406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100%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473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519,894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73.60%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81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3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385,894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54.63%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576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96,220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13.62%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4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34,462 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4.88%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765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30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22,215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3.14%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78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40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19,089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2.70%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65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50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17,675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2.50%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4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60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16,704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2.36%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37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70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15,969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2.26%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4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80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15,334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2.17%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71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90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14,830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2.10%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587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100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14,426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2.04%</a:t>
                      </a:r>
                      <a:endParaRPr kumimoji="1" lang="ja-JP" altLang="en-US" sz="20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884329"/>
                  </a:ext>
                </a:extLst>
              </a:tr>
            </a:tbl>
          </a:graphicData>
        </a:graphic>
      </p:graphicFrame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0E9D9517-6345-C566-0101-64299E928639}"/>
              </a:ext>
            </a:extLst>
          </p:cNvPr>
          <p:cNvSpPr/>
          <p:nvPr/>
        </p:nvSpPr>
        <p:spPr>
          <a:xfrm>
            <a:off x="8537841" y="1352365"/>
            <a:ext cx="3244316" cy="538578"/>
          </a:xfrm>
          <a:prstGeom prst="wedgeRectCallout">
            <a:avLst>
              <a:gd name="adj1" fmla="val -55858"/>
              <a:gd name="adj2" fmla="val 340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星</a:t>
            </a:r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2</a:t>
            </a:r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以下の大喜</a:t>
            </a:r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利は</a:t>
            </a:r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36%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555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5ADB5F-D7BA-EB6F-D06E-3B7BADF8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データセット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43CCD0-1C77-0175-A925-5ABFDF3CD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・面白い大喜利と同数になるよう，他のラベルのデータをアンダーサンプリング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/>
              <a:t>・</a:t>
            </a:r>
            <a:r>
              <a:rPr lang="en-US" altLang="ja-JP" dirty="0"/>
              <a:t>99%</a:t>
            </a:r>
            <a:r>
              <a:rPr lang="ja-JP" altLang="en-US"/>
              <a:t>を学習用データ，</a:t>
            </a:r>
            <a:r>
              <a:rPr lang="en-US" altLang="ja-JP" dirty="0"/>
              <a:t>1%</a:t>
            </a:r>
            <a:r>
              <a:rPr lang="ja-JP" altLang="en-US"/>
              <a:t>を検証用データとして用いる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C7CB44-B0F5-B976-A5B5-1A7591BE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10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4365CD8-C759-6436-ACAE-2D5A64BFA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078954"/>
              </p:ext>
            </p:extLst>
          </p:nvPr>
        </p:nvGraphicFramePr>
        <p:xfrm>
          <a:off x="2032000" y="2413521"/>
          <a:ext cx="812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954255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26871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50467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16557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しきい値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面白くない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やや面白い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面白い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1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20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31,491 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31,821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37,281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8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40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18,841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18,681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20,546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40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60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16,586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16,478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17,921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653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80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15,380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15,113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16,451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162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100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14,540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14,280</a:t>
                      </a:r>
                      <a:endParaRPr kumimoji="1" lang="ja-JP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15,469</a:t>
                      </a:r>
                      <a:endParaRPr kumimoji="1" lang="ja-JP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97379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85BA805-A3EB-381F-1ED9-5DF5909B7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626137"/>
              </p:ext>
            </p:extLst>
          </p:nvPr>
        </p:nvGraphicFramePr>
        <p:xfrm>
          <a:off x="125963" y="5369865"/>
          <a:ext cx="119400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431">
                  <a:extLst>
                    <a:ext uri="{9D8B030D-6E8A-4147-A177-3AD203B41FA5}">
                      <a16:colId xmlns:a16="http://schemas.microsoft.com/office/drawing/2014/main" val="2602693912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2148675421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1526550009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3390650231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4248616000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3129899843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2701258538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747322089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4038774410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260810561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326783239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1065219198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3357247775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2575242563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2761403296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3121468733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1408363739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2426385907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2795854954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1992591425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46847990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2753257425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1954913779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4278605737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1547649761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158665977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3076212288"/>
                    </a:ext>
                  </a:extLst>
                </a:gridCol>
                <a:gridCol w="426431">
                  <a:extLst>
                    <a:ext uri="{9D8B030D-6E8A-4147-A177-3AD203B41FA5}">
                      <a16:colId xmlns:a16="http://schemas.microsoft.com/office/drawing/2014/main" val="2196033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/>
                        <a:t>⭐️</a:t>
                      </a:r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7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8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9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12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13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14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16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17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18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19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20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21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22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23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24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25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…</a:t>
                      </a:r>
                      <a:endParaRPr kumimoji="1" lang="ja-JP" altLang="en-US"/>
                    </a:p>
                  </a:txBody>
                  <a:tcPr>
                    <a:solidFill>
                      <a:srgbClr val="016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511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CBD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3363"/>
                  </a:ext>
                </a:extLst>
              </a:tr>
            </a:tbl>
          </a:graphicData>
        </a:graphic>
      </p:graphicFrame>
      <p:sp>
        <p:nvSpPr>
          <p:cNvPr id="7" name="四角形吹き出し 6">
            <a:extLst>
              <a:ext uri="{FF2B5EF4-FFF2-40B4-BE49-F238E27FC236}">
                <a16:creationId xmlns:a16="http://schemas.microsoft.com/office/drawing/2014/main" id="{9FDB8782-7D77-F85E-2E5F-B392527E6369}"/>
              </a:ext>
            </a:extLst>
          </p:cNvPr>
          <p:cNvSpPr/>
          <p:nvPr/>
        </p:nvSpPr>
        <p:spPr>
          <a:xfrm>
            <a:off x="893835" y="6324689"/>
            <a:ext cx="1913721" cy="456579"/>
          </a:xfrm>
          <a:prstGeom prst="wedgeRectCallout">
            <a:avLst>
              <a:gd name="adj1" fmla="val -33299"/>
              <a:gd name="adj2" fmla="val -8642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やや面白い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四角形吹き出し 7">
            <a:extLst>
              <a:ext uri="{FF2B5EF4-FFF2-40B4-BE49-F238E27FC236}">
                <a16:creationId xmlns:a16="http://schemas.microsoft.com/office/drawing/2014/main" id="{B28C2E57-8F6C-26D9-1A16-9249B17F6AF6}"/>
              </a:ext>
            </a:extLst>
          </p:cNvPr>
          <p:cNvSpPr/>
          <p:nvPr/>
        </p:nvSpPr>
        <p:spPr>
          <a:xfrm>
            <a:off x="8801538" y="6324689"/>
            <a:ext cx="1383404" cy="456579"/>
          </a:xfrm>
          <a:prstGeom prst="wedgeRectCallout">
            <a:avLst>
              <a:gd name="adj1" fmla="val 33369"/>
              <a:gd name="adj2" fmla="val -8297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面白い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3691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BE355-75BD-C915-738A-355F9CA4E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モデル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400931-D629-705C-3C4F-49AA2C76C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画像・文章のエンコーダとして</a:t>
            </a:r>
            <a:r>
              <a:rPr lang="en-US" altLang="ja-JP" dirty="0"/>
              <a:t>Jina_v4[9]</a:t>
            </a:r>
            <a:r>
              <a:rPr lang="ja-JP" altLang="en-US"/>
              <a:t>を用いる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en-US" altLang="ja-JP" dirty="0"/>
              <a:t>[4]</a:t>
            </a:r>
            <a:r>
              <a:rPr lang="ja-JP" altLang="en-US"/>
              <a:t>と同様に特徴量の差分を入力する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CF2D0B-3705-D3C0-17B6-CECE48C7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797FCDF-BD68-8E8C-B1FD-632592C18815}"/>
              </a:ext>
            </a:extLst>
          </p:cNvPr>
          <p:cNvSpPr/>
          <p:nvPr/>
        </p:nvSpPr>
        <p:spPr>
          <a:xfrm>
            <a:off x="2294790" y="2282485"/>
            <a:ext cx="1868189" cy="25861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" name="フローチャート: 手作業 4">
            <a:extLst>
              <a:ext uri="{FF2B5EF4-FFF2-40B4-BE49-F238E27FC236}">
                <a16:creationId xmlns:a16="http://schemas.microsoft.com/office/drawing/2014/main" id="{B15EA9C0-703C-4E85-D40D-38136BB9FA54}"/>
              </a:ext>
            </a:extLst>
          </p:cNvPr>
          <p:cNvSpPr/>
          <p:nvPr/>
        </p:nvSpPr>
        <p:spPr>
          <a:xfrm rot="16200000">
            <a:off x="2383885" y="2627486"/>
            <a:ext cx="1046771" cy="85788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I.E.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" name="フローチャート: 手作業 5">
            <a:extLst>
              <a:ext uri="{FF2B5EF4-FFF2-40B4-BE49-F238E27FC236}">
                <a16:creationId xmlns:a16="http://schemas.microsoft.com/office/drawing/2014/main" id="{C71C53D5-2263-C934-A469-2A94F499C5A8}"/>
              </a:ext>
            </a:extLst>
          </p:cNvPr>
          <p:cNvSpPr/>
          <p:nvPr/>
        </p:nvSpPr>
        <p:spPr>
          <a:xfrm rot="16200000">
            <a:off x="2383884" y="3789717"/>
            <a:ext cx="1046774" cy="857883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S.E.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5352ED1-BAA7-99A0-5A99-0C2A7E95C0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17" t="21334" r="52328" b="43449"/>
          <a:stretch>
            <a:fillRect/>
          </a:stretch>
        </p:blipFill>
        <p:spPr>
          <a:xfrm>
            <a:off x="679884" y="2397195"/>
            <a:ext cx="931985" cy="13114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A6E4C40-8A09-45DD-8C4C-A4F6D4C105C1}"/>
              </a:ext>
            </a:extLst>
          </p:cNvPr>
          <p:cNvSpPr txBox="1"/>
          <p:nvPr/>
        </p:nvSpPr>
        <p:spPr>
          <a:xfrm>
            <a:off x="125969" y="3803161"/>
            <a:ext cx="2039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ソースとか</a:t>
            </a:r>
            <a:endParaRPr kumimoji="1"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あるんすか？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D6CB4C8-F0F2-A0C8-3C51-4309EB15A9B2}"/>
              </a:ext>
            </a:extLst>
          </p:cNvPr>
          <p:cNvSpPr txBox="1"/>
          <p:nvPr/>
        </p:nvSpPr>
        <p:spPr>
          <a:xfrm>
            <a:off x="2573856" y="2041205"/>
            <a:ext cx="13100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Jina_v4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78F1E479-F5D8-284B-150E-9CB3E7AA4287}"/>
              </a:ext>
            </a:extLst>
          </p:cNvPr>
          <p:cNvCxnSpPr>
            <a:cxnSpLocks/>
            <a:stCxn id="8" idx="3"/>
            <a:endCxn id="5" idx="0"/>
          </p:cNvCxnSpPr>
          <p:nvPr/>
        </p:nvCxnSpPr>
        <p:spPr>
          <a:xfrm>
            <a:off x="1611869" y="3052919"/>
            <a:ext cx="866461" cy="35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ED48688-DAC4-7C7C-A529-8EB66C899A82}"/>
              </a:ext>
            </a:extLst>
          </p:cNvPr>
          <p:cNvCxnSpPr>
            <a:cxnSpLocks/>
            <a:stCxn id="9" idx="3"/>
            <a:endCxn id="6" idx="0"/>
          </p:cNvCxnSpPr>
          <p:nvPr/>
        </p:nvCxnSpPr>
        <p:spPr>
          <a:xfrm flipV="1">
            <a:off x="2165785" y="4218659"/>
            <a:ext cx="31254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F3A5B461-C049-1A42-B393-E18DDC5959A9}"/>
              </a:ext>
            </a:extLst>
          </p:cNvPr>
          <p:cNvCxnSpPr>
            <a:cxnSpLocks/>
            <a:stCxn id="6" idx="2"/>
            <a:endCxn id="65" idx="1"/>
          </p:cNvCxnSpPr>
          <p:nvPr/>
        </p:nvCxnSpPr>
        <p:spPr>
          <a:xfrm flipV="1">
            <a:off x="3336213" y="4218658"/>
            <a:ext cx="1332777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18">
            <a:extLst>
              <a:ext uri="{FF2B5EF4-FFF2-40B4-BE49-F238E27FC236}">
                <a16:creationId xmlns:a16="http://schemas.microsoft.com/office/drawing/2014/main" id="{1BF48347-4656-80AA-B336-5783A0227BA0}"/>
              </a:ext>
            </a:extLst>
          </p:cNvPr>
          <p:cNvCxnSpPr>
            <a:cxnSpLocks/>
            <a:stCxn id="5" idx="2"/>
            <a:endCxn id="65" idx="0"/>
          </p:cNvCxnSpPr>
          <p:nvPr/>
        </p:nvCxnSpPr>
        <p:spPr>
          <a:xfrm>
            <a:off x="3336211" y="3056426"/>
            <a:ext cx="1927894" cy="8852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E73290B9-2C49-F96F-4044-E78CCDCD9F6F}"/>
              </a:ext>
            </a:extLst>
          </p:cNvPr>
          <p:cNvCxnSpPr>
            <a:cxnSpLocks/>
            <a:stCxn id="65" idx="3"/>
            <a:endCxn id="76" idx="1"/>
          </p:cNvCxnSpPr>
          <p:nvPr/>
        </p:nvCxnSpPr>
        <p:spPr>
          <a:xfrm flipV="1">
            <a:off x="5859220" y="4218657"/>
            <a:ext cx="88212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46A9501-DB55-900E-73EE-7165ED9829CA}"/>
              </a:ext>
            </a:extLst>
          </p:cNvPr>
          <p:cNvSpPr txBox="1"/>
          <p:nvPr/>
        </p:nvSpPr>
        <p:spPr>
          <a:xfrm>
            <a:off x="3334299" y="2651915"/>
            <a:ext cx="82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2,048</a:t>
            </a:r>
            <a:endParaRPr kumimoji="1" lang="en-US" altLang="ja-JP" sz="20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73A86765-8937-3F78-55B0-C32139752A80}"/>
              </a:ext>
            </a:extLst>
          </p:cNvPr>
          <p:cNvSpPr txBox="1"/>
          <p:nvPr/>
        </p:nvSpPr>
        <p:spPr>
          <a:xfrm>
            <a:off x="5869594" y="3825966"/>
            <a:ext cx="861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6,144</a:t>
            </a:r>
            <a:endParaRPr kumimoji="1" lang="en-US" altLang="ja-JP" sz="20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AD848BBF-A13C-13F2-06AC-A4DD318A8B99}"/>
              </a:ext>
            </a:extLst>
          </p:cNvPr>
          <p:cNvSpPr txBox="1"/>
          <p:nvPr/>
        </p:nvSpPr>
        <p:spPr>
          <a:xfrm>
            <a:off x="125969" y="5909792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[9] M. Günther, et al., "jina-embeddings-v4: Universal embeddings for multimodal multilingual retrieval," Proc. the 5th Workshop on Multilingual Representation Learning, 2025.</a:t>
            </a:r>
            <a:endParaRPr kumimoji="1" lang="en-US" altLang="ja-JP" sz="12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311842A-73D2-DB2D-A170-18989A366596}"/>
                  </a:ext>
                </a:extLst>
              </p:cNvPr>
              <p:cNvSpPr txBox="1"/>
              <p:nvPr/>
            </p:nvSpPr>
            <p:spPr>
              <a:xfrm>
                <a:off x="7315878" y="3528378"/>
                <a:ext cx="575978" cy="4689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311842A-73D2-DB2D-A170-18989A366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878" y="3528378"/>
                <a:ext cx="575978" cy="468911"/>
              </a:xfrm>
              <a:prstGeom prst="rect">
                <a:avLst/>
              </a:prstGeom>
              <a:blipFill>
                <a:blip r:embed="rId3"/>
                <a:stretch>
                  <a:fillRect l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998054C-82D3-F931-471F-0DC77530C629}"/>
              </a:ext>
            </a:extLst>
          </p:cNvPr>
          <p:cNvSpPr txBox="1"/>
          <p:nvPr/>
        </p:nvSpPr>
        <p:spPr>
          <a:xfrm>
            <a:off x="3331010" y="3825966"/>
            <a:ext cx="82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2,048</a:t>
            </a:r>
            <a:endParaRPr kumimoji="1" lang="en-US" altLang="ja-JP" sz="20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30" name="直線矢印コネクタ 18">
            <a:extLst>
              <a:ext uri="{FF2B5EF4-FFF2-40B4-BE49-F238E27FC236}">
                <a16:creationId xmlns:a16="http://schemas.microsoft.com/office/drawing/2014/main" id="{AB2FA886-4C69-B430-00C1-13A78F96B8E9}"/>
              </a:ext>
            </a:extLst>
          </p:cNvPr>
          <p:cNvCxnSpPr>
            <a:cxnSpLocks/>
            <a:stCxn id="5" idx="2"/>
            <a:endCxn id="37" idx="0"/>
          </p:cNvCxnSpPr>
          <p:nvPr/>
        </p:nvCxnSpPr>
        <p:spPr>
          <a:xfrm>
            <a:off x="3336211" y="3056426"/>
            <a:ext cx="1138767" cy="1939756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BB3C59C3-C291-1260-E79E-F382306D48D4}"/>
                  </a:ext>
                </a:extLst>
              </p:cNvPr>
              <p:cNvSpPr txBox="1"/>
              <p:nvPr/>
            </p:nvSpPr>
            <p:spPr>
              <a:xfrm>
                <a:off x="4151575" y="4996182"/>
                <a:ext cx="646805" cy="468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⊖</m:t>
                      </m:r>
                    </m:oMath>
                  </m:oMathPara>
                </a14:m>
                <a:endParaRPr kumimoji="1" lang="en-US" altLang="ja-JP" sz="2400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BB3C59C3-C291-1260-E79E-F382306D4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575" y="4996182"/>
                <a:ext cx="646805" cy="468911"/>
              </a:xfrm>
              <a:prstGeom prst="rect">
                <a:avLst/>
              </a:prstGeom>
              <a:blipFill>
                <a:blip r:embed="rId4"/>
                <a:stretch>
                  <a:fillRect l="-3846"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矢印コネクタ 18">
            <a:extLst>
              <a:ext uri="{FF2B5EF4-FFF2-40B4-BE49-F238E27FC236}">
                <a16:creationId xmlns:a16="http://schemas.microsoft.com/office/drawing/2014/main" id="{4533BBB9-D565-D7D2-2A52-14C646A41AFA}"/>
              </a:ext>
            </a:extLst>
          </p:cNvPr>
          <p:cNvCxnSpPr>
            <a:cxnSpLocks/>
            <a:stCxn id="6" idx="2"/>
            <a:endCxn id="37" idx="1"/>
          </p:cNvCxnSpPr>
          <p:nvPr/>
        </p:nvCxnSpPr>
        <p:spPr>
          <a:xfrm>
            <a:off x="3336213" y="4218659"/>
            <a:ext cx="815362" cy="101197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18">
            <a:extLst>
              <a:ext uri="{FF2B5EF4-FFF2-40B4-BE49-F238E27FC236}">
                <a16:creationId xmlns:a16="http://schemas.microsoft.com/office/drawing/2014/main" id="{291C5AE3-EFE1-22A0-DB49-53D703584B2A}"/>
              </a:ext>
            </a:extLst>
          </p:cNvPr>
          <p:cNvCxnSpPr>
            <a:cxnSpLocks/>
            <a:stCxn id="37" idx="3"/>
            <a:endCxn id="65" idx="2"/>
          </p:cNvCxnSpPr>
          <p:nvPr/>
        </p:nvCxnSpPr>
        <p:spPr>
          <a:xfrm flipV="1">
            <a:off x="4798380" y="4495615"/>
            <a:ext cx="465725" cy="7350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CEF9451C-DF9E-2CDD-ECD2-987EEAFE252F}"/>
              </a:ext>
            </a:extLst>
          </p:cNvPr>
          <p:cNvSpPr/>
          <p:nvPr/>
        </p:nvSpPr>
        <p:spPr>
          <a:xfrm>
            <a:off x="4668990" y="3941700"/>
            <a:ext cx="1190230" cy="5539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400" dirty="0" err="1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Concat</a:t>
            </a:r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.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928AD096-7220-C51E-E445-D7FAD732CB29}"/>
              </a:ext>
            </a:extLst>
          </p:cNvPr>
          <p:cNvSpPr/>
          <p:nvPr/>
        </p:nvSpPr>
        <p:spPr>
          <a:xfrm>
            <a:off x="6741347" y="3941699"/>
            <a:ext cx="971816" cy="5539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040E1828-FA7B-08B2-B9A8-BFD6656AD499}"/>
              </a:ext>
            </a:extLst>
          </p:cNvPr>
          <p:cNvSpPr/>
          <p:nvPr/>
        </p:nvSpPr>
        <p:spPr>
          <a:xfrm>
            <a:off x="8574542" y="3941699"/>
            <a:ext cx="971816" cy="5539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EF6E05A9-4E0E-F08A-E461-EAADBD4ABF2D}"/>
              </a:ext>
            </a:extLst>
          </p:cNvPr>
          <p:cNvCxnSpPr>
            <a:cxnSpLocks/>
            <a:stCxn id="76" idx="3"/>
            <a:endCxn id="88" idx="1"/>
          </p:cNvCxnSpPr>
          <p:nvPr/>
        </p:nvCxnSpPr>
        <p:spPr>
          <a:xfrm>
            <a:off x="7713163" y="4218657"/>
            <a:ext cx="8613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5EF37A3C-CEFB-3614-4839-A270E9EDEA73}"/>
              </a:ext>
            </a:extLst>
          </p:cNvPr>
          <p:cNvSpPr txBox="1"/>
          <p:nvPr/>
        </p:nvSpPr>
        <p:spPr>
          <a:xfrm>
            <a:off x="7713163" y="3818545"/>
            <a:ext cx="861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4,096</a:t>
            </a:r>
            <a:endParaRPr kumimoji="1" lang="en-US" altLang="ja-JP" sz="20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D2B84892-FBDF-1554-79F7-1A472F2AA676}"/>
              </a:ext>
            </a:extLst>
          </p:cNvPr>
          <p:cNvSpPr txBox="1"/>
          <p:nvPr/>
        </p:nvSpPr>
        <p:spPr>
          <a:xfrm>
            <a:off x="10026215" y="2851970"/>
            <a:ext cx="2039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面白い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BE65083B-5CB5-3D27-27C1-23DD8F5A0D1D}"/>
              </a:ext>
            </a:extLst>
          </p:cNvPr>
          <p:cNvSpPr txBox="1"/>
          <p:nvPr/>
        </p:nvSpPr>
        <p:spPr>
          <a:xfrm>
            <a:off x="10026215" y="3986009"/>
            <a:ext cx="2039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やや面白い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6BE6E3F-3568-56D5-D71A-ED443621A5DA}"/>
              </a:ext>
            </a:extLst>
          </p:cNvPr>
          <p:cNvSpPr txBox="1"/>
          <p:nvPr/>
        </p:nvSpPr>
        <p:spPr>
          <a:xfrm>
            <a:off x="10030273" y="4999804"/>
            <a:ext cx="2039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面白くない</a:t>
            </a:r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83AD4C4E-80F4-D310-B9D2-55D176E3AB10}"/>
              </a:ext>
            </a:extLst>
          </p:cNvPr>
          <p:cNvCxnSpPr>
            <a:cxnSpLocks/>
            <a:stCxn id="88" idx="3"/>
            <a:endCxn id="93" idx="1"/>
          </p:cNvCxnSpPr>
          <p:nvPr/>
        </p:nvCxnSpPr>
        <p:spPr>
          <a:xfrm flipV="1">
            <a:off x="9546358" y="3082803"/>
            <a:ext cx="479857" cy="1135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D66B58FE-43C1-448E-BFF2-1DB831C73CE5}"/>
              </a:ext>
            </a:extLst>
          </p:cNvPr>
          <p:cNvCxnSpPr>
            <a:cxnSpLocks/>
            <a:stCxn id="88" idx="3"/>
            <a:endCxn id="94" idx="1"/>
          </p:cNvCxnSpPr>
          <p:nvPr/>
        </p:nvCxnSpPr>
        <p:spPr>
          <a:xfrm flipV="1">
            <a:off x="9546358" y="4216842"/>
            <a:ext cx="479857" cy="1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71E627AA-0BA7-57FE-0488-F8FDF7BBC82A}"/>
              </a:ext>
            </a:extLst>
          </p:cNvPr>
          <p:cNvCxnSpPr>
            <a:cxnSpLocks/>
            <a:stCxn id="88" idx="3"/>
            <a:endCxn id="95" idx="1"/>
          </p:cNvCxnSpPr>
          <p:nvPr/>
        </p:nvCxnSpPr>
        <p:spPr>
          <a:xfrm>
            <a:off x="9546358" y="4218657"/>
            <a:ext cx="483915" cy="10119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四角形吹き出し 110">
            <a:extLst>
              <a:ext uri="{FF2B5EF4-FFF2-40B4-BE49-F238E27FC236}">
                <a16:creationId xmlns:a16="http://schemas.microsoft.com/office/drawing/2014/main" id="{E9552276-FADE-3698-080C-F7EF69F2D421}"/>
              </a:ext>
            </a:extLst>
          </p:cNvPr>
          <p:cNvSpPr/>
          <p:nvPr/>
        </p:nvSpPr>
        <p:spPr>
          <a:xfrm>
            <a:off x="1896979" y="5284146"/>
            <a:ext cx="1788871" cy="460138"/>
          </a:xfrm>
          <a:prstGeom prst="wedgeRectCallout">
            <a:avLst>
              <a:gd name="adj1" fmla="val 74673"/>
              <a:gd name="adj2" fmla="val -3686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差分を計算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12" name="四角形吹き出し 111">
            <a:extLst>
              <a:ext uri="{FF2B5EF4-FFF2-40B4-BE49-F238E27FC236}">
                <a16:creationId xmlns:a16="http://schemas.microsoft.com/office/drawing/2014/main" id="{42E7A874-4F23-624D-3FFC-ED29F689E49D}"/>
              </a:ext>
            </a:extLst>
          </p:cNvPr>
          <p:cNvSpPr/>
          <p:nvPr/>
        </p:nvSpPr>
        <p:spPr>
          <a:xfrm>
            <a:off x="6968360" y="4633057"/>
            <a:ext cx="1788871" cy="460138"/>
          </a:xfrm>
          <a:prstGeom prst="wedgeRectCallout">
            <a:avLst>
              <a:gd name="adj1" fmla="val 8312"/>
              <a:gd name="adj2" fmla="val -9961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Leaky </a:t>
            </a:r>
            <a:r>
              <a:rPr kumimoji="1" lang="en-US" altLang="ja-JP" sz="2400" dirty="0" err="1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ReLU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3530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8BF00-7064-ED1F-44FC-B2CD85FC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Jina_v4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15286B-360A-742A-55AA-4649B1219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適当な画像と文章でコサイン類似度を計算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BC8C64-5640-EA17-24D0-E6518935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CED85DD-1D79-E4DA-C012-164ACC320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537" t="35717" r="1622" b="28575"/>
          <a:stretch>
            <a:fillRect/>
          </a:stretch>
        </p:blipFill>
        <p:spPr>
          <a:xfrm>
            <a:off x="2776196" y="2123372"/>
            <a:ext cx="2180496" cy="145130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2D8EE2-893D-F5E7-53F4-E66666185489}"/>
              </a:ext>
            </a:extLst>
          </p:cNvPr>
          <p:cNvSpPr/>
          <p:nvPr/>
        </p:nvSpPr>
        <p:spPr>
          <a:xfrm>
            <a:off x="6601555" y="1942745"/>
            <a:ext cx="1460991" cy="3130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" name="フローチャート: 手作業 6">
            <a:extLst>
              <a:ext uri="{FF2B5EF4-FFF2-40B4-BE49-F238E27FC236}">
                <a16:creationId xmlns:a16="http://schemas.microsoft.com/office/drawing/2014/main" id="{ADE0E853-E13F-6C14-1E6B-9C9A236CA773}"/>
              </a:ext>
            </a:extLst>
          </p:cNvPr>
          <p:cNvSpPr/>
          <p:nvPr/>
        </p:nvSpPr>
        <p:spPr>
          <a:xfrm rot="16200000">
            <a:off x="6664825" y="2313569"/>
            <a:ext cx="1332984" cy="1092447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I.E.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フローチャート: 手作業 7">
            <a:extLst>
              <a:ext uri="{FF2B5EF4-FFF2-40B4-BE49-F238E27FC236}">
                <a16:creationId xmlns:a16="http://schemas.microsoft.com/office/drawing/2014/main" id="{8AA687CF-721A-CF5A-114D-107D0B014DB3}"/>
              </a:ext>
            </a:extLst>
          </p:cNvPr>
          <p:cNvSpPr/>
          <p:nvPr/>
        </p:nvSpPr>
        <p:spPr>
          <a:xfrm rot="16200000">
            <a:off x="6664823" y="3753621"/>
            <a:ext cx="1332985" cy="1092447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S.E.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414779-CD35-7FD5-E93C-B92B7B6AA3C2}"/>
              </a:ext>
            </a:extLst>
          </p:cNvPr>
          <p:cNvSpPr txBox="1"/>
          <p:nvPr/>
        </p:nvSpPr>
        <p:spPr>
          <a:xfrm>
            <a:off x="2568223" y="3884345"/>
            <a:ext cx="2382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カメラを構えた女性と犬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C8B123F-B74A-E492-99EC-0A5C52C141F6}"/>
              </a:ext>
            </a:extLst>
          </p:cNvPr>
          <p:cNvSpPr txBox="1"/>
          <p:nvPr/>
        </p:nvSpPr>
        <p:spPr>
          <a:xfrm>
            <a:off x="6693138" y="1692099"/>
            <a:ext cx="12763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Jina_v4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CE1653B2-A46B-7E4D-1135-D269ED252C4C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4956692" y="2849024"/>
            <a:ext cx="1828402" cy="10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219F780-755E-1660-A087-B5EB013331CE}"/>
              </a:ext>
            </a:extLst>
          </p:cNvPr>
          <p:cNvCxnSpPr>
            <a:cxnSpLocks/>
            <a:stCxn id="10" idx="3"/>
            <a:endCxn id="8" idx="0"/>
          </p:cNvCxnSpPr>
          <p:nvPr/>
        </p:nvCxnSpPr>
        <p:spPr>
          <a:xfrm>
            <a:off x="4950934" y="4299844"/>
            <a:ext cx="18341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251BE01-8A3D-DC12-A541-81D15929E049}"/>
              </a:ext>
            </a:extLst>
          </p:cNvPr>
          <p:cNvSpPr txBox="1"/>
          <p:nvPr/>
        </p:nvSpPr>
        <p:spPr>
          <a:xfrm>
            <a:off x="2568223" y="4715342"/>
            <a:ext cx="2382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油マシマシ</a:t>
            </a:r>
            <a:endParaRPr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ラーメン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1362D2-63B4-12BD-6C85-787058BBEA7B}"/>
              </a:ext>
            </a:extLst>
          </p:cNvPr>
          <p:cNvSpPr txBox="1"/>
          <p:nvPr/>
        </p:nvSpPr>
        <p:spPr>
          <a:xfrm>
            <a:off x="1497569" y="5546339"/>
            <a:ext cx="4466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A woman and a dog with a camera set up on the ground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632247B-DF1E-8712-2082-EC5403B7F732}"/>
              </a:ext>
            </a:extLst>
          </p:cNvPr>
          <p:cNvCxnSpPr>
            <a:cxnSpLocks/>
            <a:stCxn id="20" idx="3"/>
            <a:endCxn id="8" idx="0"/>
          </p:cNvCxnSpPr>
          <p:nvPr/>
        </p:nvCxnSpPr>
        <p:spPr>
          <a:xfrm flipV="1">
            <a:off x="4950934" y="4299844"/>
            <a:ext cx="1834158" cy="8309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18F0E14A-88B3-9D81-2059-F729751E320F}"/>
              </a:ext>
            </a:extLst>
          </p:cNvPr>
          <p:cNvCxnSpPr>
            <a:cxnSpLocks/>
            <a:stCxn id="22" idx="3"/>
            <a:endCxn id="8" idx="0"/>
          </p:cNvCxnSpPr>
          <p:nvPr/>
        </p:nvCxnSpPr>
        <p:spPr>
          <a:xfrm flipV="1">
            <a:off x="5964060" y="4299844"/>
            <a:ext cx="821032" cy="16619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CFEE1B6C-4BC9-BD35-7FF5-9E16DAC46231}"/>
                  </a:ext>
                </a:extLst>
              </p:cNvPr>
              <p:cNvSpPr txBox="1"/>
              <p:nvPr/>
            </p:nvSpPr>
            <p:spPr>
              <a:xfrm>
                <a:off x="8700041" y="2675126"/>
                <a:ext cx="64618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sSubPr>
                        <m:e>
                          <m:r>
                            <a:rPr kumimoji="1" lang="en-US" altLang="ja-JP" sz="2400" b="1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𝐟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CFEE1B6C-4BC9-BD35-7FF5-9E16DAC46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041" y="2675126"/>
                <a:ext cx="646182" cy="369332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BCEAFAF8-4BEF-7D5F-D053-4F44161080F0}"/>
              </a:ext>
            </a:extLst>
          </p:cNvPr>
          <p:cNvCxnSpPr>
            <a:cxnSpLocks/>
            <a:stCxn id="7" idx="2"/>
            <a:endCxn id="31" idx="1"/>
          </p:cNvCxnSpPr>
          <p:nvPr/>
        </p:nvCxnSpPr>
        <p:spPr>
          <a:xfrm flipV="1">
            <a:off x="7877541" y="2859792"/>
            <a:ext cx="8225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745AF1AF-D206-22E6-DC9E-EAD7DF8830DF}"/>
                  </a:ext>
                </a:extLst>
              </p:cNvPr>
              <p:cNvSpPr txBox="1"/>
              <p:nvPr/>
            </p:nvSpPr>
            <p:spPr>
              <a:xfrm>
                <a:off x="8700041" y="4097601"/>
                <a:ext cx="646182" cy="4010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sSubPr>
                        <m:e>
                          <m:r>
                            <a:rPr kumimoji="1" lang="en-US" altLang="ja-JP" sz="2400" b="1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𝐟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745AF1AF-D206-22E6-DC9E-EAD7DF883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041" y="4097601"/>
                <a:ext cx="646182" cy="401072"/>
              </a:xfrm>
              <a:prstGeom prst="rect">
                <a:avLst/>
              </a:prstGeom>
              <a:blipFill>
                <a:blip r:embed="rId4"/>
                <a:stretch>
                  <a:fillRect l="-3846" b="-151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F51A2B33-CA3C-E64F-A556-6DA44B6DAE10}"/>
                  </a:ext>
                </a:extLst>
              </p:cNvPr>
              <p:cNvSpPr txBox="1"/>
              <p:nvPr/>
            </p:nvSpPr>
            <p:spPr>
              <a:xfrm>
                <a:off x="8700041" y="4930304"/>
                <a:ext cx="646182" cy="415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sSubPr>
                        <m:e>
                          <m:r>
                            <a:rPr kumimoji="1" lang="en-US" altLang="ja-JP" sz="2400" b="1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𝐟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F51A2B33-CA3C-E64F-A556-6DA44B6DA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041" y="4930304"/>
                <a:ext cx="646182" cy="415627"/>
              </a:xfrm>
              <a:prstGeom prst="rect">
                <a:avLst/>
              </a:prstGeom>
              <a:blipFill>
                <a:blip r:embed="rId5"/>
                <a:stretch>
                  <a:fillRect l="-3846" b="-121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5AB701BE-1C34-22AE-C2D4-A5022687C7F8}"/>
                  </a:ext>
                </a:extLst>
              </p:cNvPr>
              <p:cNvSpPr txBox="1"/>
              <p:nvPr/>
            </p:nvSpPr>
            <p:spPr>
              <a:xfrm>
                <a:off x="8700041" y="5759986"/>
                <a:ext cx="646182" cy="4010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sSubPr>
                        <m:e>
                          <m:r>
                            <a:rPr kumimoji="1" lang="en-US" altLang="ja-JP" sz="2400" b="1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𝐟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5AB701BE-1C34-22AE-C2D4-A5022687C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041" y="5759986"/>
                <a:ext cx="646182" cy="401072"/>
              </a:xfrm>
              <a:prstGeom prst="rect">
                <a:avLst/>
              </a:prstGeom>
              <a:blipFill>
                <a:blip r:embed="rId6"/>
                <a:stretch>
                  <a:fillRect l="-3846" b="-121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C83D80DE-6CD5-BE34-F63A-EC1023A74C8E}"/>
              </a:ext>
            </a:extLst>
          </p:cNvPr>
          <p:cNvCxnSpPr>
            <a:cxnSpLocks/>
            <a:stCxn id="8" idx="2"/>
            <a:endCxn id="36" idx="1"/>
          </p:cNvCxnSpPr>
          <p:nvPr/>
        </p:nvCxnSpPr>
        <p:spPr>
          <a:xfrm flipV="1">
            <a:off x="7877539" y="4298137"/>
            <a:ext cx="822502" cy="17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3DE55BEE-2BEF-69EC-B3EE-C3CE03B9233B}"/>
              </a:ext>
            </a:extLst>
          </p:cNvPr>
          <p:cNvCxnSpPr>
            <a:cxnSpLocks/>
            <a:stCxn id="8" idx="2"/>
            <a:endCxn id="37" idx="1"/>
          </p:cNvCxnSpPr>
          <p:nvPr/>
        </p:nvCxnSpPr>
        <p:spPr>
          <a:xfrm>
            <a:off x="7877539" y="4299844"/>
            <a:ext cx="822502" cy="8382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BB4566FB-3886-5821-2CE2-2F05298FC383}"/>
              </a:ext>
            </a:extLst>
          </p:cNvPr>
          <p:cNvCxnSpPr>
            <a:cxnSpLocks/>
            <a:stCxn id="8" idx="2"/>
            <a:endCxn id="38" idx="1"/>
          </p:cNvCxnSpPr>
          <p:nvPr/>
        </p:nvCxnSpPr>
        <p:spPr>
          <a:xfrm>
            <a:off x="7877539" y="4299844"/>
            <a:ext cx="822502" cy="16606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556D3701-4B85-1DD0-078B-D1A0666D7E1F}"/>
              </a:ext>
            </a:extLst>
          </p:cNvPr>
          <p:cNvCxnSpPr>
            <a:cxnSpLocks/>
            <a:stCxn id="31" idx="3"/>
            <a:endCxn id="36" idx="3"/>
          </p:cNvCxnSpPr>
          <p:nvPr/>
        </p:nvCxnSpPr>
        <p:spPr>
          <a:xfrm>
            <a:off x="9346223" y="2859792"/>
            <a:ext cx="12700" cy="1438345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48">
            <a:extLst>
              <a:ext uri="{FF2B5EF4-FFF2-40B4-BE49-F238E27FC236}">
                <a16:creationId xmlns:a16="http://schemas.microsoft.com/office/drawing/2014/main" id="{1B9C6FFA-9F36-B035-8DC9-6D8550DD99C6}"/>
              </a:ext>
            </a:extLst>
          </p:cNvPr>
          <p:cNvCxnSpPr>
            <a:cxnSpLocks/>
            <a:stCxn id="31" idx="3"/>
            <a:endCxn id="37" idx="3"/>
          </p:cNvCxnSpPr>
          <p:nvPr/>
        </p:nvCxnSpPr>
        <p:spPr>
          <a:xfrm>
            <a:off x="9346223" y="2859792"/>
            <a:ext cx="12700" cy="2278326"/>
          </a:xfrm>
          <a:prstGeom prst="bentConnector3">
            <a:avLst>
              <a:gd name="adj1" fmla="val 3184614"/>
            </a:avLst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48">
            <a:extLst>
              <a:ext uri="{FF2B5EF4-FFF2-40B4-BE49-F238E27FC236}">
                <a16:creationId xmlns:a16="http://schemas.microsoft.com/office/drawing/2014/main" id="{83E62238-C908-B9D7-D734-BF0C77000352}"/>
              </a:ext>
            </a:extLst>
          </p:cNvPr>
          <p:cNvCxnSpPr>
            <a:cxnSpLocks/>
            <a:stCxn id="31" idx="3"/>
            <a:endCxn id="38" idx="3"/>
          </p:cNvCxnSpPr>
          <p:nvPr/>
        </p:nvCxnSpPr>
        <p:spPr>
          <a:xfrm>
            <a:off x="9346223" y="2859792"/>
            <a:ext cx="12700" cy="3100730"/>
          </a:xfrm>
          <a:prstGeom prst="bentConnector3">
            <a:avLst>
              <a:gd name="adj1" fmla="val 4638465"/>
            </a:avLst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D998F257-325D-3B26-2844-D8955D04C94B}"/>
                  </a:ext>
                </a:extLst>
              </p:cNvPr>
              <p:cNvSpPr txBox="1"/>
              <p:nvPr/>
            </p:nvSpPr>
            <p:spPr>
              <a:xfrm>
                <a:off x="10005105" y="4113471"/>
                <a:ext cx="129605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0.6445</m:t>
                      </m:r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D998F257-325D-3B26-2844-D8955D04C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105" y="4113471"/>
                <a:ext cx="1296052" cy="369332"/>
              </a:xfrm>
              <a:prstGeom prst="rect">
                <a:avLst/>
              </a:prstGeom>
              <a:blipFill>
                <a:blip r:embed="rId7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D68785A1-0894-A6EB-4A6B-E6BEE32B51A1}"/>
                  </a:ext>
                </a:extLst>
              </p:cNvPr>
              <p:cNvSpPr txBox="1"/>
              <p:nvPr/>
            </p:nvSpPr>
            <p:spPr>
              <a:xfrm>
                <a:off x="10005105" y="4930304"/>
                <a:ext cx="129605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0.2461</m:t>
                      </m:r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D68785A1-0894-A6EB-4A6B-E6BEE32B5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105" y="4930304"/>
                <a:ext cx="1296052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84D7D6C9-CAAC-EA26-3EF5-B61AB4E5C20A}"/>
                  </a:ext>
                </a:extLst>
              </p:cNvPr>
              <p:cNvSpPr txBox="1"/>
              <p:nvPr/>
            </p:nvSpPr>
            <p:spPr>
              <a:xfrm>
                <a:off x="10005105" y="5775856"/>
                <a:ext cx="129605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0.7383</m:t>
                      </m:r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84D7D6C9-CAAC-EA26-3EF5-B61AB4E5C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105" y="5775856"/>
                <a:ext cx="1296052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吹き出し: 四角形 5">
            <a:extLst>
              <a:ext uri="{FF2B5EF4-FFF2-40B4-BE49-F238E27FC236}">
                <a16:creationId xmlns:a16="http://schemas.microsoft.com/office/drawing/2014/main" id="{88A10183-7EA9-19DC-17E4-23B569E0E0C8}"/>
              </a:ext>
            </a:extLst>
          </p:cNvPr>
          <p:cNvSpPr/>
          <p:nvPr/>
        </p:nvSpPr>
        <p:spPr>
          <a:xfrm>
            <a:off x="9718995" y="2007714"/>
            <a:ext cx="2347036" cy="538578"/>
          </a:xfrm>
          <a:prstGeom prst="wedgeRectCallout">
            <a:avLst>
              <a:gd name="adj1" fmla="val -49115"/>
              <a:gd name="adj2" fmla="val 9279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コサイン類似度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4" name="吹き出し: 四角形 5">
            <a:extLst>
              <a:ext uri="{FF2B5EF4-FFF2-40B4-BE49-F238E27FC236}">
                <a16:creationId xmlns:a16="http://schemas.microsoft.com/office/drawing/2014/main" id="{C62C1222-8504-43A4-9ED6-D6CB2A105623}"/>
              </a:ext>
            </a:extLst>
          </p:cNvPr>
          <p:cNvSpPr/>
          <p:nvPr/>
        </p:nvSpPr>
        <p:spPr>
          <a:xfrm>
            <a:off x="125969" y="4780907"/>
            <a:ext cx="2347036" cy="538578"/>
          </a:xfrm>
          <a:prstGeom prst="wedgeRectCallout">
            <a:avLst>
              <a:gd name="adj1" fmla="val 33300"/>
              <a:gd name="adj2" fmla="val 8789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マルチリンガル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1409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CECF67-A59E-3AE9-42A7-791CA9611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Macro F1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38B6449-2BB6-CAD1-496D-559E2BA7E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rgbClr val="FF0000"/>
                    </a:solidFill>
                  </a:rPr>
                  <a:t>再現率</a:t>
                </a:r>
                <a:r>
                  <a:rPr lang="en-US" altLang="ja-JP" dirty="0"/>
                  <a:t>: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altLang="ja-JP" dirty="0"/>
                  <a:t> </a:t>
                </a:r>
                <a:endParaRPr lang="en-US" altLang="ja-JP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rgbClr val="0070C0"/>
                    </a:solidFill>
                  </a:rPr>
                  <a:t>適合率</a:t>
                </a:r>
                <a:r>
                  <a:rPr lang="en-US" altLang="ja-JP" dirty="0"/>
                  <a:t>: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en-US" altLang="ja-JP" dirty="0"/>
                  <a:t> </a:t>
                </a:r>
              </a:p>
              <a:p>
                <a:pPr marL="0" indent="0">
                  <a:buNone/>
                </a:pPr>
                <a:r>
                  <a:rPr lang="en-US" altLang="ja-JP" dirty="0"/>
                  <a:t>F1 Score: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Macro F1: </a:t>
                </a:r>
                <a:r>
                  <a:rPr lang="ja-JP" altLang="en-US" dirty="0"/>
                  <a:t>各カテゴリを正例として計算した</a:t>
                </a:r>
                <a:r>
                  <a:rPr lang="en-US" altLang="ja-JP" dirty="0"/>
                  <a:t>F1</a:t>
                </a:r>
                <a:r>
                  <a:rPr lang="ja-JP" altLang="en-US" dirty="0"/>
                  <a:t>スコアの相加平均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 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38B6449-2BB6-CAD1-496D-559E2BA7E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3" b="-18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C116D6-8553-65B8-6D31-62EDE7BA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13</a:t>
            </a:fld>
            <a:endParaRPr kumimoji="1" lang="ja-JP" altLang="en-US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14AD1078-41A3-F75F-A4A9-BE948464A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361439"/>
              </p:ext>
            </p:extLst>
          </p:nvPr>
        </p:nvGraphicFramePr>
        <p:xfrm>
          <a:off x="1957472" y="813576"/>
          <a:ext cx="8277056" cy="2638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264">
                  <a:extLst>
                    <a:ext uri="{9D8B030D-6E8A-4147-A177-3AD203B41FA5}">
                      <a16:colId xmlns:a16="http://schemas.microsoft.com/office/drawing/2014/main" val="2901846392"/>
                    </a:ext>
                  </a:extLst>
                </a:gridCol>
                <a:gridCol w="2069264">
                  <a:extLst>
                    <a:ext uri="{9D8B030D-6E8A-4147-A177-3AD203B41FA5}">
                      <a16:colId xmlns:a16="http://schemas.microsoft.com/office/drawing/2014/main" val="3145905964"/>
                    </a:ext>
                  </a:extLst>
                </a:gridCol>
                <a:gridCol w="2069264">
                  <a:extLst>
                    <a:ext uri="{9D8B030D-6E8A-4147-A177-3AD203B41FA5}">
                      <a16:colId xmlns:a16="http://schemas.microsoft.com/office/drawing/2014/main" val="3430077393"/>
                    </a:ext>
                  </a:extLst>
                </a:gridCol>
                <a:gridCol w="2069264">
                  <a:extLst>
                    <a:ext uri="{9D8B030D-6E8A-4147-A177-3AD203B41FA5}">
                      <a16:colId xmlns:a16="http://schemas.microsoft.com/office/drawing/2014/main" val="1679965872"/>
                    </a:ext>
                  </a:extLst>
                </a:gridCol>
              </a:tblGrid>
              <a:tr h="496089">
                <a:tc rowSpan="2" gridSpan="2">
                  <a:txBody>
                    <a:bodyPr/>
                    <a:lstStyle/>
                    <a:p>
                      <a:pPr algn="ctr"/>
                      <a:endParaRPr kumimoji="1" lang="ja-JP" altLang="en-US" sz="240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予測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753131"/>
                  </a:ext>
                </a:extLst>
              </a:tr>
              <a:tr h="496089">
                <a:tc gridSpan="2" vMerge="1"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面白い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やや面白い</a:t>
                      </a:r>
                      <a:endParaRPr kumimoji="1" lang="en-US" altLang="ja-JP" sz="2400" dirty="0"/>
                    </a:p>
                    <a:p>
                      <a:pPr algn="ctr"/>
                      <a:r>
                        <a:rPr kumimoji="1" lang="ja-JP" altLang="en-US" sz="2400"/>
                        <a:t>面白くない</a:t>
                      </a:r>
                      <a:endParaRPr kumimoji="1" lang="en-US" altLang="ja-JP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493592"/>
                  </a:ext>
                </a:extLst>
              </a:tr>
              <a:tr h="496089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教師信号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面白い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TP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FN</a:t>
                      </a:r>
                      <a:endParaRPr kumimoji="1" lang="ja-JP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68760"/>
                  </a:ext>
                </a:extLst>
              </a:tr>
              <a:tr h="496089"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/>
                        <a:t>やや面白い</a:t>
                      </a:r>
                      <a:endParaRPr kumimoji="1" lang="en-US" altLang="ja-JP" sz="2400" dirty="0"/>
                    </a:p>
                    <a:p>
                      <a:pPr algn="ctr"/>
                      <a:r>
                        <a:rPr kumimoji="1" lang="ja-JP" altLang="en-US" sz="2400"/>
                        <a:t>面白くない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FP</a:t>
                      </a:r>
                      <a:endParaRPr kumimoji="1" lang="ja-JP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TN</a:t>
                      </a:r>
                      <a:endParaRPr kumimoji="1" lang="ja-JP" alt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913493"/>
                  </a:ext>
                </a:extLst>
              </a:tr>
            </a:tbl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F98C7C6-7C87-2C7B-82B6-5D1A48C16B38}"/>
              </a:ext>
            </a:extLst>
          </p:cNvPr>
          <p:cNvSpPr/>
          <p:nvPr/>
        </p:nvSpPr>
        <p:spPr>
          <a:xfrm>
            <a:off x="6880703" y="2170722"/>
            <a:ext cx="2523428" cy="417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3A318E8-12D6-99BD-7B17-6A3B0AA8D953}"/>
              </a:ext>
            </a:extLst>
          </p:cNvPr>
          <p:cNvSpPr/>
          <p:nvPr/>
        </p:nvSpPr>
        <p:spPr>
          <a:xfrm>
            <a:off x="6923548" y="2210138"/>
            <a:ext cx="417543" cy="103755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" name="四角形吹き出し 4">
            <a:extLst>
              <a:ext uri="{FF2B5EF4-FFF2-40B4-BE49-F238E27FC236}">
                <a16:creationId xmlns:a16="http://schemas.microsoft.com/office/drawing/2014/main" id="{158E84D1-48D7-FBCE-5816-4A8603A7914B}"/>
              </a:ext>
            </a:extLst>
          </p:cNvPr>
          <p:cNvSpPr/>
          <p:nvPr/>
        </p:nvSpPr>
        <p:spPr>
          <a:xfrm>
            <a:off x="4824470" y="4318363"/>
            <a:ext cx="3499943" cy="806047"/>
          </a:xfrm>
          <a:prstGeom prst="wedgeRectCallout">
            <a:avLst>
              <a:gd name="adj1" fmla="val -49350"/>
              <a:gd name="adj2" fmla="val 855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予測が片方のクラスに偏ると小さくなる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0" name="四角形吹き出し 9">
            <a:extLst>
              <a:ext uri="{FF2B5EF4-FFF2-40B4-BE49-F238E27FC236}">
                <a16:creationId xmlns:a16="http://schemas.microsoft.com/office/drawing/2014/main" id="{108F09CF-73D7-FCD3-6320-984A3D48667B}"/>
              </a:ext>
            </a:extLst>
          </p:cNvPr>
          <p:cNvSpPr/>
          <p:nvPr/>
        </p:nvSpPr>
        <p:spPr>
          <a:xfrm>
            <a:off x="10152310" y="1426031"/>
            <a:ext cx="1913721" cy="456579"/>
          </a:xfrm>
          <a:prstGeom prst="wedgeRectCallout">
            <a:avLst>
              <a:gd name="adj1" fmla="val -56778"/>
              <a:gd name="adj2" fmla="val 344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One-vs-Rest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6236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26B614-0D8F-345B-DF77-8C8FE006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学習結果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8D4580-AEEB-53B8-3AA6-7D098D1A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/>
              <a:t>・いずれのしきい値においても，キャプションは高精度に分類可能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ja-JP" altLang="en-US"/>
              <a:t>大喜利とキャプションは大きく異なる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/>
              <a:t>・しきい値を大きくするほど</a:t>
            </a:r>
            <a:r>
              <a:rPr lang="en-US" altLang="ja-JP" dirty="0"/>
              <a:t>Macro F1</a:t>
            </a:r>
            <a:r>
              <a:rPr lang="ja-JP" altLang="en-US"/>
              <a:t>が向上する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面白い大喜利は潜在空間上で類似した特徴量となる？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B9E5EA-9C90-BC6E-3A4A-0E0E9955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14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E1A4289-47E1-171A-716D-A4F96DF0D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962385"/>
              </p:ext>
            </p:extLst>
          </p:nvPr>
        </p:nvGraphicFramePr>
        <p:xfrm>
          <a:off x="996615" y="923933"/>
          <a:ext cx="101987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754">
                  <a:extLst>
                    <a:ext uri="{9D8B030D-6E8A-4147-A177-3AD203B41FA5}">
                      <a16:colId xmlns:a16="http://schemas.microsoft.com/office/drawing/2014/main" val="1195425520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3532687179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1150467528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2716557222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693419310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しきい値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分類精度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Macro F1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9111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面白くない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やや面白い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面白い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1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18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40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2040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60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7653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80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0.746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2162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100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0197379"/>
                  </a:ext>
                </a:extLst>
              </a:tr>
            </a:tbl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6D261FE-639E-C973-3B11-989210172055}"/>
              </a:ext>
            </a:extLst>
          </p:cNvPr>
          <p:cNvSpPr/>
          <p:nvPr/>
        </p:nvSpPr>
        <p:spPr>
          <a:xfrm>
            <a:off x="9159765" y="1836683"/>
            <a:ext cx="2035619" cy="2272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8D225CD-3021-05BF-4E41-518C440A25ED}"/>
              </a:ext>
            </a:extLst>
          </p:cNvPr>
          <p:cNvSpPr/>
          <p:nvPr/>
        </p:nvSpPr>
        <p:spPr>
          <a:xfrm>
            <a:off x="996615" y="3682675"/>
            <a:ext cx="10198770" cy="4261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6508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79F2F9-8769-A9FD-DF44-118E08EA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学習結果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538B19-1F2F-592E-41C6-3A330CF68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721282-25FD-BEAB-D0EC-76F4B3B5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5AA54B-EA46-63B6-DB71-C5664127A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34" y="809205"/>
            <a:ext cx="5425966" cy="556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CFBFDCF-DE0F-3193-7D02-18A1229AB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6095999" y="809206"/>
            <a:ext cx="5425965" cy="556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218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FDC6D6-A18E-65E2-4375-F41F239A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35FF2A-7A25-F30B-918A-20BC09F1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08DDE5-FD81-3F9C-E1C7-8CEF8319E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全結合</a:t>
            </a:r>
            <a:r>
              <a:rPr lang="en-US" altLang="ja-JP" dirty="0"/>
              <a:t>1</a:t>
            </a:r>
            <a:r>
              <a:rPr kumimoji="1" lang="ja-JP" altLang="en-US"/>
              <a:t>層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9E5A253-A536-9465-8A82-2764AEBE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16</a:t>
            </a:fld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13522DCF-D031-4C87-D8E6-C6A5629BD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37605"/>
              </p:ext>
            </p:extLst>
          </p:nvPr>
        </p:nvGraphicFramePr>
        <p:xfrm>
          <a:off x="996615" y="1995256"/>
          <a:ext cx="101987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754">
                  <a:extLst>
                    <a:ext uri="{9D8B030D-6E8A-4147-A177-3AD203B41FA5}">
                      <a16:colId xmlns:a16="http://schemas.microsoft.com/office/drawing/2014/main" val="1195425520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3532687179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1150467528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2716557222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693419310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しきい値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分類精度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Macro F1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9111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面白くない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やや面白い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面白い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1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18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40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2040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60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7653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80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2162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100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0197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246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5FCB4A-9601-AC61-93DE-6072FCB9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ADB8A6-F422-51FE-4A73-181FA755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実験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F4E671-F5F9-4189-6108-3A5F04119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全結合</a:t>
            </a:r>
            <a:r>
              <a:rPr kumimoji="1" lang="en-US" altLang="ja-JP" dirty="0"/>
              <a:t>2</a:t>
            </a:r>
            <a:r>
              <a:rPr kumimoji="1" lang="ja-JP" altLang="en-US"/>
              <a:t>層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4A749A-1A0E-A20E-D473-8A27DBC6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17</a:t>
            </a:fld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43F1A5A-F38A-453C-E8EA-3C1C44756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948310"/>
              </p:ext>
            </p:extLst>
          </p:nvPr>
        </p:nvGraphicFramePr>
        <p:xfrm>
          <a:off x="996615" y="1995256"/>
          <a:ext cx="101987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754">
                  <a:extLst>
                    <a:ext uri="{9D8B030D-6E8A-4147-A177-3AD203B41FA5}">
                      <a16:colId xmlns:a16="http://schemas.microsoft.com/office/drawing/2014/main" val="1195425520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3532687179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1150467528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2716557222"/>
                    </a:ext>
                  </a:extLst>
                </a:gridCol>
                <a:gridCol w="2039754">
                  <a:extLst>
                    <a:ext uri="{9D8B030D-6E8A-4147-A177-3AD203B41FA5}">
                      <a16:colId xmlns:a16="http://schemas.microsoft.com/office/drawing/2014/main" val="693419310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しきい値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分類精度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Macro F1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9111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面白くない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やや面白い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面白い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1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18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40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0.746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2040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60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7653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80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2162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100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0.993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0.576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0.697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0.755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0197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289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4061F-0825-2E7F-940F-F7138D71E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43EB43-6BC9-24DB-1555-40B9B0F6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学習結果</a:t>
            </a:r>
            <a:r>
              <a:rPr lang="en-US" altLang="ja-JP" dirty="0"/>
              <a:t>(</a:t>
            </a:r>
            <a:r>
              <a:rPr lang="ja-JP" altLang="en-US"/>
              <a:t>しきい値</a:t>
            </a:r>
            <a:r>
              <a:rPr lang="en-US" altLang="ja-JP" dirty="0"/>
              <a:t>100</a:t>
            </a:r>
            <a:r>
              <a:rPr lang="ja-JP" altLang="en-US"/>
              <a:t>のモデル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68B3AB-408E-A470-DEB8-93D01A821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予測の例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2ECF01-A198-4F27-ADE3-DB8B56C4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18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9706224-B197-C794-F7F7-4C6758A94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61936"/>
              </p:ext>
            </p:extLst>
          </p:nvPr>
        </p:nvGraphicFramePr>
        <p:xfrm>
          <a:off x="125969" y="813576"/>
          <a:ext cx="11940062" cy="5624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736">
                  <a:extLst>
                    <a:ext uri="{9D8B030D-6E8A-4147-A177-3AD203B41FA5}">
                      <a16:colId xmlns:a16="http://schemas.microsoft.com/office/drawing/2014/main" val="2737295922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3858915791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512682883"/>
                    </a:ext>
                  </a:extLst>
                </a:gridCol>
              </a:tblGrid>
              <a:tr h="312476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入力画像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72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キャプション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静かに目を閉じる男性の背後に、</a:t>
                      </a:r>
                      <a:endParaRPr kumimoji="1" lang="en-US" altLang="ja-JP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薄く透過した笑顔の顔が配置された画像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窓際で手を頭の後ろに組み、</a:t>
                      </a:r>
                      <a:endParaRPr kumimoji="1" lang="en-US" altLang="ja-JP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ポーズをとる二人の男性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6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94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ボケての大喜利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子供も連れて実家に帰省？</a:t>
                      </a:r>
                      <a:endParaRPr kumimoji="1" lang="en-US" altLang="ja-JP" sz="2000" dirty="0"/>
                    </a:p>
                    <a:p>
                      <a:pPr algn="ctr"/>
                      <a:r>
                        <a:rPr kumimoji="1" lang="ja-JP" altLang="en-US" sz="2000" dirty="0"/>
                        <a:t>分かった寂しいけど留守番してるね</a:t>
                      </a: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 dirty="0"/>
                        <a:t>⭐️</a:t>
                      </a:r>
                      <a:r>
                        <a:rPr kumimoji="1" lang="en-US" altLang="ja-JP" sz="2000" dirty="0"/>
                        <a:t>5,223</a:t>
                      </a:r>
                      <a:r>
                        <a:rPr kumimoji="1" lang="ja-JP" altLang="en-US" sz="2000" dirty="0"/>
                        <a:t>，</a:t>
                      </a:r>
                      <a:r>
                        <a:rPr kumimoji="1" lang="en-US" altLang="ja-JP" sz="2000" dirty="0"/>
                        <a:t>12</a:t>
                      </a:r>
                      <a:r>
                        <a:rPr kumimoji="1" lang="ja-JP" altLang="en-US" sz="2000" dirty="0"/>
                        <a:t>ヵ月前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アロンアルファ被害者</a:t>
                      </a:r>
                      <a:endParaRPr kumimoji="1" lang="en-US" altLang="ja-JP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 dirty="0"/>
                        <a:t>⭐️</a:t>
                      </a:r>
                      <a:r>
                        <a:rPr kumimoji="1" lang="en-US" altLang="ja-JP" sz="2000" dirty="0"/>
                        <a:t>1</a:t>
                      </a:r>
                      <a:r>
                        <a:rPr kumimoji="1" lang="ja-JP" altLang="en-US" sz="2000" dirty="0"/>
                        <a:t>，</a:t>
                      </a:r>
                      <a:r>
                        <a:rPr kumimoji="1" lang="en-US" altLang="ja-JP" sz="2000" dirty="0"/>
                        <a:t>12</a:t>
                      </a:r>
                      <a:r>
                        <a:rPr kumimoji="1" lang="ja-JP" altLang="en-US" sz="2000" dirty="0"/>
                        <a:t>ヵ月前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302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  <a:endParaRPr kumimoji="1" lang="ja-JP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面白い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やや面白い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898361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D0955B2B-F076-AE16-DA0E-900043FE0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45" y="845659"/>
            <a:ext cx="4959226" cy="305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DB64CBC-E9E1-CA44-E4E7-A2C980D97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8599458" y="845659"/>
            <a:ext cx="2182954" cy="305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590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1D1E4F-1321-4E35-2972-F1ABB0526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51CF83-34E4-A285-28DC-248F90A4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学習結果</a:t>
            </a:r>
            <a:r>
              <a:rPr lang="en-US" altLang="ja-JP" dirty="0"/>
              <a:t>(</a:t>
            </a:r>
            <a:r>
              <a:rPr lang="ja-JP" altLang="en-US"/>
              <a:t>しきい値</a:t>
            </a:r>
            <a:r>
              <a:rPr lang="en-US" altLang="ja-JP" dirty="0"/>
              <a:t>100</a:t>
            </a:r>
            <a:r>
              <a:rPr lang="ja-JP" altLang="en-US"/>
              <a:t>のモデル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AFB22B-5847-AAFD-2639-D5B952083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予測の例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649A56-3331-8750-C3F9-CA1E2156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19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62878B67-C836-7BA3-210F-A41141BA3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102526"/>
              </p:ext>
            </p:extLst>
          </p:nvPr>
        </p:nvGraphicFramePr>
        <p:xfrm>
          <a:off x="125969" y="813576"/>
          <a:ext cx="11940062" cy="5319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736">
                  <a:extLst>
                    <a:ext uri="{9D8B030D-6E8A-4147-A177-3AD203B41FA5}">
                      <a16:colId xmlns:a16="http://schemas.microsoft.com/office/drawing/2014/main" val="2737295922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3858915791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512682883"/>
                    </a:ext>
                  </a:extLst>
                </a:gridCol>
              </a:tblGrid>
              <a:tr h="312476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入力画像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72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キャプション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青いメガネをかけ、人差し指を立ててポーズをとる笑顔のシニア男性。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屋外の草地で横顔を見せる、毛並みの長い犬のモノクロ写真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6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94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ボケての大喜利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仏の顔</a:t>
                      </a:r>
                      <a:r>
                        <a:rPr kumimoji="1" lang="en-US" altLang="ja-JP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度目</a:t>
                      </a:r>
                    </a:p>
                    <a:p>
                      <a:pPr algn="ctr"/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/>
                        <a:t>⭐️</a:t>
                      </a:r>
                      <a:r>
                        <a:rPr kumimoji="1" lang="en-US" altLang="ja-JP" sz="2000" dirty="0"/>
                        <a:t>135)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猫だって言い出せない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/>
                        <a:t>⭐️</a:t>
                      </a:r>
                      <a:r>
                        <a:rPr kumimoji="1" lang="en-US" altLang="ja-JP" sz="2000" dirty="0"/>
                        <a:t>3</a:t>
                      </a:r>
                      <a:r>
                        <a:rPr kumimoji="1" lang="ja-JP" altLang="en-US" sz="2000"/>
                        <a:t>，</a:t>
                      </a:r>
                      <a:r>
                        <a:rPr kumimoji="1" lang="en-US" altLang="ja-JP" sz="2000" dirty="0"/>
                        <a:t>1</a:t>
                      </a:r>
                      <a:r>
                        <a:rPr kumimoji="1" lang="ja-JP" altLang="en-US" sz="2000"/>
                        <a:t>年前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302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  <a:endParaRPr kumimoji="1" lang="ja-JP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>
                          <a:solidFill>
                            <a:srgbClr val="FF0000"/>
                          </a:solidFill>
                        </a:rPr>
                        <a:t>やや面白い</a:t>
                      </a:r>
                      <a:endParaRPr kumimoji="1" lang="ja-JP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>
                          <a:solidFill>
                            <a:srgbClr val="FF0000"/>
                          </a:solidFill>
                        </a:rPr>
                        <a:t>面白い</a:t>
                      </a:r>
                      <a:endParaRPr kumimoji="1" lang="ja-JP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898361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B2560633-02DE-B54B-0601-BD7844BC3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593552" y="845659"/>
            <a:ext cx="2124212" cy="305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573BA2C-9C39-F344-19A1-5F1D8BB88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449671" y="846789"/>
            <a:ext cx="4481259" cy="305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535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0F46F6-FE00-AFE8-01D8-BD72372BE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CF9AEC-F0C3-5F98-6997-5D98D1DF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学習結果</a:t>
            </a:r>
            <a:r>
              <a:rPr lang="en-US" altLang="ja-JP" dirty="0"/>
              <a:t>(</a:t>
            </a:r>
            <a:r>
              <a:rPr lang="ja-JP" altLang="en-US"/>
              <a:t>しきい値</a:t>
            </a:r>
            <a:r>
              <a:rPr lang="en-US" altLang="ja-JP" dirty="0"/>
              <a:t>60</a:t>
            </a:r>
            <a:r>
              <a:rPr lang="ja-JP" altLang="en-US"/>
              <a:t>のモデル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2375BF-7DDF-7F4B-B499-0F5E50066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予測の例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687611-9F55-4FFF-AE44-186B25C12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20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68B2D8B-9C80-7CEE-8F4B-21762634CC86}"/>
              </a:ext>
            </a:extLst>
          </p:cNvPr>
          <p:cNvGraphicFramePr>
            <a:graphicFrameLocks noGrp="1"/>
          </p:cNvGraphicFramePr>
          <p:nvPr/>
        </p:nvGraphicFramePr>
        <p:xfrm>
          <a:off x="125969" y="813576"/>
          <a:ext cx="11940062" cy="5624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736">
                  <a:extLst>
                    <a:ext uri="{9D8B030D-6E8A-4147-A177-3AD203B41FA5}">
                      <a16:colId xmlns:a16="http://schemas.microsoft.com/office/drawing/2014/main" val="2737295922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3858915791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512682883"/>
                    </a:ext>
                  </a:extLst>
                </a:gridCol>
              </a:tblGrid>
              <a:tr h="312476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入力画像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72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キャプション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静かに目を閉じる男性の背後に、</a:t>
                      </a:r>
                      <a:endParaRPr kumimoji="1" lang="en-US" altLang="ja-JP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薄く透過した笑顔の顔が配置された画像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窓際で手を頭の後ろに組み、</a:t>
                      </a:r>
                      <a:endParaRPr kumimoji="1" lang="en-US" altLang="ja-JP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ポーズをとる二人の男性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6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94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ボケての大喜利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子供も連れて実家に帰省？</a:t>
                      </a:r>
                      <a:endParaRPr kumimoji="1" lang="en-US" altLang="ja-JP" sz="2000" dirty="0"/>
                    </a:p>
                    <a:p>
                      <a:pPr algn="ctr"/>
                      <a:r>
                        <a:rPr kumimoji="1" lang="ja-JP" altLang="en-US" sz="2000" dirty="0"/>
                        <a:t>分かった寂しいけど留守番してるね</a:t>
                      </a: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 dirty="0"/>
                        <a:t>⭐️</a:t>
                      </a:r>
                      <a:r>
                        <a:rPr kumimoji="1" lang="en-US" altLang="ja-JP" sz="2000" dirty="0"/>
                        <a:t>5,223</a:t>
                      </a:r>
                      <a:r>
                        <a:rPr kumimoji="1" lang="ja-JP" altLang="en-US" sz="2000" dirty="0"/>
                        <a:t>，</a:t>
                      </a:r>
                      <a:r>
                        <a:rPr kumimoji="1" lang="en-US" altLang="ja-JP" sz="2000" dirty="0"/>
                        <a:t>12</a:t>
                      </a:r>
                      <a:r>
                        <a:rPr kumimoji="1" lang="ja-JP" altLang="en-US" sz="2000" dirty="0"/>
                        <a:t>ヵ月前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アロンアルファ被害者</a:t>
                      </a:r>
                      <a:endParaRPr kumimoji="1" lang="en-US" altLang="ja-JP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 dirty="0"/>
                        <a:t>⭐️</a:t>
                      </a:r>
                      <a:r>
                        <a:rPr kumimoji="1" lang="en-US" altLang="ja-JP" sz="2000" dirty="0"/>
                        <a:t>1</a:t>
                      </a:r>
                      <a:r>
                        <a:rPr kumimoji="1" lang="ja-JP" altLang="en-US" sz="2000" dirty="0"/>
                        <a:t>，</a:t>
                      </a:r>
                      <a:r>
                        <a:rPr kumimoji="1" lang="en-US" altLang="ja-JP" sz="2000" dirty="0"/>
                        <a:t>12</a:t>
                      </a:r>
                      <a:r>
                        <a:rPr kumimoji="1" lang="ja-JP" altLang="en-US" sz="2000" dirty="0"/>
                        <a:t>ヵ月前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302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  <a:endParaRPr kumimoji="1" lang="ja-JP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面白い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やや面白い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898361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A3BACA82-ECE3-E65B-0B48-324E48E16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45" y="845659"/>
            <a:ext cx="4959226" cy="305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C85408A-1775-CC1C-FE5A-196C70179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8599458" y="845659"/>
            <a:ext cx="2182954" cy="305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293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BA3A4A-601A-FA1F-9ACE-F2AA5BED3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22C552-B996-4561-99B6-3FE88A7E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学習結果</a:t>
            </a:r>
            <a:r>
              <a:rPr lang="en-US" altLang="ja-JP" dirty="0"/>
              <a:t>(</a:t>
            </a:r>
            <a:r>
              <a:rPr lang="ja-JP" altLang="en-US"/>
              <a:t>しきい値</a:t>
            </a:r>
            <a:r>
              <a:rPr lang="en-US" altLang="ja-JP" dirty="0"/>
              <a:t>60</a:t>
            </a:r>
            <a:r>
              <a:rPr lang="ja-JP" altLang="en-US"/>
              <a:t>のモデル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759F97-0BBD-F423-68F5-5688D8635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予測の例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98B0D2-CB24-D1C5-FD03-F82ACCD2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21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4ABBA34-5F6A-2AEC-7619-F639EBC62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344357"/>
              </p:ext>
            </p:extLst>
          </p:nvPr>
        </p:nvGraphicFramePr>
        <p:xfrm>
          <a:off x="125969" y="813576"/>
          <a:ext cx="11940062" cy="5319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736">
                  <a:extLst>
                    <a:ext uri="{9D8B030D-6E8A-4147-A177-3AD203B41FA5}">
                      <a16:colId xmlns:a16="http://schemas.microsoft.com/office/drawing/2014/main" val="2737295922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3858915791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512682883"/>
                    </a:ext>
                  </a:extLst>
                </a:gridCol>
              </a:tblGrid>
              <a:tr h="312476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入力画像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72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キャプション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青いメガネをかけ、人差し指を立ててポーズをとる笑顔のシニア男性。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屋外の草地で横顔を見せる、毛並みの長い犬のモノクロ写真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6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94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ボケての大喜利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仏の顔</a:t>
                      </a:r>
                      <a:r>
                        <a:rPr kumimoji="1" lang="en-US" altLang="ja-JP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度目</a:t>
                      </a:r>
                    </a:p>
                    <a:p>
                      <a:pPr algn="ctr"/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/>
                        <a:t>⭐️</a:t>
                      </a:r>
                      <a:r>
                        <a:rPr kumimoji="1" lang="en-US" altLang="ja-JP" sz="2000" dirty="0"/>
                        <a:t>135)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猫だって言い出せない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/>
                        <a:t>⭐️</a:t>
                      </a:r>
                      <a:r>
                        <a:rPr kumimoji="1" lang="en-US" altLang="ja-JP" sz="2000" dirty="0"/>
                        <a:t>3</a:t>
                      </a:r>
                      <a:r>
                        <a:rPr kumimoji="1" lang="ja-JP" altLang="en-US" sz="2000"/>
                        <a:t>，</a:t>
                      </a:r>
                      <a:r>
                        <a:rPr kumimoji="1" lang="en-US" altLang="ja-JP" sz="2000" dirty="0"/>
                        <a:t>1</a:t>
                      </a:r>
                      <a:r>
                        <a:rPr kumimoji="1" lang="ja-JP" altLang="en-US" sz="2000"/>
                        <a:t>年前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302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  <a:endParaRPr kumimoji="1" lang="ja-JP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>
                          <a:solidFill>
                            <a:srgbClr val="FF0000"/>
                          </a:solidFill>
                        </a:rPr>
                        <a:t>やや面白い</a:t>
                      </a:r>
                      <a:endParaRPr kumimoji="1" lang="ja-JP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>
                          <a:solidFill>
                            <a:schemeClr val="tx1"/>
                          </a:solidFill>
                        </a:rPr>
                        <a:t>やや面白い</a:t>
                      </a:r>
                      <a:endParaRPr kumimoji="1" lang="ja-JP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898361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FC5E3895-EA53-C160-9C93-F1F0F6F14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593552" y="845659"/>
            <a:ext cx="2124212" cy="305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9E9EE1B-D3D1-B48A-8EB8-783A0C356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449671" y="846789"/>
            <a:ext cx="4481259" cy="305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51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30E730-50BE-E362-C169-DF561E24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FCD774-B7A6-E5AB-9F64-E97A80FF2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学習結果</a:t>
            </a:r>
            <a:r>
              <a:rPr lang="en-US" altLang="ja-JP" dirty="0"/>
              <a:t>(</a:t>
            </a:r>
            <a:r>
              <a:rPr lang="ja-JP" altLang="en-US"/>
              <a:t>しきい値</a:t>
            </a:r>
            <a:r>
              <a:rPr lang="en-US" altLang="ja-JP" dirty="0"/>
              <a:t>20</a:t>
            </a:r>
            <a:r>
              <a:rPr lang="ja-JP" altLang="en-US"/>
              <a:t>のモデル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3A0141-8ABA-C7A3-B9E9-9CB9364F1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予測の例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ECC66A-1986-4218-2EC6-244C0B5C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22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1A6D88D6-4338-C689-AE45-4B9B4709C726}"/>
              </a:ext>
            </a:extLst>
          </p:cNvPr>
          <p:cNvGraphicFramePr>
            <a:graphicFrameLocks noGrp="1"/>
          </p:cNvGraphicFramePr>
          <p:nvPr/>
        </p:nvGraphicFramePr>
        <p:xfrm>
          <a:off x="125969" y="813576"/>
          <a:ext cx="11940062" cy="5624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736">
                  <a:extLst>
                    <a:ext uri="{9D8B030D-6E8A-4147-A177-3AD203B41FA5}">
                      <a16:colId xmlns:a16="http://schemas.microsoft.com/office/drawing/2014/main" val="2737295922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3858915791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512682883"/>
                    </a:ext>
                  </a:extLst>
                </a:gridCol>
              </a:tblGrid>
              <a:tr h="312476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入力画像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72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キャプション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静かに目を閉じる男性の背後に、</a:t>
                      </a:r>
                      <a:endParaRPr kumimoji="1" lang="en-US" altLang="ja-JP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薄く透過した笑顔の顔が配置された画像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窓際で手を頭の後ろに組み、</a:t>
                      </a:r>
                      <a:endParaRPr kumimoji="1" lang="en-US" altLang="ja-JP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ポーズをとる二人の男性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6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94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ボケての大喜利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子供も連れて実家に帰省？</a:t>
                      </a:r>
                      <a:endParaRPr kumimoji="1" lang="en-US" altLang="ja-JP" sz="2000" dirty="0"/>
                    </a:p>
                    <a:p>
                      <a:pPr algn="ctr"/>
                      <a:r>
                        <a:rPr kumimoji="1" lang="ja-JP" altLang="en-US" sz="2000" dirty="0"/>
                        <a:t>分かった寂しいけど留守番してるね</a:t>
                      </a: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 dirty="0"/>
                        <a:t>⭐️</a:t>
                      </a:r>
                      <a:r>
                        <a:rPr kumimoji="1" lang="en-US" altLang="ja-JP" sz="2000" dirty="0"/>
                        <a:t>5,223</a:t>
                      </a:r>
                      <a:r>
                        <a:rPr kumimoji="1" lang="ja-JP" altLang="en-US" sz="2000" dirty="0"/>
                        <a:t>，</a:t>
                      </a:r>
                      <a:r>
                        <a:rPr kumimoji="1" lang="en-US" altLang="ja-JP" sz="2000" dirty="0"/>
                        <a:t>12</a:t>
                      </a:r>
                      <a:r>
                        <a:rPr kumimoji="1" lang="ja-JP" altLang="en-US" sz="2000" dirty="0"/>
                        <a:t>ヵ月前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アロンアルファ被害者</a:t>
                      </a:r>
                      <a:endParaRPr kumimoji="1" lang="en-US" altLang="ja-JP" sz="2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 dirty="0"/>
                        <a:t>⭐️</a:t>
                      </a:r>
                      <a:r>
                        <a:rPr kumimoji="1" lang="en-US" altLang="ja-JP" sz="2000" dirty="0"/>
                        <a:t>1</a:t>
                      </a:r>
                      <a:r>
                        <a:rPr kumimoji="1" lang="ja-JP" altLang="en-US" sz="2000" dirty="0"/>
                        <a:t>，</a:t>
                      </a:r>
                      <a:r>
                        <a:rPr kumimoji="1" lang="en-US" altLang="ja-JP" sz="2000" dirty="0"/>
                        <a:t>12</a:t>
                      </a:r>
                      <a:r>
                        <a:rPr kumimoji="1" lang="ja-JP" altLang="en-US" sz="2000" dirty="0"/>
                        <a:t>ヵ月前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302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  <a:endParaRPr kumimoji="1" lang="ja-JP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面白い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やや面白い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898361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90421E74-62C7-CD00-F552-0C231BBFE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45" y="845659"/>
            <a:ext cx="4959226" cy="305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146043A-511C-9F74-8BBB-AB3425663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8599458" y="845659"/>
            <a:ext cx="2182954" cy="305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00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DF55CD-5256-5AB4-42A4-5DA4B79F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B174AD-7915-5BAC-44B6-A04BA4BBA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学習結果</a:t>
            </a:r>
            <a:r>
              <a:rPr lang="en-US" altLang="ja-JP" dirty="0"/>
              <a:t>(</a:t>
            </a:r>
            <a:r>
              <a:rPr lang="ja-JP" altLang="en-US"/>
              <a:t>しきい値</a:t>
            </a:r>
            <a:r>
              <a:rPr lang="en-US" altLang="ja-JP" dirty="0"/>
              <a:t>20</a:t>
            </a:r>
            <a:r>
              <a:rPr lang="ja-JP" altLang="en-US"/>
              <a:t>のモデル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7AAB0D-34B6-936E-7427-40B549414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予測の例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C92374-2E22-CD11-C96A-2E3B15AF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23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4D5A6A11-B956-2BD4-9433-8FECB3D53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985361"/>
              </p:ext>
            </p:extLst>
          </p:nvPr>
        </p:nvGraphicFramePr>
        <p:xfrm>
          <a:off x="125969" y="813576"/>
          <a:ext cx="11940062" cy="5319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736">
                  <a:extLst>
                    <a:ext uri="{9D8B030D-6E8A-4147-A177-3AD203B41FA5}">
                      <a16:colId xmlns:a16="http://schemas.microsoft.com/office/drawing/2014/main" val="2737295922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3858915791"/>
                    </a:ext>
                  </a:extLst>
                </a:gridCol>
                <a:gridCol w="4946163">
                  <a:extLst>
                    <a:ext uri="{9D8B030D-6E8A-4147-A177-3AD203B41FA5}">
                      <a16:colId xmlns:a16="http://schemas.microsoft.com/office/drawing/2014/main" val="512682883"/>
                    </a:ext>
                  </a:extLst>
                </a:gridCol>
              </a:tblGrid>
              <a:tr h="312476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入力画像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72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キャプション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青いメガネをかけ、人差し指を立ててポーズをとる笑顔のシニア男性。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屋外の草地で横顔を見せる、毛並みの長い犬のモノクロ写真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6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1"/>
                        <a:t>面白くない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94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ボケての大喜利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仏の顔</a:t>
                      </a:r>
                      <a:r>
                        <a:rPr kumimoji="1" lang="en-US" altLang="ja-JP" sz="2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度目</a:t>
                      </a:r>
                    </a:p>
                    <a:p>
                      <a:pPr algn="ctr"/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/>
                        <a:t>⭐️</a:t>
                      </a:r>
                      <a:r>
                        <a:rPr kumimoji="1" lang="en-US" altLang="ja-JP" sz="2000" dirty="0"/>
                        <a:t>135)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猫だって言い出せない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/>
                        <a:t>⭐️</a:t>
                      </a:r>
                      <a:r>
                        <a:rPr kumimoji="1" lang="en-US" altLang="ja-JP" sz="2000" dirty="0"/>
                        <a:t>3</a:t>
                      </a:r>
                      <a:r>
                        <a:rPr kumimoji="1" lang="ja-JP" altLang="en-US" sz="2000"/>
                        <a:t>，</a:t>
                      </a:r>
                      <a:r>
                        <a:rPr kumimoji="1" lang="en-US" altLang="ja-JP" sz="2000" dirty="0"/>
                        <a:t>1</a:t>
                      </a:r>
                      <a:r>
                        <a:rPr kumimoji="1" lang="ja-JP" altLang="en-US" sz="2000"/>
                        <a:t>年前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3024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AI</a:t>
                      </a:r>
                      <a:r>
                        <a:rPr kumimoji="1" lang="ja-JP" altLang="en-US" sz="2000"/>
                        <a:t>の予測</a:t>
                      </a:r>
                      <a:endParaRPr kumimoji="1" lang="ja-JP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>
                          <a:solidFill>
                            <a:srgbClr val="FF0000"/>
                          </a:solidFill>
                        </a:rPr>
                        <a:t>やや面白い</a:t>
                      </a:r>
                      <a:endParaRPr kumimoji="1" lang="ja-JP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>
                          <a:solidFill>
                            <a:schemeClr val="tx1"/>
                          </a:solidFill>
                        </a:rPr>
                        <a:t>面白い</a:t>
                      </a:r>
                      <a:endParaRPr kumimoji="1" lang="ja-JP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898361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E874AFFE-2251-BD22-BBF4-0BB99E60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593552" y="845659"/>
            <a:ext cx="2124212" cy="305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D05EBC7-4FBE-43CD-3940-584C758F8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449671" y="846789"/>
            <a:ext cx="4481259" cy="305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254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990B20-7253-7C77-C409-761ACC109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23A6E7-477E-783C-B9D8-7FDD66672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ボケての大喜利を学習した大喜利判定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を提案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dirty="0"/>
              <a:t>・キャプションを「面白くない」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・⭐️</a:t>
            </a:r>
            <a:r>
              <a:rPr lang="en-US" altLang="ja-JP" dirty="0"/>
              <a:t>1</a:t>
            </a:r>
            <a:r>
              <a:rPr lang="ja-JP" altLang="en-US" dirty="0"/>
              <a:t>の大喜利を「やや面白い」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・⭐️が多い大喜利を「面白い」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として</a:t>
            </a:r>
            <a:r>
              <a:rPr lang="en-US" altLang="ja-JP" dirty="0"/>
              <a:t>3</a:t>
            </a:r>
            <a:r>
              <a:rPr lang="ja-JP" altLang="en-US" dirty="0"/>
              <a:t>値分類</a:t>
            </a:r>
            <a:r>
              <a:rPr lang="en-US" altLang="ja-JP" dirty="0"/>
              <a:t>AI</a:t>
            </a:r>
            <a:r>
              <a:rPr lang="ja-JP" altLang="en-US" dirty="0"/>
              <a:t>を学習</a:t>
            </a:r>
            <a:endParaRPr lang="en-US" altLang="ja-JP" dirty="0"/>
          </a:p>
          <a:p>
            <a:r>
              <a:rPr lang="ja-JP" altLang="en-US"/>
              <a:t>面白い大喜利を</a:t>
            </a:r>
            <a:r>
              <a:rPr lang="en-US" altLang="ja-JP" dirty="0"/>
              <a:t>67</a:t>
            </a:r>
            <a:r>
              <a:rPr lang="ja-JP" altLang="en-US"/>
              <a:t>％，やや面白い大喜利を</a:t>
            </a:r>
            <a:r>
              <a:rPr lang="en-US" altLang="ja-JP" dirty="0"/>
              <a:t>59%</a:t>
            </a:r>
            <a:r>
              <a:rPr lang="ja-JP" altLang="en-US"/>
              <a:t>で分類可能</a:t>
            </a:r>
            <a:endParaRPr lang="en-US" altLang="ja-JP" dirty="0"/>
          </a:p>
          <a:p>
            <a:r>
              <a:rPr lang="ja-JP" altLang="en-US"/>
              <a:t>実際</a:t>
            </a:r>
            <a:r>
              <a:rPr lang="ja-JP" altLang="en-US" dirty="0"/>
              <a:t>のボケての大喜利を分類可能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今後</a:t>
            </a:r>
            <a:endParaRPr kumimoji="1" lang="en-US" altLang="ja-JP" dirty="0"/>
          </a:p>
          <a:p>
            <a:r>
              <a:rPr kumimoji="1" lang="ja-JP" altLang="en-US"/>
              <a:t>人間の評価と大喜利判定</a:t>
            </a:r>
            <a:r>
              <a:rPr kumimoji="1" lang="en-US" altLang="ja-JP" dirty="0"/>
              <a:t>AI</a:t>
            </a:r>
            <a:r>
              <a:rPr kumimoji="1" lang="ja-JP" altLang="en-US"/>
              <a:t>の評価</a:t>
            </a:r>
            <a:r>
              <a:rPr kumimoji="1" lang="ja-JP" altLang="en-US" dirty="0"/>
              <a:t>が一致するか検証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282727-CBAE-1786-C655-DDC7A29E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6120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BA628-60C2-9D84-73EC-0F82307D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大喜利判定</a:t>
            </a:r>
            <a:r>
              <a:rPr kumimoji="1" lang="en-US" altLang="ja-JP" dirty="0"/>
              <a:t>AI</a:t>
            </a:r>
            <a:r>
              <a:rPr kumimoji="1" lang="ja-JP" altLang="en-US"/>
              <a:t>が実現すると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AF2A02-1CEA-EBF9-9EE5-FD8DEBAD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6E5503-41E9-663A-1277-070C4CF1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25</a:t>
            </a:fld>
            <a:endParaRPr kumimoji="1" lang="ja-JP" altLang="en-US"/>
          </a:p>
        </p:txBody>
      </p:sp>
      <p:pic>
        <p:nvPicPr>
          <p:cNvPr id="5" name="グラフィックス 4" descr="人工知能 単色塗りつぶし">
            <a:extLst>
              <a:ext uri="{FF2B5EF4-FFF2-40B4-BE49-F238E27FC236}">
                <a16:creationId xmlns:a16="http://schemas.microsoft.com/office/drawing/2014/main" id="{69AC3DAD-5034-C068-A7DC-B21194E77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9078" y="2744909"/>
            <a:ext cx="1589341" cy="1589341"/>
          </a:xfrm>
          <a:prstGeom prst="rect">
            <a:avLst/>
          </a:prstGeom>
        </p:spPr>
      </p:pic>
      <p:pic>
        <p:nvPicPr>
          <p:cNvPr id="6" name="Picture 2" descr="黒いスーツを着た男性が土下座で謝罪している様子［モデル：大川竜弥］">
            <a:extLst>
              <a:ext uri="{FF2B5EF4-FFF2-40B4-BE49-F238E27FC236}">
                <a16:creationId xmlns:a16="http://schemas.microsoft.com/office/drawing/2014/main" id="{ABFD82D9-7039-E9AE-AD2C-B9C0FBC3D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91" y="2618445"/>
            <a:ext cx="2385482" cy="1589341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角丸四角形吹き出し 6">
            <a:extLst>
              <a:ext uri="{FF2B5EF4-FFF2-40B4-BE49-F238E27FC236}">
                <a16:creationId xmlns:a16="http://schemas.microsoft.com/office/drawing/2014/main" id="{EA26EE71-094E-B79F-4FEB-452C428AA91D}"/>
              </a:ext>
            </a:extLst>
          </p:cNvPr>
          <p:cNvSpPr/>
          <p:nvPr/>
        </p:nvSpPr>
        <p:spPr>
          <a:xfrm>
            <a:off x="7452697" y="2525457"/>
            <a:ext cx="2634747" cy="1095780"/>
          </a:xfrm>
          <a:prstGeom prst="wedgeRoundRectCallout">
            <a:avLst>
              <a:gd name="adj1" fmla="val -61871"/>
              <a:gd name="adj2" fmla="val 3384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サラリーマンの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一夜干し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1AFFF0ED-D9F1-B65B-A001-71776780822F}"/>
              </a:ext>
            </a:extLst>
          </p:cNvPr>
          <p:cNvSpPr/>
          <p:nvPr/>
        </p:nvSpPr>
        <p:spPr>
          <a:xfrm>
            <a:off x="3591153" y="3052573"/>
            <a:ext cx="980845" cy="72126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4023BCB-61EE-EABA-B513-EE57BDB85539}"/>
              </a:ext>
            </a:extLst>
          </p:cNvPr>
          <p:cNvSpPr txBox="1"/>
          <p:nvPr/>
        </p:nvSpPr>
        <p:spPr>
          <a:xfrm>
            <a:off x="5082797" y="2419434"/>
            <a:ext cx="2041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/>
              <a:t>大喜利生成</a:t>
            </a:r>
            <a:r>
              <a:rPr lang="en-US" altLang="ja-JP" sz="2400" dirty="0"/>
              <a:t>AI</a:t>
            </a:r>
            <a:endParaRPr lang="ja-JP" altLang="en-US" sz="2400"/>
          </a:p>
        </p:txBody>
      </p:sp>
      <p:pic>
        <p:nvPicPr>
          <p:cNvPr id="10" name="グラフィックス 9" descr="人工知能 単色塗りつぶし">
            <a:extLst>
              <a:ext uri="{FF2B5EF4-FFF2-40B4-BE49-F238E27FC236}">
                <a16:creationId xmlns:a16="http://schemas.microsoft.com/office/drawing/2014/main" id="{74E44E45-271F-A546-7007-C695587653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9078" y="4501516"/>
            <a:ext cx="1589341" cy="1589341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FE44040-73B0-C292-35F3-EFD244A1F1CF}"/>
              </a:ext>
            </a:extLst>
          </p:cNvPr>
          <p:cNvSpPr txBox="1"/>
          <p:nvPr/>
        </p:nvSpPr>
        <p:spPr>
          <a:xfrm>
            <a:off x="5082797" y="5919296"/>
            <a:ext cx="2041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/>
              <a:t>大喜利判定</a:t>
            </a:r>
            <a:r>
              <a:rPr lang="en-US" altLang="ja-JP" sz="2400" dirty="0"/>
              <a:t>AI</a:t>
            </a:r>
            <a:endParaRPr lang="ja-JP" altLang="en-US" sz="2400"/>
          </a:p>
        </p:txBody>
      </p:sp>
      <p:sp>
        <p:nvSpPr>
          <p:cNvPr id="12" name="フリーフォーム 11">
            <a:extLst>
              <a:ext uri="{FF2B5EF4-FFF2-40B4-BE49-F238E27FC236}">
                <a16:creationId xmlns:a16="http://schemas.microsoft.com/office/drawing/2014/main" id="{C9A1BEE4-A36E-6D0A-4CBC-BF757D35F213}"/>
              </a:ext>
            </a:extLst>
          </p:cNvPr>
          <p:cNvSpPr/>
          <p:nvPr/>
        </p:nvSpPr>
        <p:spPr>
          <a:xfrm flipH="1" flipV="1">
            <a:off x="1459853" y="3871910"/>
            <a:ext cx="7407298" cy="1784971"/>
          </a:xfrm>
          <a:custGeom>
            <a:avLst/>
            <a:gdLst>
              <a:gd name="csX0" fmla="*/ 305102 w 7407298"/>
              <a:gd name="csY0" fmla="*/ 1784971 h 1784971"/>
              <a:gd name="csX1" fmla="*/ 0 w 7407298"/>
              <a:gd name="csY1" fmla="*/ 1784971 h 1784971"/>
              <a:gd name="csX2" fmla="*/ 0 w 7407298"/>
              <a:gd name="csY2" fmla="*/ 1616201 h 1784971"/>
              <a:gd name="csX3" fmla="*/ 538190 w 7407298"/>
              <a:gd name="csY3" fmla="*/ 1078011 h 1784971"/>
              <a:gd name="csX4" fmla="*/ 552310 w 7407298"/>
              <a:gd name="csY4" fmla="*/ 1078011 h 1784971"/>
              <a:gd name="csX5" fmla="*/ 552310 w 7407298"/>
              <a:gd name="csY5" fmla="*/ 1075888 h 1784971"/>
              <a:gd name="csX6" fmla="*/ 5204621 w 7407298"/>
              <a:gd name="csY6" fmla="*/ 1075888 h 1784971"/>
              <a:gd name="csX7" fmla="*/ 5435274 w 7407298"/>
              <a:gd name="csY7" fmla="*/ 845235 h 1784971"/>
              <a:gd name="csX8" fmla="*/ 5435274 w 7407298"/>
              <a:gd name="csY8" fmla="*/ 465437 h 1784971"/>
              <a:gd name="csX9" fmla="*/ 4320926 w 7407298"/>
              <a:gd name="csY9" fmla="*/ 465437 h 1784971"/>
              <a:gd name="csX10" fmla="*/ 4320926 w 7407298"/>
              <a:gd name="csY10" fmla="*/ 620582 h 1784971"/>
              <a:gd name="csX11" fmla="*/ 4010635 w 7407298"/>
              <a:gd name="csY11" fmla="*/ 310291 h 1784971"/>
              <a:gd name="csX12" fmla="*/ 4320926 w 7407298"/>
              <a:gd name="csY12" fmla="*/ 0 h 1784971"/>
              <a:gd name="csX13" fmla="*/ 4320926 w 7407298"/>
              <a:gd name="csY13" fmla="*/ 155146 h 1784971"/>
              <a:gd name="csX14" fmla="*/ 5587174 w 7407298"/>
              <a:gd name="csY14" fmla="*/ 155146 h 1784971"/>
              <a:gd name="csX15" fmla="*/ 5589043 w 7407298"/>
              <a:gd name="csY15" fmla="*/ 153277 h 1784971"/>
              <a:gd name="csX16" fmla="*/ 5590912 w 7407298"/>
              <a:gd name="csY16" fmla="*/ 155146 h 1784971"/>
              <a:gd name="csX17" fmla="*/ 6864289 w 7407298"/>
              <a:gd name="csY17" fmla="*/ 155146 h 1784971"/>
              <a:gd name="csX18" fmla="*/ 7407298 w 7407298"/>
              <a:gd name="csY18" fmla="*/ 698155 h 1784971"/>
              <a:gd name="csX19" fmla="*/ 7407298 w 7407298"/>
              <a:gd name="csY19" fmla="*/ 1241164 h 1784971"/>
              <a:gd name="csX20" fmla="*/ 7097007 w 7407298"/>
              <a:gd name="csY20" fmla="*/ 1241164 h 1784971"/>
              <a:gd name="csX21" fmla="*/ 7097007 w 7407298"/>
              <a:gd name="csY21" fmla="*/ 698155 h 1784971"/>
              <a:gd name="csX22" fmla="*/ 6864289 w 7407298"/>
              <a:gd name="csY22" fmla="*/ 465437 h 1784971"/>
              <a:gd name="csX23" fmla="*/ 5742811 w 7407298"/>
              <a:gd name="csY23" fmla="*/ 465437 h 1784971"/>
              <a:gd name="csX24" fmla="*/ 5742812 w 7407298"/>
              <a:gd name="csY24" fmla="*/ 845235 h 1784971"/>
              <a:gd name="csX25" fmla="*/ 5204622 w 7407298"/>
              <a:gd name="csY25" fmla="*/ 1383425 h 1784971"/>
              <a:gd name="csX26" fmla="*/ 552310 w 7407298"/>
              <a:gd name="csY26" fmla="*/ 1383425 h 1784971"/>
              <a:gd name="csX27" fmla="*/ 552310 w 7407298"/>
              <a:gd name="csY27" fmla="*/ 1383112 h 1784971"/>
              <a:gd name="csX28" fmla="*/ 538190 w 7407298"/>
              <a:gd name="csY28" fmla="*/ 1383112 h 1784971"/>
              <a:gd name="csX29" fmla="*/ 305102 w 7407298"/>
              <a:gd name="csY29" fmla="*/ 1616200 h 17849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407298" h="1784971">
                <a:moveTo>
                  <a:pt x="305102" y="1784971"/>
                </a:moveTo>
                <a:lnTo>
                  <a:pt x="0" y="1784971"/>
                </a:lnTo>
                <a:lnTo>
                  <a:pt x="0" y="1616201"/>
                </a:lnTo>
                <a:cubicBezTo>
                  <a:pt x="0" y="1318967"/>
                  <a:pt x="240956" y="1078011"/>
                  <a:pt x="538190" y="1078011"/>
                </a:cubicBezTo>
                <a:lnTo>
                  <a:pt x="552310" y="1078011"/>
                </a:lnTo>
                <a:lnTo>
                  <a:pt x="552310" y="1075888"/>
                </a:lnTo>
                <a:lnTo>
                  <a:pt x="5204621" y="1075888"/>
                </a:lnTo>
                <a:cubicBezTo>
                  <a:pt x="5332007" y="1075888"/>
                  <a:pt x="5435274" y="972621"/>
                  <a:pt x="5435274" y="845235"/>
                </a:cubicBezTo>
                <a:lnTo>
                  <a:pt x="5435274" y="465437"/>
                </a:lnTo>
                <a:lnTo>
                  <a:pt x="4320926" y="465437"/>
                </a:lnTo>
                <a:lnTo>
                  <a:pt x="4320926" y="620582"/>
                </a:lnTo>
                <a:lnTo>
                  <a:pt x="4010635" y="310291"/>
                </a:lnTo>
                <a:lnTo>
                  <a:pt x="4320926" y="0"/>
                </a:lnTo>
                <a:lnTo>
                  <a:pt x="4320926" y="155146"/>
                </a:lnTo>
                <a:lnTo>
                  <a:pt x="5587174" y="155146"/>
                </a:lnTo>
                <a:lnTo>
                  <a:pt x="5589043" y="153277"/>
                </a:lnTo>
                <a:lnTo>
                  <a:pt x="5590912" y="155146"/>
                </a:lnTo>
                <a:lnTo>
                  <a:pt x="6864289" y="155146"/>
                </a:lnTo>
                <a:cubicBezTo>
                  <a:pt x="7164185" y="155146"/>
                  <a:pt x="7407298" y="398259"/>
                  <a:pt x="7407298" y="698155"/>
                </a:cubicBezTo>
                <a:lnTo>
                  <a:pt x="7407298" y="1241164"/>
                </a:lnTo>
                <a:lnTo>
                  <a:pt x="7097007" y="1241164"/>
                </a:lnTo>
                <a:lnTo>
                  <a:pt x="7097007" y="698155"/>
                </a:lnTo>
                <a:cubicBezTo>
                  <a:pt x="7097007" y="569628"/>
                  <a:pt x="6992816" y="465437"/>
                  <a:pt x="6864289" y="465437"/>
                </a:cubicBezTo>
                <a:lnTo>
                  <a:pt x="5742811" y="465437"/>
                </a:lnTo>
                <a:lnTo>
                  <a:pt x="5742812" y="845235"/>
                </a:lnTo>
                <a:cubicBezTo>
                  <a:pt x="5742812" y="1142469"/>
                  <a:pt x="5501856" y="1383425"/>
                  <a:pt x="5204622" y="1383425"/>
                </a:cubicBezTo>
                <a:lnTo>
                  <a:pt x="552310" y="1383425"/>
                </a:lnTo>
                <a:lnTo>
                  <a:pt x="552310" y="1383112"/>
                </a:lnTo>
                <a:lnTo>
                  <a:pt x="538190" y="1383112"/>
                </a:lnTo>
                <a:cubicBezTo>
                  <a:pt x="409459" y="1383112"/>
                  <a:pt x="305102" y="1487469"/>
                  <a:pt x="305102" y="161620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3" name="角丸四角形吹き出し 12">
            <a:extLst>
              <a:ext uri="{FF2B5EF4-FFF2-40B4-BE49-F238E27FC236}">
                <a16:creationId xmlns:a16="http://schemas.microsoft.com/office/drawing/2014/main" id="{F1119FE8-DBF9-3748-BB03-267987FA98DC}"/>
              </a:ext>
            </a:extLst>
          </p:cNvPr>
          <p:cNvSpPr/>
          <p:nvPr/>
        </p:nvSpPr>
        <p:spPr>
          <a:xfrm>
            <a:off x="7452697" y="4764395"/>
            <a:ext cx="2117506" cy="659129"/>
          </a:xfrm>
          <a:prstGeom prst="wedgeRoundRectCallout">
            <a:avLst>
              <a:gd name="adj1" fmla="val -61871"/>
              <a:gd name="adj2" fmla="val 3384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面白くない</a:t>
            </a:r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…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7" name="フリーフォーム 16">
            <a:extLst>
              <a:ext uri="{FF2B5EF4-FFF2-40B4-BE49-F238E27FC236}">
                <a16:creationId xmlns:a16="http://schemas.microsoft.com/office/drawing/2014/main" id="{219EB8D5-F85E-312E-DCA8-FBF563D1B317}"/>
              </a:ext>
            </a:extLst>
          </p:cNvPr>
          <p:cNvSpPr/>
          <p:nvPr/>
        </p:nvSpPr>
        <p:spPr>
          <a:xfrm rot="5400000" flipV="1">
            <a:off x="6842272" y="609121"/>
            <a:ext cx="3540866" cy="5610578"/>
          </a:xfrm>
          <a:custGeom>
            <a:avLst/>
            <a:gdLst>
              <a:gd name="csX0" fmla="*/ 0 w 4055096"/>
              <a:gd name="csY0" fmla="*/ 584234 h 5613741"/>
              <a:gd name="csX1" fmla="*/ 0 w 4055096"/>
              <a:gd name="csY1" fmla="*/ 992822 h 5613741"/>
              <a:gd name="csX2" fmla="*/ 3591 w 4055096"/>
              <a:gd name="csY2" fmla="*/ 992822 h 5613741"/>
              <a:gd name="csX3" fmla="*/ 3591 w 4055096"/>
              <a:gd name="csY3" fmla="*/ 5178850 h 5613741"/>
              <a:gd name="csX4" fmla="*/ 437951 w 4055096"/>
              <a:gd name="csY4" fmla="*/ 5613210 h 5613741"/>
              <a:gd name="csX5" fmla="*/ 580508 w 4055096"/>
              <a:gd name="csY5" fmla="*/ 5613210 h 5613741"/>
              <a:gd name="csX6" fmla="*/ 580508 w 4055096"/>
              <a:gd name="csY6" fmla="*/ 5613741 h 5613741"/>
              <a:gd name="csX7" fmla="*/ 3377036 w 4055096"/>
              <a:gd name="csY7" fmla="*/ 5613741 h 5613741"/>
              <a:gd name="csX8" fmla="*/ 4055096 w 4055096"/>
              <a:gd name="csY8" fmla="*/ 4935681 h 5613741"/>
              <a:gd name="csX9" fmla="*/ 4055096 w 4055096"/>
              <a:gd name="csY9" fmla="*/ 4063891 h 5613741"/>
              <a:gd name="csX10" fmla="*/ 3806097 w 4055096"/>
              <a:gd name="csY10" fmla="*/ 4063891 h 5613741"/>
              <a:gd name="csX11" fmla="*/ 3806097 w 4055096"/>
              <a:gd name="csY11" fmla="*/ 4935681 h 5613741"/>
              <a:gd name="csX12" fmla="*/ 3377036 w 4055096"/>
              <a:gd name="csY12" fmla="*/ 5364743 h 5613741"/>
              <a:gd name="csX13" fmla="*/ 580508 w 4055096"/>
              <a:gd name="csY13" fmla="*/ 5364743 h 5613741"/>
              <a:gd name="csX14" fmla="*/ 580508 w 4055096"/>
              <a:gd name="csY14" fmla="*/ 5365004 h 5613741"/>
              <a:gd name="csX15" fmla="*/ 437951 w 4055096"/>
              <a:gd name="csY15" fmla="*/ 5365004 h 5613741"/>
              <a:gd name="csX16" fmla="*/ 251797 w 4055096"/>
              <a:gd name="csY16" fmla="*/ 5178850 h 5613741"/>
              <a:gd name="csX17" fmla="*/ 251797 w 4055096"/>
              <a:gd name="csY17" fmla="*/ 574582 h 5613741"/>
              <a:gd name="csX18" fmla="*/ 256456 w 4055096"/>
              <a:gd name="csY18" fmla="*/ 551502 h 5613741"/>
              <a:gd name="csX19" fmla="*/ 262557 w 4055096"/>
              <a:gd name="csY19" fmla="*/ 521285 h 5613741"/>
              <a:gd name="csX20" fmla="*/ 411568 w 4055096"/>
              <a:gd name="csY20" fmla="*/ 422513 h 5613741"/>
              <a:gd name="csX21" fmla="*/ 632338 w 4055096"/>
              <a:gd name="csY21" fmla="*/ 422513 h 5613741"/>
              <a:gd name="csX22" fmla="*/ 632338 w 4055096"/>
              <a:gd name="csY22" fmla="*/ 595179 h 5613741"/>
              <a:gd name="csX23" fmla="*/ 940727 w 4055096"/>
              <a:gd name="csY23" fmla="*/ 297590 h 5613741"/>
              <a:gd name="csX24" fmla="*/ 632338 w 4055096"/>
              <a:gd name="csY24" fmla="*/ 0 h 5613741"/>
              <a:gd name="csX25" fmla="*/ 632338 w 4055096"/>
              <a:gd name="csY25" fmla="*/ 172666 h 5613741"/>
              <a:gd name="csX26" fmla="*/ 411568 w 4055096"/>
              <a:gd name="csY26" fmla="*/ 172666 h 5613741"/>
              <a:gd name="csX27" fmla="*/ 8362 w 4055096"/>
              <a:gd name="csY27" fmla="*/ 501289 h 5613741"/>
              <a:gd name="csX28" fmla="*/ 3300 w 4055096"/>
              <a:gd name="csY28" fmla="*/ 551502 h 5613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055096" h="5613741">
                <a:moveTo>
                  <a:pt x="0" y="584234"/>
                </a:moveTo>
                <a:lnTo>
                  <a:pt x="0" y="992822"/>
                </a:lnTo>
                <a:lnTo>
                  <a:pt x="3591" y="992822"/>
                </a:lnTo>
                <a:lnTo>
                  <a:pt x="3591" y="5178850"/>
                </a:lnTo>
                <a:cubicBezTo>
                  <a:pt x="3591" y="5418740"/>
                  <a:pt x="198061" y="5613210"/>
                  <a:pt x="437951" y="5613210"/>
                </a:cubicBezTo>
                <a:lnTo>
                  <a:pt x="580508" y="5613210"/>
                </a:lnTo>
                <a:lnTo>
                  <a:pt x="580508" y="5613741"/>
                </a:lnTo>
                <a:lnTo>
                  <a:pt x="3377036" y="5613741"/>
                </a:lnTo>
                <a:cubicBezTo>
                  <a:pt x="3751518" y="5613741"/>
                  <a:pt x="4055096" y="5310163"/>
                  <a:pt x="4055096" y="4935681"/>
                </a:cubicBezTo>
                <a:lnTo>
                  <a:pt x="4055096" y="4063891"/>
                </a:lnTo>
                <a:lnTo>
                  <a:pt x="3806097" y="4063891"/>
                </a:lnTo>
                <a:lnTo>
                  <a:pt x="3806097" y="4935681"/>
                </a:lnTo>
                <a:cubicBezTo>
                  <a:pt x="3806097" y="5172645"/>
                  <a:pt x="3614000" y="5364743"/>
                  <a:pt x="3377036" y="5364743"/>
                </a:cubicBezTo>
                <a:lnTo>
                  <a:pt x="580508" y="5364743"/>
                </a:lnTo>
                <a:lnTo>
                  <a:pt x="580508" y="5365004"/>
                </a:lnTo>
                <a:lnTo>
                  <a:pt x="437951" y="5365004"/>
                </a:lnTo>
                <a:cubicBezTo>
                  <a:pt x="335141" y="5365004"/>
                  <a:pt x="251797" y="5281660"/>
                  <a:pt x="251797" y="5178850"/>
                </a:cubicBezTo>
                <a:lnTo>
                  <a:pt x="251797" y="574582"/>
                </a:lnTo>
                <a:lnTo>
                  <a:pt x="256456" y="551502"/>
                </a:lnTo>
                <a:lnTo>
                  <a:pt x="262557" y="521285"/>
                </a:lnTo>
                <a:cubicBezTo>
                  <a:pt x="287107" y="463241"/>
                  <a:pt x="344582" y="422513"/>
                  <a:pt x="411568" y="422513"/>
                </a:cubicBezTo>
                <a:lnTo>
                  <a:pt x="632338" y="422513"/>
                </a:lnTo>
                <a:lnTo>
                  <a:pt x="632338" y="595179"/>
                </a:lnTo>
                <a:lnTo>
                  <a:pt x="940727" y="297590"/>
                </a:lnTo>
                <a:lnTo>
                  <a:pt x="632338" y="0"/>
                </a:lnTo>
                <a:lnTo>
                  <a:pt x="632338" y="172666"/>
                </a:lnTo>
                <a:lnTo>
                  <a:pt x="411568" y="172666"/>
                </a:lnTo>
                <a:cubicBezTo>
                  <a:pt x="212678" y="172666"/>
                  <a:pt x="46739" y="313744"/>
                  <a:pt x="8362" y="501289"/>
                </a:cubicBezTo>
                <a:lnTo>
                  <a:pt x="3300" y="551502"/>
                </a:lnTo>
                <a:close/>
              </a:path>
            </a:pathLst>
          </a:cu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4708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6FB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IZ UDゴシック">
      <a:majorFont>
        <a:latin typeface="BIZ UDゴシック"/>
        <a:ea typeface="BIZ UDゴシック"/>
        <a:cs typeface=""/>
      </a:majorFont>
      <a:minorFont>
        <a:latin typeface="BIZ UDゴシック"/>
        <a:ea typeface="BIZ UD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lIns="90000" tIns="90000" rIns="90000" bIns="90000" rtlCol="0" anchor="ctr">
        <a:noAutofit/>
      </a:bodyPr>
      <a:lstStyle>
        <a:defPPr algn="ctr">
          <a:defRPr kumimoji="1" sz="2400" dirty="0" smtClean="0">
            <a:solidFill>
              <a:schemeClr val="tx1"/>
            </a:solidFill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ctr">
          <a:defRPr sz="2400" smtClean="0"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15443</TotalTime>
  <Words>1861</Words>
  <Application>Microsoft Macintosh PowerPoint</Application>
  <PresentationFormat>ワイド画面</PresentationFormat>
  <Paragraphs>511</Paragraphs>
  <Slides>25</Slides>
  <Notes>0</Notes>
  <HiddenSlides>11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1" baseType="lpstr">
      <vt:lpstr>BIZ UDゴシック</vt:lpstr>
      <vt:lpstr>BIZ UDゴシック</vt:lpstr>
      <vt:lpstr>游ゴシック</vt:lpstr>
      <vt:lpstr>Arial</vt:lpstr>
      <vt:lpstr>Cambria Math</vt:lpstr>
      <vt:lpstr>Office テーマ</vt:lpstr>
      <vt:lpstr>ニューラルネットワークによる大喜利の面白さ判定</vt:lpstr>
      <vt:lpstr>研究背景</vt:lpstr>
      <vt:lpstr>大喜利判定AIが実現すると</vt:lpstr>
      <vt:lpstr>従来手法[4]</vt:lpstr>
      <vt:lpstr>提案手法</vt:lpstr>
      <vt:lpstr>ボケての大喜利の特性</vt:lpstr>
      <vt:lpstr>ボケての大喜利の特性</vt:lpstr>
      <vt:lpstr>データセット</vt:lpstr>
      <vt:lpstr>各しきい値における星の分布</vt:lpstr>
      <vt:lpstr>データセット</vt:lpstr>
      <vt:lpstr>モデル</vt:lpstr>
      <vt:lpstr>Jina_v4</vt:lpstr>
      <vt:lpstr>Macro F1</vt:lpstr>
      <vt:lpstr>学習結果</vt:lpstr>
      <vt:lpstr>学習結果</vt:lpstr>
      <vt:lpstr>実験</vt:lpstr>
      <vt:lpstr>実験</vt:lpstr>
      <vt:lpstr>学習結果(しきい値100のモデル)</vt:lpstr>
      <vt:lpstr>学習結果(しきい値100のモデル)</vt:lpstr>
      <vt:lpstr>学習結果(しきい値60のモデル)</vt:lpstr>
      <vt:lpstr>学習結果(しきい値60のモデル)</vt:lpstr>
      <vt:lpstr>学習結果(しきい値20のモデル)</vt:lpstr>
      <vt:lpstr>学習結果(しきい値20のモデル)</vt:lpstr>
      <vt:lpstr>まとめ</vt:lpstr>
      <vt:lpstr>大喜利判定AIが実現すると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山富龍</dc:creator>
  <cp:lastModifiedBy>山富龍</cp:lastModifiedBy>
  <cp:revision>149</cp:revision>
  <dcterms:created xsi:type="dcterms:W3CDTF">2024-10-01T23:47:44Z</dcterms:created>
  <dcterms:modified xsi:type="dcterms:W3CDTF">2026-03-05T01:31:08Z</dcterms:modified>
</cp:coreProperties>
</file>